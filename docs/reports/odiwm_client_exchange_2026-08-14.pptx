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 snapToObjects="1">
      <p:cViewPr varScale="1">
        <p:scale>
          <a:sx n="133" d="100"/>
          <a:sy n="133" d="100"/>
        </p:scale>
        <p:origin x="3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6"/>
          </a:solidFill>
          <a:ln w="1397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352" y="658368"/>
            <a:ext cx="73152" cy="4343400"/>
          </a:xfrm>
          <a:prstGeom prst="rect">
            <a:avLst/>
          </a:prstGeom>
          <a:solidFill>
            <a:srgbClr val="13796C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713232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203A49"/>
          </a:solidFill>
          <a:ln w="13970">
            <a:solidFill>
              <a:srgbClr val="203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731520"/>
            <a:ext cx="116128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8BDACA"/>
                </a:solidFill>
                <a:latin typeface="PingFang SC"/>
              </a:rPr>
              <a:t>客户技术交流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2412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PingFang SC"/>
              </a:rPr>
              <a:t>本体驱动的灌区世界模型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039112"/>
            <a:ext cx="969264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9ADCCE"/>
                </a:solidFill>
                <a:latin typeface="PingFang SC"/>
              </a:rPr>
              <a:t>从语义一致到可审查的条件推演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779776"/>
            <a:ext cx="96926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D3DCE5"/>
                </a:solidFill>
                <a:latin typeface="PingFang SC"/>
              </a:rPr>
              <a:t>面向灌区状态认知、方案比较与调度辅助的系统设计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" y="3456432"/>
            <a:ext cx="10113264" cy="0"/>
          </a:xfrm>
          <a:prstGeom prst="line">
            <a:avLst/>
          </a:prstGeom>
          <a:ln w="12700">
            <a:solidFill>
              <a:srgbClr val="4B5B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1248" y="3730752"/>
            <a:ext cx="103327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8BDACA"/>
                </a:solidFill>
                <a:latin typeface="PingFang SC"/>
              </a:rPr>
              <a:t>本体</a:t>
            </a:r>
            <a:r>
              <a:rPr sz="1500" b="0">
                <a:solidFill>
                  <a:srgbClr val="D3DCE5"/>
                </a:solidFill>
                <a:latin typeface="PingFang SC"/>
              </a:rPr>
              <a:t> 负责确定对象、关系、状态与动作语义；  </a:t>
            </a:r>
            <a:r>
              <a:rPr sz="1500" b="1">
                <a:solidFill>
                  <a:srgbClr val="90B8EA"/>
                </a:solidFill>
                <a:latin typeface="PingFang SC"/>
              </a:rPr>
              <a:t>世界模型</a:t>
            </a:r>
            <a:r>
              <a:rPr sz="1500" b="0">
                <a:solidFill>
                  <a:srgbClr val="D3DCE5"/>
                </a:solidFill>
                <a:latin typeface="PingFang SC"/>
              </a:rPr>
              <a:t> 负责在约束下推演状态变化。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062472"/>
            <a:ext cx="5029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A9B6C4"/>
                </a:solidFill>
                <a:latin typeface="PingFang SC"/>
              </a:rPr>
              <a:t>技术交流材料  |  2026年8月14日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6016752"/>
            <a:ext cx="470916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A9B6C4"/>
                </a:solidFill>
                <a:latin typeface="PingFang SC"/>
              </a:rPr>
              <a:t>Proposal only · 人工审查 · 不直接控制设备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3796C"/>
                </a:solidFill>
                <a:latin typeface="PingFang S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219456"/>
            <a:ext cx="10698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62236"/>
                </a:solidFill>
                <a:latin typeface="PingFang SC"/>
              </a:rPr>
              <a:t>我们建议建设的不是另一个黑箱预测器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667512"/>
            <a:ext cx="103327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C6C7E"/>
                </a:solidFill>
                <a:latin typeface="PingFang SC"/>
              </a:rPr>
              <a:t>目标是把业务语义、状态推演和责任链放到同一套可验证机制中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0160">
            <a:solidFill>
              <a:srgbClr val="CC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298448"/>
            <a:ext cx="3255264" cy="425196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1545336"/>
            <a:ext cx="105156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63624"/>
            <a:ext cx="978407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13796C"/>
                </a:solidFill>
                <a:latin typeface="PingFang SC"/>
              </a:rPr>
              <a:t>语义骨架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93392"/>
            <a:ext cx="25603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1">
                <a:solidFill>
                  <a:srgbClr val="13796C"/>
                </a:solidFill>
                <a:latin typeface="PingFang SC"/>
              </a:rPr>
              <a:t>本体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32888"/>
            <a:ext cx="2560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162236"/>
                </a:solidFill>
                <a:latin typeface="PingFang SC"/>
              </a:rPr>
              <a:t>确定系统在谈论什么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971800"/>
            <a:ext cx="2651760" cy="20848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3000"/>
              </a:lnSpc>
              <a:spcAft>
                <a:spcPts val="500"/>
              </a:spcAft>
              <a:defRPr sz="1350">
                <a:solidFill>
                  <a:srgbClr val="2F3F52"/>
                </a:solidFill>
                <a:latin typeface="PingFang SC"/>
              </a:defRPr>
            </a:pPr>
            <a:r>
              <a:rPr>
                <a:solidFill>
                  <a:srgbClr val="2F3F52"/>
                </a:solidFill>
              </a:rPr>
              <a:t>• 稳定对象与权威拓扑</a:t>
            </a:r>
          </a:p>
          <a:p>
            <a:pPr>
              <a:lnSpc>
                <a:spcPct val="113000"/>
              </a:lnSpc>
              <a:spcAft>
                <a:spcPts val="500"/>
              </a:spcAft>
              <a:defRPr sz="1350">
                <a:solidFill>
                  <a:srgbClr val="2F3F52"/>
                </a:solidFill>
                <a:latin typeface="PingFang SC"/>
              </a:defRPr>
            </a:pPr>
            <a:r>
              <a:rPr>
                <a:solidFill>
                  <a:srgbClr val="2F3F52"/>
                </a:solidFill>
              </a:rPr>
              <a:t>• State / Action / Constraint 合同</a:t>
            </a:r>
          </a:p>
          <a:p>
            <a:pPr>
              <a:lnSpc>
                <a:spcPct val="113000"/>
              </a:lnSpc>
              <a:spcAft>
                <a:spcPts val="500"/>
              </a:spcAft>
              <a:defRPr sz="1350">
                <a:solidFill>
                  <a:srgbClr val="2F3F52"/>
                </a:solidFill>
                <a:latin typeface="PingFang SC"/>
              </a:defRPr>
            </a:pPr>
            <a:r>
              <a:rPr>
                <a:solidFill>
                  <a:srgbClr val="2F3F52"/>
                </a:solidFill>
              </a:rPr>
              <a:t>• 单位、时间、空间、来源与版本</a:t>
            </a:r>
          </a:p>
          <a:p>
            <a:pPr>
              <a:lnSpc>
                <a:spcPct val="113000"/>
              </a:lnSpc>
              <a:spcAft>
                <a:spcPts val="500"/>
              </a:spcAft>
              <a:defRPr sz="1350">
                <a:solidFill>
                  <a:srgbClr val="2F3F52"/>
                </a:solidFill>
                <a:latin typeface="PingFang SC"/>
              </a:defRPr>
            </a:pPr>
            <a:r>
              <a:rPr>
                <a:solidFill>
                  <a:srgbClr val="2F3F52"/>
                </a:solidFill>
              </a:rPr>
              <a:t>• 自然语言落到确定的 Object + Link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1298448"/>
            <a:ext cx="3255264" cy="425196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00016" y="1545336"/>
            <a:ext cx="105156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1563624"/>
            <a:ext cx="978407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2F67AE"/>
                </a:solidFill>
                <a:latin typeface="PingFang SC"/>
              </a:rPr>
              <a:t>状态推演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1993392"/>
            <a:ext cx="25603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1">
                <a:solidFill>
                  <a:srgbClr val="2F67AE"/>
                </a:solidFill>
                <a:latin typeface="PingFang SC"/>
              </a:rPr>
              <a:t>世界模型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2532888"/>
            <a:ext cx="2651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162236"/>
                </a:solidFill>
                <a:latin typeface="PingFang SC"/>
              </a:rPr>
              <a:t>计算条件变化会带来什么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2971800"/>
            <a:ext cx="2651760" cy="20848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3000"/>
              </a:lnSpc>
              <a:spcAft>
                <a:spcPts val="500"/>
              </a:spcAft>
              <a:defRPr sz="1350">
                <a:solidFill>
                  <a:srgbClr val="2F3F52"/>
                </a:solidFill>
                <a:latin typeface="PingFang SC"/>
              </a:defRPr>
            </a:pPr>
            <a:r>
              <a:rPr>
                <a:solidFill>
                  <a:srgbClr val="2F3F52"/>
                </a:solidFill>
              </a:rPr>
              <a:t>• 冻结当前状态、外部驱动与候选动作</a:t>
            </a:r>
          </a:p>
          <a:p>
            <a:pPr>
              <a:lnSpc>
                <a:spcPct val="113000"/>
              </a:lnSpc>
              <a:spcAft>
                <a:spcPts val="500"/>
              </a:spcAft>
              <a:defRPr sz="1350">
                <a:solidFill>
                  <a:srgbClr val="2F3F52"/>
                </a:solidFill>
                <a:latin typeface="PingFang SC"/>
              </a:defRPr>
            </a:pPr>
            <a:r>
              <a:rPr>
                <a:solidFill>
                  <a:srgbClr val="2F3F52"/>
                </a:solidFill>
              </a:rPr>
              <a:t>• 守恒、容量、时延与专业模型</a:t>
            </a:r>
          </a:p>
          <a:p>
            <a:pPr>
              <a:lnSpc>
                <a:spcPct val="113000"/>
              </a:lnSpc>
              <a:spcAft>
                <a:spcPts val="500"/>
              </a:spcAft>
              <a:defRPr sz="1350">
                <a:solidFill>
                  <a:srgbClr val="2F3F52"/>
                </a:solidFill>
                <a:latin typeface="PingFang SC"/>
              </a:defRPr>
            </a:pPr>
            <a:r>
              <a:rPr>
                <a:solidFill>
                  <a:srgbClr val="2F3F52"/>
                </a:solidFill>
              </a:rPr>
              <a:t>• 比较未来状态、缺口和风险</a:t>
            </a:r>
          </a:p>
          <a:p>
            <a:pPr>
              <a:lnSpc>
                <a:spcPct val="113000"/>
              </a:lnSpc>
              <a:spcAft>
                <a:spcPts val="500"/>
              </a:spcAft>
              <a:defRPr sz="1350">
                <a:solidFill>
                  <a:srgbClr val="2F3F52"/>
                </a:solidFill>
                <a:latin typeface="PingFang SC"/>
              </a:defRPr>
            </a:pPr>
            <a:r>
              <a:rPr>
                <a:solidFill>
                  <a:srgbClr val="2F3F52"/>
                </a:solidFill>
              </a:rPr>
              <a:t>• 学习模型只在独立验证后作为增量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5" y="1298448"/>
            <a:ext cx="3255264" cy="4251960"/>
          </a:xfrm>
          <a:prstGeom prst="roundRect">
            <a:avLst>
              <a:gd name="adj" fmla="val 8000"/>
            </a:avLst>
          </a:prstGeom>
          <a:solidFill>
            <a:srgbClr val="FFF5E0"/>
          </a:solidFill>
          <a:ln w="13970">
            <a:solidFill>
              <a:srgbClr val="BE7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503920" y="1545336"/>
            <a:ext cx="105156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40496" y="1563624"/>
            <a:ext cx="978407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BE740D"/>
                </a:solidFill>
                <a:latin typeface="PingFang SC"/>
              </a:rPr>
              <a:t>治理出口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1993392"/>
            <a:ext cx="25603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1">
                <a:solidFill>
                  <a:srgbClr val="BE740D"/>
                </a:solidFill>
                <a:latin typeface="PingFang SC"/>
              </a:rPr>
              <a:t>Proposal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532888"/>
            <a:ext cx="2651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162236"/>
                </a:solidFill>
                <a:latin typeface="PingFang SC"/>
              </a:rPr>
              <a:t>把结果交给有权人员审查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971800"/>
            <a:ext cx="2651760" cy="20848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3000"/>
              </a:lnSpc>
              <a:spcAft>
                <a:spcPts val="500"/>
              </a:spcAft>
              <a:defRPr sz="1350">
                <a:solidFill>
                  <a:srgbClr val="2F3F52"/>
                </a:solidFill>
                <a:latin typeface="PingFang SC"/>
              </a:defRPr>
            </a:pPr>
            <a:r>
              <a:rPr>
                <a:solidFill>
                  <a:srgbClr val="2F3F52"/>
                </a:solidFill>
              </a:rPr>
              <a:t>• 候选动作、结果、风险与适用范围</a:t>
            </a:r>
          </a:p>
          <a:p>
            <a:pPr>
              <a:lnSpc>
                <a:spcPct val="113000"/>
              </a:lnSpc>
              <a:spcAft>
                <a:spcPts val="500"/>
              </a:spcAft>
              <a:defRPr sz="1350">
                <a:solidFill>
                  <a:srgbClr val="2F3F52"/>
                </a:solidFill>
                <a:latin typeface="PingFang SC"/>
              </a:defRPr>
            </a:pPr>
            <a:r>
              <a:rPr>
                <a:solidFill>
                  <a:srgbClr val="2F3F52"/>
                </a:solidFill>
              </a:rPr>
              <a:t>• 数据、模型、规则和运行版本</a:t>
            </a:r>
          </a:p>
          <a:p>
            <a:pPr>
              <a:lnSpc>
                <a:spcPct val="113000"/>
              </a:lnSpc>
              <a:spcAft>
                <a:spcPts val="500"/>
              </a:spcAft>
              <a:defRPr sz="1350">
                <a:solidFill>
                  <a:srgbClr val="2F3F52"/>
                </a:solidFill>
                <a:latin typeface="PingFang SC"/>
              </a:defRPr>
            </a:pPr>
            <a:r>
              <a:rPr>
                <a:solidFill>
                  <a:srgbClr val="2F3F52"/>
                </a:solidFill>
              </a:rPr>
              <a:t>• 可批准、驳回、修改与过期</a:t>
            </a:r>
          </a:p>
          <a:p>
            <a:pPr>
              <a:lnSpc>
                <a:spcPct val="113000"/>
              </a:lnSpc>
              <a:spcAft>
                <a:spcPts val="500"/>
              </a:spcAft>
              <a:defRPr sz="1350">
                <a:solidFill>
                  <a:srgbClr val="2F3F52"/>
                </a:solidFill>
                <a:latin typeface="PingFang SC"/>
              </a:defRPr>
            </a:pPr>
            <a:r>
              <a:rPr>
                <a:solidFill>
                  <a:srgbClr val="2F3F52"/>
                </a:solidFill>
              </a:rPr>
              <a:t>• 一期不直接触发闸门或泵站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5806440"/>
            <a:ext cx="97840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2236"/>
                </a:solidFill>
                <a:latin typeface="PingFang SC"/>
              </a:rPr>
              <a:t>三者缺一不可：本体保证语义确定，世界模型负责条件推演，Proposal 保留组织责任。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10528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5C6C7E"/>
                </a:solidFill>
                <a:latin typeface="PingFang SC"/>
              </a:rPr>
              <a:t>本体驱动的灌区世界模型 · 客户交流材料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28832" y="6473952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C6C7E"/>
                </a:solidFill>
                <a:latin typeface="PingFang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3796C"/>
                </a:solidFill>
                <a:latin typeface="PingFang S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219456"/>
            <a:ext cx="10698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62236"/>
                </a:solidFill>
                <a:latin typeface="PingFang SC"/>
              </a:rPr>
              <a:t>从四个高频问题开始，而不是从算法名称开始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667512"/>
            <a:ext cx="103327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C6C7E"/>
                </a:solidFill>
                <a:latin typeface="PingFang SC"/>
              </a:rPr>
              <a:t>一期优先选择可获得数据、可建立基线、可由调度人员复核的场景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0160">
            <a:solidFill>
              <a:srgbClr val="CC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89888"/>
            <a:ext cx="250545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59" y="157276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3796C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572768"/>
            <a:ext cx="384048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1545336"/>
            <a:ext cx="16276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62236"/>
                </a:solidFill>
                <a:latin typeface="PingFang SC"/>
              </a:rPr>
              <a:t>状态看不全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2084831" cy="11430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2F3F52"/>
                </a:solidFill>
                <a:latin typeface="PingFang SC"/>
              </a:rPr>
              <a:t>观测分散、缺测与时间错位，当前水量和供水缺口难统一判断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" y="3364992"/>
            <a:ext cx="2176272" cy="109728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13970">
            <a:solidFill>
              <a:srgbClr val="E7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29584" y="1389888"/>
            <a:ext cx="250545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94176" y="157276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F67AE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94176" y="1572768"/>
            <a:ext cx="384048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7952" y="1545336"/>
            <a:ext cx="16276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62236"/>
                </a:solidFill>
                <a:latin typeface="PingFang SC"/>
              </a:rPr>
              <a:t>方案比较慢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6" y="2148840"/>
            <a:ext cx="2084831" cy="11430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2F3F52"/>
                </a:solidFill>
                <a:latin typeface="PingFang SC"/>
              </a:rPr>
              <a:t>来水、设备或需求变化后，需要反复手工核算多个配水方案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94176" y="3364992"/>
            <a:ext cx="2176272" cy="109728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13970">
            <a:solidFill>
              <a:srgbClr val="E8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0" y="1389888"/>
            <a:ext cx="250545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65392" y="157276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BE740D"/>
          </a:solidFill>
          <a:ln w="13970">
            <a:solidFill>
              <a:srgbClr val="BE7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65392" y="1572768"/>
            <a:ext cx="384048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545336"/>
            <a:ext cx="16276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62236"/>
                </a:solidFill>
                <a:latin typeface="PingFang SC"/>
              </a:rPr>
              <a:t>结果难追溯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2148840"/>
            <a:ext cx="2084831" cy="11430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2F3F52"/>
                </a:solidFill>
                <a:latin typeface="PingFang SC"/>
              </a:rPr>
              <a:t>方案依据、模型版本、规则和人工修改散落在不同记录中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65392" y="3364992"/>
            <a:ext cx="2176272" cy="109728"/>
          </a:xfrm>
          <a:prstGeom prst="roundRect">
            <a:avLst>
              <a:gd name="adj" fmla="val 8000"/>
            </a:avLst>
          </a:prstGeom>
          <a:solidFill>
            <a:srgbClr val="FFF5E0"/>
          </a:solidFill>
          <a:ln w="13970">
            <a:solidFill>
              <a:srgbClr val="FFF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272016" y="1389888"/>
            <a:ext cx="250545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436608" y="157276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AB433E"/>
          </a:solidFill>
          <a:ln w="13970">
            <a:solidFill>
              <a:srgbClr val="AB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36608" y="1572768"/>
            <a:ext cx="384048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0384" y="1545336"/>
            <a:ext cx="16276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62236"/>
                </a:solidFill>
                <a:latin typeface="PingFang SC"/>
              </a:rPr>
              <a:t>经验难复用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2328" y="2148840"/>
            <a:ext cx="2084831" cy="11430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2F3F52"/>
                </a:solidFill>
                <a:latin typeface="PingFang SC"/>
              </a:rPr>
              <a:t>调度经验未沉淀为可查询的对象、规则、案例与证据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36608" y="3364992"/>
            <a:ext cx="2176272" cy="109728"/>
          </a:xfrm>
          <a:prstGeom prst="roundRect">
            <a:avLst>
              <a:gd name="adj" fmla="val 8000"/>
            </a:avLst>
          </a:prstGeom>
          <a:solidFill>
            <a:srgbClr val="F9ECEB"/>
          </a:solidFill>
          <a:ln w="13970">
            <a:solidFill>
              <a:srgbClr val="F9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" y="4142232"/>
            <a:ext cx="100584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3796C"/>
                </a:solidFill>
                <a:latin typeface="PingFang SC"/>
              </a:rPr>
              <a:t>一期目标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00784" y="4041648"/>
            <a:ext cx="2240280" cy="1024128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0" y="4178808"/>
            <a:ext cx="69494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2236"/>
                </a:solidFill>
                <a:latin typeface="PingFang SC"/>
              </a:rPr>
              <a:t>看得清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535424"/>
            <a:ext cx="187451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5C6C7E"/>
                </a:solidFill>
                <a:latin typeface="PingFang SC"/>
              </a:rPr>
              <a:t>统一对象、状态与质量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6240" y="4041648"/>
            <a:ext cx="2240280" cy="1024128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34256" y="4178808"/>
            <a:ext cx="69494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2236"/>
                </a:solidFill>
                <a:latin typeface="PingFang SC"/>
              </a:rPr>
              <a:t>算得明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4256" y="4535424"/>
            <a:ext cx="187451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5C6C7E"/>
                </a:solidFill>
                <a:latin typeface="PingFang SC"/>
              </a:rPr>
              <a:t>同条件比较有限候选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11696" y="4041648"/>
            <a:ext cx="2240280" cy="1024128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39712" y="4178808"/>
            <a:ext cx="69494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2236"/>
                </a:solidFill>
                <a:latin typeface="PingFang SC"/>
              </a:rPr>
              <a:t>审得过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4535424"/>
            <a:ext cx="187451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5C6C7E"/>
                </a:solidFill>
                <a:latin typeface="PingFang SC"/>
              </a:rPr>
              <a:t>Proposal 全链路可追溯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17152" y="4041648"/>
            <a:ext cx="2240280" cy="1024128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45168" y="4178808"/>
            <a:ext cx="69494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2236"/>
                </a:solidFill>
                <a:latin typeface="PingFang SC"/>
              </a:rPr>
              <a:t>接得上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45168" y="4535424"/>
            <a:ext cx="187451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5C6C7E"/>
                </a:solidFill>
                <a:latin typeface="PingFang SC"/>
              </a:rPr>
              <a:t>衔接台账、报表与工单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413248"/>
            <a:ext cx="10863072" cy="667512"/>
          </a:xfrm>
          <a:prstGeom prst="roundRect">
            <a:avLst>
              <a:gd name="adj" fmla="val 8000"/>
            </a:avLst>
          </a:prstGeom>
          <a:solidFill>
            <a:srgbClr val="FFF5E0"/>
          </a:solidFill>
          <a:ln w="13970">
            <a:solidFill>
              <a:srgbClr val="BE7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7824" y="5577840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BE740D"/>
                </a:solidFill>
                <a:latin typeface="PingFang SC"/>
              </a:rPr>
              <a:t>验收基线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47088" y="5559552"/>
            <a:ext cx="909828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62236"/>
                </a:solidFill>
                <a:latin typeface="PingFang SC"/>
              </a:rPr>
              <a:t>与现行规则或人工方案做同任务、同时间窗比较；页面可用不等于模型有效。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510528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5C6C7E"/>
                </a:solidFill>
                <a:latin typeface="PingFang SC"/>
              </a:rPr>
              <a:t>本体驱动的灌区世界模型 · 客户交流材料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28832" y="6473952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C6C7E"/>
                </a:solidFill>
                <a:latin typeface="PingFang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3796C"/>
                </a:solidFill>
                <a:latin typeface="PingFang S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219456"/>
            <a:ext cx="10698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62236"/>
                </a:solidFill>
                <a:latin typeface="PingFang SC"/>
              </a:rPr>
              <a:t>本体的核心价值：形成可计算、可治理的语义合同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667512"/>
            <a:ext cx="103327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C6C7E"/>
                </a:solidFill>
                <a:latin typeface="PingFang SC"/>
              </a:rPr>
              <a:t>本体回答“是什么、连到哪里、允许做什么、证据来自哪里”，但不替代水动力计算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0160">
            <a:solidFill>
              <a:srgbClr val="CC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298448"/>
            <a:ext cx="3310128" cy="16093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298448"/>
            <a:ext cx="118872" cy="1609344"/>
          </a:xfrm>
          <a:prstGeom prst="rect">
            <a:avLst/>
          </a:prstGeom>
          <a:solidFill>
            <a:srgbClr val="13796C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499616"/>
            <a:ext cx="1143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13796C"/>
                </a:solidFill>
                <a:latin typeface="Aptos"/>
              </a:rPr>
              <a:t>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02536"/>
            <a:ext cx="2670048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30" b="0">
                <a:solidFill>
                  <a:srgbClr val="2F3F52"/>
                </a:solidFill>
                <a:latin typeface="PingFang SC"/>
              </a:rPr>
              <a:t>水源、渠段、闸门、量测点、田块、管理分区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98448"/>
            <a:ext cx="3310128" cy="16093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298448"/>
            <a:ext cx="118872" cy="1609344"/>
          </a:xfrm>
          <a:prstGeom prst="rect">
            <a:avLst/>
          </a:prstGeom>
          <a:solidFill>
            <a:srgbClr val="2F67AE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499616"/>
            <a:ext cx="1143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2F67AE"/>
                </a:solidFill>
                <a:latin typeface="Aptos"/>
              </a:rPr>
              <a:t>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02536"/>
            <a:ext cx="2670048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30" b="0">
                <a:solidFill>
                  <a:srgbClr val="2F3F52"/>
                </a:solidFill>
                <a:latin typeface="PingFang SC"/>
              </a:rPr>
              <a:t>upstreamOf、controlledBy、observedBy、supplies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298448"/>
            <a:ext cx="3310128" cy="16093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648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28432" y="1298448"/>
            <a:ext cx="118872" cy="1609344"/>
          </a:xfrm>
          <a:prstGeom prst="rect">
            <a:avLst/>
          </a:prstGeom>
          <a:solidFill>
            <a:srgbClr val="648130"/>
          </a:solidFill>
          <a:ln w="13970">
            <a:solidFill>
              <a:srgbClr val="648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1499616"/>
            <a:ext cx="1143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648130"/>
                </a:solidFill>
                <a:latin typeface="Aptos"/>
              </a:rPr>
              <a:t>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002536"/>
            <a:ext cx="2670048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30" b="0">
                <a:solidFill>
                  <a:srgbClr val="2F3F52"/>
                </a:solidFill>
                <a:latin typeface="PingFang SC"/>
              </a:rPr>
              <a:t>事实 / 估计 / 情景状态；时间、单位、质量与版本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36976"/>
            <a:ext cx="3310128" cy="16093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E7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" y="3236976"/>
            <a:ext cx="118872" cy="1609344"/>
          </a:xfrm>
          <a:prstGeom prst="rect">
            <a:avLst/>
          </a:prstGeom>
          <a:solidFill>
            <a:srgbClr val="BE740D"/>
          </a:solidFill>
          <a:ln w="13970">
            <a:solidFill>
              <a:srgbClr val="BE7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438144"/>
            <a:ext cx="1143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BE740D"/>
                </a:solidFill>
                <a:latin typeface="Aptos"/>
              </a:rPr>
              <a:t>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941064"/>
            <a:ext cx="2670048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30" b="0">
                <a:solidFill>
                  <a:srgbClr val="2F3F52"/>
                </a:solidFill>
                <a:latin typeface="PingFang SC"/>
              </a:rPr>
              <a:t>开度、配水比例、启停、时段；对象、范围与权限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236976"/>
            <a:ext cx="3310128" cy="16093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AB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236976"/>
            <a:ext cx="118872" cy="1609344"/>
          </a:xfrm>
          <a:prstGeom prst="rect">
            <a:avLst/>
          </a:prstGeom>
          <a:solidFill>
            <a:srgbClr val="AB433E"/>
          </a:solidFill>
          <a:ln w="13970">
            <a:solidFill>
              <a:srgbClr val="AB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3438144"/>
            <a:ext cx="2177716" cy="37824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 dirty="0">
                <a:solidFill>
                  <a:srgbClr val="AB433E"/>
                </a:solidFill>
                <a:latin typeface="Aptos"/>
              </a:rPr>
              <a:t>Constraint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941064"/>
            <a:ext cx="2670048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30" b="0">
                <a:solidFill>
                  <a:srgbClr val="2F3F52"/>
                </a:solidFill>
                <a:latin typeface="PingFang SC"/>
              </a:rPr>
              <a:t>容量、水权、最低保障、时窗、设备与安全规则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8432" y="3236976"/>
            <a:ext cx="3310128" cy="16093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28432" y="3236976"/>
            <a:ext cx="118872" cy="1609344"/>
          </a:xfrm>
          <a:prstGeom prst="rect">
            <a:avLst/>
          </a:prstGeom>
          <a:solidFill>
            <a:srgbClr val="162236"/>
          </a:solidFill>
          <a:ln w="1397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02752" y="3438144"/>
            <a:ext cx="1143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162236"/>
                </a:solidFill>
                <a:latin typeface="Apto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941064"/>
            <a:ext cx="2670048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30" b="0">
                <a:solidFill>
                  <a:srgbClr val="2F3F52"/>
                </a:solidFill>
                <a:latin typeface="PingFang SC"/>
              </a:rPr>
              <a:t>数据来源、模型版本、适用域、审核与回执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303520"/>
            <a:ext cx="10863072" cy="713232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5513832"/>
            <a:ext cx="103327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3796C"/>
                </a:solidFill>
                <a:latin typeface="PingFang SC"/>
              </a:rPr>
              <a:t>关键控制：</a:t>
            </a:r>
            <a:r>
              <a:rPr sz="1350" b="1">
                <a:solidFill>
                  <a:srgbClr val="162236"/>
                </a:solidFill>
                <a:latin typeface="PingFang SC"/>
              </a:rPr>
              <a:t>空间相交或名称相似不能自动认定为水力连通；权威拓扑必须核验、发布并版本冻结。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510528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5C6C7E"/>
                </a:solidFill>
                <a:latin typeface="PingFang SC"/>
              </a:rPr>
              <a:t>本体驱动的灌区世界模型 · 客户交流材料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28832" y="6473952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C6C7E"/>
                </a:solidFill>
                <a:latin typeface="PingFang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3796C"/>
                </a:solidFill>
                <a:latin typeface="PingFang S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219456"/>
            <a:ext cx="10698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62236"/>
                </a:solidFill>
                <a:latin typeface="PingFang SC"/>
              </a:rPr>
              <a:t>本体如何进入运行链路：不是展示标签，而是约束每一步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667512"/>
            <a:ext cx="103327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C6C7E"/>
                </a:solidFill>
                <a:latin typeface="PingFang SC"/>
              </a:rPr>
              <a:t>自然语言只负责表达意图；对象解析、数据访问和计算调用必须落到已注册合同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0160">
            <a:solidFill>
              <a:srgbClr val="CC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1480" y="1828800"/>
            <a:ext cx="1572768" cy="2011680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 w="1397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2084831"/>
            <a:ext cx="1353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162236"/>
                </a:solidFill>
                <a:latin typeface="PingFang SC"/>
              </a:rPr>
              <a:t>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706624"/>
            <a:ext cx="1335024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2F3F52"/>
                </a:solidFill>
                <a:latin typeface="PingFang SC"/>
              </a:rPr>
              <a:t>未来24小时</a:t>
            </a:r>
            <a:br/>
            <a:r>
              <a:t>来水下降20%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84248" y="2834640"/>
            <a:ext cx="329184" cy="0"/>
          </a:xfrm>
          <a:prstGeom prst="line">
            <a:avLst/>
          </a:prstGeom>
          <a:ln w="20320">
            <a:solidFill>
              <a:srgbClr val="5C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50008" y="1828800"/>
            <a:ext cx="1572768" cy="201168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59736" y="2084831"/>
            <a:ext cx="1353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13796C"/>
                </a:solidFill>
                <a:latin typeface="PingFang SC"/>
              </a:rPr>
              <a:t>Grounding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706624"/>
            <a:ext cx="1335024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2F3F52"/>
                </a:solidFill>
                <a:latin typeface="PingFang SC"/>
              </a:rPr>
              <a:t>范围 / 时间窗</a:t>
            </a:r>
            <a:br/>
            <a:r>
              <a:t>指标 / 对象类型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22776" y="2834640"/>
            <a:ext cx="329184" cy="0"/>
          </a:xfrm>
          <a:prstGeom prst="line">
            <a:avLst/>
          </a:prstGeom>
          <a:ln w="20320">
            <a:solidFill>
              <a:srgbClr val="5C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88536" y="1828800"/>
            <a:ext cx="1572768" cy="201168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98264" y="2084831"/>
            <a:ext cx="1353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2F67AE"/>
                </a:solidFill>
                <a:latin typeface="PingFang SC"/>
              </a:rPr>
              <a:t>Object + 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706624"/>
            <a:ext cx="1335024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2F3F52"/>
                </a:solidFill>
                <a:latin typeface="PingFang SC"/>
              </a:rPr>
              <a:t>R1 → C1</a:t>
            </a:r>
            <a:br/>
            <a:r>
              <a:t>C2/C3 → D1/D2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61304" y="2834640"/>
            <a:ext cx="329184" cy="0"/>
          </a:xfrm>
          <a:prstGeom prst="line">
            <a:avLst/>
          </a:prstGeom>
          <a:ln w="20320">
            <a:solidFill>
              <a:srgbClr val="5C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27064" y="1828800"/>
            <a:ext cx="1572768" cy="2011680"/>
          </a:xfrm>
          <a:prstGeom prst="roundRect">
            <a:avLst>
              <a:gd name="adj" fmla="val 8000"/>
            </a:avLst>
          </a:prstGeom>
          <a:solidFill>
            <a:srgbClr val="EFF4E8"/>
          </a:solidFill>
          <a:ln w="13970">
            <a:solidFill>
              <a:srgbClr val="648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2084831"/>
            <a:ext cx="1353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648130"/>
                </a:solidFill>
                <a:latin typeface="PingFang SC"/>
              </a:rPr>
              <a:t>状态快照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706624"/>
            <a:ext cx="1335024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2F3F52"/>
                </a:solidFill>
                <a:latin typeface="PingFang SC"/>
              </a:rPr>
              <a:t>事实 + 估计</a:t>
            </a:r>
            <a:br/>
            <a:r>
              <a:t>质量 + 版本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99832" y="2834640"/>
            <a:ext cx="329184" cy="0"/>
          </a:xfrm>
          <a:prstGeom prst="line">
            <a:avLst/>
          </a:prstGeom>
          <a:ln w="20320">
            <a:solidFill>
              <a:srgbClr val="5C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65592" y="1828800"/>
            <a:ext cx="1572768" cy="2011680"/>
          </a:xfrm>
          <a:prstGeom prst="roundRect">
            <a:avLst>
              <a:gd name="adj" fmla="val 8000"/>
            </a:avLst>
          </a:prstGeom>
          <a:solidFill>
            <a:srgbClr val="FFF5E0"/>
          </a:solidFill>
          <a:ln w="13970">
            <a:solidFill>
              <a:srgbClr val="BE7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19" y="2084831"/>
            <a:ext cx="1353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BE740D"/>
                </a:solidFill>
                <a:latin typeface="PingFang SC"/>
              </a:rPr>
              <a:t>Function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2706624"/>
            <a:ext cx="1335024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2F3F52"/>
                </a:solidFill>
                <a:latin typeface="PingFang SC"/>
              </a:rPr>
              <a:t>守恒 / 时延</a:t>
            </a:r>
            <a:br/>
            <a:r>
              <a:t>专业模型 / 规划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738360" y="2834640"/>
            <a:ext cx="329184" cy="0"/>
          </a:xfrm>
          <a:prstGeom prst="line">
            <a:avLst/>
          </a:prstGeom>
          <a:ln w="20320">
            <a:solidFill>
              <a:srgbClr val="5C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04120" y="1828800"/>
            <a:ext cx="1572768" cy="2011680"/>
          </a:xfrm>
          <a:prstGeom prst="roundRect">
            <a:avLst>
              <a:gd name="adj" fmla="val 8000"/>
            </a:avLst>
          </a:prstGeom>
          <a:solidFill>
            <a:srgbClr val="F9ECEB"/>
          </a:solidFill>
          <a:ln w="13970">
            <a:solidFill>
              <a:srgbClr val="AB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13848" y="2084831"/>
            <a:ext cx="1353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AB433E"/>
                </a:solidFill>
                <a:latin typeface="PingFang SC"/>
              </a:rPr>
              <a:t>Proposal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2706624"/>
            <a:ext cx="1335024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2F3F52"/>
                </a:solidFill>
                <a:latin typeface="PingFang SC"/>
              </a:rPr>
              <a:t>动作 + 结果</a:t>
            </a:r>
            <a:br/>
            <a:r>
              <a:t>风险 + 证据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352544"/>
            <a:ext cx="5239512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4553712"/>
            <a:ext cx="1051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3796C"/>
                </a:solidFill>
                <a:latin typeface="PingFang SC"/>
              </a:rPr>
              <a:t>允许的路径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4507992"/>
            <a:ext cx="36118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162236"/>
                </a:solidFill>
                <a:latin typeface="PingFang SC"/>
              </a:rPr>
              <a:t>确定性检索对象和关系 → 读取有来源的状态 → 调用注册函数 → 生成待审核 Proposal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4496" y="4352544"/>
            <a:ext cx="5266944" cy="1170432"/>
          </a:xfrm>
          <a:prstGeom prst="roundRect">
            <a:avLst>
              <a:gd name="adj" fmla="val 8000"/>
            </a:avLst>
          </a:prstGeom>
          <a:solidFill>
            <a:srgbClr val="F9ECEB"/>
          </a:solidFill>
          <a:ln w="13970">
            <a:solidFill>
              <a:srgbClr val="AB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4553712"/>
            <a:ext cx="1051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AB433E"/>
                </a:solidFill>
                <a:latin typeface="PingFang SC"/>
              </a:rPr>
              <a:t>禁止的捷径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4507992"/>
            <a:ext cx="36118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162236"/>
                </a:solidFill>
                <a:latin typeface="PingFang SC"/>
              </a:rPr>
              <a:t>LLM 直接猜对象、拼 SQL、绕过函数合同或直接生成设备指令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852160"/>
            <a:ext cx="95097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162236"/>
                </a:solidFill>
                <a:latin typeface="PingFang SC"/>
              </a:rPr>
              <a:t>LLM 是交互与编排入口，不是数据真实性、模型有效性或操作权限的来源。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510528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5C6C7E"/>
                </a:solidFill>
                <a:latin typeface="PingFang SC"/>
              </a:rPr>
              <a:t>本体驱动的灌区世界模型 · 客户交流材料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28832" y="6473952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C6C7E"/>
                </a:solidFill>
                <a:latin typeface="PingFang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3796C"/>
                </a:solidFill>
                <a:latin typeface="PingFang S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219456"/>
            <a:ext cx="10698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62236"/>
                </a:solidFill>
                <a:latin typeface="PingFang SC"/>
              </a:rPr>
              <a:t>世界模型的核心价值：在明确条件下推演未来状态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667512"/>
            <a:ext cx="103327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C6C7E"/>
                </a:solidFill>
                <a:latin typeface="PingFang SC"/>
              </a:rPr>
              <a:t>不预测像素；围绕灌区对象、网络关系和状态变量回答“如果这样做，会怎样”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0160">
            <a:solidFill>
              <a:srgbClr val="CC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07592"/>
            <a:ext cx="7059168" cy="2084831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397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664208"/>
            <a:ext cx="644652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Sₜ₊₁ = F(Sₜ, Uₜ, Wₜ, θ  |  G, 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496312"/>
            <a:ext cx="6400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80" b="0">
                <a:solidFill>
                  <a:srgbClr val="BCCFE0"/>
                </a:solidFill>
                <a:latin typeface="PingFang SC"/>
              </a:rPr>
              <a:t>当前状态    候选动作    外部驱动    模型参数       拓扑关系    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6492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97DCCE"/>
                </a:solidFill>
                <a:latin typeface="PingFang SC"/>
              </a:rPr>
              <a:t>输出不是一句答案，而是未来状态轨迹、约束结果、不确定性与适用范围。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307592"/>
            <a:ext cx="3401568" cy="2084831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5048" y="1627632"/>
            <a:ext cx="28163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2F67AE"/>
                </a:solidFill>
                <a:latin typeface="PingFang SC"/>
              </a:rPr>
              <a:t>条件推演 ≠ 因果证明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2185416"/>
            <a:ext cx="2724912" cy="8503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2F3F52"/>
                </a:solidFill>
                <a:latin typeface="PingFang SC"/>
              </a:rPr>
              <a:t>动作收益需要历史回放、影子运行、对照设计或现场试验支持。模型只在已声明条件和适用域内给出结果。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86200"/>
            <a:ext cx="248716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4133087"/>
            <a:ext cx="21031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162236"/>
                </a:solidFill>
                <a:latin typeface="PingFang SC"/>
              </a:rPr>
              <a:t>到田水量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90288"/>
            <a:ext cx="204825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C6C7E"/>
                </a:solidFill>
                <a:latin typeface="PingFang SC"/>
              </a:rPr>
              <a:t>各灌溉单元的供给与缺口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9856" y="3886200"/>
            <a:ext cx="248716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02736" y="4133087"/>
            <a:ext cx="21031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162236"/>
                </a:solidFill>
                <a:latin typeface="PingFang SC"/>
              </a:rPr>
              <a:t>传播过程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4590288"/>
            <a:ext cx="204825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C6C7E"/>
                </a:solidFill>
                <a:latin typeface="PingFang SC"/>
              </a:rPr>
              <a:t>时延、水位/流量或根区水分轨迹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3886200"/>
            <a:ext cx="248716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64224" y="4133087"/>
            <a:ext cx="21031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162236"/>
                </a:solidFill>
                <a:latin typeface="PingFang SC"/>
              </a:rPr>
              <a:t>约束校核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4590288"/>
            <a:ext cx="204825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C6C7E"/>
                </a:solidFill>
                <a:latin typeface="PingFang SC"/>
              </a:rPr>
              <a:t>容量、最低保障、水权与动作合法性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42832" y="3886200"/>
            <a:ext cx="248716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25712" y="4133087"/>
            <a:ext cx="21031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162236"/>
                </a:solidFill>
                <a:latin typeface="PingFang SC"/>
              </a:rPr>
              <a:t>比较指标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4590288"/>
            <a:ext cx="204825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C6C7E"/>
                </a:solidFill>
                <a:latin typeface="PingFang SC"/>
              </a:rPr>
              <a:t>公平性、能耗、风险与现行方案差异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605272"/>
            <a:ext cx="10863072" cy="475488"/>
          </a:xfrm>
          <a:prstGeom prst="roundRect">
            <a:avLst>
              <a:gd name="adj" fmla="val 8000"/>
            </a:avLst>
          </a:prstGeom>
          <a:solidFill>
            <a:srgbClr val="FFF5E0"/>
          </a:solidFill>
          <a:ln w="13970">
            <a:solidFill>
              <a:srgbClr val="BE7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" y="5715000"/>
            <a:ext cx="103784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62236"/>
                </a:solidFill>
                <a:latin typeface="PingFang SC"/>
              </a:rPr>
              <a:t>模型有效性的前提：状态可识别、参数可校准、守恒可检查、独立时间窗可验证。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10528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5C6C7E"/>
                </a:solidFill>
                <a:latin typeface="PingFang SC"/>
              </a:rPr>
              <a:t>本体驱动的灌区世界模型 · 客户交流材料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28832" y="6473952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C6C7E"/>
                </a:solidFill>
                <a:latin typeface="PingFang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3796C"/>
                </a:solidFill>
                <a:latin typeface="PingFang SC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219456"/>
            <a:ext cx="10698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62236"/>
                </a:solidFill>
                <a:latin typeface="PingFang SC"/>
              </a:rPr>
              <a:t>世界模型的实现机制：可信主线优先，学习模型按证据升级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667512"/>
            <a:ext cx="103327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C6C7E"/>
                </a:solidFill>
                <a:latin typeface="PingFang SC"/>
              </a:rPr>
              <a:t>Geospatial Kernel 提供时空状态与算子执行基础，但与 JEPA 没有天然的架构等价关系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0160">
            <a:solidFill>
              <a:srgbClr val="CC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261872"/>
            <a:ext cx="7516368" cy="86868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261872"/>
            <a:ext cx="1481328" cy="868680"/>
          </a:xfrm>
          <a:prstGeom prst="roundRect">
            <a:avLst>
              <a:gd name="adj" fmla="val 8000"/>
            </a:avLst>
          </a:prstGeom>
          <a:solidFill>
            <a:srgbClr val="13796C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481328"/>
            <a:ext cx="126187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PingFang SC"/>
              </a:rPr>
              <a:t>状态估计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9152" y="1417319"/>
            <a:ext cx="5522976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80" b="0">
                <a:solidFill>
                  <a:srgbClr val="2F3F52"/>
                </a:solidFill>
                <a:latin typeface="PingFang SC"/>
              </a:rPr>
              <a:t>多源观测对齐、缺测处理、事实/估计状态分离、不确定性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77439"/>
            <a:ext cx="7516368" cy="86868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2377439"/>
            <a:ext cx="1481328" cy="868680"/>
          </a:xfrm>
          <a:prstGeom prst="roundRect">
            <a:avLst>
              <a:gd name="adj" fmla="val 8000"/>
            </a:avLst>
          </a:prstGeom>
          <a:solidFill>
            <a:srgbClr val="2F67AE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596896"/>
            <a:ext cx="126187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PingFang SC"/>
              </a:rPr>
              <a:t>守恒与专业模型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532887"/>
            <a:ext cx="5522976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80" b="0">
                <a:solidFill>
                  <a:srgbClr val="2F3F52"/>
                </a:solidFill>
                <a:latin typeface="PingFang SC"/>
              </a:rPr>
              <a:t>水量平衡、渠系时延；按数据条件选择 1D 水动力、渠池、根区水量平衡、FAO-56 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493008"/>
            <a:ext cx="7516368" cy="868680"/>
          </a:xfrm>
          <a:prstGeom prst="roundRect">
            <a:avLst>
              <a:gd name="adj" fmla="val 8000"/>
            </a:avLst>
          </a:prstGeom>
          <a:solidFill>
            <a:srgbClr val="EFF4E8"/>
          </a:solidFill>
          <a:ln w="13970">
            <a:solidFill>
              <a:srgbClr val="648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3493008"/>
            <a:ext cx="1481328" cy="868680"/>
          </a:xfrm>
          <a:prstGeom prst="roundRect">
            <a:avLst>
              <a:gd name="adj" fmla="val 8000"/>
            </a:avLst>
          </a:prstGeom>
          <a:solidFill>
            <a:srgbClr val="648130"/>
          </a:solidFill>
          <a:ln w="13970">
            <a:solidFill>
              <a:srgbClr val="648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" y="3712463"/>
            <a:ext cx="126187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PingFang SC"/>
              </a:rPr>
              <a:t>规划与筛选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9152" y="3648456"/>
            <a:ext cx="5522976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80" b="0">
                <a:solidFill>
                  <a:srgbClr val="2F3F52"/>
                </a:solidFill>
                <a:latin typeface="PingFang SC"/>
              </a:rPr>
              <a:t>规则、网络流、MILP / MPC 或适用搜索；先剔除硬约束违规方案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608576"/>
            <a:ext cx="7516368" cy="868680"/>
          </a:xfrm>
          <a:prstGeom prst="roundRect">
            <a:avLst>
              <a:gd name="adj" fmla="val 8000"/>
            </a:avLst>
          </a:prstGeom>
          <a:solidFill>
            <a:srgbClr val="FFF5E0"/>
          </a:solidFill>
          <a:ln w="13970">
            <a:solidFill>
              <a:srgbClr val="BE7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8368" y="4608576"/>
            <a:ext cx="1481328" cy="868680"/>
          </a:xfrm>
          <a:prstGeom prst="roundRect">
            <a:avLst>
              <a:gd name="adj" fmla="val 8000"/>
            </a:avLst>
          </a:prstGeom>
          <a:solidFill>
            <a:srgbClr val="BE740D"/>
          </a:solidFill>
          <a:ln w="13970">
            <a:solidFill>
              <a:srgbClr val="BE7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4828032"/>
            <a:ext cx="126187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PingFang SC"/>
              </a:rPr>
              <a:t>学习型增量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9152" y="4764024"/>
            <a:ext cx="5522976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80" b="0">
                <a:solidFill>
                  <a:srgbClr val="2F3F52"/>
                </a:solidFill>
                <a:latin typeface="PingFang SC"/>
              </a:rPr>
              <a:t>降阶、图时空、神经算子或 JEPA 仅在同任务独立验证显示增益后进入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0496" y="1261872"/>
            <a:ext cx="2980944" cy="4215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42248" y="1572768"/>
            <a:ext cx="23774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162236"/>
                </a:solidFill>
                <a:latin typeface="PingFang SC"/>
              </a:rPr>
              <a:t>模型门禁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17627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397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0" y="2176272"/>
            <a:ext cx="347472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0888" y="2194560"/>
            <a:ext cx="1508760" cy="2834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2F3F52"/>
                </a:solidFill>
                <a:latin typeface="PingFang SC"/>
              </a:rPr>
              <a:t>可识别性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274320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397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0" y="2743200"/>
            <a:ext cx="347472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0888" y="2761488"/>
            <a:ext cx="1508760" cy="2834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2F3F52"/>
                </a:solidFill>
                <a:latin typeface="PingFang SC"/>
              </a:rPr>
              <a:t>守恒与稳定性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9680" y="331012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397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69680" y="3310128"/>
            <a:ext cx="347472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3328416"/>
            <a:ext cx="1508760" cy="2834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2F3F52"/>
                </a:solidFill>
                <a:latin typeface="PingFang SC"/>
              </a:rPr>
              <a:t>独立窗口精度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69680" y="387705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397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69680" y="3877056"/>
            <a:ext cx="347472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8" y="3895344"/>
            <a:ext cx="1508760" cy="2834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2F3F52"/>
                </a:solidFill>
                <a:latin typeface="PingFang SC"/>
              </a:rPr>
              <a:t>速度与成本增益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9680" y="4443983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397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69680" y="4443983"/>
            <a:ext cx="347472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90888" y="4462271"/>
            <a:ext cx="1508760" cy="2834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2F3F52"/>
                </a:solidFill>
                <a:latin typeface="PingFang SC"/>
              </a:rPr>
              <a:t>适用域与失败保护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779008"/>
            <a:ext cx="10863072" cy="402336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7824" y="5852160"/>
            <a:ext cx="1037844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10" b="1">
                <a:solidFill>
                  <a:srgbClr val="162236"/>
                </a:solidFill>
                <a:latin typeface="PingFang SC"/>
              </a:rPr>
              <a:t>正确路线不是“Kernel 或 JEPA 二选一”，而是先建可信计算基线，再让学习模型在严格基准上证明增量。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6510528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5C6C7E"/>
                </a:solidFill>
                <a:latin typeface="PingFang SC"/>
              </a:rPr>
              <a:t>本体驱动的灌区世界模型 · 客户交流材料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28832" y="6473952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C6C7E"/>
                </a:solidFill>
                <a:latin typeface="PingFang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3796C"/>
                </a:solidFill>
                <a:latin typeface="PingFang SC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219456"/>
            <a:ext cx="10698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62236"/>
                </a:solidFill>
                <a:latin typeface="PingFang SC"/>
              </a:rPr>
              <a:t>本体与世界模型如何形成一条可审查闭环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667512"/>
            <a:ext cx="103327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C6C7E"/>
                </a:solidFill>
                <a:latin typeface="PingFang SC"/>
              </a:rPr>
              <a:t>本体确定计算边界；状态估计冻结输入；模型推演结果；Planner 比较候选；人工承担决策责任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0160">
            <a:solidFill>
              <a:srgbClr val="CC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odiw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188720"/>
            <a:ext cx="7388352" cy="43251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02752" y="1188720"/>
            <a:ext cx="3218688" cy="4325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86216" y="1444752"/>
            <a:ext cx="260604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62236"/>
                </a:solidFill>
                <a:latin typeface="PingFang SC"/>
              </a:rPr>
              <a:t>边界判定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6216" y="1929384"/>
            <a:ext cx="7132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30" b="1">
                <a:solidFill>
                  <a:srgbClr val="13796C"/>
                </a:solidFill>
                <a:latin typeface="PingFang SC"/>
              </a:rPr>
              <a:t>本体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929384"/>
            <a:ext cx="187451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30" b="0">
                <a:solidFill>
                  <a:srgbClr val="2F3F52"/>
                </a:solidFill>
                <a:latin typeface="PingFang SC"/>
              </a:rPr>
              <a:t>不计算水如何传播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86216" y="2551176"/>
            <a:ext cx="7132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30" b="1">
                <a:solidFill>
                  <a:srgbClr val="13796C"/>
                </a:solidFill>
                <a:latin typeface="PingFang SC"/>
              </a:rPr>
              <a:t>世界模型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551176"/>
            <a:ext cx="187451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30" b="0">
                <a:solidFill>
                  <a:srgbClr val="2F3F52"/>
                </a:solidFill>
                <a:latin typeface="PingFang SC"/>
              </a:rPr>
              <a:t>不决定组织权限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6216" y="3172968"/>
            <a:ext cx="7132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30" b="1">
                <a:solidFill>
                  <a:srgbClr val="13796C"/>
                </a:solidFill>
                <a:latin typeface="PingFang SC"/>
              </a:rPr>
              <a:t>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172968"/>
            <a:ext cx="187451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30" b="0">
                <a:solidFill>
                  <a:srgbClr val="2F3F52"/>
                </a:solidFill>
                <a:latin typeface="PingFang SC"/>
              </a:rPr>
              <a:t>不把搜索结果称为全局最优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86216" y="3794760"/>
            <a:ext cx="7132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30" b="1">
                <a:solidFill>
                  <a:srgbClr val="13796C"/>
                </a:solidFill>
                <a:latin typeface="PingFang SC"/>
              </a:rPr>
              <a:t>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794760"/>
            <a:ext cx="187451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30" b="0">
                <a:solidFill>
                  <a:srgbClr val="2F3F52"/>
                </a:solidFill>
                <a:latin typeface="PingFang SC"/>
              </a:rPr>
              <a:t>不直接接触原始库或设备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6216" y="4416552"/>
            <a:ext cx="7132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30" b="1">
                <a:solidFill>
                  <a:srgbClr val="13796C"/>
                </a:solidFill>
                <a:latin typeface="PingFang SC"/>
              </a:rPr>
              <a:t>人工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416552"/>
            <a:ext cx="187451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30" b="0">
                <a:solidFill>
                  <a:srgbClr val="2F3F52"/>
                </a:solidFill>
                <a:latin typeface="PingFang SC"/>
              </a:rPr>
              <a:t>审查适用性并保留最终决定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5760720"/>
            <a:ext cx="10844784" cy="420624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5843016"/>
            <a:ext cx="10332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62236"/>
                </a:solidFill>
                <a:latin typeface="PingFang SC"/>
              </a:rPr>
              <a:t>闭环价值：每个结果都能回答“用了什么对象、状态、规则、模型和审核意见”。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510528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5C6C7E"/>
                </a:solidFill>
                <a:latin typeface="PingFang SC"/>
              </a:rPr>
              <a:t>本体驱动的灌区世界模型 · 客户交流材料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28832" y="6473952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C6C7E"/>
                </a:solidFill>
                <a:latin typeface="PingFang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3796C"/>
                </a:solidFill>
                <a:latin typeface="PingFang SC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219456"/>
            <a:ext cx="10698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62236"/>
                </a:solidFill>
                <a:latin typeface="PingFang SC"/>
              </a:rPr>
              <a:t>Proposal 把计算结果转化为可承担责任的候选方案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667512"/>
            <a:ext cx="103327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C6C7E"/>
                </a:solidFill>
                <a:latin typeface="PingFang SC"/>
              </a:rPr>
              <a:t>动作与执行分离：模型产生 Proposal，有权人员审查，现有系统负责后续工单或控制流程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0160">
            <a:solidFill>
              <a:srgbClr val="CC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280160"/>
            <a:ext cx="704088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54480"/>
            <a:ext cx="4206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62236"/>
                </a:solidFill>
                <a:latin typeface="PingFang SC"/>
              </a:rPr>
              <a:t>Proposal #IRR-20260814-003 · v2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3328" y="1554480"/>
            <a:ext cx="1170432" cy="310896"/>
          </a:xfrm>
          <a:prstGeom prst="roundRect">
            <a:avLst>
              <a:gd name="adj" fmla="val 8000"/>
            </a:avLst>
          </a:prstGeom>
          <a:solidFill>
            <a:srgbClr val="FFF5E0"/>
          </a:solidFill>
          <a:ln w="13970">
            <a:solidFill>
              <a:srgbClr val="FFF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89904" y="1572768"/>
            <a:ext cx="109728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BE740D"/>
                </a:solidFill>
                <a:latin typeface="PingFang SC"/>
              </a:rPr>
              <a:t>待人工审查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48840"/>
            <a:ext cx="1060704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5C6C7E"/>
                </a:solidFill>
                <a:latin typeface="PingFang SC"/>
              </a:rPr>
              <a:t>问题与范围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148840"/>
            <a:ext cx="51023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30" b="0">
                <a:solidFill>
                  <a:srgbClr val="2F3F52"/>
                </a:solidFill>
                <a:latin typeface="PingFang SC"/>
              </a:rPr>
              <a:t>T+0~24h；R1-C1-C2/C3-D1/D2-F1~F4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2688" y="2596896"/>
            <a:ext cx="6473952" cy="0"/>
          </a:xfrm>
          <a:prstGeom prst="line">
            <a:avLst/>
          </a:prstGeom>
          <a:ln w="7620">
            <a:solidFill>
              <a:srgbClr val="CC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32688" y="2670048"/>
            <a:ext cx="1060704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5C6C7E"/>
                </a:solidFill>
                <a:latin typeface="PingFang SC"/>
              </a:rPr>
              <a:t>冻结输入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670048"/>
            <a:ext cx="51023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30" b="0">
                <a:solidFill>
                  <a:srgbClr val="2F3F52"/>
                </a:solidFill>
                <a:latin typeface="PingFang SC"/>
              </a:rPr>
              <a:t>ontology 0.1-demo · state snapshot v0.1 · scenario v0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2688" y="3118104"/>
            <a:ext cx="6473952" cy="0"/>
          </a:xfrm>
          <a:prstGeom prst="line">
            <a:avLst/>
          </a:prstGeom>
          <a:ln w="7620">
            <a:solidFill>
              <a:srgbClr val="CC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3191256"/>
            <a:ext cx="1060704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5C6C7E"/>
                </a:solidFill>
                <a:latin typeface="PingFang SC"/>
              </a:rPr>
              <a:t>候选动作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191256"/>
            <a:ext cx="51023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30" b="0">
                <a:solidFill>
                  <a:srgbClr val="2F3F52"/>
                </a:solidFill>
                <a:latin typeface="PingFang SC"/>
              </a:rPr>
              <a:t>西支渠时段后移 6h；东/西分配比例调整为 45% / 55%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2688" y="3639312"/>
            <a:ext cx="6473952" cy="0"/>
          </a:xfrm>
          <a:prstGeom prst="line">
            <a:avLst/>
          </a:prstGeom>
          <a:ln w="7620">
            <a:solidFill>
              <a:srgbClr val="CC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32688" y="3712464"/>
            <a:ext cx="1060704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5C6C7E"/>
                </a:solidFill>
                <a:latin typeface="PingFang SC"/>
              </a:rPr>
              <a:t>结果摘要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712464"/>
            <a:ext cx="51023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30" b="0">
                <a:solidFill>
                  <a:srgbClr val="2F3F52"/>
                </a:solidFill>
                <a:latin typeface="PingFang SC"/>
              </a:rPr>
              <a:t>到田量、缺口、尾端保障、公平 CV、容量违规、水量账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4160520"/>
            <a:ext cx="6473952" cy="0"/>
          </a:xfrm>
          <a:prstGeom prst="line">
            <a:avLst/>
          </a:prstGeom>
          <a:ln w="7620">
            <a:solidFill>
              <a:srgbClr val="CC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32688" y="4233672"/>
            <a:ext cx="1060704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5C6C7E"/>
                </a:solidFill>
                <a:latin typeface="PingFang SC"/>
              </a:rPr>
              <a:t>限制与风险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233672"/>
            <a:ext cx="51023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30" b="0">
                <a:solidFill>
                  <a:srgbClr val="2F3F52"/>
                </a:solidFill>
                <a:latin typeface="PingFang SC"/>
              </a:rPr>
              <a:t>合成参数；未校准；不代表真实灌区收益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2688" y="4681727"/>
            <a:ext cx="6473952" cy="0"/>
          </a:xfrm>
          <a:prstGeom prst="line">
            <a:avLst/>
          </a:prstGeom>
          <a:ln w="7620">
            <a:solidFill>
              <a:srgbClr val="CC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32688" y="4754879"/>
            <a:ext cx="1060704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5C6C7E"/>
                </a:solidFill>
                <a:latin typeface="PingFang SC"/>
              </a:rPr>
              <a:t>有效期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754879"/>
            <a:ext cx="51023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30" b="0">
                <a:solidFill>
                  <a:srgbClr val="2F3F52"/>
                </a:solidFill>
                <a:latin typeface="PingFang SC"/>
              </a:rPr>
              <a:t>仅限本次场景快照；状态或规则变化后必须重新运行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280160"/>
            <a:ext cx="3474720" cy="1133856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02752" y="1527048"/>
            <a:ext cx="7315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3796C"/>
                </a:solidFill>
                <a:latin typeface="PingFang SC"/>
              </a:rPr>
              <a:t>通过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1901952"/>
            <a:ext cx="285292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2F3F52"/>
                </a:solidFill>
                <a:latin typeface="PingFang SC"/>
              </a:rPr>
              <a:t>记录审核意见，不触发设备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2615184"/>
            <a:ext cx="3474720" cy="1133856"/>
          </a:xfrm>
          <a:prstGeom prst="roundRect">
            <a:avLst>
              <a:gd name="adj" fmla="val 8000"/>
            </a:avLst>
          </a:prstGeom>
          <a:solidFill>
            <a:srgbClr val="FFF5E0"/>
          </a:solidFill>
          <a:ln w="13970">
            <a:solidFill>
              <a:srgbClr val="BE7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02752" y="2862072"/>
            <a:ext cx="7315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BE740D"/>
                </a:solidFill>
                <a:latin typeface="PingFang SC"/>
              </a:rPr>
              <a:t>退回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3236976"/>
            <a:ext cx="285292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2F3F52"/>
                </a:solidFill>
                <a:latin typeface="PingFang SC"/>
              </a:rPr>
              <a:t>补充现场规则、状态或证据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3950208"/>
            <a:ext cx="3474720" cy="1133856"/>
          </a:xfrm>
          <a:prstGeom prst="roundRect">
            <a:avLst>
              <a:gd name="adj" fmla="val 8000"/>
            </a:avLst>
          </a:prstGeom>
          <a:solidFill>
            <a:srgbClr val="F9ECEB"/>
          </a:solidFill>
          <a:ln w="13970">
            <a:solidFill>
              <a:srgbClr val="AB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02752" y="4197096"/>
            <a:ext cx="7315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AB433E"/>
                </a:solidFill>
                <a:latin typeface="PingFang SC"/>
              </a:rPr>
              <a:t>阻断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572000"/>
            <a:ext cx="285292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2F3F52"/>
                </a:solidFill>
                <a:latin typeface="PingFang SC"/>
              </a:rPr>
              <a:t>硬约束违规、输入失效或越权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961888"/>
            <a:ext cx="9784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20" b="1">
                <a:solidFill>
                  <a:srgbClr val="162236"/>
                </a:solidFill>
                <a:latin typeface="PingFang SC"/>
              </a:rPr>
              <a:t>审查记录、修改版本和后续回执共同构成 Evidence。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510528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5C6C7E"/>
                </a:solidFill>
                <a:latin typeface="PingFang SC"/>
              </a:rPr>
              <a:t>本体驱动的灌区世界模型 · 客户交流材料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28832" y="6473952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C6C7E"/>
                </a:solidFill>
                <a:latin typeface="PingFang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3796C"/>
                </a:solidFill>
                <a:latin typeface="PingFang SC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219456"/>
            <a:ext cx="10698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62236"/>
                </a:solidFill>
                <a:latin typeface="PingFang SC"/>
              </a:rPr>
              <a:t>今天的 Demo：真实服务架构，合成业务场景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667512"/>
            <a:ext cx="103327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C6C7E"/>
                </a:solidFill>
                <a:latin typeface="PingFang SC"/>
              </a:rPr>
              <a:t>用于证明语义、推演、Proposal 与审核机制已经连通；不用于证明真实灌区预测精度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0160">
            <a:solidFill>
              <a:srgbClr val="CC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odiwm_demo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36850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5212080"/>
            <a:ext cx="3319272" cy="86868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5376672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3796C"/>
                </a:solidFill>
                <a:latin typeface="PingFang SC"/>
              </a:rPr>
              <a:t>后端权威运行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5358384"/>
            <a:ext cx="16459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2F3F52"/>
                </a:solidFill>
                <a:latin typeface="PingFang SC"/>
              </a:rPr>
              <a:t>场景、公式、运行版本与审计在服务端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5212080"/>
            <a:ext cx="3319272" cy="86868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98264" y="5376672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2F67AE"/>
                </a:solidFill>
                <a:latin typeface="PingFang SC"/>
              </a:rPr>
              <a:t>API 驱动前端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9552" y="5358384"/>
            <a:ext cx="16459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2F3F52"/>
                </a:solidFill>
                <a:latin typeface="PingFang SC"/>
              </a:rPr>
              <a:t>参数、运行、回放与审核通过接口交互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2672" y="5212080"/>
            <a:ext cx="3858768" cy="868680"/>
          </a:xfrm>
          <a:prstGeom prst="roundRect">
            <a:avLst>
              <a:gd name="adj" fmla="val 8000"/>
            </a:avLst>
          </a:prstGeom>
          <a:solidFill>
            <a:srgbClr val="FFF5E0"/>
          </a:solidFill>
          <a:ln w="13970">
            <a:solidFill>
              <a:srgbClr val="BE7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0416" y="5376672"/>
            <a:ext cx="93268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BE740D"/>
                </a:solidFill>
                <a:latin typeface="PingFang SC"/>
              </a:rPr>
              <a:t>当前边界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5358384"/>
            <a:ext cx="23774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2F3F52"/>
                </a:solidFill>
                <a:latin typeface="PingFang SC"/>
              </a:rPr>
              <a:t>合成参数 · 未校准 · Proposal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10528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5C6C7E"/>
                </a:solidFill>
                <a:latin typeface="PingFang SC"/>
              </a:rPr>
              <a:t>本体驱动的灌区世界模型 · 客户交流材料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28832" y="6473952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C6C7E"/>
                </a:solidFill>
                <a:latin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3796C"/>
                </a:solidFill>
                <a:latin typeface="PingFang SC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219456"/>
            <a:ext cx="10698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62236"/>
                </a:solidFill>
                <a:latin typeface="PingFang SC"/>
              </a:rPr>
              <a:t>面向真实项目的系统结构：可替换数据与模型，不重写业务闭环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667512"/>
            <a:ext cx="103327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C6C7E"/>
                </a:solidFill>
                <a:latin typeface="PingFang SC"/>
              </a:rPr>
              <a:t>一期把演示内核替换为客户数据、经校准模型和持久化审计；设备控制仍保持隔离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0160">
            <a:solidFill>
              <a:srgbClr val="CC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298448"/>
            <a:ext cx="2523744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2523744" cy="68580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397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481328"/>
            <a:ext cx="2231136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</a:rPr>
              <a:t>业务交互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2286000"/>
            <a:ext cx="2121408" cy="475488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 w="13970">
            <a:solidFill>
              <a:srgbClr val="EF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97510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60" b="1">
                <a:solidFill>
                  <a:srgbClr val="2F3F52"/>
                </a:solidFill>
                <a:latin typeface="PingFang SC"/>
              </a:rPr>
              <a:t>自然语言问题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2980944"/>
            <a:ext cx="2121408" cy="475488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 w="13970">
            <a:solidFill>
              <a:srgbClr val="EF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072384"/>
            <a:ext cx="197510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60" b="0">
                <a:solidFill>
                  <a:srgbClr val="2F3F52"/>
                </a:solidFill>
                <a:latin typeface="PingFang SC"/>
              </a:rPr>
              <a:t>渠系与状态视图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" y="3675887"/>
            <a:ext cx="2121408" cy="475488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 w="13970">
            <a:solidFill>
              <a:srgbClr val="EF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767327"/>
            <a:ext cx="197510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60" b="0">
                <a:solidFill>
                  <a:srgbClr val="2F3F52"/>
                </a:solidFill>
                <a:latin typeface="PingFang SC"/>
              </a:rPr>
              <a:t>方案对比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" y="4370832"/>
            <a:ext cx="2121408" cy="475488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 w="13970">
            <a:solidFill>
              <a:srgbClr val="EF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462272"/>
            <a:ext cx="197510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60" b="0">
                <a:solidFill>
                  <a:srgbClr val="2F3F52"/>
                </a:solidFill>
                <a:latin typeface="PingFang SC"/>
              </a:rPr>
              <a:t>Proposal 审核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44952" y="3438144"/>
            <a:ext cx="274320" cy="0"/>
          </a:xfrm>
          <a:prstGeom prst="line">
            <a:avLst/>
          </a:prstGeom>
          <a:ln w="19050">
            <a:solidFill>
              <a:srgbClr val="5C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401568" y="1298448"/>
            <a:ext cx="2523744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401568" y="1298448"/>
            <a:ext cx="2523744" cy="685800"/>
          </a:xfrm>
          <a:prstGeom prst="roundRect">
            <a:avLst>
              <a:gd name="adj" fmla="val 8000"/>
            </a:avLst>
          </a:prstGeom>
          <a:solidFill>
            <a:srgbClr val="13796C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47872" y="1481328"/>
            <a:ext cx="2231136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</a:rPr>
              <a:t>应用服务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02736" y="2286000"/>
            <a:ext cx="2121408" cy="475488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13970">
            <a:solidFill>
              <a:srgbClr val="E7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75887" y="2377440"/>
            <a:ext cx="197510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60" b="1">
                <a:solidFill>
                  <a:srgbClr val="2F3F52"/>
                </a:solidFill>
                <a:latin typeface="PingFang SC"/>
              </a:rPr>
              <a:t>Ontology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02736" y="2980944"/>
            <a:ext cx="2121408" cy="475488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13970">
            <a:solidFill>
              <a:srgbClr val="E7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75887" y="3072384"/>
            <a:ext cx="197510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60" b="0">
                <a:solidFill>
                  <a:srgbClr val="2F3F52"/>
                </a:solidFill>
                <a:latin typeface="PingFang SC"/>
              </a:rPr>
              <a:t>Snapshot 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2736" y="3675887"/>
            <a:ext cx="2121408" cy="475488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13970">
            <a:solidFill>
              <a:srgbClr val="E7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75887" y="3767327"/>
            <a:ext cx="197510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60" b="0">
                <a:solidFill>
                  <a:srgbClr val="2F3F52"/>
                </a:solidFill>
                <a:latin typeface="PingFang SC"/>
              </a:rPr>
              <a:t>Scenario Run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02736" y="4370832"/>
            <a:ext cx="2121408" cy="475488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13970">
            <a:solidFill>
              <a:srgbClr val="E7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75887" y="4462272"/>
            <a:ext cx="197510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60" b="0">
                <a:solidFill>
                  <a:srgbClr val="2F3F52"/>
                </a:solidFill>
                <a:latin typeface="PingFang SC"/>
              </a:rPr>
              <a:t>Proposal / Audit API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43600" y="3438144"/>
            <a:ext cx="274320" cy="0"/>
          </a:xfrm>
          <a:prstGeom prst="line">
            <a:avLst/>
          </a:prstGeom>
          <a:ln w="19050">
            <a:solidFill>
              <a:srgbClr val="5C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300216" y="1298448"/>
            <a:ext cx="2523744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300216" y="1298448"/>
            <a:ext cx="2523744" cy="685800"/>
          </a:xfrm>
          <a:prstGeom prst="roundRect">
            <a:avLst>
              <a:gd name="adj" fmla="val 8000"/>
            </a:avLst>
          </a:prstGeom>
          <a:solidFill>
            <a:srgbClr val="2F67AE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1481328"/>
            <a:ext cx="2231136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</a:rPr>
              <a:t>计算运行时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01383" y="2286000"/>
            <a:ext cx="2121408" cy="475488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13970">
            <a:solidFill>
              <a:srgbClr val="E8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74536" y="2377440"/>
            <a:ext cx="197510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60" b="1">
                <a:solidFill>
                  <a:srgbClr val="2F3F52"/>
                </a:solidFill>
                <a:latin typeface="PingFang SC"/>
              </a:rPr>
              <a:t>状态估计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01383" y="2980944"/>
            <a:ext cx="2121408" cy="475488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13970">
            <a:solidFill>
              <a:srgbClr val="E8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74536" y="3072384"/>
            <a:ext cx="197510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60" b="0">
                <a:solidFill>
                  <a:srgbClr val="2F3F52"/>
                </a:solidFill>
                <a:latin typeface="PingFang SC"/>
              </a:rPr>
              <a:t>守恒与专业模型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01383" y="3675887"/>
            <a:ext cx="2121408" cy="475488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13970">
            <a:solidFill>
              <a:srgbClr val="E8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74536" y="3767327"/>
            <a:ext cx="197510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60" b="0">
                <a:solidFill>
                  <a:srgbClr val="2F3F52"/>
                </a:solidFill>
                <a:latin typeface="PingFang SC"/>
              </a:rPr>
              <a:t>Planner / Solver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01383" y="4370832"/>
            <a:ext cx="2121408" cy="475488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13970">
            <a:solidFill>
              <a:srgbClr val="E8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74536" y="4462272"/>
            <a:ext cx="197510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60" b="0">
                <a:solidFill>
                  <a:srgbClr val="2F3F52"/>
                </a:solidFill>
                <a:latin typeface="PingFang SC"/>
              </a:rPr>
              <a:t>模型门禁与 Evals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842248" y="3438144"/>
            <a:ext cx="274319" cy="0"/>
          </a:xfrm>
          <a:prstGeom prst="line">
            <a:avLst/>
          </a:prstGeom>
          <a:ln w="19050">
            <a:solidFill>
              <a:srgbClr val="5C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198864" y="1298448"/>
            <a:ext cx="2523744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648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198864" y="1298448"/>
            <a:ext cx="2523744" cy="685800"/>
          </a:xfrm>
          <a:prstGeom prst="roundRect">
            <a:avLst>
              <a:gd name="adj" fmla="val 8000"/>
            </a:avLst>
          </a:prstGeom>
          <a:solidFill>
            <a:srgbClr val="648130"/>
          </a:solidFill>
          <a:ln w="13970">
            <a:solidFill>
              <a:srgbClr val="648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345168" y="1481328"/>
            <a:ext cx="2231136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</a:rPr>
              <a:t>数据与治理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00032" y="2286000"/>
            <a:ext cx="2121408" cy="475488"/>
          </a:xfrm>
          <a:prstGeom prst="roundRect">
            <a:avLst>
              <a:gd name="adj" fmla="val 8000"/>
            </a:avLst>
          </a:prstGeom>
          <a:solidFill>
            <a:srgbClr val="EFF4E8"/>
          </a:solidFill>
          <a:ln w="13970">
            <a:solidFill>
              <a:srgbClr val="EFF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473184" y="2377440"/>
            <a:ext cx="197510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60" b="1">
                <a:solidFill>
                  <a:srgbClr val="2F3F52"/>
                </a:solidFill>
                <a:latin typeface="PingFang SC"/>
              </a:rPr>
              <a:t>GIS 与工程台账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00032" y="2980944"/>
            <a:ext cx="2121408" cy="475488"/>
          </a:xfrm>
          <a:prstGeom prst="roundRect">
            <a:avLst>
              <a:gd name="adj" fmla="val 8000"/>
            </a:avLst>
          </a:prstGeom>
          <a:solidFill>
            <a:srgbClr val="EFF4E8"/>
          </a:solidFill>
          <a:ln w="13970">
            <a:solidFill>
              <a:srgbClr val="EFF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73184" y="3072384"/>
            <a:ext cx="197510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60" b="0">
                <a:solidFill>
                  <a:srgbClr val="2F3F52"/>
                </a:solidFill>
                <a:latin typeface="PingFang SC"/>
              </a:rPr>
              <a:t>时序观测与预报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00032" y="3675887"/>
            <a:ext cx="2121408" cy="475488"/>
          </a:xfrm>
          <a:prstGeom prst="roundRect">
            <a:avLst>
              <a:gd name="adj" fmla="val 8000"/>
            </a:avLst>
          </a:prstGeom>
          <a:solidFill>
            <a:srgbClr val="EFF4E8"/>
          </a:solidFill>
          <a:ln w="13970">
            <a:solidFill>
              <a:srgbClr val="EFF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473184" y="3767327"/>
            <a:ext cx="197510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60" b="0">
                <a:solidFill>
                  <a:srgbClr val="2F3F52"/>
                </a:solidFill>
                <a:latin typeface="PingFang SC"/>
              </a:rPr>
              <a:t>规则 / 水权 / 工单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00032" y="4370832"/>
            <a:ext cx="2121408" cy="475488"/>
          </a:xfrm>
          <a:prstGeom prst="roundRect">
            <a:avLst>
              <a:gd name="adj" fmla="val 8000"/>
            </a:avLst>
          </a:prstGeom>
          <a:solidFill>
            <a:srgbClr val="EFF4E8"/>
          </a:solidFill>
          <a:ln w="13970">
            <a:solidFill>
              <a:srgbClr val="EFF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73184" y="4462272"/>
            <a:ext cx="197510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60" b="0">
                <a:solidFill>
                  <a:srgbClr val="2F3F52"/>
                </a:solidFill>
                <a:latin typeface="PingFang SC"/>
              </a:rPr>
              <a:t>版本、来源与权限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" y="5833872"/>
            <a:ext cx="10863072" cy="384048"/>
          </a:xfrm>
          <a:prstGeom prst="roundRect">
            <a:avLst>
              <a:gd name="adj" fmla="val 8000"/>
            </a:avLst>
          </a:prstGeom>
          <a:solidFill>
            <a:srgbClr val="F9ECEB"/>
          </a:solidFill>
          <a:ln w="13970">
            <a:solidFill>
              <a:srgbClr val="AB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68680" y="5897880"/>
            <a:ext cx="1042416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80" b="1">
                <a:solidFill>
                  <a:srgbClr val="162236"/>
                </a:solidFill>
                <a:latin typeface="PingFang SC"/>
              </a:rPr>
              <a:t>控制隔离：Proposal API 与设备 Action API 分离；一期仅提供审查输出，不下发真实控制指令。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6510528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5C6C7E"/>
                </a:solidFill>
                <a:latin typeface="PingFang SC"/>
              </a:rPr>
              <a:t>本体驱动的灌区世界模型 · 客户交流材料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28832" y="6473952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C6C7E"/>
                </a:solidFill>
                <a:latin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3796C"/>
                </a:solidFill>
                <a:latin typeface="PingFang SC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219456"/>
            <a:ext cx="10698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62236"/>
                </a:solidFill>
                <a:latin typeface="PingFang SC"/>
              </a:rPr>
              <a:t>真实灌区落地的决定因素是数据合同与现场校准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667512"/>
            <a:ext cx="103327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C6C7E"/>
                </a:solidFill>
                <a:latin typeface="PingFang SC"/>
              </a:rPr>
              <a:t>美国水库数据可用于研发验证，不作为中国灌区业务证据，也不在客户 Demo 中外发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0160">
            <a:solidFill>
              <a:srgbClr val="CC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16736"/>
            <a:ext cx="3310128" cy="3090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316736"/>
            <a:ext cx="3310128" cy="713232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517904"/>
            <a:ext cx="290779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3796C"/>
                </a:solidFill>
                <a:latin typeface="PingFang SC"/>
              </a:rPr>
              <a:t>静态与拓扑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04288"/>
            <a:ext cx="2761488" cy="16642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3000"/>
              </a:lnSpc>
              <a:spcAft>
                <a:spcPts val="800"/>
              </a:spcAft>
              <a:defRPr sz="1200">
                <a:solidFill>
                  <a:srgbClr val="2F3F52"/>
                </a:solidFill>
                <a:latin typeface="PingFang SC"/>
              </a:defRPr>
            </a:pPr>
            <a:r>
              <a:rPr>
                <a:solidFill>
                  <a:srgbClr val="2F3F52"/>
                </a:solidFill>
              </a:rPr>
              <a:t>• 灌区边界、管理分区、渠系方向</a:t>
            </a:r>
          </a:p>
          <a:p>
            <a:pPr>
              <a:lnSpc>
                <a:spcPct val="113000"/>
              </a:lnSpc>
              <a:spcAft>
                <a:spcPts val="800"/>
              </a:spcAft>
              <a:defRPr sz="1200">
                <a:solidFill>
                  <a:srgbClr val="2F3F52"/>
                </a:solidFill>
                <a:latin typeface="PingFang SC"/>
              </a:defRPr>
            </a:pPr>
            <a:r>
              <a:rPr>
                <a:solidFill>
                  <a:srgbClr val="2F3F52"/>
                </a:solidFill>
              </a:rPr>
              <a:t>• 闸泵、分水口、量测点与控制关系</a:t>
            </a:r>
          </a:p>
          <a:p>
            <a:pPr>
              <a:lnSpc>
                <a:spcPct val="113000"/>
              </a:lnSpc>
              <a:spcAft>
                <a:spcPts val="800"/>
              </a:spcAft>
              <a:defRPr sz="1200">
                <a:solidFill>
                  <a:srgbClr val="2F3F52"/>
                </a:solidFill>
                <a:latin typeface="PingFang SC"/>
              </a:defRPr>
            </a:pPr>
            <a:r>
              <a:rPr>
                <a:solidFill>
                  <a:srgbClr val="2F3F52"/>
                </a:solidFill>
              </a:rPr>
              <a:t>• 田块、土壤、作物与供水关系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5" y="1316736"/>
            <a:ext cx="3310128" cy="3090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34255" y="1316736"/>
            <a:ext cx="3310128" cy="713232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5423" y="1517904"/>
            <a:ext cx="290779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2F67AE"/>
                </a:solidFill>
                <a:latin typeface="PingFang SC"/>
              </a:rPr>
              <a:t>动态与外部驱动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04288"/>
            <a:ext cx="2761488" cy="16642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3000"/>
              </a:lnSpc>
              <a:spcAft>
                <a:spcPts val="800"/>
              </a:spcAft>
              <a:defRPr sz="1200">
                <a:solidFill>
                  <a:srgbClr val="2F3F52"/>
                </a:solidFill>
                <a:latin typeface="PingFang SC"/>
              </a:defRPr>
            </a:pPr>
            <a:r>
              <a:rPr>
                <a:solidFill>
                  <a:srgbClr val="2F3F52"/>
                </a:solidFill>
              </a:rPr>
              <a:t>• 流量、水位、闸位、工况与告警</a:t>
            </a:r>
          </a:p>
          <a:p>
            <a:pPr>
              <a:lnSpc>
                <a:spcPct val="113000"/>
              </a:lnSpc>
              <a:spcAft>
                <a:spcPts val="800"/>
              </a:spcAft>
              <a:defRPr sz="1200">
                <a:solidFill>
                  <a:srgbClr val="2F3F52"/>
                </a:solidFill>
                <a:latin typeface="PingFang SC"/>
              </a:defRPr>
            </a:pPr>
            <a:r>
              <a:rPr>
                <a:solidFill>
                  <a:srgbClr val="2F3F52"/>
                </a:solidFill>
              </a:rPr>
              <a:t>• 气象、降雨、遥感、土壤水分</a:t>
            </a:r>
          </a:p>
          <a:p>
            <a:pPr>
              <a:lnSpc>
                <a:spcPct val="113000"/>
              </a:lnSpc>
              <a:spcAft>
                <a:spcPts val="800"/>
              </a:spcAft>
              <a:defRPr sz="1200">
                <a:solidFill>
                  <a:srgbClr val="2F3F52"/>
                </a:solidFill>
                <a:latin typeface="PingFang SC"/>
              </a:defRPr>
            </a:pPr>
            <a:r>
              <a:rPr>
                <a:solidFill>
                  <a:srgbClr val="2F3F52"/>
                </a:solidFill>
              </a:rPr>
              <a:t>• 预报发布时间、修订时间与可用时间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316736"/>
            <a:ext cx="3310128" cy="3090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E7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10144" y="1316736"/>
            <a:ext cx="3310128" cy="713232"/>
          </a:xfrm>
          <a:prstGeom prst="roundRect">
            <a:avLst>
              <a:gd name="adj" fmla="val 8000"/>
            </a:avLst>
          </a:prstGeom>
          <a:solidFill>
            <a:srgbClr val="FFF5E0"/>
          </a:solidFill>
          <a:ln w="13970">
            <a:solidFill>
              <a:srgbClr val="BE7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517904"/>
            <a:ext cx="290779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BE740D"/>
                </a:solidFill>
                <a:latin typeface="PingFang SC"/>
              </a:rPr>
              <a:t>规则与运行证据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304288"/>
            <a:ext cx="2761488" cy="16642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3000"/>
              </a:lnSpc>
              <a:spcAft>
                <a:spcPts val="800"/>
              </a:spcAft>
              <a:defRPr sz="1200">
                <a:solidFill>
                  <a:srgbClr val="2F3F52"/>
                </a:solidFill>
                <a:latin typeface="PingFang SC"/>
              </a:defRPr>
            </a:pPr>
            <a:r>
              <a:rPr>
                <a:solidFill>
                  <a:srgbClr val="2F3F52"/>
                </a:solidFill>
              </a:rPr>
              <a:t>• 水权、配额、轮灌、安全与例外规则</a:t>
            </a:r>
          </a:p>
          <a:p>
            <a:pPr>
              <a:lnSpc>
                <a:spcPct val="113000"/>
              </a:lnSpc>
              <a:spcAft>
                <a:spcPts val="800"/>
              </a:spcAft>
              <a:defRPr sz="1200">
                <a:solidFill>
                  <a:srgbClr val="2F3F52"/>
                </a:solidFill>
                <a:latin typeface="PingFang SC"/>
              </a:defRPr>
            </a:pPr>
            <a:r>
              <a:rPr>
                <a:solidFill>
                  <a:srgbClr val="2F3F52"/>
                </a:solidFill>
              </a:rPr>
              <a:t>• 计划、人工调整、审批与实际过流</a:t>
            </a:r>
          </a:p>
          <a:p>
            <a:pPr>
              <a:lnSpc>
                <a:spcPct val="113000"/>
              </a:lnSpc>
              <a:spcAft>
                <a:spcPts val="800"/>
              </a:spcAft>
              <a:defRPr sz="1200">
                <a:solidFill>
                  <a:srgbClr val="2F3F52"/>
                </a:solidFill>
                <a:latin typeface="PingFang SC"/>
              </a:defRPr>
            </a:pPr>
            <a:r>
              <a:rPr>
                <a:solidFill>
                  <a:srgbClr val="2F3F52"/>
                </a:solidFill>
              </a:rPr>
              <a:t>• 采纳、修改、驳回原因和事后结果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4800600"/>
            <a:ext cx="148132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62236"/>
                </a:solidFill>
                <a:latin typeface="PingFang SC"/>
              </a:rPr>
              <a:t>每条状态至少携带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4773168"/>
            <a:ext cx="896112" cy="310896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 w="13970">
            <a:solidFill>
              <a:srgbClr val="EF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22576" y="4791455"/>
            <a:ext cx="82296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162236"/>
                </a:solidFill>
                <a:latin typeface="PingFang SC"/>
              </a:rPr>
              <a:t>时间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4773168"/>
            <a:ext cx="896112" cy="310896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 w="13970">
            <a:solidFill>
              <a:srgbClr val="EF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65576" y="4791455"/>
            <a:ext cx="82296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162236"/>
                </a:solidFill>
                <a:latin typeface="PingFang SC"/>
              </a:rPr>
              <a:t>单位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4773168"/>
            <a:ext cx="896112" cy="310896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 w="13970">
            <a:solidFill>
              <a:srgbClr val="EF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08576" y="4791455"/>
            <a:ext cx="82296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162236"/>
                </a:solidFill>
                <a:latin typeface="PingFang SC"/>
              </a:rPr>
              <a:t>来源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4773168"/>
            <a:ext cx="896112" cy="310896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 w="13970">
            <a:solidFill>
              <a:srgbClr val="EF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51576" y="4791455"/>
            <a:ext cx="82296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162236"/>
                </a:solidFill>
                <a:latin typeface="PingFang SC"/>
              </a:rPr>
              <a:t>质量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4773168"/>
            <a:ext cx="896112" cy="310896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 w="13970">
            <a:solidFill>
              <a:srgbClr val="EF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94576" y="4791455"/>
            <a:ext cx="82296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162236"/>
                </a:solidFill>
                <a:latin typeface="PingFang SC"/>
              </a:rPr>
              <a:t>空间范围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4773168"/>
            <a:ext cx="896112" cy="310896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 w="13970">
            <a:solidFill>
              <a:srgbClr val="EF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37575" y="4791455"/>
            <a:ext cx="82296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162236"/>
                </a:solidFill>
                <a:latin typeface="PingFang SC"/>
              </a:rPr>
              <a:t>版本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4773168"/>
            <a:ext cx="896112" cy="310896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 w="13970">
            <a:solidFill>
              <a:srgbClr val="EF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80576" y="4791455"/>
            <a:ext cx="82296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162236"/>
                </a:solidFill>
                <a:latin typeface="PingFang SC"/>
              </a:rPr>
              <a:t>可用时间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413248"/>
            <a:ext cx="10863072" cy="731520"/>
          </a:xfrm>
          <a:prstGeom prst="roundRect">
            <a:avLst>
              <a:gd name="adj" fmla="val 8000"/>
            </a:avLst>
          </a:prstGeom>
          <a:solidFill>
            <a:srgbClr val="F9ECEB"/>
          </a:solidFill>
          <a:ln w="13970">
            <a:solidFill>
              <a:srgbClr val="AB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5586984"/>
            <a:ext cx="3291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1">
                <a:solidFill>
                  <a:srgbClr val="AB433E"/>
                </a:solidFill>
                <a:latin typeface="PingFang SC"/>
              </a:rPr>
              <a:t>历史回放必须只使用当时实际可获得的数据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5559552"/>
            <a:ext cx="70408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40" b="1">
                <a:solidFill>
                  <a:srgbClr val="162236"/>
                </a:solidFill>
                <a:latin typeface="PingFang SC"/>
              </a:rPr>
              <a:t>禁止把事后修订的天气、观测或结果信息带入过去，否则会产生数据泄漏和虚假精度。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510528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5C6C7E"/>
                </a:solidFill>
                <a:latin typeface="PingFang SC"/>
              </a:rPr>
              <a:t>本体驱动的灌区世界模型 · 客户交流材料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28832" y="6473952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C6C7E"/>
                </a:solidFill>
                <a:latin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3796C"/>
                </a:solidFill>
                <a:latin typeface="PingFang SC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219456"/>
            <a:ext cx="10698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62236"/>
                </a:solidFill>
                <a:latin typeface="PingFang SC"/>
              </a:rPr>
              <a:t>建议路线：先数字影子与条件推演，再决定是否扩大自动化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667512"/>
            <a:ext cx="103327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C6C7E"/>
                </a:solidFill>
                <a:latin typeface="PingFang SC"/>
              </a:rPr>
              <a:t>每个阶段以进入条件为门禁；不以功能清单代替数据、模型和运行验证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0160">
            <a:solidFill>
              <a:srgbClr val="CC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93192" y="1847088"/>
            <a:ext cx="1627632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5256" y="1408176"/>
            <a:ext cx="603504" cy="603504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397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1517904"/>
            <a:ext cx="60350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267712"/>
            <a:ext cx="1371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2236"/>
                </a:solidFill>
                <a:latin typeface="PingFang SC"/>
              </a:rPr>
              <a:t>现场确认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944368"/>
            <a:ext cx="1298448" cy="7132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2F3F52"/>
                </a:solidFill>
                <a:latin typeface="PingFang SC"/>
              </a:rPr>
              <a:t>场景、对象、指标与边界冻结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39112" y="2990088"/>
            <a:ext cx="256032" cy="0"/>
          </a:xfrm>
          <a:prstGeom prst="line">
            <a:avLst/>
          </a:prstGeom>
          <a:ln w="17780">
            <a:solidFill>
              <a:srgbClr val="5C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40864" y="1847088"/>
            <a:ext cx="1627632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52928" y="1408176"/>
            <a:ext cx="603504" cy="603504"/>
          </a:xfrm>
          <a:prstGeom prst="roundRect">
            <a:avLst>
              <a:gd name="adj" fmla="val 8000"/>
            </a:avLst>
          </a:prstGeom>
          <a:solidFill>
            <a:srgbClr val="13796C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52928" y="1517904"/>
            <a:ext cx="60350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267712"/>
            <a:ext cx="1371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3796C"/>
                </a:solidFill>
                <a:latin typeface="PingFang SC"/>
              </a:rPr>
              <a:t>语义与数据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5456" y="2944368"/>
            <a:ext cx="1298448" cy="7132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2F3F52"/>
                </a:solidFill>
                <a:latin typeface="PingFang SC"/>
              </a:rPr>
              <a:t>Profile、权威拓扑、数据质量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86784" y="2990088"/>
            <a:ext cx="256032" cy="0"/>
          </a:xfrm>
          <a:prstGeom prst="line">
            <a:avLst/>
          </a:prstGeom>
          <a:ln w="17780">
            <a:solidFill>
              <a:srgbClr val="5C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8536" y="1847088"/>
            <a:ext cx="1627632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800600" y="1408176"/>
            <a:ext cx="603504" cy="603504"/>
          </a:xfrm>
          <a:prstGeom prst="roundRect">
            <a:avLst>
              <a:gd name="adj" fmla="val 8000"/>
            </a:avLst>
          </a:prstGeom>
          <a:solidFill>
            <a:srgbClr val="2F67AE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00600" y="1517904"/>
            <a:ext cx="60350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1" y="2267712"/>
            <a:ext cx="1371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F67AE"/>
                </a:solidFill>
                <a:latin typeface="PingFang SC"/>
              </a:rPr>
              <a:t>数字影子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7" y="2944368"/>
            <a:ext cx="1298448" cy="7132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2F3F52"/>
                </a:solidFill>
                <a:latin typeface="PingFang SC"/>
              </a:rPr>
              <a:t>历史/准实时状态与回放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34455" y="2990088"/>
            <a:ext cx="256033" cy="0"/>
          </a:xfrm>
          <a:prstGeom prst="line">
            <a:avLst/>
          </a:prstGeom>
          <a:ln w="17780">
            <a:solidFill>
              <a:srgbClr val="5C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36207" y="1847088"/>
            <a:ext cx="1627632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648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748271" y="1408176"/>
            <a:ext cx="603504" cy="603504"/>
          </a:xfrm>
          <a:prstGeom prst="roundRect">
            <a:avLst>
              <a:gd name="adj" fmla="val 8000"/>
            </a:avLst>
          </a:prstGeom>
          <a:solidFill>
            <a:srgbClr val="648130"/>
          </a:solidFill>
          <a:ln w="13970">
            <a:solidFill>
              <a:srgbClr val="648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48271" y="1517904"/>
            <a:ext cx="60350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3" y="2267712"/>
            <a:ext cx="1371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648130"/>
                </a:solidFill>
                <a:latin typeface="PingFang SC"/>
              </a:rPr>
              <a:t>条件推演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799" y="2944368"/>
            <a:ext cx="1298448" cy="7132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2F3F52"/>
                </a:solidFill>
                <a:latin typeface="PingFang SC"/>
              </a:rPr>
              <a:t>校准模型、候选比较、Proposal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82127" y="2990088"/>
            <a:ext cx="256032" cy="0"/>
          </a:xfrm>
          <a:prstGeom prst="line">
            <a:avLst/>
          </a:prstGeom>
          <a:ln w="17780">
            <a:solidFill>
              <a:srgbClr val="5C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83879" y="1847088"/>
            <a:ext cx="1627632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E7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95944" y="1408176"/>
            <a:ext cx="603504" cy="603504"/>
          </a:xfrm>
          <a:prstGeom prst="roundRect">
            <a:avLst>
              <a:gd name="adj" fmla="val 8000"/>
            </a:avLst>
          </a:prstGeom>
          <a:solidFill>
            <a:srgbClr val="BE740D"/>
          </a:solidFill>
          <a:ln w="13970">
            <a:solidFill>
              <a:srgbClr val="BE7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95944" y="1517904"/>
            <a:ext cx="60350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2267712"/>
            <a:ext cx="1371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BE740D"/>
                </a:solidFill>
                <a:latin typeface="PingFang SC"/>
              </a:rPr>
              <a:t>影子调度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944368"/>
            <a:ext cx="1298448" cy="7132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2F3F52"/>
                </a:solidFill>
                <a:latin typeface="PingFang SC"/>
              </a:rPr>
              <a:t>与现行调度并行，不影响生产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829800" y="2990088"/>
            <a:ext cx="256032" cy="0"/>
          </a:xfrm>
          <a:prstGeom prst="line">
            <a:avLst/>
          </a:prstGeom>
          <a:ln w="17780">
            <a:solidFill>
              <a:srgbClr val="5C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131551" y="1847088"/>
            <a:ext cx="1627632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AB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643615" y="1408176"/>
            <a:ext cx="603504" cy="603504"/>
          </a:xfrm>
          <a:prstGeom prst="roundRect">
            <a:avLst>
              <a:gd name="adj" fmla="val 8000"/>
            </a:avLst>
          </a:prstGeom>
          <a:solidFill>
            <a:srgbClr val="AB433E"/>
          </a:solidFill>
          <a:ln w="13970">
            <a:solidFill>
              <a:srgbClr val="AB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643615" y="1517904"/>
            <a:ext cx="60350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59567" y="2267712"/>
            <a:ext cx="1371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AB433E"/>
                </a:solidFill>
                <a:latin typeface="PingFang SC"/>
              </a:rPr>
              <a:t>受控试点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96143" y="2944368"/>
            <a:ext cx="1298448" cy="7132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2F3F52"/>
                </a:solidFill>
                <a:latin typeface="PingFang SC"/>
              </a:rPr>
              <a:t>明确授权、人工复核、联合评审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4663440"/>
            <a:ext cx="10863072" cy="109728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5256" y="4919472"/>
            <a:ext cx="1243584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3796C"/>
                </a:solidFill>
                <a:latin typeface="PingFang SC"/>
              </a:rPr>
              <a:t>一期建议目标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76272" y="4846320"/>
            <a:ext cx="8887968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62236"/>
                </a:solidFill>
                <a:latin typeface="PingFang SC"/>
              </a:rPr>
              <a:t>完成 1–3 阶段：权威语义与拓扑、可回放的状态底座、经独立窗口验证的有限场景推演和可审查 Proposal。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5980176"/>
            <a:ext cx="992124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C6C7E"/>
                </a:solidFill>
                <a:latin typeface="PingFang SC"/>
              </a:rPr>
              <a:t>跨灌区迁移、JEPA/神经算子、MCTS 与自动控制属于后续研究或受控试点，不作为一期默认承诺。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6510528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5C6C7E"/>
                </a:solidFill>
                <a:latin typeface="PingFang SC"/>
              </a:rPr>
              <a:t>本体驱动的灌区世界模型 · 客户交流材料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28832" y="6473952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C6C7E"/>
                </a:solidFill>
                <a:latin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3796C"/>
                </a:solidFill>
                <a:latin typeface="PingFang SC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219456"/>
            <a:ext cx="10698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62236"/>
                </a:solidFill>
                <a:latin typeface="PingFang SC"/>
              </a:rPr>
              <a:t>验收看证据，不看宣传口号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667512"/>
            <a:ext cx="103327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C6C7E"/>
                </a:solidFill>
                <a:latin typeface="PingFang SC"/>
              </a:rPr>
              <a:t>核心标准是同任务比较、适用范围清楚、失败可发现、每一步可追溯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0160">
            <a:solidFill>
              <a:srgbClr val="CC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25880"/>
            <a:ext cx="5230368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18488"/>
            <a:ext cx="45262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13796C"/>
                </a:solidFill>
                <a:latin typeface="PingFang SC"/>
              </a:rPr>
              <a:t>数据与模型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2219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3796C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212848"/>
            <a:ext cx="347472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221992"/>
            <a:ext cx="3931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30" b="0">
                <a:solidFill>
                  <a:srgbClr val="2F3F52"/>
                </a:solidFill>
                <a:latin typeface="PingFang SC"/>
              </a:rPr>
              <a:t>对象、拓扑、单位、时间和来源映射正确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295351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3796C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944368"/>
            <a:ext cx="347472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2953512"/>
            <a:ext cx="3931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30" b="0">
                <a:solidFill>
                  <a:srgbClr val="2F3F52"/>
                </a:solidFill>
                <a:latin typeface="PingFang SC"/>
              </a:rPr>
              <a:t>缺测、重复、异常与过期状态可识别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68503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3796C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675888"/>
            <a:ext cx="347472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685032"/>
            <a:ext cx="3931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30" b="0">
                <a:solidFill>
                  <a:srgbClr val="2F3F52"/>
                </a:solidFill>
                <a:latin typeface="PingFang SC"/>
              </a:rPr>
              <a:t>水量账残差、负存量、超容量可检测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4165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3796C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4407408"/>
            <a:ext cx="347472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4416552"/>
            <a:ext cx="3931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30" b="0">
                <a:solidFill>
                  <a:srgbClr val="2F3F52"/>
                </a:solidFill>
                <a:latin typeface="PingFang SC"/>
              </a:rPr>
              <a:t>与现行规则或人工基线进行同任务比较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1325880"/>
            <a:ext cx="5230368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5392" y="1618488"/>
            <a:ext cx="45262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2F67AE"/>
                </a:solidFill>
                <a:latin typeface="PingFang SC"/>
              </a:rPr>
              <a:t>运行与治理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65392" y="22219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2F67AE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2212848"/>
            <a:ext cx="347472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7456" y="2221992"/>
            <a:ext cx="3931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30" b="0">
                <a:solidFill>
                  <a:srgbClr val="2F3F52"/>
                </a:solidFill>
                <a:latin typeface="PingFang SC"/>
              </a:rPr>
              <a:t>模型精度在独立时间窗评估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65392" y="295351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2F67AE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65392" y="2944368"/>
            <a:ext cx="347472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2953512"/>
            <a:ext cx="3931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30" b="0">
                <a:solidFill>
                  <a:srgbClr val="2F3F52"/>
                </a:solidFill>
                <a:latin typeface="PingFang SC"/>
              </a:rPr>
              <a:t>Proposal 可追溯、可驳回、可修改、可过期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65392" y="368503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2F67AE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65392" y="3675888"/>
            <a:ext cx="347472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7456" y="3685032"/>
            <a:ext cx="3931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30" b="0">
                <a:solidFill>
                  <a:srgbClr val="2F3F52"/>
                </a:solidFill>
                <a:latin typeface="PingFang SC"/>
              </a:rPr>
              <a:t>计划、批准、执行与实际结果能够对账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65392" y="44165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2F67AE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65392" y="4407408"/>
            <a:ext cx="347472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77456" y="4416552"/>
            <a:ext cx="3931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30" b="0">
                <a:solidFill>
                  <a:srgbClr val="2F3F52"/>
                </a:solidFill>
                <a:latin typeface="PingFang SC"/>
              </a:rPr>
              <a:t>权限、人工确认和审计记录不可绕过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815584"/>
            <a:ext cx="10863072" cy="384048"/>
          </a:xfrm>
          <a:prstGeom prst="roundRect">
            <a:avLst>
              <a:gd name="adj" fmla="val 8000"/>
            </a:avLst>
          </a:prstGeom>
          <a:solidFill>
            <a:srgbClr val="FFF5E0"/>
          </a:solidFill>
          <a:ln w="13970">
            <a:solidFill>
              <a:srgbClr val="BE7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9536" y="5879592"/>
            <a:ext cx="104698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40" b="1">
                <a:solidFill>
                  <a:srgbClr val="162236"/>
                </a:solidFill>
                <a:latin typeface="PingFang SC"/>
              </a:rPr>
              <a:t>“毫秒级、1000×、全局最优、因果收益”只有在任务口径、硬件、基线和独立试验明确后才可成为指标。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510528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5C6C7E"/>
                </a:solidFill>
                <a:latin typeface="PingFang SC"/>
              </a:rPr>
              <a:t>本体驱动的灌区世界模型 · 客户交流材料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28832" y="6473952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C6C7E"/>
                </a:solidFill>
                <a:latin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3796C"/>
                </a:solidFill>
                <a:latin typeface="PingFang SC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219456"/>
            <a:ext cx="10698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62236"/>
                </a:solidFill>
                <a:latin typeface="PingFang SC"/>
              </a:rPr>
              <a:t>建议今天共同确认七个问题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667512"/>
            <a:ext cx="103327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C6C7E"/>
                </a:solidFill>
                <a:latin typeface="PingFang SC"/>
              </a:rPr>
              <a:t>这些答案决定一期范围、数据准备、模型选择和可验收结果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0160">
            <a:solidFill>
              <a:srgbClr val="CC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261872"/>
            <a:ext cx="5266944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59" y="1463039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3796C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481328"/>
            <a:ext cx="438912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1399031"/>
            <a:ext cx="4187952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80" b="1">
                <a:solidFill>
                  <a:srgbClr val="162236"/>
                </a:solidFill>
                <a:latin typeface="PingFang SC"/>
              </a:rPr>
              <a:t>首期最有价值的场景：短期缺口、轮灌调整、故障应对，还是其他问题？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14015"/>
            <a:ext cx="5266944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59" y="2615184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3796C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2633472"/>
            <a:ext cx="438912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551175"/>
            <a:ext cx="4187952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80" b="1">
                <a:solidFill>
                  <a:srgbClr val="162236"/>
                </a:solidFill>
                <a:latin typeface="PingFang SC"/>
              </a:rPr>
              <a:t>可提供哪些渠系、量测、田块、作物和调度日志？时间跨度和质量如何？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66160"/>
            <a:ext cx="5266944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2959" y="376732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3796C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3785615"/>
            <a:ext cx="438912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3703320"/>
            <a:ext cx="4187952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80" b="1">
                <a:solidFill>
                  <a:srgbClr val="162236"/>
                </a:solidFill>
                <a:latin typeface="PingFang SC"/>
              </a:rPr>
              <a:t>哪些对象与关系已有权威来源，哪些需要现场核验？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718304"/>
            <a:ext cx="5266944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2959" y="491947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3796C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4937760"/>
            <a:ext cx="438912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4855464"/>
            <a:ext cx="4187952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80" b="1">
                <a:solidFill>
                  <a:srgbClr val="162236"/>
                </a:solidFill>
                <a:latin typeface="PingFang SC"/>
              </a:rPr>
              <a:t>当前方案可行性由谁判断，使用哪些指标、规则和经验？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1261872"/>
            <a:ext cx="5266944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19088" y="1463039"/>
            <a:ext cx="438912" cy="438912"/>
          </a:xfrm>
          <a:prstGeom prst="roundRect">
            <a:avLst>
              <a:gd name="adj" fmla="val 8000"/>
            </a:avLst>
          </a:prstGeom>
          <a:solidFill>
            <a:srgbClr val="2F67AE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1481328"/>
            <a:ext cx="438912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1399031"/>
            <a:ext cx="4187952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80" b="1">
                <a:solidFill>
                  <a:srgbClr val="162236"/>
                </a:solidFill>
                <a:latin typeface="PingFang SC"/>
              </a:rPr>
              <a:t>哪些结果可以作为建议，哪些必须由特定角色审批？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4496" y="2414015"/>
            <a:ext cx="5266944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19088" y="2615184"/>
            <a:ext cx="438912" cy="438912"/>
          </a:xfrm>
          <a:prstGeom prst="roundRect">
            <a:avLst>
              <a:gd name="adj" fmla="val 8000"/>
            </a:avLst>
          </a:prstGeom>
          <a:solidFill>
            <a:srgbClr val="2F67AE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2633472"/>
            <a:ext cx="438912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2551175"/>
            <a:ext cx="4187952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80" b="1">
                <a:solidFill>
                  <a:srgbClr val="162236"/>
                </a:solidFill>
                <a:latin typeface="PingFang SC"/>
              </a:rPr>
              <a:t>是否允许先做历史回放和不影响生产的影子运行？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54496" y="3566160"/>
            <a:ext cx="5266944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C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419088" y="376732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2F67AE"/>
          </a:solidFill>
          <a:ln w="13970">
            <a:solidFill>
              <a:srgbClr val="2F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9088" y="3785615"/>
            <a:ext cx="438912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PingFang SC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3448" y="3703320"/>
            <a:ext cx="4187952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80" b="1">
                <a:solidFill>
                  <a:srgbClr val="162236"/>
                </a:solidFill>
                <a:latin typeface="PingFang SC"/>
              </a:rPr>
              <a:t>数据共享、脱敏、部署、审计留存和后续试点有哪些约束？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4496" y="4718304"/>
            <a:ext cx="5266944" cy="9144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13970">
            <a:solidFill>
              <a:srgbClr val="137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10528" y="4956048"/>
            <a:ext cx="107899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13796C"/>
                </a:solidFill>
                <a:latin typeface="PingFang SC"/>
              </a:rPr>
              <a:t>建议下一步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7808" y="4846320"/>
            <a:ext cx="3575304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62236"/>
                </a:solidFill>
                <a:latin typeface="PingFang SC"/>
              </a:rPr>
              <a:t>选择 1 个场景 + 1 个典型渠系 + 1 段可回放历史窗口，完成联合数据审查。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" y="5989320"/>
            <a:ext cx="993952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30" b="1">
                <a:solidFill>
                  <a:srgbClr val="162236"/>
                </a:solidFill>
                <a:latin typeface="PingFang SC"/>
              </a:rPr>
              <a:t>目标不是让模型替代调度人员，而是让每一次方案比较更清楚、更快、更可追溯。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510528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5C6C7E"/>
                </a:solidFill>
                <a:latin typeface="PingFang SC"/>
              </a:rPr>
              <a:t>本体驱动的灌区世界模型 · 客户交流材料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28832" y="6473952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C6C7E"/>
                </a:solidFill>
                <a:latin typeface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6"/>
          </a:solidFill>
          <a:ln w="13970">
            <a:solidFill>
              <a:srgbClr val="16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41248" y="786384"/>
            <a:ext cx="1024128" cy="310896"/>
          </a:xfrm>
          <a:prstGeom prst="roundRect">
            <a:avLst>
              <a:gd name="adj" fmla="val 8000"/>
            </a:avLst>
          </a:prstGeom>
          <a:solidFill>
            <a:srgbClr val="203A49"/>
          </a:solidFill>
          <a:ln w="13970">
            <a:solidFill>
              <a:srgbClr val="203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804672"/>
            <a:ext cx="95097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8BDACA"/>
                </a:solidFill>
                <a:latin typeface="PingFang SC"/>
              </a:rPr>
              <a:t>讨论起点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27048"/>
            <a:ext cx="9875520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</a:rPr>
              <a:t>先把语义和证据做实，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212848"/>
            <a:ext cx="10287000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1">
                <a:solidFill>
                  <a:srgbClr val="9ADCCE"/>
                </a:solidFill>
                <a:latin typeface="PingFang SC"/>
              </a:rPr>
              <a:t>再让模型在边界内变快、变准。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3227832"/>
            <a:ext cx="10085832" cy="0"/>
          </a:xfrm>
          <a:prstGeom prst="line">
            <a:avLst/>
          </a:prstGeom>
          <a:ln w="12700">
            <a:solidFill>
              <a:srgbClr val="4B5B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59536" y="3675887"/>
            <a:ext cx="11887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8BDACA"/>
                </a:solidFill>
                <a:latin typeface="PingFang SC"/>
              </a:rPr>
              <a:t>本体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8528" y="3685032"/>
            <a:ext cx="3840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D3DCE5"/>
                </a:solidFill>
                <a:latin typeface="PingFang SC"/>
              </a:rPr>
              <a:t>确定对象、关系、状态、动作与证据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70248"/>
            <a:ext cx="11887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90B8EA"/>
                </a:solidFill>
                <a:latin typeface="PingFang SC"/>
              </a:rPr>
              <a:t>世界模型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4279392"/>
            <a:ext cx="4663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D3DCE5"/>
                </a:solidFill>
                <a:latin typeface="PingFang SC"/>
              </a:rPr>
              <a:t>在守恒、专业模型和约束下推演条件变化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864608"/>
            <a:ext cx="11887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EABA74"/>
                </a:solidFill>
                <a:latin typeface="PingFang SC"/>
              </a:rPr>
              <a:t>治理闭环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" y="4873752"/>
            <a:ext cx="4663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D3DCE5"/>
                </a:solidFill>
                <a:latin typeface="PingFang SC"/>
              </a:rPr>
              <a:t>Proposal、人工审查、执行隔离与全链路审计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34272" y="5184648"/>
            <a:ext cx="1901952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ptos"/>
              </a:rPr>
              <a:t>Q &amp;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28832" y="6473952"/>
            <a:ext cx="4389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A9B6C4"/>
                </a:solidFill>
                <a:latin typeface="PingFang SC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1124</Words>
  <Application>Microsoft Macintosh PowerPoint</Application>
  <PresentationFormat>宽屏</PresentationFormat>
  <Paragraphs>336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PingFang SC</vt:lpstr>
      <vt:lpstr>Aptos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本体驱动的灌区世界模型：从语义一致到可审查的条件推演</dc:title>
  <dc:subject>ODIWM 客户技术交流方案</dc:subject>
  <dc:creator>技术交流材料</dc:creator>
  <cp:keywords>灌区, 本体, 世界模型, 条件推演, Proposal, 人工审查</cp:keywords>
  <dc:description>客户交流版；合成场景不代表真实灌区模型能力。</dc:description>
  <cp:lastModifiedBy>宁 周</cp:lastModifiedBy>
  <cp:revision>2</cp:revision>
  <dcterms:created xsi:type="dcterms:W3CDTF">2013-01-27T09:14:16Z</dcterms:created>
  <dcterms:modified xsi:type="dcterms:W3CDTF">2026-08-14T07:19:17Z</dcterms:modified>
  <cp:category/>
</cp:coreProperties>
</file>