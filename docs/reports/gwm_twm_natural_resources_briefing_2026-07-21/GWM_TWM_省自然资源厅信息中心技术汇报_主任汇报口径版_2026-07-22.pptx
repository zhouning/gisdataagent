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核心判断：本次汇报不把世界模型讲成大模型概念，而是讨论一个可验证、可审计的空间状态转移与规划内核。
- 汇报从既有深度强化学习空间优化研究出发，但重点是问题如何从“求最优布局”升级为“模拟行动后的世界”。
- GeoSOS-FLUS 被用作权威传统基线；比较重点既包括同题实验，也包括架构能力边界。
- TWM 是 GWM 在自然资源领域的实例，不替代一张图、遥感平台或法定审批系统。
项目依据：
- 用户给定汇报思路；GWM_RESEARCH_PRINCIPLES.md；GWM_RUNTIME_KERNEL_AND_GEOSPATIAL_KERNEL_RELATIONSHIP.md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核心判断：全篇不是按模型名称展开，而是按“必要性—可信性—可实现性—业务价值—行动路径”展开。
- 第 3 页先给四个判断，帮助听众建立整场汇报的坐标系。
- 第一章解释为什么问题会从空间优化升级为世界模型，并落到状态—动作—结果数据契约。
- 第二章用 GeoSOS-FLUS 作为权威强基线，既证明能力空间，也约束当前主张。
- 第三章集中回答技术实现，避免 Geospatial Kernel、Runtime 和 Simulator 的角色混淆。
- 第四、五章回到自然资源业务价值、证据成熟度、平台形态与省级试点。
项目依据：
- 本版汇报逐页结构与现场叙事设计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核心判断：先给出结论可以避免把 GWM 误解成“更大的土地利用预测模型”。
- 对技术型听众，最重要的是把研究对象、证据层级和工程成熟度说清楚。
- 后续每页分别回答：为什么提出、与 FLUS 有何不同、核心算子如何工作、TWM 如何落地、哪里仍未完成。
- 汇报中凡是“上限”均指能力空间，不指当前所有指标已经占优。
项目依据：
- docs/research/GWM_RESEARCH_PRINCIPLES.md
- docs/research/DAM_GK_RESEARCH_SPEC.md
- docs/reports/twm_runtime_benchmark_v1.json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核心判断：“世界模型”目前没有唯一统一定义，最稳妥的综述方式是按功能与服务对象划分谱系。
- 控制路线强调 learned dynamics 与 latent imagination，直接服务策略或规划器。
- 视觉生成路线强调 observation synthesis；其中部分工作被称为 world simulator，但是否具备显式行动和决策闭环需要逐项判断。
- 科学模拟器与数字孪生强调物理场、边界条件和高保真预测，未必包含智能体规划。
- GWM 位于地理治理谱系：预测对象不是下一帧，而是治理行动作用后的多尺度空间状态。
项目依据：
- Sutton 1991 Dyna
- Ha &amp; Schmidhuber 2018 World Models
- Hafner et al. PlaNet / Dreamer
- Schrittwieser et al. 2020 MuZero
- Hansen et al. TD-MPC / TD-MPC2
- docs/twm-authoritative-references.md
- docs/twm-feifei-functional-taxonomy-alignment.md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是把地理空间结构作为世界模型的状态、动力学、约束、验证和输出契约，而不是给普通模型追加经纬度字段。
- 世界表征同时包含对象、连续场、空间关系、规则和证据；CRS、方向、拓扑与尺度不能只留在数据预处理阶段。
- 视觉世界模型主要输出 observation；GWM 主要输出 GIS-operational state、风险、效用和证据缺口。
- 具身和驾驶模型重点是局部物理安全；GWM 还必须显式处理行政层级、用途管制、权利边界和政策版本。
- 科学模拟器可以作为 GWM 的专业 transition source；GWM 额外负责治理行动、方案比较与证据门控。
- GWM 不替代物理模型、遥感模型或规则系统，而是让它们通过统一契约共同服务决策。
项目依据：
- docs/twm-scale-and-novelty-analysis.md
- docs/twm-authoritative-references.md
- docs/research/GWM_RESEARCH_PRINCIPLES.md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的真正起点是空间优化研究中反复出现的“模型缺少可用的未来世界”问题。
- 早期工作解决的是耕地布局在坡度、连片度和面积平衡约束下如何优化。
- 随后尺度从地块扩展到规划单元、片区和县域，并引入多主体协同与模型式规划。
- Paper9 的关键工程转折是把采样、训练、MPC 规划、硬门禁和审计形成可部署链路。
- GWM 继续追问：转移模型本身能否成为跨场景、可递归、可验证的空间动力学内核。
项目依据：
- farmland-drl-optimization/README.md
- paper3-block-level-farmland-drl/README.md
- paper4-county-marl-farmland-consolidation/README.md
- paper9-mnr-offline-package/README.md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核心判断：采用 model-based DRL 的理由是问题结构，而不是“深度学习一定优于传统方法”。
- 耕地布局动作会改变下一步候选空间、坡度组合、连片结构和面积底线，属于序列决策。
- 贪心策略只看当前一步，可能为了短期坡度收益破坏后续连片机会。
- Paper9 同时学习数值转移和候选相对排序，MPC 再在硬约束下搜索动作序列。
- 经典数学规划、FLUS 和启发式必须作为强基线；没有同题比较就不能主张新方法更优。
项目依据：
- /Users/zhouning/paper9-mnr-offline-package/docs/16_paper9v2_algorithm_and_image_versioning.md
- /Users/zhouning/paper9-mnr-offline-package/outputs/paper9v2_docker_bishan_dongxing_report_20260627/REPORT.md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核心判断：Paper9 是 GWM 研究主线的工程落地点：已经证明模型式空间规划可以在真实权威图斑和离线环境中运行。
- Paper9v2 将县域耕地面积不减少、平均坡度降低、连片度提升设为 hard gate，百亩方为软目标。
- 双数据集 Docker E2E 中，四川省内江市东兴区和重庆市璧山区均完成 prepare、sample、train、plan、audit 并通过 hard gate。
- 现场目标机为 Deepin server 16 / 老 x86_64，候选包已针对缺少 sse4_1 和 popcnt 的 CPU 做 legacy 兼容。
- 汇报中应明确：这是离线部署测试与候选交付证据，不等于自然资源部最终验收结论。
项目依据：
- /Users/zhouning/paper9-mnr-offline-package/README.md
- /Users/zhouning/paper9-mnr-offline-package/outputs/paper9v2_docker_bishan_dongxing_report_20260627/REPORT.md
- /Users/zhouning/paper9-mnr-offline-package/docs/reports/paper9v21_legacy_amd64_e2e_20260701/REPORT.md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核心判断：世界模型的定义门槛不是使用了深度学习，而是行动进入转移、未来状态写回、关系重算并支持再规划。
- 策略模型直接学习动作选择；世界模型显式学习或维护环境转移。两者可以组合，但不能混为一谈。
- 对自然资源而言，状态必须包含对象、场、关系、规则、证据和尺度信息。
- 语言模型不能直接生成数值推演结论，数值结果必须由受约束的模拟器给出。
项目依据：
- Sutton &amp; Barto, Reinforcement Learning
- Moerland et al., Model-based RL Survey
- docs/research/GWM_RESEARCH_PRINCIPLES.md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核心判断：世界模型和常规机器学习都依赖统计拟合；区别是世界模型拟合一个可被行动条件化、可递归消费的转移系统。
- 如果只给模型状态和结果，却不记录期间采取了什么行动，模型只能学习不同治理策略混合后的平均变化。
- 如果把 action 仅当普通特征，却没有对象、参数、实际发生时间和可行域，规划器无法生成或约束新的候选行动。
- 世界模型的预测会写回成为下一步输入，因此单步误差可能累积；验证必须加入多步稳定性、动作消融和离支持检测。
- 同一种神经网络既可用于普通预测也可用于世界模型；真正的差别是数据契约、训练目标、运行闭环和证据责任。
- action-conditioned prediction 不是自动的 causal effect。只有在处理混杂、行动重叠性、同期干预和时间窗之后，才能升级因果主张。
项目依据：
- docs/reports/geospatial_world_model_state_action_outcome_data_discussion_2026-07-18.md
- Sutton &amp; Barto, Reinforcement Learning
- Moerland et al., Model-based RL Survey
- Pearl,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核心判断：自然资源部门通常不缺图层，真正稀缺的是能够按对象和时间连接起来的行动前后闭环。
- 基础测绘、调查监测和一张图主要提供 observation；世界模型还要统一对象身份、历史版本、关系和规则，形成可更新 state。
- 审批、执法、整治和调度系统提供 action，但必须记录实际执行阶段，不能把规划、批准和真正发生混为一谈。
- 结果既包括即时下一状态 Sₜ₊₁，也包括可能滞后的业务、资源与生态指标 Y；两者都要保留观测窗口和来源。
- 外生条件 Eₜ 用于避免把降雨、市场变化、上级政策或同期项目的影响错误归给当前行动。
- 首期试点无需汇聚全省所有数据，优先打通一条对象身份稳定、行动时间可靠、结果可复核的业务闭环。
项目依据：
- docs/reports/geospatial_world_model_state_action_outcome_data_discussion_2026-07-18.md
- docs/twm-production-input-data-requirements.md
- data_agent/uwm/intervention_evidence_certificate_spec.yaml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核心判断：GeoSOS-FLUS 是传统土地利用模拟中的强基线，选择它可以避免只和弱启发式方法比较。
- FLUS 的强项是给定需求、驱动和邻域规则后的多地类分配。
- Paper58 不是 GWM 全部，而是尝试把地理基础表征、潜在适宜性和需求约束分配组合起来。
- 同题实验回答当前效果；架构比较回答能力空间。两者缺一不可。
项目依据：
- docs/twm-vs-geosos-flus-comparison.md
- docs/twm-vs-geosos-flus-academic-positioning.md
- /Users/zhouning/paper58_rebase_untracked_backup_20260629_210115/paper/rse_submission_paper58/paper58_geosos_flus_comparison_report_2026-06-24.md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核心判断：当前最稳妥的实证结论是：变化发生位置的识别更强，但整体地图一致性仍落后。
- 100-case strict 中 TWM 的 Change F1 与 FoM 高于固定 FLUS-console baseline。
- OA、Kappa、Macro-F1 仍较低，说明模型对变化更敏感，也产生了更多误报。
- Paper58 的 7 区域 LOAO 结果显示 latent suitability + allocation 有潜力，但仍不能升级为正式全面超越。
- 两个协议的数据、任务和候选选择方式不同，不能把优势数字相加。
项目依据：
- docs/twm-geosos-flus-superiority-analysis-2026-07-02.md
- /Users/zhouning/paper58_rebase_untracked_backup_20260629_210115/paper/rse_submission_paper58/paper58_geosos_flus_comparison_report_2026-06-24.md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相对 FLUS 的优势首先是问题定义和架构能力空间，而不是当前生产成熟度。
- FLUS 在土地利用 CA 模拟、需求分配和软件成熟度上仍是强基线。
- GWM 把行动、动态关系、状态写回、不确定性和证据门控放进统一运行语义。
- 因此，GWM 可以容纳 FLUS 作为某一类 transition backend 或 baseline，而不应简单宣称替代。
项目依据：
- docs/twm-vs-geosos-flus-academic-positioning.md
- docs/research/GWM_RUNTIME_KERNEL_AND_GEOSPATIAL_KERNEL_RELATIONSHIP.md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的系统边界由 Runtime 和 Geospatial Kernel 共同构成，二者缺一不可。
- Runtime 统一状态版本、动作契约、转移来源、状态写回、不确定性和证据账本。
- Geospatial Kernel 学习空间关系在当前状态和行动下如何生效、传播和改变。
- TWM、UWM、HydroControl 是领域绑定或验证轨道，不与 GWM 并列。
- 当前共享 Runtime Kernel 尚未完成平台级抽取，这是后续工程化的重要工作。
项目依据：
- docs/research/GWM_RUNTIME_KERNEL_AND_GEOSPATIAL_KERNEL_RELATIONSHIP.md
- docs/reports/gwm_geospatial_kernel_core_architecture_design_theory_and_gis_relationship_2026-07-20.md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核心判断：DAM-GK 的研究命题是学习行动条件化、带时滞、可重写拓扑的多尺度空间转移；下方公式是正式接口定义，不是已被证实的具体网络形式。
- Dynamic：关系与拓扑随状态和行动变化。
- Action-conditioned：同一状态下，不同行动应产生不同的有效边与未来状态。
- Multi-scale：细尺度预测与粗尺度状态必须通过显式聚合关系保持一致。
- E_t 是 G_t 中的边属性；正式 Kernel 接口输出 Phi、Delta G 与 U，Runtime 再结合转移头形成并写回下一状态。
- 它必须接受负对照和消融；普通 GNN、缓冲区或固定邻接只能作为组件或基线。
项目依据：
- docs/research/DAM_GK_RESEARCH_SPEC.md
- docs/reports/gwm_geospatial_kernel_core_architecture_design_theory_and_gis_relationship_2026-07-20.md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核心判断：Runtime Kernel 的价值是把模型调用变成有状态、有版本、有证据的运行生命周期。
- 一次模型推理不等于世界模型运行；必须记录输入状态、动作、转移来源、模型版本和输出谱系。
- 多步推演必须真实写回状态，并传播不确定性和误差。
- EvidenceClaimLedger 使系统能够在证据不足时自动降级主张，而不是照常输出高置信结论。
- 当前项目最需要补齐的是共享 Runtime 的抽取和跨领域契约稳定性。
项目依据：
- docs/research/GWM_RUNTIME_KERNEL_AND_GEOSPATIAL_KERNEL_RELATIONSHIP.md
- docs/research/GWM_RESEARCH_PRINCIPLES.md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Simulator 是 Runtime 管理的组合式状态转移接口，不等同于 DAM-GK，也不是一个端到端生成模型。
- StateBuilder 把地块、项目、控制线、审批、规则和证据组织成版本化状态。
- 行动被编码为类型、目标、空间范围、强度、政策意图和执行约束。
- Transition Router 按变量调用 GIS 确定性计算、版本化规则、专业机理模型、Geospatial Kernel 或残差校准，并保留来源 trace。
- 预测状态真实写回，随后重新计算对象关系、规则命中、可行动作和不确定性，形成递归 rollout。
- 反事实 rollout 比较基准与干预轨迹，但它是模型条件下的模拟，不自动等于因果识别。
项目依据：
- docs/reports/twm_computational_world_state_simulation_mechanism_2026-07-21.md
- data_agent/territory_world_model/state_builder.py
- data_agent/territory_world_model/planner.py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Simulator 的实现主体是 Runtime 中的组合转移与写回协议，DAM-GK 只是其中一个可学习的空间动力学来源。
- 对面积、叠加和拓扑等确定变量直接使用 GIS；对法定边界使用规则；对水文生态过程优先调用专业模型。
- 只有无法确定性表达、且有数据支持的局部转移与残差才交给 Geospatial Kernel 或其他 learned backend。
- 每个变量都要记录使用了哪一种转移来源、模型版本和证据等级，未知项必须扩大不确定性或停止推演。
- 视觉和机器人 simulator 主要消费 observation 与控制；科学 simulator 消费物理场；FLUS 消费土地格局；GWM 额外承担治理动作、规则、证据与 GIS 交付责任。
- GWM 的条件推演可用于方案比较，但真实因果效果仍需对照、混杂处理和外部验证。
项目依据：
- docs/research/GWM_RUNTIME_KERNEL_AND_GEOSPATIAL_KERNEL_RELATIONSHIP.md
- docs/twm-renderer-simulator-planner-technical-core.md
- docs/reports/GWM小样本数据使用与推演机制说明_2026-07-22.md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核心判断：GWM 的理论基础是成熟方法的组合，创新点在于地理治理语义下的统一形式化与严格验证。
- State-space 提供递归动力系统；MDP 和 model-based RL 提供行动与规划语义。
- 图学习和时滞模型处理空间传播；GIScience 约束对象、场、拓扑和尺度表达。
- 概率建模处理不确定性，空间因果方法主要提供实验纪律，而不是让神经网络自动获得因果性。
- 技术汇报中应主动说明这些理论来源，避免把工程组合误写成全新基础理论。
项目依据：
- docs/twm-renderer-simulator-planner-theoretical-basis-2026-07-03.md
- docs/twm-action-conditioned-multi-head-transition-theory.md
- docs/reports/gwm_geospatial_kernel_core_architecture_design_theory_and_gis_relationship_2026-07-20.md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核心判断：TWM 与 GWM 是“领域实例化”关系：共享世界模型语义，绑定自然资源对象和业务约束。
- 共享部分包括状态、动作、转移、写回、不确定性和证据契约。
- TWM 专门化土地对象、控制线、治理动作、法定规则、风险与规划效用。
- TWM 不应复制一套私有 Runtime；理想架构是通过 adapter 绑定共享 Runtime 与 Kernel。
- 单个省或单个业务案例成功，不能反推一般 GWM 已经成立。
项目依据：
- docs/research/GWM_RESEARCH_PRINCIPLES.md
- docs/research/GWM_RUNTIME_KERNEL_AND_GEOSPATIAL_KERNEL_RELATIONSHIP.md
- docs/twm-renderer-simulator-planner-technical-core.md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核心判断：TWM 的四个角色共同保证推演结果既能计算，也能被业务审查和复演。
- Renderer 不是前端画图；当前严格路径只编译候选准入、动作成员和来源指纹，不把预计算时期状态交给 Planner。
- Simulator 是执行核心；当前确定性 GIS / 规则后端按上一期状态和本期动作增量在线生成下一状态。
- Planner 只消费完整 simulator trace；父子状态不连续、缺少动作几何或任一期硬约束失败都不可选。
- 结论发布前证据审查决定结果能否从受控演示升级为业务候选或生产主张。
项目依据：
- docs/twm-renderer-simulator-planner-technical-core.md
- docs/twm-renderer-simulator-planner-theoretical-basis-2026-07-03.md
- data_agent/territory_world_model/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核心判断：TWM 对业务的核心增量，是把静态识别和叠加审查升级为行动后的后果比较。
- 每个业务场景都必须明确 authoritative inputs、candidate actions、model outputs、human responsibility 和 measurable value。
- 规划体检与建设项目预审最适合作为首批试点，因为对象、规则、动作和复核结果相对清晰。
- 违法占地的独立遥感发现仍需要专业遥感模型；TWM 负责接收变化证据并推演处置方案。
- 生态修复、承载力和人口产业需要额外专业 Kernel，不应被当前 TWM 能力表述覆盖。
项目依据：
- docs/reports/twm_space_intelligence_core_algorithm_assessment_2026-07-21.md
- docs/twm-production-input-data-requirements.md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核心判断：建设项目用地预审是 TWM 最容易被业务理解的场景，因为输入、冲突、动作和最终处置都相对清晰。
- 传统叠加分析擅长发现项目与控制线的空间冲突，但通常不自动形成可比较的替代方案轨迹。
- TWM 把原方案、缩减、移位、补正和退回定义为 canonical actions，在统一状态上推演。
- 硬规则直接阻断，软规则与证据不足进入 review_required，行政裁量仍由审批人员承担。
- 试点成效不应只看模型精度，还应看往返轮次、审查工时、遗漏规则和 trace 完整性。
项目依据：
- docs/twm-complete-world-model-contracts-and-research-discipline-2026-07-03.md
- docs/twm-production-input-data-requirements.md
- data_agent/territory_world_model/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核心判断：Paper9 与 TWM 是组件和系统的关系，不应把 Paper9 直接等同于完整世界模型。
- Paper9 已经提供可部署的 transition ensemble、MPC planner、业务硬约束和 audit。
- 当前 TWM 演示不把 Paper9 置换次数冒充 TWM 推演次数；本次严格执行为 3 个合法方案乘 3 期，共 9 次转移。
- Simulator 在线写回父子状态并重算关系、约束和目标；Planner 只消费完整 trace。
- 当前结果证明工程机制真实执行，不证明政策因果效果或生产最优；新增主张仍需真实行动-结果和跨区留出。
项目依据：
- /Users/zhouning/paper9-mnr-offline-package/README.md
- docs/twm-renderer-simulator-planner-technical-core.md
- docs/research/GWM_RUNTIME_KERNEL_AND_GEOSPATIAL_KERNEL_RELATIONSHIP.md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核心判断：TWM 与政策提出的空间智能方向高度一致，但目前覆盖集中在规划、规则与行动推演。
- 规划智能体检最成熟，因为已有控制线、规则、项目、证据和复核对象。
- 遥感层当前偏数据接入和证据引用，尚无稳定的生产级变化检测与地类识别主干。
- 资源环境承载力、人口产业和人地耦合需要独立专业 Kernel 与真实数据，不应通过扩大 TWM 术语来假装已经具备。
- 最佳架构是遥感、政策文档、承载力和人口产业模型共同向 TWM 提供状态与动力学。
项目依据：
- docs/reports/twm_space_intelligence_core_algorithm_assessment_2026-07-21.md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核心判断：当前证据足以支撑联合试点和影子运行，不足以支撑省域生产通用主张。
- Paper9 的真实数据离线 E2E 是当前最扎实的落地证据，但它验证的是特定耕地优化流程。
- TWM 已有完整 schema 与原型运行链路，核心 trainable dynamics 仍缺自然资源真实行动结果训练。
- DAM-GK v0.1 的 H1-H5 终局状态为 rejected；H6 为 out_of_scope_for_this_release，后续必须在新版本、预冻结协议和负对照下重试。
- 省级试点应先锁定一条业务闭环，以影子运行积累行动-结果样本，再决定生产主张升级。
项目依据：
- /Users/zhouning/paper9-mnr-offline-package/outputs/paper9v2_docker_bishan_dongxing_report_20260627/REPORT.md
- docs/reports/twm_runtime_benchmark_v1.json
- docs/reports/twm_validation_bundle.json
- docs/research/DAM_GK_RESEARCH_SPEC.md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核心判断：未来智能体平台必须把语言智能和世界动力学分工，而不是让 LLM 同时承担理解、计算和事实责任。
- LLM 擅长自然语言、文档理解、工具选择和解释，但不应直接编造数值未来。
- WM 维护结构化状态并通过受约束转移模型做 rollout；其输出必须有版本、trace 和不确定性。
- GIS 保证对象身份、坐标、拓扑和权威数据；规则与人工复核保证治理边界。
- 三者通过统一状态、动作和证据契约协同，才构成可进入自然资源生产流程的智能体平台。
项目依据：
- docs/research/GWM_RESEARCH_PRINCIPLES.md
- docs/twm-renderer-simulator-planner-theoretical-basis-2026-07-03.md
- docs/superpowers/specs/2026-07-15-gis-data-agent-cognitive-runtime-design.md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核心判断：汇报的最终落点是建立公共决策内核，而不是替代现有自然资源信息化体系。
- 对标 FLUS 的意义是证明新路线至少能解决经典土地利用变化问题，并进一步扩展到行动、证据和规划。
- GWM 的科学价值取决于 Kernel 是否在冻结协议和真实留出上稳定成立。
- TWM 的业务价值取决于能否接入真实治理动作与结果，形成可复演的闭环。
- 建议会后优先确定首个业务闭环及数据负责人，而不是先讨论模型参数规模。
项目依据：
- 本汇报结语页所列项目文档与外部文献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34"/>
        </a:solidFill>
      </p:bgPr>
    </p:bg>
    <p:spTree>
      <p:nvGrpSpPr>
        <p:cNvPr id="1" name=""/>
        <p:cNvGrpSpPr/>
        <p:nvPr/>
      </p:nvGrpSpPr>
      <p:grpSpPr>
        <a:xfrm>
          <a:off x="0" y="0"/>
          <a:ext cx="0" cy="0"/>
          <a:chOff x="0" y="0"/>
          <a:chExt cx="0" cy="0"/>
        </a:xfrm>
      </p:grpSpPr>
      <p:pic>
        <p:nvPicPr>
          <p:cNvPr id="2" name="Image 0" descr="/Users/zhouning/gisdataagent/docs/reports/data_for_ai_gwm_customer_2026-07-17/assets/cover_data_for_ai.pn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02F34">
              <a:alpha val="76000"/>
            </a:srgbClr>
          </a:solidFill>
          <a:ln w="12700">
            <a:solidFill>
              <a:srgbClr val="102F34">
                <a:alpha val="0"/>
              </a:srgbClr>
            </a:solidFill>
            <a:prstDash val="solid"/>
          </a:ln>
        </p:spPr>
      </p:sp>
      <p:sp>
        <p:nvSpPr>
          <p:cNvPr id="4" name="Shape 1"/>
          <p:cNvSpPr/>
          <p:nvPr/>
        </p:nvSpPr>
        <p:spPr>
          <a:xfrm>
            <a:off x="0" y="0"/>
            <a:ext cx="6565392" cy="6858000"/>
          </a:xfrm>
          <a:prstGeom prst="rect">
            <a:avLst/>
          </a:prstGeom>
          <a:solidFill>
            <a:srgbClr val="0B282C">
              <a:alpha val="96000"/>
            </a:srgbClr>
          </a:solidFill>
          <a:ln w="12700">
            <a:solidFill>
              <a:srgbClr val="0B282C">
                <a:alpha val="0"/>
              </a:srgbClr>
            </a:solidFill>
            <a:prstDash val="solid"/>
          </a:ln>
        </p:spPr>
      </p:sp>
      <p:sp>
        <p:nvSpPr>
          <p:cNvPr id="5" name="Shape 2"/>
          <p:cNvSpPr/>
          <p:nvPr/>
        </p:nvSpPr>
        <p:spPr>
          <a:xfrm>
            <a:off x="658368" y="548640"/>
            <a:ext cx="2057400" cy="256032"/>
          </a:xfrm>
          <a:prstGeom prst="roundRect">
            <a:avLst>
              <a:gd name="adj" fmla="val 50000"/>
            </a:avLst>
          </a:prstGeom>
          <a:solidFill>
            <a:srgbClr val="1B4C50"/>
          </a:solidFill>
          <a:ln w="6350">
            <a:solidFill>
              <a:srgbClr val="417176"/>
            </a:solidFill>
            <a:prstDash val="solid"/>
          </a:ln>
        </p:spPr>
      </p:sp>
      <p:sp>
        <p:nvSpPr>
          <p:cNvPr id="6" name="Text 3"/>
          <p:cNvSpPr txBox="1"/>
          <p:nvPr/>
        </p:nvSpPr>
        <p:spPr>
          <a:xfrm>
            <a:off x="713232" y="571500"/>
            <a:ext cx="1947672"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CFE9E5"/>
                </a:solidFill>
                <a:latin typeface="Hiragino Sans GB" pitchFamily="34" charset="0"/>
                <a:ea typeface="Hiragino Sans GB" pitchFamily="34" charset="-122"/>
                <a:cs typeface="Hiragino Sans GB" pitchFamily="34" charset="-120"/>
              </a:rPr>
              <a:t>TECHNICAL BRIEFING · V6</a:t>
            </a:r>
            <a:endParaRPr lang="en-US" sz="750" dirty="0"/>
          </a:p>
        </p:txBody>
      </p:sp>
      <p:sp>
        <p:nvSpPr>
          <p:cNvPr id="7" name="Text 4"/>
          <p:cNvSpPr txBox="1"/>
          <p:nvPr/>
        </p:nvSpPr>
        <p:spPr>
          <a:xfrm>
            <a:off x="658368" y="1243584"/>
            <a:ext cx="5394960" cy="612648"/>
          </a:xfrm>
          <a:prstGeom prst="rect">
            <a:avLst/>
          </a:prstGeom>
          <a:noFill/>
          <a:ln/>
        </p:spPr>
        <p:txBody>
          <a:bodyPr wrap="square" lIns="0" tIns="0" rIns="0" bIns="0" rtlCol="0" anchor="t">
            <a:normAutofit/>
          </a:bodyPr>
          <a:lstStyle/>
          <a:p>
            <a:pPr algn="l" indent="0" marL="0">
              <a:lnSpc>
                <a:spcPct val="92000"/>
              </a:lnSpc>
              <a:buNone/>
            </a:pPr>
            <a:r>
              <a:rPr lang="en-US" sz="3100" b="1" dirty="0">
                <a:solidFill>
                  <a:srgbClr val="FFFFFF"/>
                </a:solidFill>
                <a:latin typeface="Hiragino Sans GB" pitchFamily="34" charset="0"/>
                <a:ea typeface="Hiragino Sans GB" pitchFamily="34" charset="-122"/>
                <a:cs typeface="Hiragino Sans GB" pitchFamily="34" charset="-120"/>
              </a:rPr>
              <a:t>地理空间世界模型</a:t>
            </a:r>
            <a:endParaRPr lang="en-US" sz="3100" dirty="0"/>
          </a:p>
        </p:txBody>
      </p:sp>
      <p:sp>
        <p:nvSpPr>
          <p:cNvPr id="8" name="Text 5"/>
          <p:cNvSpPr txBox="1"/>
          <p:nvPr/>
        </p:nvSpPr>
        <p:spPr>
          <a:xfrm>
            <a:off x="658368" y="1901952"/>
            <a:ext cx="5440680" cy="1298448"/>
          </a:xfrm>
          <a:prstGeom prst="rect">
            <a:avLst/>
          </a:prstGeom>
          <a:noFill/>
          <a:ln/>
        </p:spPr>
        <p:txBody>
          <a:bodyPr wrap="square" lIns="0" tIns="0" rIns="0" bIns="0" rtlCol="0" anchor="t">
            <a:normAutofit/>
          </a:bodyPr>
          <a:lstStyle/>
          <a:p>
            <a:pPr algn="l" indent="0" marL="0">
              <a:lnSpc>
                <a:spcPct val="86000"/>
              </a:lnSpc>
              <a:buNone/>
            </a:pPr>
            <a:r>
              <a:rPr lang="en-US" sz="2700" b="1" dirty="0">
                <a:solidFill>
                  <a:srgbClr val="FFFFFF"/>
                </a:solidFill>
                <a:latin typeface="Hiragino Sans GB" pitchFamily="34" charset="0"/>
                <a:ea typeface="Hiragino Sans GB" pitchFamily="34" charset="-122"/>
                <a:cs typeface="Hiragino Sans GB" pitchFamily="34" charset="-120"/>
              </a:rPr>
              <a:t>从空间优化到可验证的</a:t>
            </a:r>
            <a:endParaRPr lang="en-US" sz="2700" dirty="0"/>
          </a:p>
          <a:p>
            <a:pPr algn="l" indent="0" marL="0">
              <a:lnSpc>
                <a:spcPct val="86000"/>
              </a:lnSpc>
              <a:buNone/>
            </a:pPr>
            <a:r>
              <a:rPr lang="en-US" sz="2700" b="1" dirty="0">
                <a:solidFill>
                  <a:srgbClr val="FFFFFF"/>
                </a:solidFill>
                <a:latin typeface="Hiragino Sans GB" pitchFamily="34" charset="0"/>
                <a:ea typeface="Hiragino Sans GB" pitchFamily="34" charset="-122"/>
                <a:cs typeface="Hiragino Sans GB" pitchFamily="34" charset="-120"/>
              </a:rPr>
              <a:t>国土空间推演内核</a:t>
            </a:r>
            <a:endParaRPr lang="en-US" sz="2700" dirty="0"/>
          </a:p>
        </p:txBody>
      </p:sp>
      <p:sp>
        <p:nvSpPr>
          <p:cNvPr id="9" name="Text 6"/>
          <p:cNvSpPr txBox="1"/>
          <p:nvPr/>
        </p:nvSpPr>
        <p:spPr>
          <a:xfrm>
            <a:off x="685800" y="3182112"/>
            <a:ext cx="5349240" cy="201168"/>
          </a:xfrm>
          <a:prstGeom prst="rect">
            <a:avLst/>
          </a:prstGeom>
          <a:noFill/>
          <a:ln/>
        </p:spPr>
        <p:txBody>
          <a:bodyPr wrap="square" lIns="0" tIns="0" rIns="0" bIns="0" rtlCol="0" anchor="t">
            <a:normAutofit/>
          </a:bodyPr>
          <a:lstStyle/>
          <a:p>
            <a:pPr algn="l" indent="0" marL="0">
              <a:lnSpc>
                <a:spcPct val="92000"/>
              </a:lnSpc>
              <a:buNone/>
            </a:pPr>
            <a:r>
              <a:rPr lang="en-US" sz="960" b="1" dirty="0">
                <a:solidFill>
                  <a:srgbClr val="9FC8C2"/>
                </a:solidFill>
                <a:latin typeface="Arial" pitchFamily="34" charset="0"/>
                <a:ea typeface="Arial" pitchFamily="34" charset="-122"/>
                <a:cs typeface="Arial" pitchFamily="34" charset="-120"/>
              </a:rPr>
              <a:t>Geospatial World Model (GWM)  ·  Territory World Model (TWM)</a:t>
            </a:r>
            <a:endParaRPr lang="en-US" sz="960" dirty="0"/>
          </a:p>
        </p:txBody>
      </p:sp>
      <p:sp>
        <p:nvSpPr>
          <p:cNvPr id="10" name="Text 7"/>
          <p:cNvSpPr txBox="1"/>
          <p:nvPr/>
        </p:nvSpPr>
        <p:spPr>
          <a:xfrm>
            <a:off x="685800" y="3429000"/>
            <a:ext cx="5349240" cy="548640"/>
          </a:xfrm>
          <a:prstGeom prst="rect">
            <a:avLst/>
          </a:prstGeom>
          <a:noFill/>
          <a:ln/>
        </p:spPr>
        <p:txBody>
          <a:bodyPr wrap="square" lIns="0" tIns="0" rIns="0" bIns="0" rtlCol="0" anchor="t">
            <a:normAutofit/>
          </a:bodyPr>
          <a:lstStyle/>
          <a:p>
            <a:pPr algn="l" indent="0" marL="0">
              <a:lnSpc>
                <a:spcPct val="92000"/>
              </a:lnSpc>
              <a:buNone/>
            </a:pPr>
            <a:r>
              <a:rPr lang="en-US" sz="1120" dirty="0">
                <a:solidFill>
                  <a:srgbClr val="D4E8E5"/>
                </a:solidFill>
                <a:latin typeface="Hiragino Sans GB" pitchFamily="34" charset="0"/>
                <a:ea typeface="Hiragino Sans GB" pitchFamily="34" charset="-122"/>
                <a:cs typeface="Hiragino Sans GB" pitchFamily="34" charset="-120"/>
              </a:rPr>
              <a:t>面向自然资源治理的状态建模、行动推演与决策支撑</a:t>
            </a:r>
            <a:endParaRPr lang="en-US" sz="1120" dirty="0"/>
          </a:p>
        </p:txBody>
      </p:sp>
      <p:sp>
        <p:nvSpPr>
          <p:cNvPr id="11" name="Shape 8"/>
          <p:cNvSpPr/>
          <p:nvPr/>
        </p:nvSpPr>
        <p:spPr>
          <a:xfrm>
            <a:off x="676656" y="4233672"/>
            <a:ext cx="5084064" cy="0"/>
          </a:xfrm>
          <a:prstGeom prst="line">
            <a:avLst/>
          </a:prstGeom>
          <a:noFill/>
          <a:ln w="15240">
            <a:solidFill>
              <a:srgbClr val="5CB9A6"/>
            </a:solidFill>
            <a:prstDash val="solid"/>
          </a:ln>
        </p:spPr>
      </p:sp>
      <p:sp>
        <p:nvSpPr>
          <p:cNvPr id="12" name="Text 9"/>
          <p:cNvSpPr txBox="1"/>
          <p:nvPr/>
        </p:nvSpPr>
        <p:spPr>
          <a:xfrm>
            <a:off x="685800" y="4443984"/>
            <a:ext cx="4800600" cy="658368"/>
          </a:xfrm>
          <a:prstGeom prst="rect">
            <a:avLst/>
          </a:prstGeom>
          <a:noFill/>
          <a:ln/>
        </p:spPr>
        <p:txBody>
          <a:bodyPr wrap="square" lIns="0" tIns="0" rIns="0" bIns="0" rtlCol="0" anchor="t">
            <a:normAutofit/>
          </a:bodyPr>
          <a:lstStyle/>
          <a:p>
            <a:pPr algn="l" indent="0" marL="0">
              <a:lnSpc>
                <a:spcPct val="92000"/>
              </a:lnSpc>
              <a:buNone/>
            </a:pPr>
            <a:r>
              <a:rPr lang="en-US" sz="1060" dirty="0">
                <a:solidFill>
                  <a:srgbClr val="D4E8E5"/>
                </a:solidFill>
                <a:latin typeface="Hiragino Sans GB" pitchFamily="34" charset="0"/>
                <a:ea typeface="Hiragino Sans GB" pitchFamily="34" charset="-122"/>
                <a:cs typeface="Hiragino Sans GB" pitchFamily="34" charset="-120"/>
              </a:rPr>
              <a:t>汇报对象：某省自然资源厅信息中心</a:t>
            </a:r>
            <a:endParaRPr lang="en-US" sz="1060" dirty="0"/>
          </a:p>
          <a:p>
            <a:pPr algn="l" indent="0" marL="0">
              <a:lnSpc>
                <a:spcPct val="92000"/>
              </a:lnSpc>
              <a:buNone/>
            </a:pPr>
            <a:r>
              <a:rPr lang="en-US" sz="1060" dirty="0">
                <a:solidFill>
                  <a:srgbClr val="D4E8E5"/>
                </a:solidFill>
                <a:latin typeface="Hiragino Sans GB" pitchFamily="34" charset="0"/>
                <a:ea typeface="Hiragino Sans GB" pitchFamily="34" charset="-122"/>
                <a:cs typeface="Hiragino Sans GB" pitchFamily="34" charset="-120"/>
              </a:rPr>
              <a:t>技术专题汇报  |  2026-07-22</a:t>
            </a:r>
            <a:endParaRPr lang="en-US" sz="1060" dirty="0"/>
          </a:p>
        </p:txBody>
      </p:sp>
      <p:sp>
        <p:nvSpPr>
          <p:cNvPr id="13" name="Text 10"/>
          <p:cNvSpPr txBox="1"/>
          <p:nvPr/>
        </p:nvSpPr>
        <p:spPr>
          <a:xfrm>
            <a:off x="10177272" y="6254496"/>
            <a:ext cx="1371600" cy="219456"/>
          </a:xfrm>
          <a:prstGeom prst="rect">
            <a:avLst/>
          </a:prstGeom>
          <a:noFill/>
          <a:ln/>
        </p:spPr>
        <p:txBody>
          <a:bodyPr wrap="square" lIns="0" tIns="0" rIns="0" bIns="0" rtlCol="0" anchor="ctr">
            <a:normAutofit/>
          </a:bodyPr>
          <a:lstStyle/>
          <a:p>
            <a:pPr algn="r" indent="0" marL="0">
              <a:lnSpc>
                <a:spcPct val="92000"/>
              </a:lnSpc>
              <a:buNone/>
            </a:pPr>
            <a:r>
              <a:rPr lang="en-US" sz="1000" b="1" dirty="0">
                <a:solidFill>
                  <a:srgbClr val="D4E8E5"/>
                </a:solidFill>
                <a:latin typeface="Hiragino Sans GB" pitchFamily="34" charset="0"/>
                <a:ea typeface="Hiragino Sans GB" pitchFamily="34" charset="-122"/>
                <a:cs typeface="Hiragino Sans GB" pitchFamily="34" charset="-120"/>
              </a:rPr>
              <a:t>GWM / TWM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汇报目录</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汇报框架：问题、证据、机制、应用与试点</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全篇围绕现实需求、实证基础、技术内核、业务价值和实施路径五个层次展开。</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本页为全篇导航；页码对应本版 29 页汇报材料</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02 / 29</a:t>
            </a:r>
            <a:endParaRPr lang="en-US" sz="670" dirty="0"/>
          </a:p>
        </p:txBody>
      </p:sp>
      <p:sp>
        <p:nvSpPr>
          <p:cNvPr id="10" name="Shape 8"/>
          <p:cNvSpPr/>
          <p:nvPr/>
        </p:nvSpPr>
        <p:spPr>
          <a:xfrm>
            <a:off x="512064" y="1435608"/>
            <a:ext cx="11155680" cy="438912"/>
          </a:xfrm>
          <a:prstGeom prst="roundRect">
            <a:avLst>
              <a:gd name="adj" fmla="val 8333"/>
            </a:avLst>
          </a:prstGeom>
          <a:solidFill>
            <a:srgbClr val="102F34"/>
          </a:solidFill>
          <a:ln w="12700">
            <a:solidFill>
              <a:srgbClr val="102F34"/>
            </a:solidFill>
            <a:prstDash val="solid"/>
          </a:ln>
        </p:spPr>
      </p:sp>
      <p:sp>
        <p:nvSpPr>
          <p:cNvPr id="11" name="Text 9"/>
          <p:cNvSpPr txBox="1"/>
          <p:nvPr/>
        </p:nvSpPr>
        <p:spPr>
          <a:xfrm>
            <a:off x="749808" y="1536192"/>
            <a:ext cx="1481328" cy="210312"/>
          </a:xfrm>
          <a:prstGeom prst="rect">
            <a:avLst/>
          </a:prstGeom>
          <a:noFill/>
          <a:ln/>
        </p:spPr>
        <p:txBody>
          <a:bodyPr wrap="square" lIns="0" tIns="0" rIns="0" bIns="0" rtlCol="0" anchor="ctr">
            <a:normAutofit/>
          </a:bodyPr>
          <a:lstStyle/>
          <a:p>
            <a:pPr algn="l" indent="0" marL="0">
              <a:lnSpc>
                <a:spcPct val="92000"/>
              </a:lnSpc>
              <a:buNone/>
            </a:pPr>
            <a:r>
              <a:rPr lang="en-US" sz="1060" b="1" dirty="0">
                <a:solidFill>
                  <a:srgbClr val="FFFFFF"/>
                </a:solidFill>
                <a:latin typeface="Hiragino Sans GB" pitchFamily="34" charset="0"/>
                <a:ea typeface="Hiragino Sans GB" pitchFamily="34" charset="-122"/>
                <a:cs typeface="Hiragino Sans GB" pitchFamily="34" charset="-120"/>
              </a:rPr>
              <a:t>核心判断 · P03</a:t>
            </a:r>
            <a:endParaRPr lang="en-US" sz="1060" dirty="0"/>
          </a:p>
        </p:txBody>
      </p:sp>
      <p:sp>
        <p:nvSpPr>
          <p:cNvPr id="12" name="Text 10"/>
          <p:cNvSpPr txBox="1"/>
          <p:nvPr/>
        </p:nvSpPr>
        <p:spPr>
          <a:xfrm>
            <a:off x="2423160" y="1527048"/>
            <a:ext cx="6528816" cy="210312"/>
          </a:xfrm>
          <a:prstGeom prst="rect">
            <a:avLst/>
          </a:prstGeom>
          <a:noFill/>
          <a:ln/>
        </p:spPr>
        <p:txBody>
          <a:bodyPr wrap="square" lIns="0" tIns="0" rIns="0" bIns="0" rtlCol="0" anchor="ctr">
            <a:normAutofit/>
          </a:bodyPr>
          <a:lstStyle/>
          <a:p>
            <a:pPr algn="ctr" indent="0" marL="0">
              <a:lnSpc>
                <a:spcPct val="92000"/>
              </a:lnSpc>
              <a:buNone/>
            </a:pPr>
            <a:r>
              <a:rPr lang="en-US" sz="940" b="1" dirty="0">
                <a:solidFill>
                  <a:srgbClr val="D4E8E5"/>
                </a:solidFill>
                <a:latin typeface="Hiragino Sans GB" pitchFamily="34" charset="0"/>
                <a:ea typeface="Hiragino Sans GB" pitchFamily="34" charset="-122"/>
                <a:cs typeface="Hiragino Sans GB" pitchFamily="34" charset="-120"/>
              </a:rPr>
              <a:t>研究对象  /  对标结论  /  技术内核  /  平台形态</a:t>
            </a:r>
            <a:endParaRPr lang="en-US" sz="940" dirty="0"/>
          </a:p>
        </p:txBody>
      </p:sp>
      <p:sp>
        <p:nvSpPr>
          <p:cNvPr id="13" name="Text 11"/>
          <p:cNvSpPr txBox="1"/>
          <p:nvPr/>
        </p:nvSpPr>
        <p:spPr>
          <a:xfrm>
            <a:off x="9208008" y="1536192"/>
            <a:ext cx="2148840" cy="201168"/>
          </a:xfrm>
          <a:prstGeom prst="rect">
            <a:avLst/>
          </a:prstGeom>
          <a:noFill/>
          <a:ln/>
        </p:spPr>
        <p:txBody>
          <a:bodyPr wrap="square" lIns="0" tIns="0" rIns="0" bIns="0" rtlCol="0" anchor="ctr">
            <a:normAutofit/>
          </a:bodyPr>
          <a:lstStyle/>
          <a:p>
            <a:pPr algn="r" indent="0" marL="0">
              <a:lnSpc>
                <a:spcPct val="92000"/>
              </a:lnSpc>
              <a:buNone/>
            </a:pPr>
            <a:r>
              <a:rPr lang="en-US" sz="840" b="1" dirty="0">
                <a:solidFill>
                  <a:srgbClr val="9FC8C2"/>
                </a:solidFill>
                <a:latin typeface="Hiragino Sans GB" pitchFamily="34" charset="0"/>
                <a:ea typeface="Hiragino Sans GB" pitchFamily="34" charset="-122"/>
                <a:cs typeface="Hiragino Sans GB" pitchFamily="34" charset="-120"/>
              </a:rPr>
              <a:t>全篇结论摘要</a:t>
            </a:r>
            <a:endParaRPr lang="en-US" sz="840" dirty="0"/>
          </a:p>
        </p:txBody>
      </p:sp>
      <p:sp>
        <p:nvSpPr>
          <p:cNvPr id="14" name="Text 12"/>
          <p:cNvSpPr txBox="1"/>
          <p:nvPr/>
        </p:nvSpPr>
        <p:spPr>
          <a:xfrm>
            <a:off x="694944" y="2020824"/>
            <a:ext cx="2020824" cy="182880"/>
          </a:xfrm>
          <a:prstGeom prst="rect">
            <a:avLst/>
          </a:prstGeom>
          <a:noFill/>
          <a:ln/>
        </p:spPr>
        <p:txBody>
          <a:bodyPr wrap="square" lIns="0" tIns="0" rIns="0" bIns="0" rtlCol="0" anchor="ctr">
            <a:normAutofit/>
          </a:bodyPr>
          <a:lstStyle/>
          <a:p>
            <a:pPr algn="l" indent="0" marL="0">
              <a:lnSpc>
                <a:spcPct val="92000"/>
              </a:lnSpc>
              <a:buNone/>
            </a:pPr>
            <a:r>
              <a:rPr lang="en-US" sz="740" b="1" dirty="0">
                <a:solidFill>
                  <a:srgbClr val="6C7C80"/>
                </a:solidFill>
                <a:latin typeface="Hiragino Sans GB" pitchFamily="34" charset="0"/>
                <a:ea typeface="Hiragino Sans GB" pitchFamily="34" charset="-122"/>
                <a:cs typeface="Hiragino Sans GB" pitchFamily="34" charset="-120"/>
              </a:rPr>
              <a:t>章节</a:t>
            </a:r>
            <a:endParaRPr lang="en-US" sz="740" dirty="0"/>
          </a:p>
        </p:txBody>
      </p:sp>
      <p:sp>
        <p:nvSpPr>
          <p:cNvPr id="15" name="Text 13"/>
          <p:cNvSpPr txBox="1"/>
          <p:nvPr/>
        </p:nvSpPr>
        <p:spPr>
          <a:xfrm>
            <a:off x="3017520" y="2020824"/>
            <a:ext cx="2926080" cy="182880"/>
          </a:xfrm>
          <a:prstGeom prst="rect">
            <a:avLst/>
          </a:prstGeom>
          <a:noFill/>
          <a:ln/>
        </p:spPr>
        <p:txBody>
          <a:bodyPr wrap="square" lIns="0" tIns="0" rIns="0" bIns="0" rtlCol="0" anchor="ctr">
            <a:normAutofit/>
          </a:bodyPr>
          <a:lstStyle/>
          <a:p>
            <a:pPr algn="l" indent="0" marL="0">
              <a:lnSpc>
                <a:spcPct val="92000"/>
              </a:lnSpc>
              <a:buNone/>
            </a:pPr>
            <a:r>
              <a:rPr lang="en-US" sz="740" b="1" dirty="0">
                <a:solidFill>
                  <a:srgbClr val="6C7C80"/>
                </a:solidFill>
                <a:latin typeface="Hiragino Sans GB" pitchFamily="34" charset="0"/>
                <a:ea typeface="Hiragino Sans GB" pitchFamily="34" charset="-122"/>
                <a:cs typeface="Hiragino Sans GB" pitchFamily="34" charset="-120"/>
              </a:rPr>
              <a:t>本章主题</a:t>
            </a:r>
            <a:endParaRPr lang="en-US" sz="740" dirty="0"/>
          </a:p>
        </p:txBody>
      </p:sp>
      <p:sp>
        <p:nvSpPr>
          <p:cNvPr id="16" name="Text 14"/>
          <p:cNvSpPr txBox="1"/>
          <p:nvPr/>
        </p:nvSpPr>
        <p:spPr>
          <a:xfrm>
            <a:off x="6400800" y="2020824"/>
            <a:ext cx="4709160" cy="182880"/>
          </a:xfrm>
          <a:prstGeom prst="rect">
            <a:avLst/>
          </a:prstGeom>
          <a:noFill/>
          <a:ln/>
        </p:spPr>
        <p:txBody>
          <a:bodyPr wrap="square" lIns="0" tIns="0" rIns="0" bIns="0" rtlCol="0" anchor="ctr">
            <a:normAutofit/>
          </a:bodyPr>
          <a:lstStyle/>
          <a:p>
            <a:pPr algn="l" indent="0" marL="0">
              <a:lnSpc>
                <a:spcPct val="92000"/>
              </a:lnSpc>
              <a:buNone/>
            </a:pPr>
            <a:r>
              <a:rPr lang="en-US" sz="740" b="1" dirty="0">
                <a:solidFill>
                  <a:srgbClr val="6C7C80"/>
                </a:solidFill>
                <a:latin typeface="Hiragino Sans GB" pitchFamily="34" charset="0"/>
                <a:ea typeface="Hiragino Sans GB" pitchFamily="34" charset="-122"/>
                <a:cs typeface="Hiragino Sans GB" pitchFamily="34" charset="-120"/>
              </a:rPr>
              <a:t>汇报重点</a:t>
            </a:r>
            <a:endParaRPr lang="en-US" sz="740" dirty="0"/>
          </a:p>
        </p:txBody>
      </p:sp>
      <p:sp>
        <p:nvSpPr>
          <p:cNvPr id="17" name="Shape 15"/>
          <p:cNvSpPr/>
          <p:nvPr/>
        </p:nvSpPr>
        <p:spPr>
          <a:xfrm>
            <a:off x="512064" y="2267712"/>
            <a:ext cx="11155680" cy="621792"/>
          </a:xfrm>
          <a:prstGeom prst="roundRect">
            <a:avLst>
              <a:gd name="adj" fmla="val 2941"/>
            </a:avLst>
          </a:prstGeom>
          <a:solidFill>
            <a:srgbClr val="FFFFFF"/>
          </a:solidFill>
          <a:ln w="6985">
            <a:solidFill>
              <a:srgbClr val="D0DBD8"/>
            </a:solidFill>
            <a:prstDash val="solid"/>
          </a:ln>
        </p:spPr>
      </p:sp>
      <p:sp>
        <p:nvSpPr>
          <p:cNvPr id="18" name="Shape 16"/>
          <p:cNvSpPr/>
          <p:nvPr/>
        </p:nvSpPr>
        <p:spPr>
          <a:xfrm>
            <a:off x="512064" y="2267712"/>
            <a:ext cx="91440" cy="621792"/>
          </a:xfrm>
          <a:prstGeom prst="rect">
            <a:avLst/>
          </a:prstGeom>
          <a:solidFill>
            <a:srgbClr val="137F7A"/>
          </a:solidFill>
          <a:ln w="12700">
            <a:solidFill>
              <a:srgbClr val="137F7A"/>
            </a:solidFill>
            <a:prstDash val="solid"/>
          </a:ln>
        </p:spPr>
      </p:sp>
      <p:sp>
        <p:nvSpPr>
          <p:cNvPr id="19" name="Text 17"/>
          <p:cNvSpPr txBox="1"/>
          <p:nvPr/>
        </p:nvSpPr>
        <p:spPr>
          <a:xfrm>
            <a:off x="722376" y="2404872"/>
            <a:ext cx="438912" cy="256032"/>
          </a:xfrm>
          <a:prstGeom prst="rect">
            <a:avLst/>
          </a:prstGeom>
          <a:noFill/>
          <a:ln/>
        </p:spPr>
        <p:txBody>
          <a:bodyPr wrap="square" lIns="0" tIns="0" rIns="0" bIns="0" rtlCol="0" anchor="ctr">
            <a:normAutofit/>
          </a:bodyPr>
          <a:lstStyle/>
          <a:p>
            <a:pPr algn="ctr" indent="0" marL="0">
              <a:lnSpc>
                <a:spcPct val="92000"/>
              </a:lnSpc>
              <a:buNone/>
            </a:pPr>
            <a:r>
              <a:rPr lang="en-US" sz="1320" b="1" dirty="0">
                <a:solidFill>
                  <a:srgbClr val="137F7A"/>
                </a:solidFill>
                <a:latin typeface="Arial" pitchFamily="34" charset="0"/>
                <a:ea typeface="Arial" pitchFamily="34" charset="-122"/>
                <a:cs typeface="Arial" pitchFamily="34" charset="-120"/>
              </a:rPr>
              <a:t>01</a:t>
            </a:r>
            <a:endParaRPr lang="en-US" sz="1320" dirty="0"/>
          </a:p>
        </p:txBody>
      </p:sp>
      <p:sp>
        <p:nvSpPr>
          <p:cNvPr id="20" name="Text 18"/>
          <p:cNvSpPr txBox="1"/>
          <p:nvPr/>
        </p:nvSpPr>
        <p:spPr>
          <a:xfrm>
            <a:off x="1271016" y="2368296"/>
            <a:ext cx="1051560" cy="228600"/>
          </a:xfrm>
          <a:prstGeom prst="rect">
            <a:avLst/>
          </a:prstGeom>
          <a:noFill/>
          <a:ln/>
        </p:spPr>
        <p:txBody>
          <a:bodyPr wrap="square" lIns="0" tIns="0" rIns="0" bIns="0" rtlCol="0" anchor="ctr">
            <a:normAutofit/>
          </a:bodyPr>
          <a:lstStyle/>
          <a:p>
            <a:pPr algn="l" indent="0" marL="0">
              <a:lnSpc>
                <a:spcPct val="92000"/>
              </a:lnSpc>
              <a:buNone/>
            </a:pPr>
            <a:r>
              <a:rPr lang="en-US" sz="1070" b="1" dirty="0">
                <a:solidFill>
                  <a:srgbClr val="17252A"/>
                </a:solidFill>
                <a:latin typeface="Hiragino Sans GB" pitchFamily="34" charset="0"/>
                <a:ea typeface="Hiragino Sans GB" pitchFamily="34" charset="-122"/>
                <a:cs typeface="Hiragino Sans GB" pitchFamily="34" charset="-120"/>
              </a:rPr>
              <a:t>问题与起点</a:t>
            </a:r>
            <a:endParaRPr lang="en-US" sz="1070" dirty="0"/>
          </a:p>
        </p:txBody>
      </p:sp>
      <p:sp>
        <p:nvSpPr>
          <p:cNvPr id="21" name="Shape 19"/>
          <p:cNvSpPr/>
          <p:nvPr/>
        </p:nvSpPr>
        <p:spPr>
          <a:xfrm>
            <a:off x="1271016" y="2624328"/>
            <a:ext cx="713232" cy="256032"/>
          </a:xfrm>
          <a:prstGeom prst="roundRect">
            <a:avLst>
              <a:gd name="adj" fmla="val 50000"/>
            </a:avLst>
          </a:prstGeom>
          <a:solidFill>
            <a:srgbClr val="E2F2EF"/>
          </a:solidFill>
          <a:ln w="6350">
            <a:solidFill>
              <a:srgbClr val="E2F2EF"/>
            </a:solidFill>
            <a:prstDash val="solid"/>
          </a:ln>
        </p:spPr>
      </p:sp>
      <p:sp>
        <p:nvSpPr>
          <p:cNvPr id="22" name="Text 20"/>
          <p:cNvSpPr txBox="1"/>
          <p:nvPr/>
        </p:nvSpPr>
        <p:spPr>
          <a:xfrm>
            <a:off x="1325880" y="2647188"/>
            <a:ext cx="603504"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137F7A"/>
                </a:solidFill>
                <a:latin typeface="Hiragino Sans GB" pitchFamily="34" charset="0"/>
                <a:ea typeface="Hiragino Sans GB" pitchFamily="34" charset="-122"/>
                <a:cs typeface="Hiragino Sans GB" pitchFamily="34" charset="-120"/>
              </a:rPr>
              <a:t>P04–11</a:t>
            </a:r>
            <a:endParaRPr lang="en-US" sz="680" dirty="0"/>
          </a:p>
        </p:txBody>
      </p:sp>
      <p:sp>
        <p:nvSpPr>
          <p:cNvPr id="23" name="Text 21"/>
          <p:cNvSpPr txBox="1"/>
          <p:nvPr/>
        </p:nvSpPr>
        <p:spPr>
          <a:xfrm>
            <a:off x="3017520" y="2386584"/>
            <a:ext cx="2852928" cy="292608"/>
          </a:xfrm>
          <a:prstGeom prst="rect">
            <a:avLst/>
          </a:prstGeom>
          <a:noFill/>
          <a:ln/>
        </p:spPr>
        <p:txBody>
          <a:bodyPr wrap="square" lIns="0" tIns="0" rIns="0" bIns="0" rtlCol="0" anchor="ctr">
            <a:normAutofit/>
          </a:bodyPr>
          <a:lstStyle/>
          <a:p>
            <a:pPr algn="l" indent="0" marL="0">
              <a:lnSpc>
                <a:spcPct val="92000"/>
              </a:lnSpc>
              <a:buNone/>
            </a:pPr>
            <a:r>
              <a:rPr lang="en-US" sz="1010" b="1" dirty="0">
                <a:solidFill>
                  <a:srgbClr val="137F7A"/>
                </a:solidFill>
                <a:latin typeface="Hiragino Sans GB" pitchFamily="34" charset="0"/>
                <a:ea typeface="Hiragino Sans GB" pitchFamily="34" charset="-122"/>
                <a:cs typeface="Hiragino Sans GB" pitchFamily="34" charset="-120"/>
              </a:rPr>
              <a:t>GWM 的提出背景与数据基础</a:t>
            </a:r>
            <a:endParaRPr lang="en-US" sz="1010" dirty="0"/>
          </a:p>
        </p:txBody>
      </p:sp>
      <p:sp>
        <p:nvSpPr>
          <p:cNvPr id="24" name="Text 22"/>
          <p:cNvSpPr txBox="1"/>
          <p:nvPr/>
        </p:nvSpPr>
        <p:spPr>
          <a:xfrm>
            <a:off x="6400800" y="2359152"/>
            <a:ext cx="4800600" cy="384048"/>
          </a:xfrm>
          <a:prstGeom prst="rect">
            <a:avLst/>
          </a:prstGeom>
          <a:noFill/>
          <a:ln/>
        </p:spPr>
        <p:txBody>
          <a:bodyPr wrap="square" lIns="0" tIns="0" rIns="0" bIns="0" rtlCol="0" anchor="t">
            <a:normAutofit/>
          </a:bodyPr>
          <a:lstStyle/>
          <a:p>
            <a:pPr algn="l" indent="0" marL="0">
              <a:lnSpc>
                <a:spcPct val="92000"/>
              </a:lnSpc>
              <a:buNone/>
            </a:pPr>
            <a:r>
              <a:rPr lang="en-US" sz="840" dirty="0">
                <a:solidFill>
                  <a:srgbClr val="32474D"/>
                </a:solidFill>
                <a:latin typeface="Hiragino Sans GB" pitchFamily="34" charset="0"/>
                <a:ea typeface="Hiragino Sans GB" pitchFamily="34" charset="-122"/>
                <a:cs typeface="Hiragino Sans GB" pitchFamily="34" charset="-120"/>
              </a:rPr>
              <a:t>从世界模型谱系、空间优化实践和数据契约说明研究对象的演进</a:t>
            </a:r>
            <a:endParaRPr lang="en-US" sz="840" dirty="0"/>
          </a:p>
        </p:txBody>
      </p:sp>
      <p:sp>
        <p:nvSpPr>
          <p:cNvPr id="25" name="Shape 23"/>
          <p:cNvSpPr/>
          <p:nvPr/>
        </p:nvSpPr>
        <p:spPr>
          <a:xfrm>
            <a:off x="512064" y="3017520"/>
            <a:ext cx="11155680" cy="621792"/>
          </a:xfrm>
          <a:prstGeom prst="roundRect">
            <a:avLst>
              <a:gd name="adj" fmla="val 2941"/>
            </a:avLst>
          </a:prstGeom>
          <a:solidFill>
            <a:srgbClr val="EDF1F0"/>
          </a:solidFill>
          <a:ln w="6985">
            <a:solidFill>
              <a:srgbClr val="D0DBD8"/>
            </a:solidFill>
            <a:prstDash val="solid"/>
          </a:ln>
        </p:spPr>
      </p:sp>
      <p:sp>
        <p:nvSpPr>
          <p:cNvPr id="26" name="Shape 24"/>
          <p:cNvSpPr/>
          <p:nvPr/>
        </p:nvSpPr>
        <p:spPr>
          <a:xfrm>
            <a:off x="512064" y="3017520"/>
            <a:ext cx="91440" cy="621792"/>
          </a:xfrm>
          <a:prstGeom prst="rect">
            <a:avLst/>
          </a:prstGeom>
          <a:solidFill>
            <a:srgbClr val="B17B20"/>
          </a:solidFill>
          <a:ln w="12700">
            <a:solidFill>
              <a:srgbClr val="B17B20"/>
            </a:solidFill>
            <a:prstDash val="solid"/>
          </a:ln>
        </p:spPr>
      </p:sp>
      <p:sp>
        <p:nvSpPr>
          <p:cNvPr id="27" name="Text 25"/>
          <p:cNvSpPr txBox="1"/>
          <p:nvPr/>
        </p:nvSpPr>
        <p:spPr>
          <a:xfrm>
            <a:off x="722376" y="3154680"/>
            <a:ext cx="438912" cy="256032"/>
          </a:xfrm>
          <a:prstGeom prst="rect">
            <a:avLst/>
          </a:prstGeom>
          <a:noFill/>
          <a:ln/>
        </p:spPr>
        <p:txBody>
          <a:bodyPr wrap="square" lIns="0" tIns="0" rIns="0" bIns="0" rtlCol="0" anchor="ctr">
            <a:normAutofit/>
          </a:bodyPr>
          <a:lstStyle/>
          <a:p>
            <a:pPr algn="ctr" indent="0" marL="0">
              <a:lnSpc>
                <a:spcPct val="92000"/>
              </a:lnSpc>
              <a:buNone/>
            </a:pPr>
            <a:r>
              <a:rPr lang="en-US" sz="1320" b="1" dirty="0">
                <a:solidFill>
                  <a:srgbClr val="B17B20"/>
                </a:solidFill>
                <a:latin typeface="Arial" pitchFamily="34" charset="0"/>
                <a:ea typeface="Arial" pitchFamily="34" charset="-122"/>
                <a:cs typeface="Arial" pitchFamily="34" charset="-120"/>
              </a:rPr>
              <a:t>02</a:t>
            </a:r>
            <a:endParaRPr lang="en-US" sz="1320" dirty="0"/>
          </a:p>
        </p:txBody>
      </p:sp>
      <p:sp>
        <p:nvSpPr>
          <p:cNvPr id="28" name="Text 26"/>
          <p:cNvSpPr txBox="1"/>
          <p:nvPr/>
        </p:nvSpPr>
        <p:spPr>
          <a:xfrm>
            <a:off x="1271016" y="3118104"/>
            <a:ext cx="1051560" cy="228600"/>
          </a:xfrm>
          <a:prstGeom prst="rect">
            <a:avLst/>
          </a:prstGeom>
          <a:noFill/>
          <a:ln/>
        </p:spPr>
        <p:txBody>
          <a:bodyPr wrap="square" lIns="0" tIns="0" rIns="0" bIns="0" rtlCol="0" anchor="ctr">
            <a:normAutofit/>
          </a:bodyPr>
          <a:lstStyle/>
          <a:p>
            <a:pPr algn="l" indent="0" marL="0">
              <a:lnSpc>
                <a:spcPct val="92000"/>
              </a:lnSpc>
              <a:buNone/>
            </a:pPr>
            <a:r>
              <a:rPr lang="en-US" sz="1070" b="1" dirty="0">
                <a:solidFill>
                  <a:srgbClr val="17252A"/>
                </a:solidFill>
                <a:latin typeface="Hiragino Sans GB" pitchFamily="34" charset="0"/>
                <a:ea typeface="Hiragino Sans GB" pitchFamily="34" charset="-122"/>
                <a:cs typeface="Hiragino Sans GB" pitchFamily="34" charset="-120"/>
              </a:rPr>
              <a:t>对标与证据</a:t>
            </a:r>
            <a:endParaRPr lang="en-US" sz="1070" dirty="0"/>
          </a:p>
        </p:txBody>
      </p:sp>
      <p:sp>
        <p:nvSpPr>
          <p:cNvPr id="29" name="Shape 27"/>
          <p:cNvSpPr/>
          <p:nvPr/>
        </p:nvSpPr>
        <p:spPr>
          <a:xfrm>
            <a:off x="1271016" y="3374136"/>
            <a:ext cx="713232" cy="256032"/>
          </a:xfrm>
          <a:prstGeom prst="roundRect">
            <a:avLst>
              <a:gd name="adj" fmla="val 50000"/>
            </a:avLst>
          </a:prstGeom>
          <a:solidFill>
            <a:srgbClr val="FFF3D9"/>
          </a:solidFill>
          <a:ln w="6350">
            <a:solidFill>
              <a:srgbClr val="FFF3D9"/>
            </a:solidFill>
            <a:prstDash val="solid"/>
          </a:ln>
        </p:spPr>
      </p:sp>
      <p:sp>
        <p:nvSpPr>
          <p:cNvPr id="30" name="Text 28"/>
          <p:cNvSpPr txBox="1"/>
          <p:nvPr/>
        </p:nvSpPr>
        <p:spPr>
          <a:xfrm>
            <a:off x="1325880" y="3396996"/>
            <a:ext cx="603504"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B17B20"/>
                </a:solidFill>
                <a:latin typeface="Hiragino Sans GB" pitchFamily="34" charset="0"/>
                <a:ea typeface="Hiragino Sans GB" pitchFamily="34" charset="-122"/>
                <a:cs typeface="Hiragino Sans GB" pitchFamily="34" charset="-120"/>
              </a:rPr>
              <a:t>P12–14</a:t>
            </a:r>
            <a:endParaRPr lang="en-US" sz="680" dirty="0"/>
          </a:p>
        </p:txBody>
      </p:sp>
      <p:sp>
        <p:nvSpPr>
          <p:cNvPr id="31" name="Text 29"/>
          <p:cNvSpPr txBox="1"/>
          <p:nvPr/>
        </p:nvSpPr>
        <p:spPr>
          <a:xfrm>
            <a:off x="3017520" y="3136392"/>
            <a:ext cx="2852928" cy="292608"/>
          </a:xfrm>
          <a:prstGeom prst="rect">
            <a:avLst/>
          </a:prstGeom>
          <a:noFill/>
          <a:ln/>
        </p:spPr>
        <p:txBody>
          <a:bodyPr wrap="square" lIns="0" tIns="0" rIns="0" bIns="0" rtlCol="0" anchor="ctr">
            <a:normAutofit/>
          </a:bodyPr>
          <a:lstStyle/>
          <a:p>
            <a:pPr algn="l" indent="0" marL="0">
              <a:lnSpc>
                <a:spcPct val="92000"/>
              </a:lnSpc>
              <a:buNone/>
            </a:pPr>
            <a:r>
              <a:rPr lang="en-US" sz="1010" b="1" dirty="0">
                <a:solidFill>
                  <a:srgbClr val="B17B20"/>
                </a:solidFill>
                <a:latin typeface="Hiragino Sans GB" pitchFamily="34" charset="0"/>
                <a:ea typeface="Hiragino Sans GB" pitchFamily="34" charset="-122"/>
                <a:cs typeface="Hiragino Sans GB" pitchFamily="34" charset="-120"/>
              </a:rPr>
              <a:t>能力边界与证据强度</a:t>
            </a:r>
            <a:endParaRPr lang="en-US" sz="1010" dirty="0"/>
          </a:p>
        </p:txBody>
      </p:sp>
      <p:sp>
        <p:nvSpPr>
          <p:cNvPr id="32" name="Text 30"/>
          <p:cNvSpPr txBox="1"/>
          <p:nvPr/>
        </p:nvSpPr>
        <p:spPr>
          <a:xfrm>
            <a:off x="6400800" y="3108960"/>
            <a:ext cx="4800600" cy="384048"/>
          </a:xfrm>
          <a:prstGeom prst="rect">
            <a:avLst/>
          </a:prstGeom>
          <a:noFill/>
          <a:ln/>
        </p:spPr>
        <p:txBody>
          <a:bodyPr wrap="square" lIns="0" tIns="0" rIns="0" bIns="0" rtlCol="0" anchor="t">
            <a:normAutofit/>
          </a:bodyPr>
          <a:lstStyle/>
          <a:p>
            <a:pPr algn="l" indent="0" marL="0">
              <a:lnSpc>
                <a:spcPct val="92000"/>
              </a:lnSpc>
              <a:buNone/>
            </a:pPr>
            <a:r>
              <a:rPr lang="en-US" sz="840" dirty="0">
                <a:solidFill>
                  <a:srgbClr val="32474D"/>
                </a:solidFill>
                <a:latin typeface="Hiragino Sans GB" pitchFamily="34" charset="0"/>
                <a:ea typeface="Hiragino Sans GB" pitchFamily="34" charset="-122"/>
                <a:cs typeface="Hiragino Sans GB" pitchFamily="34" charset="-120"/>
              </a:rPr>
              <a:t>以 GeoSOS-FLUS 强基线检验当前效果与架构能力空间</a:t>
            </a:r>
            <a:endParaRPr lang="en-US" sz="840" dirty="0"/>
          </a:p>
        </p:txBody>
      </p:sp>
      <p:sp>
        <p:nvSpPr>
          <p:cNvPr id="33" name="Shape 31"/>
          <p:cNvSpPr/>
          <p:nvPr/>
        </p:nvSpPr>
        <p:spPr>
          <a:xfrm>
            <a:off x="512064" y="3767328"/>
            <a:ext cx="11155680" cy="621792"/>
          </a:xfrm>
          <a:prstGeom prst="roundRect">
            <a:avLst>
              <a:gd name="adj" fmla="val 2941"/>
            </a:avLst>
          </a:prstGeom>
          <a:solidFill>
            <a:srgbClr val="FFFFFF"/>
          </a:solidFill>
          <a:ln w="6985">
            <a:solidFill>
              <a:srgbClr val="D0DBD8"/>
            </a:solidFill>
            <a:prstDash val="solid"/>
          </a:ln>
        </p:spPr>
      </p:sp>
      <p:sp>
        <p:nvSpPr>
          <p:cNvPr id="34" name="Shape 32"/>
          <p:cNvSpPr/>
          <p:nvPr/>
        </p:nvSpPr>
        <p:spPr>
          <a:xfrm>
            <a:off x="512064" y="3767328"/>
            <a:ext cx="91440" cy="621792"/>
          </a:xfrm>
          <a:prstGeom prst="rect">
            <a:avLst/>
          </a:prstGeom>
          <a:solidFill>
            <a:srgbClr val="356CA8"/>
          </a:solidFill>
          <a:ln w="12700">
            <a:solidFill>
              <a:srgbClr val="356CA8"/>
            </a:solidFill>
            <a:prstDash val="solid"/>
          </a:ln>
        </p:spPr>
      </p:sp>
      <p:sp>
        <p:nvSpPr>
          <p:cNvPr id="35" name="Text 33"/>
          <p:cNvSpPr txBox="1"/>
          <p:nvPr/>
        </p:nvSpPr>
        <p:spPr>
          <a:xfrm>
            <a:off x="722376" y="3904488"/>
            <a:ext cx="438912" cy="256032"/>
          </a:xfrm>
          <a:prstGeom prst="rect">
            <a:avLst/>
          </a:prstGeom>
          <a:noFill/>
          <a:ln/>
        </p:spPr>
        <p:txBody>
          <a:bodyPr wrap="square" lIns="0" tIns="0" rIns="0" bIns="0" rtlCol="0" anchor="ctr">
            <a:normAutofit/>
          </a:bodyPr>
          <a:lstStyle/>
          <a:p>
            <a:pPr algn="ctr" indent="0" marL="0">
              <a:lnSpc>
                <a:spcPct val="92000"/>
              </a:lnSpc>
              <a:buNone/>
            </a:pPr>
            <a:r>
              <a:rPr lang="en-US" sz="1320" b="1" dirty="0">
                <a:solidFill>
                  <a:srgbClr val="356CA8"/>
                </a:solidFill>
                <a:latin typeface="Arial" pitchFamily="34" charset="0"/>
                <a:ea typeface="Arial" pitchFamily="34" charset="-122"/>
                <a:cs typeface="Arial" pitchFamily="34" charset="-120"/>
              </a:rPr>
              <a:t>03</a:t>
            </a:r>
            <a:endParaRPr lang="en-US" sz="1320" dirty="0"/>
          </a:p>
        </p:txBody>
      </p:sp>
      <p:sp>
        <p:nvSpPr>
          <p:cNvPr id="36" name="Text 34"/>
          <p:cNvSpPr txBox="1"/>
          <p:nvPr/>
        </p:nvSpPr>
        <p:spPr>
          <a:xfrm>
            <a:off x="1271016" y="3867912"/>
            <a:ext cx="1051560" cy="228600"/>
          </a:xfrm>
          <a:prstGeom prst="rect">
            <a:avLst/>
          </a:prstGeom>
          <a:noFill/>
          <a:ln/>
        </p:spPr>
        <p:txBody>
          <a:bodyPr wrap="square" lIns="0" tIns="0" rIns="0" bIns="0" rtlCol="0" anchor="ctr">
            <a:normAutofit/>
          </a:bodyPr>
          <a:lstStyle/>
          <a:p>
            <a:pPr algn="l" indent="0" marL="0">
              <a:lnSpc>
                <a:spcPct val="92000"/>
              </a:lnSpc>
              <a:buNone/>
            </a:pPr>
            <a:r>
              <a:rPr lang="en-US" sz="1070" b="1" dirty="0">
                <a:solidFill>
                  <a:srgbClr val="17252A"/>
                </a:solidFill>
                <a:latin typeface="Hiragino Sans GB" pitchFamily="34" charset="0"/>
                <a:ea typeface="Hiragino Sans GB" pitchFamily="34" charset="-122"/>
                <a:cs typeface="Hiragino Sans GB" pitchFamily="34" charset="-120"/>
              </a:rPr>
              <a:t>技术内核</a:t>
            </a:r>
            <a:endParaRPr lang="en-US" sz="1070" dirty="0"/>
          </a:p>
        </p:txBody>
      </p:sp>
      <p:sp>
        <p:nvSpPr>
          <p:cNvPr id="37" name="Shape 35"/>
          <p:cNvSpPr/>
          <p:nvPr/>
        </p:nvSpPr>
        <p:spPr>
          <a:xfrm>
            <a:off x="1271016" y="4123944"/>
            <a:ext cx="713232" cy="256032"/>
          </a:xfrm>
          <a:prstGeom prst="roundRect">
            <a:avLst>
              <a:gd name="adj" fmla="val 50000"/>
            </a:avLst>
          </a:prstGeom>
          <a:solidFill>
            <a:srgbClr val="E7EFF8"/>
          </a:solidFill>
          <a:ln w="6350">
            <a:solidFill>
              <a:srgbClr val="E7EFF8"/>
            </a:solidFill>
            <a:prstDash val="solid"/>
          </a:ln>
        </p:spPr>
      </p:sp>
      <p:sp>
        <p:nvSpPr>
          <p:cNvPr id="38" name="Text 36"/>
          <p:cNvSpPr txBox="1"/>
          <p:nvPr/>
        </p:nvSpPr>
        <p:spPr>
          <a:xfrm>
            <a:off x="1325880" y="4146804"/>
            <a:ext cx="603504"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356CA8"/>
                </a:solidFill>
                <a:latin typeface="Hiragino Sans GB" pitchFamily="34" charset="0"/>
                <a:ea typeface="Hiragino Sans GB" pitchFamily="34" charset="-122"/>
                <a:cs typeface="Hiragino Sans GB" pitchFamily="34" charset="-120"/>
              </a:rPr>
              <a:t>P15–20</a:t>
            </a:r>
            <a:endParaRPr lang="en-US" sz="680" dirty="0"/>
          </a:p>
        </p:txBody>
      </p:sp>
      <p:sp>
        <p:nvSpPr>
          <p:cNvPr id="39" name="Text 37"/>
          <p:cNvSpPr txBox="1"/>
          <p:nvPr/>
        </p:nvSpPr>
        <p:spPr>
          <a:xfrm>
            <a:off x="3017520" y="3886200"/>
            <a:ext cx="2852928" cy="292608"/>
          </a:xfrm>
          <a:prstGeom prst="rect">
            <a:avLst/>
          </a:prstGeom>
          <a:noFill/>
          <a:ln/>
        </p:spPr>
        <p:txBody>
          <a:bodyPr wrap="square" lIns="0" tIns="0" rIns="0" bIns="0" rtlCol="0" anchor="ctr">
            <a:normAutofit/>
          </a:bodyPr>
          <a:lstStyle/>
          <a:p>
            <a:pPr algn="l" indent="0" marL="0">
              <a:lnSpc>
                <a:spcPct val="92000"/>
              </a:lnSpc>
              <a:buNone/>
            </a:pPr>
            <a:r>
              <a:rPr lang="en-US" sz="1010" b="1" dirty="0">
                <a:solidFill>
                  <a:srgbClr val="356CA8"/>
                </a:solidFill>
                <a:latin typeface="Hiragino Sans GB" pitchFamily="34" charset="0"/>
                <a:ea typeface="Hiragino Sans GB" pitchFamily="34" charset="-122"/>
                <a:cs typeface="Hiragino Sans GB" pitchFamily="34" charset="-120"/>
              </a:rPr>
              <a:t>GWM 推演机制</a:t>
            </a:r>
            <a:endParaRPr lang="en-US" sz="1010" dirty="0"/>
          </a:p>
        </p:txBody>
      </p:sp>
      <p:sp>
        <p:nvSpPr>
          <p:cNvPr id="40" name="Text 38"/>
          <p:cNvSpPr txBox="1"/>
          <p:nvPr/>
        </p:nvSpPr>
        <p:spPr>
          <a:xfrm>
            <a:off x="6400800" y="3858768"/>
            <a:ext cx="4800600" cy="384048"/>
          </a:xfrm>
          <a:prstGeom prst="rect">
            <a:avLst/>
          </a:prstGeom>
          <a:noFill/>
          <a:ln/>
        </p:spPr>
        <p:txBody>
          <a:bodyPr wrap="square" lIns="0" tIns="0" rIns="0" bIns="0" rtlCol="0" anchor="t">
            <a:normAutofit/>
          </a:bodyPr>
          <a:lstStyle/>
          <a:p>
            <a:pPr algn="l" indent="0" marL="0">
              <a:lnSpc>
                <a:spcPct val="92000"/>
              </a:lnSpc>
              <a:buNone/>
            </a:pPr>
            <a:r>
              <a:rPr lang="en-US" sz="840" dirty="0">
                <a:solidFill>
                  <a:srgbClr val="32474D"/>
                </a:solidFill>
                <a:latin typeface="Hiragino Sans GB" pitchFamily="34" charset="0"/>
                <a:ea typeface="Hiragino Sans GB" pitchFamily="34" charset="-122"/>
                <a:cs typeface="Hiragino Sans GB" pitchFamily="34" charset="-120"/>
              </a:rPr>
              <a:t>说明 Geospatial Kernel、Runtime、Simulator、状态写回与理论来源</a:t>
            </a:r>
            <a:endParaRPr lang="en-US" sz="840" dirty="0"/>
          </a:p>
        </p:txBody>
      </p:sp>
      <p:sp>
        <p:nvSpPr>
          <p:cNvPr id="41" name="Shape 39"/>
          <p:cNvSpPr/>
          <p:nvPr/>
        </p:nvSpPr>
        <p:spPr>
          <a:xfrm>
            <a:off x="512064" y="4517136"/>
            <a:ext cx="11155680" cy="621792"/>
          </a:xfrm>
          <a:prstGeom prst="roundRect">
            <a:avLst>
              <a:gd name="adj" fmla="val 2941"/>
            </a:avLst>
          </a:prstGeom>
          <a:solidFill>
            <a:srgbClr val="EDF1F0"/>
          </a:solidFill>
          <a:ln w="6985">
            <a:solidFill>
              <a:srgbClr val="D0DBD8"/>
            </a:solidFill>
            <a:prstDash val="solid"/>
          </a:ln>
        </p:spPr>
      </p:sp>
      <p:sp>
        <p:nvSpPr>
          <p:cNvPr id="42" name="Shape 40"/>
          <p:cNvSpPr/>
          <p:nvPr/>
        </p:nvSpPr>
        <p:spPr>
          <a:xfrm>
            <a:off x="512064" y="4517136"/>
            <a:ext cx="91440" cy="621792"/>
          </a:xfrm>
          <a:prstGeom prst="rect">
            <a:avLst/>
          </a:prstGeom>
          <a:solidFill>
            <a:srgbClr val="2D8A57"/>
          </a:solidFill>
          <a:ln w="12700">
            <a:solidFill>
              <a:srgbClr val="2D8A57"/>
            </a:solidFill>
            <a:prstDash val="solid"/>
          </a:ln>
        </p:spPr>
      </p:sp>
      <p:sp>
        <p:nvSpPr>
          <p:cNvPr id="43" name="Text 41"/>
          <p:cNvSpPr txBox="1"/>
          <p:nvPr/>
        </p:nvSpPr>
        <p:spPr>
          <a:xfrm>
            <a:off x="722376" y="4654296"/>
            <a:ext cx="438912" cy="256032"/>
          </a:xfrm>
          <a:prstGeom prst="rect">
            <a:avLst/>
          </a:prstGeom>
          <a:noFill/>
          <a:ln/>
        </p:spPr>
        <p:txBody>
          <a:bodyPr wrap="square" lIns="0" tIns="0" rIns="0" bIns="0" rtlCol="0" anchor="ctr">
            <a:normAutofit/>
          </a:bodyPr>
          <a:lstStyle/>
          <a:p>
            <a:pPr algn="ctr" indent="0" marL="0">
              <a:lnSpc>
                <a:spcPct val="92000"/>
              </a:lnSpc>
              <a:buNone/>
            </a:pPr>
            <a:r>
              <a:rPr lang="en-US" sz="1320" b="1" dirty="0">
                <a:solidFill>
                  <a:srgbClr val="2D8A57"/>
                </a:solidFill>
                <a:latin typeface="Arial" pitchFamily="34" charset="0"/>
                <a:ea typeface="Arial" pitchFamily="34" charset="-122"/>
                <a:cs typeface="Arial" pitchFamily="34" charset="-120"/>
              </a:rPr>
              <a:t>04</a:t>
            </a:r>
            <a:endParaRPr lang="en-US" sz="1320" dirty="0"/>
          </a:p>
        </p:txBody>
      </p:sp>
      <p:sp>
        <p:nvSpPr>
          <p:cNvPr id="44" name="Text 42"/>
          <p:cNvSpPr txBox="1"/>
          <p:nvPr/>
        </p:nvSpPr>
        <p:spPr>
          <a:xfrm>
            <a:off x="1271016" y="4617720"/>
            <a:ext cx="1051560" cy="228600"/>
          </a:xfrm>
          <a:prstGeom prst="rect">
            <a:avLst/>
          </a:prstGeom>
          <a:noFill/>
          <a:ln/>
        </p:spPr>
        <p:txBody>
          <a:bodyPr wrap="square" lIns="0" tIns="0" rIns="0" bIns="0" rtlCol="0" anchor="ctr">
            <a:normAutofit/>
          </a:bodyPr>
          <a:lstStyle/>
          <a:p>
            <a:pPr algn="l" indent="0" marL="0">
              <a:lnSpc>
                <a:spcPct val="92000"/>
              </a:lnSpc>
              <a:buNone/>
            </a:pPr>
            <a:r>
              <a:rPr lang="en-US" sz="1070" b="1" dirty="0">
                <a:solidFill>
                  <a:srgbClr val="17252A"/>
                </a:solidFill>
                <a:latin typeface="Hiragino Sans GB" pitchFamily="34" charset="0"/>
                <a:ea typeface="Hiragino Sans GB" pitchFamily="34" charset="-122"/>
                <a:cs typeface="Hiragino Sans GB" pitchFamily="34" charset="-120"/>
              </a:rPr>
              <a:t>领域实例</a:t>
            </a:r>
            <a:endParaRPr lang="en-US" sz="1070" dirty="0"/>
          </a:p>
        </p:txBody>
      </p:sp>
      <p:sp>
        <p:nvSpPr>
          <p:cNvPr id="45" name="Shape 43"/>
          <p:cNvSpPr/>
          <p:nvPr/>
        </p:nvSpPr>
        <p:spPr>
          <a:xfrm>
            <a:off x="1271016" y="4873752"/>
            <a:ext cx="713232" cy="256032"/>
          </a:xfrm>
          <a:prstGeom prst="roundRect">
            <a:avLst>
              <a:gd name="adj" fmla="val 50000"/>
            </a:avLst>
          </a:prstGeom>
          <a:solidFill>
            <a:srgbClr val="E7F3EA"/>
          </a:solidFill>
          <a:ln w="6350">
            <a:solidFill>
              <a:srgbClr val="E7F3EA"/>
            </a:solidFill>
            <a:prstDash val="solid"/>
          </a:ln>
        </p:spPr>
      </p:sp>
      <p:sp>
        <p:nvSpPr>
          <p:cNvPr id="46" name="Text 44"/>
          <p:cNvSpPr txBox="1"/>
          <p:nvPr/>
        </p:nvSpPr>
        <p:spPr>
          <a:xfrm>
            <a:off x="1325880" y="4896612"/>
            <a:ext cx="603504"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2D8A57"/>
                </a:solidFill>
                <a:latin typeface="Hiragino Sans GB" pitchFamily="34" charset="0"/>
                <a:ea typeface="Hiragino Sans GB" pitchFamily="34" charset="-122"/>
                <a:cs typeface="Hiragino Sans GB" pitchFamily="34" charset="-120"/>
              </a:rPr>
              <a:t>P21–27</a:t>
            </a:r>
            <a:endParaRPr lang="en-US" sz="680" dirty="0"/>
          </a:p>
        </p:txBody>
      </p:sp>
      <p:sp>
        <p:nvSpPr>
          <p:cNvPr id="47" name="Text 45"/>
          <p:cNvSpPr txBox="1"/>
          <p:nvPr/>
        </p:nvSpPr>
        <p:spPr>
          <a:xfrm>
            <a:off x="3017520" y="4636008"/>
            <a:ext cx="2852928" cy="292608"/>
          </a:xfrm>
          <a:prstGeom prst="rect">
            <a:avLst/>
          </a:prstGeom>
          <a:noFill/>
          <a:ln/>
        </p:spPr>
        <p:txBody>
          <a:bodyPr wrap="square" lIns="0" tIns="0" rIns="0" bIns="0" rtlCol="0" anchor="ctr">
            <a:normAutofit/>
          </a:bodyPr>
          <a:lstStyle/>
          <a:p>
            <a:pPr algn="l" indent="0" marL="0">
              <a:lnSpc>
                <a:spcPct val="92000"/>
              </a:lnSpc>
              <a:buNone/>
            </a:pPr>
            <a:r>
              <a:rPr lang="en-US" sz="1010" b="1" dirty="0">
                <a:solidFill>
                  <a:srgbClr val="2D8A57"/>
                </a:solidFill>
                <a:latin typeface="Hiragino Sans GB" pitchFamily="34" charset="0"/>
                <a:ea typeface="Hiragino Sans GB" pitchFamily="34" charset="-122"/>
                <a:cs typeface="Hiragino Sans GB" pitchFamily="34" charset="-120"/>
              </a:rPr>
              <a:t>TWM 业务价值</a:t>
            </a:r>
            <a:endParaRPr lang="en-US" sz="1010" dirty="0"/>
          </a:p>
        </p:txBody>
      </p:sp>
      <p:sp>
        <p:nvSpPr>
          <p:cNvPr id="48" name="Text 46"/>
          <p:cNvSpPr txBox="1"/>
          <p:nvPr/>
        </p:nvSpPr>
        <p:spPr>
          <a:xfrm>
            <a:off x="6400800" y="4608576"/>
            <a:ext cx="4800600" cy="384048"/>
          </a:xfrm>
          <a:prstGeom prst="rect">
            <a:avLst/>
          </a:prstGeom>
          <a:noFill/>
          <a:ln/>
        </p:spPr>
        <p:txBody>
          <a:bodyPr wrap="square" lIns="0" tIns="0" rIns="0" bIns="0" rtlCol="0" anchor="t">
            <a:normAutofit/>
          </a:bodyPr>
          <a:lstStyle/>
          <a:p>
            <a:pPr algn="l" indent="0" marL="0">
              <a:lnSpc>
                <a:spcPct val="92000"/>
              </a:lnSpc>
              <a:buNone/>
            </a:pPr>
            <a:r>
              <a:rPr lang="en-US" sz="840" dirty="0">
                <a:solidFill>
                  <a:srgbClr val="32474D"/>
                </a:solidFill>
                <a:latin typeface="Hiragino Sans GB" pitchFamily="34" charset="0"/>
                <a:ea typeface="Hiragino Sans GB" pitchFamily="34" charset="-122"/>
                <a:cs typeface="Hiragino Sans GB" pitchFamily="34" charset="-120"/>
              </a:rPr>
              <a:t>将 GWM 契约实例化为自然资源对象、规则、行动与可审计方案</a:t>
            </a:r>
            <a:endParaRPr lang="en-US" sz="840" dirty="0"/>
          </a:p>
        </p:txBody>
      </p:sp>
      <p:sp>
        <p:nvSpPr>
          <p:cNvPr id="49" name="Shape 47"/>
          <p:cNvSpPr/>
          <p:nvPr/>
        </p:nvSpPr>
        <p:spPr>
          <a:xfrm>
            <a:off x="512064" y="5266944"/>
            <a:ext cx="11155680" cy="621792"/>
          </a:xfrm>
          <a:prstGeom prst="roundRect">
            <a:avLst>
              <a:gd name="adj" fmla="val 2941"/>
            </a:avLst>
          </a:prstGeom>
          <a:solidFill>
            <a:srgbClr val="FFFFFF"/>
          </a:solidFill>
          <a:ln w="6985">
            <a:solidFill>
              <a:srgbClr val="D0DBD8"/>
            </a:solidFill>
            <a:prstDash val="solid"/>
          </a:ln>
        </p:spPr>
      </p:sp>
      <p:sp>
        <p:nvSpPr>
          <p:cNvPr id="50" name="Shape 48"/>
          <p:cNvSpPr/>
          <p:nvPr/>
        </p:nvSpPr>
        <p:spPr>
          <a:xfrm>
            <a:off x="512064" y="5266944"/>
            <a:ext cx="91440" cy="621792"/>
          </a:xfrm>
          <a:prstGeom prst="rect">
            <a:avLst/>
          </a:prstGeom>
          <a:solidFill>
            <a:srgbClr val="705FA7"/>
          </a:solidFill>
          <a:ln w="12700">
            <a:solidFill>
              <a:srgbClr val="705FA7"/>
            </a:solidFill>
            <a:prstDash val="solid"/>
          </a:ln>
        </p:spPr>
      </p:sp>
      <p:sp>
        <p:nvSpPr>
          <p:cNvPr id="51" name="Text 49"/>
          <p:cNvSpPr txBox="1"/>
          <p:nvPr/>
        </p:nvSpPr>
        <p:spPr>
          <a:xfrm>
            <a:off x="722376" y="5404104"/>
            <a:ext cx="438912" cy="256032"/>
          </a:xfrm>
          <a:prstGeom prst="rect">
            <a:avLst/>
          </a:prstGeom>
          <a:noFill/>
          <a:ln/>
        </p:spPr>
        <p:txBody>
          <a:bodyPr wrap="square" lIns="0" tIns="0" rIns="0" bIns="0" rtlCol="0" anchor="ctr">
            <a:normAutofit/>
          </a:bodyPr>
          <a:lstStyle/>
          <a:p>
            <a:pPr algn="ctr" indent="0" marL="0">
              <a:lnSpc>
                <a:spcPct val="92000"/>
              </a:lnSpc>
              <a:buNone/>
            </a:pPr>
            <a:r>
              <a:rPr lang="en-US" sz="1320" b="1" dirty="0">
                <a:solidFill>
                  <a:srgbClr val="705FA7"/>
                </a:solidFill>
                <a:latin typeface="Arial" pitchFamily="34" charset="0"/>
                <a:ea typeface="Arial" pitchFamily="34" charset="-122"/>
                <a:cs typeface="Arial" pitchFamily="34" charset="-120"/>
              </a:rPr>
              <a:t>05</a:t>
            </a:r>
            <a:endParaRPr lang="en-US" sz="1320" dirty="0"/>
          </a:p>
        </p:txBody>
      </p:sp>
      <p:sp>
        <p:nvSpPr>
          <p:cNvPr id="52" name="Text 50"/>
          <p:cNvSpPr txBox="1"/>
          <p:nvPr/>
        </p:nvSpPr>
        <p:spPr>
          <a:xfrm>
            <a:off x="1271016" y="5367528"/>
            <a:ext cx="1051560" cy="228600"/>
          </a:xfrm>
          <a:prstGeom prst="rect">
            <a:avLst/>
          </a:prstGeom>
          <a:noFill/>
          <a:ln/>
        </p:spPr>
        <p:txBody>
          <a:bodyPr wrap="square" lIns="0" tIns="0" rIns="0" bIns="0" rtlCol="0" anchor="ctr">
            <a:normAutofit/>
          </a:bodyPr>
          <a:lstStyle/>
          <a:p>
            <a:pPr algn="l" indent="0" marL="0">
              <a:lnSpc>
                <a:spcPct val="92000"/>
              </a:lnSpc>
              <a:buNone/>
            </a:pPr>
            <a:r>
              <a:rPr lang="en-US" sz="1070" b="1" dirty="0">
                <a:solidFill>
                  <a:srgbClr val="17252A"/>
                </a:solidFill>
                <a:latin typeface="Hiragino Sans GB" pitchFamily="34" charset="0"/>
                <a:ea typeface="Hiragino Sans GB" pitchFamily="34" charset="-122"/>
                <a:cs typeface="Hiragino Sans GB" pitchFamily="34" charset="-120"/>
              </a:rPr>
              <a:t>平台与试点</a:t>
            </a:r>
            <a:endParaRPr lang="en-US" sz="1070" dirty="0"/>
          </a:p>
        </p:txBody>
      </p:sp>
      <p:sp>
        <p:nvSpPr>
          <p:cNvPr id="53" name="Shape 51"/>
          <p:cNvSpPr/>
          <p:nvPr/>
        </p:nvSpPr>
        <p:spPr>
          <a:xfrm>
            <a:off x="1271016" y="5623560"/>
            <a:ext cx="713232" cy="256032"/>
          </a:xfrm>
          <a:prstGeom prst="roundRect">
            <a:avLst>
              <a:gd name="adj" fmla="val 50000"/>
            </a:avLst>
          </a:prstGeom>
          <a:solidFill>
            <a:srgbClr val="EEEAF8"/>
          </a:solidFill>
          <a:ln w="6350">
            <a:solidFill>
              <a:srgbClr val="EEEAF8"/>
            </a:solidFill>
            <a:prstDash val="solid"/>
          </a:ln>
        </p:spPr>
      </p:sp>
      <p:sp>
        <p:nvSpPr>
          <p:cNvPr id="54" name="Text 52"/>
          <p:cNvSpPr txBox="1"/>
          <p:nvPr/>
        </p:nvSpPr>
        <p:spPr>
          <a:xfrm>
            <a:off x="1325880" y="5646420"/>
            <a:ext cx="603504"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705FA7"/>
                </a:solidFill>
                <a:latin typeface="Hiragino Sans GB" pitchFamily="34" charset="0"/>
                <a:ea typeface="Hiragino Sans GB" pitchFamily="34" charset="-122"/>
                <a:cs typeface="Hiragino Sans GB" pitchFamily="34" charset="-120"/>
              </a:rPr>
              <a:t>P28–29</a:t>
            </a:r>
            <a:endParaRPr lang="en-US" sz="680" dirty="0"/>
          </a:p>
        </p:txBody>
      </p:sp>
      <p:sp>
        <p:nvSpPr>
          <p:cNvPr id="55" name="Text 53"/>
          <p:cNvSpPr txBox="1"/>
          <p:nvPr/>
        </p:nvSpPr>
        <p:spPr>
          <a:xfrm>
            <a:off x="3017520" y="5385816"/>
            <a:ext cx="2852928" cy="292608"/>
          </a:xfrm>
          <a:prstGeom prst="rect">
            <a:avLst/>
          </a:prstGeom>
          <a:noFill/>
          <a:ln/>
        </p:spPr>
        <p:txBody>
          <a:bodyPr wrap="square" lIns="0" tIns="0" rIns="0" bIns="0" rtlCol="0" anchor="ctr">
            <a:normAutofit/>
          </a:bodyPr>
          <a:lstStyle/>
          <a:p>
            <a:pPr algn="l" indent="0" marL="0">
              <a:lnSpc>
                <a:spcPct val="92000"/>
              </a:lnSpc>
              <a:buNone/>
            </a:pPr>
            <a:r>
              <a:rPr lang="en-US" sz="1010" b="1" dirty="0">
                <a:solidFill>
                  <a:srgbClr val="705FA7"/>
                </a:solidFill>
                <a:latin typeface="Hiragino Sans GB" pitchFamily="34" charset="0"/>
                <a:ea typeface="Hiragino Sans GB" pitchFamily="34" charset="-122"/>
                <a:cs typeface="Hiragino Sans GB" pitchFamily="34" charset="-120"/>
              </a:rPr>
              <a:t>平台架构与实施路径</a:t>
            </a:r>
            <a:endParaRPr lang="en-US" sz="1010" dirty="0"/>
          </a:p>
        </p:txBody>
      </p:sp>
      <p:sp>
        <p:nvSpPr>
          <p:cNvPr id="56" name="Text 54"/>
          <p:cNvSpPr txBox="1"/>
          <p:nvPr/>
        </p:nvSpPr>
        <p:spPr>
          <a:xfrm>
            <a:off x="6400800" y="5358384"/>
            <a:ext cx="4800600" cy="384048"/>
          </a:xfrm>
          <a:prstGeom prst="rect">
            <a:avLst/>
          </a:prstGeom>
          <a:noFill/>
          <a:ln/>
        </p:spPr>
        <p:txBody>
          <a:bodyPr wrap="square" lIns="0" tIns="0" rIns="0" bIns="0" rtlCol="0" anchor="t">
            <a:normAutofit/>
          </a:bodyPr>
          <a:lstStyle/>
          <a:p>
            <a:pPr algn="l" indent="0" marL="0">
              <a:lnSpc>
                <a:spcPct val="92000"/>
              </a:lnSpc>
              <a:buNone/>
            </a:pPr>
            <a:r>
              <a:rPr lang="en-US" sz="840" dirty="0">
                <a:solidFill>
                  <a:srgbClr val="32474D"/>
                </a:solidFill>
                <a:latin typeface="Hiragino Sans GB" pitchFamily="34" charset="0"/>
                <a:ea typeface="Hiragino Sans GB" pitchFamily="34" charset="-122"/>
                <a:cs typeface="Hiragino Sans GB" pitchFamily="34" charset="-120"/>
              </a:rPr>
              <a:t>构建 LLM + WM 平台，并从省级真实业务闭环启动联合试点</a:t>
            </a:r>
            <a:endParaRPr lang="en-US" sz="840" dirty="0"/>
          </a:p>
        </p:txBody>
      </p:sp>
      <p:sp>
        <p:nvSpPr>
          <p:cNvPr id="57" name="Shape 55"/>
          <p:cNvSpPr/>
          <p:nvPr/>
        </p:nvSpPr>
        <p:spPr>
          <a:xfrm>
            <a:off x="932688" y="6099048"/>
            <a:ext cx="10040112" cy="0"/>
          </a:xfrm>
          <a:prstGeom prst="line">
            <a:avLst/>
          </a:prstGeom>
          <a:noFill/>
          <a:ln w="8890">
            <a:solidFill>
              <a:srgbClr val="D0DBD8"/>
            </a:solidFill>
            <a:prstDash val="solid"/>
          </a:ln>
        </p:spPr>
      </p:sp>
      <p:sp>
        <p:nvSpPr>
          <p:cNvPr id="58" name="Text 56"/>
          <p:cNvSpPr txBox="1"/>
          <p:nvPr/>
        </p:nvSpPr>
        <p:spPr>
          <a:xfrm>
            <a:off x="722376" y="6153912"/>
            <a:ext cx="850392" cy="201168"/>
          </a:xfrm>
          <a:prstGeom prst="rect">
            <a:avLst/>
          </a:prstGeom>
          <a:noFill/>
          <a:ln/>
        </p:spPr>
        <p:txBody>
          <a:bodyPr wrap="square" lIns="0" tIns="0" rIns="0" bIns="0" rtlCol="0" anchor="ctr">
            <a:normAutofit/>
          </a:bodyPr>
          <a:lstStyle/>
          <a:p>
            <a:pPr algn="l" indent="0" marL="0">
              <a:lnSpc>
                <a:spcPct val="92000"/>
              </a:lnSpc>
              <a:buNone/>
            </a:pPr>
            <a:r>
              <a:rPr lang="en-US" sz="850" b="1" dirty="0">
                <a:solidFill>
                  <a:srgbClr val="0E5C59"/>
                </a:solidFill>
                <a:latin typeface="Hiragino Sans GB" pitchFamily="34" charset="0"/>
                <a:ea typeface="Hiragino Sans GB" pitchFamily="34" charset="-122"/>
                <a:cs typeface="Hiragino Sans GB" pitchFamily="34" charset="-120"/>
              </a:rPr>
              <a:t>一条主线</a:t>
            </a:r>
            <a:endParaRPr lang="en-US" sz="850" dirty="0"/>
          </a:p>
        </p:txBody>
      </p:sp>
      <p:sp>
        <p:nvSpPr>
          <p:cNvPr id="59" name="Text 57"/>
          <p:cNvSpPr txBox="1"/>
          <p:nvPr/>
        </p:nvSpPr>
        <p:spPr>
          <a:xfrm>
            <a:off x="1755648" y="6144768"/>
            <a:ext cx="1271016" cy="21031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17252A"/>
                </a:solidFill>
                <a:latin typeface="Hiragino Sans GB" pitchFamily="34" charset="0"/>
                <a:ea typeface="Hiragino Sans GB" pitchFamily="34" charset="-122"/>
                <a:cs typeface="Hiragino Sans GB" pitchFamily="34" charset="-120"/>
              </a:rPr>
              <a:t>现实决策难题</a:t>
            </a:r>
            <a:endParaRPr lang="en-US" sz="830" dirty="0"/>
          </a:p>
        </p:txBody>
      </p:sp>
      <p:sp>
        <p:nvSpPr>
          <p:cNvPr id="60" name="Shape 58"/>
          <p:cNvSpPr/>
          <p:nvPr/>
        </p:nvSpPr>
        <p:spPr>
          <a:xfrm>
            <a:off x="3136392" y="6245352"/>
            <a:ext cx="429768" cy="0"/>
          </a:xfrm>
          <a:prstGeom prst="line">
            <a:avLst/>
          </a:prstGeom>
          <a:noFill/>
          <a:ln w="20320">
            <a:solidFill>
              <a:srgbClr val="137F7A"/>
            </a:solidFill>
            <a:prstDash val="solid"/>
            <a:tailEnd type="triangle"/>
          </a:ln>
        </p:spPr>
      </p:sp>
      <p:sp>
        <p:nvSpPr>
          <p:cNvPr id="61" name="Text 59"/>
          <p:cNvSpPr txBox="1"/>
          <p:nvPr/>
        </p:nvSpPr>
        <p:spPr>
          <a:xfrm>
            <a:off x="3666744" y="6144768"/>
            <a:ext cx="1197864" cy="21031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17252A"/>
                </a:solidFill>
                <a:latin typeface="Hiragino Sans GB" pitchFamily="34" charset="0"/>
                <a:ea typeface="Hiragino Sans GB" pitchFamily="34" charset="-122"/>
                <a:cs typeface="Hiragino Sans GB" pitchFamily="34" charset="-120"/>
              </a:rPr>
              <a:t>可验证证据</a:t>
            </a:r>
            <a:endParaRPr lang="en-US" sz="830" dirty="0"/>
          </a:p>
        </p:txBody>
      </p:sp>
      <p:sp>
        <p:nvSpPr>
          <p:cNvPr id="62" name="Shape 60"/>
          <p:cNvSpPr/>
          <p:nvPr/>
        </p:nvSpPr>
        <p:spPr>
          <a:xfrm>
            <a:off x="4992624" y="6245352"/>
            <a:ext cx="429768" cy="0"/>
          </a:xfrm>
          <a:prstGeom prst="line">
            <a:avLst/>
          </a:prstGeom>
          <a:noFill/>
          <a:ln w="20320">
            <a:solidFill>
              <a:srgbClr val="137F7A"/>
            </a:solidFill>
            <a:prstDash val="solid"/>
            <a:tailEnd type="triangle"/>
          </a:ln>
        </p:spPr>
      </p:sp>
      <p:sp>
        <p:nvSpPr>
          <p:cNvPr id="63" name="Text 61"/>
          <p:cNvSpPr txBox="1"/>
          <p:nvPr/>
        </p:nvSpPr>
        <p:spPr>
          <a:xfrm>
            <a:off x="5532120" y="6144768"/>
            <a:ext cx="1197864" cy="21031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17252A"/>
                </a:solidFill>
                <a:latin typeface="Hiragino Sans GB" pitchFamily="34" charset="0"/>
                <a:ea typeface="Hiragino Sans GB" pitchFamily="34" charset="-122"/>
                <a:cs typeface="Hiragino Sans GB" pitchFamily="34" charset="-120"/>
              </a:rPr>
              <a:t>可运行机制</a:t>
            </a:r>
            <a:endParaRPr lang="en-US" sz="830" dirty="0"/>
          </a:p>
        </p:txBody>
      </p:sp>
      <p:sp>
        <p:nvSpPr>
          <p:cNvPr id="64" name="Shape 62"/>
          <p:cNvSpPr/>
          <p:nvPr/>
        </p:nvSpPr>
        <p:spPr>
          <a:xfrm>
            <a:off x="6858000" y="6245352"/>
            <a:ext cx="429768" cy="0"/>
          </a:xfrm>
          <a:prstGeom prst="line">
            <a:avLst/>
          </a:prstGeom>
          <a:noFill/>
          <a:ln w="20320">
            <a:solidFill>
              <a:srgbClr val="137F7A"/>
            </a:solidFill>
            <a:prstDash val="solid"/>
            <a:tailEnd type="triangle"/>
          </a:ln>
        </p:spPr>
      </p:sp>
      <p:sp>
        <p:nvSpPr>
          <p:cNvPr id="65" name="Text 63"/>
          <p:cNvSpPr txBox="1"/>
          <p:nvPr/>
        </p:nvSpPr>
        <p:spPr>
          <a:xfrm>
            <a:off x="7406640" y="6144768"/>
            <a:ext cx="1527048" cy="21031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17252A"/>
                </a:solidFill>
                <a:latin typeface="Hiragino Sans GB" pitchFamily="34" charset="0"/>
                <a:ea typeface="Hiragino Sans GB" pitchFamily="34" charset="-122"/>
                <a:cs typeface="Hiragino Sans GB" pitchFamily="34" charset="-120"/>
              </a:rPr>
              <a:t>可衡量业务价值</a:t>
            </a:r>
            <a:endParaRPr lang="en-US" sz="830" dirty="0"/>
          </a:p>
        </p:txBody>
      </p:sp>
      <p:sp>
        <p:nvSpPr>
          <p:cNvPr id="66" name="Shape 64"/>
          <p:cNvSpPr/>
          <p:nvPr/>
        </p:nvSpPr>
        <p:spPr>
          <a:xfrm>
            <a:off x="9070848" y="6245352"/>
            <a:ext cx="429768" cy="0"/>
          </a:xfrm>
          <a:prstGeom prst="line">
            <a:avLst/>
          </a:prstGeom>
          <a:noFill/>
          <a:ln w="20320">
            <a:solidFill>
              <a:srgbClr val="137F7A"/>
            </a:solidFill>
            <a:prstDash val="solid"/>
            <a:tailEnd type="triangle"/>
          </a:ln>
        </p:spPr>
      </p:sp>
      <p:sp>
        <p:nvSpPr>
          <p:cNvPr id="67" name="Text 65"/>
          <p:cNvSpPr txBox="1"/>
          <p:nvPr/>
        </p:nvSpPr>
        <p:spPr>
          <a:xfrm>
            <a:off x="9619488" y="6144768"/>
            <a:ext cx="1261872" cy="21031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17252A"/>
                </a:solidFill>
                <a:latin typeface="Hiragino Sans GB" pitchFamily="34" charset="0"/>
                <a:ea typeface="Hiragino Sans GB" pitchFamily="34" charset="-122"/>
                <a:cs typeface="Hiragino Sans GB" pitchFamily="34" charset="-120"/>
              </a:rPr>
              <a:t>可执行试点</a:t>
            </a:r>
            <a:endParaRPr lang="en-US" sz="8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结论先行</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地理空间世界模型的四项核心判断</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四项判断分别界定研究对象、对标结论、技术内核和目标平台形态。</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 Research Principles；DAM-GK Research Spec；TWM validation / runtime benchmark</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03 / 29</a:t>
            </a:r>
            <a:endParaRPr lang="en-US" sz="670" dirty="0"/>
          </a:p>
        </p:txBody>
      </p:sp>
      <p:sp>
        <p:nvSpPr>
          <p:cNvPr id="10" name="Text 8"/>
          <p:cNvSpPr txBox="1"/>
          <p:nvPr/>
        </p:nvSpPr>
        <p:spPr>
          <a:xfrm>
            <a:off x="530352" y="1508760"/>
            <a:ext cx="658368" cy="402336"/>
          </a:xfrm>
          <a:prstGeom prst="rect">
            <a:avLst/>
          </a:prstGeom>
          <a:noFill/>
          <a:ln/>
        </p:spPr>
        <p:txBody>
          <a:bodyPr wrap="square" lIns="0" tIns="0" rIns="0" bIns="0" rtlCol="0" anchor="ctr">
            <a:normAutofit/>
          </a:bodyPr>
          <a:lstStyle/>
          <a:p>
            <a:pPr algn="ctr" indent="0" marL="0">
              <a:lnSpc>
                <a:spcPct val="92000"/>
              </a:lnSpc>
              <a:buNone/>
            </a:pPr>
            <a:r>
              <a:rPr lang="en-US" sz="2000" b="1" dirty="0">
                <a:solidFill>
                  <a:srgbClr val="137F7A"/>
                </a:solidFill>
                <a:latin typeface="Hiragino Sans GB" pitchFamily="34" charset="0"/>
                <a:ea typeface="Hiragino Sans GB" pitchFamily="34" charset="-122"/>
                <a:cs typeface="Hiragino Sans GB" pitchFamily="34" charset="-120"/>
              </a:rPr>
              <a:t>01</a:t>
            </a:r>
            <a:endParaRPr lang="en-US" sz="2000" dirty="0"/>
          </a:p>
        </p:txBody>
      </p:sp>
      <p:sp>
        <p:nvSpPr>
          <p:cNvPr id="11" name="Shape 9"/>
          <p:cNvSpPr/>
          <p:nvPr/>
        </p:nvSpPr>
        <p:spPr>
          <a:xfrm>
            <a:off x="1344168" y="1563624"/>
            <a:ext cx="0" cy="768096"/>
          </a:xfrm>
          <a:prstGeom prst="line">
            <a:avLst/>
          </a:prstGeom>
          <a:noFill/>
          <a:ln w="40640">
            <a:solidFill>
              <a:srgbClr val="137F7A"/>
            </a:solidFill>
            <a:prstDash val="solid"/>
          </a:ln>
        </p:spPr>
      </p:sp>
      <p:sp>
        <p:nvSpPr>
          <p:cNvPr id="12" name="Text 10"/>
          <p:cNvSpPr txBox="1"/>
          <p:nvPr/>
        </p:nvSpPr>
        <p:spPr>
          <a:xfrm>
            <a:off x="1572768" y="1490472"/>
            <a:ext cx="1920240" cy="310896"/>
          </a:xfrm>
          <a:prstGeom prst="rect">
            <a:avLst/>
          </a:prstGeom>
          <a:noFill/>
          <a:ln/>
        </p:spPr>
        <p:txBody>
          <a:bodyPr wrap="square" lIns="0" tIns="0" rIns="0" bIns="0" rtlCol="0" anchor="t">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问题升级</a:t>
            </a:r>
            <a:endParaRPr lang="en-US" sz="1500" dirty="0"/>
          </a:p>
        </p:txBody>
      </p:sp>
      <p:sp>
        <p:nvSpPr>
          <p:cNvPr id="13" name="Text 11"/>
          <p:cNvSpPr txBox="1"/>
          <p:nvPr/>
        </p:nvSpPr>
        <p:spPr>
          <a:xfrm>
            <a:off x="3383280" y="1490472"/>
            <a:ext cx="8001000" cy="694944"/>
          </a:xfrm>
          <a:prstGeom prst="rect">
            <a:avLst/>
          </a:prstGeom>
          <a:noFill/>
          <a:ln/>
        </p:spPr>
        <p:txBody>
          <a:bodyPr wrap="square" lIns="0" tIns="0" rIns="0" bIns="0" rtlCol="0" anchor="t">
            <a:normAutofit/>
          </a:bodyPr>
          <a:lstStyle/>
          <a:p>
            <a:pPr algn="l" indent="0" marL="0">
              <a:lnSpc>
                <a:spcPct val="88000"/>
              </a:lnSpc>
              <a:buNone/>
            </a:pPr>
            <a:r>
              <a:rPr lang="en-US" sz="1140" dirty="0">
                <a:solidFill>
                  <a:srgbClr val="32474D"/>
                </a:solidFill>
                <a:latin typeface="Hiragino Sans GB" pitchFamily="34" charset="0"/>
                <a:ea typeface="Hiragino Sans GB" pitchFamily="34" charset="-122"/>
                <a:cs typeface="Hiragino Sans GB" pitchFamily="34" charset="-120"/>
              </a:rPr>
              <a:t>从“在给定状态上优化”升级为“学习状态如何随行动变化，并在未来状态中继续规划”。</a:t>
            </a:r>
            <a:endParaRPr lang="en-US" sz="1140" dirty="0"/>
          </a:p>
        </p:txBody>
      </p:sp>
      <p:sp>
        <p:nvSpPr>
          <p:cNvPr id="14" name="Shape 12"/>
          <p:cNvSpPr/>
          <p:nvPr/>
        </p:nvSpPr>
        <p:spPr>
          <a:xfrm>
            <a:off x="1581912" y="2432304"/>
            <a:ext cx="9811512" cy="0"/>
          </a:xfrm>
          <a:prstGeom prst="line">
            <a:avLst/>
          </a:prstGeom>
          <a:noFill/>
          <a:ln w="7620">
            <a:solidFill>
              <a:srgbClr val="D0DBD8"/>
            </a:solidFill>
            <a:prstDash val="solid"/>
          </a:ln>
        </p:spPr>
      </p:sp>
      <p:sp>
        <p:nvSpPr>
          <p:cNvPr id="15" name="Text 13"/>
          <p:cNvSpPr txBox="1"/>
          <p:nvPr/>
        </p:nvSpPr>
        <p:spPr>
          <a:xfrm>
            <a:off x="530352" y="2670048"/>
            <a:ext cx="658368" cy="402336"/>
          </a:xfrm>
          <a:prstGeom prst="rect">
            <a:avLst/>
          </a:prstGeom>
          <a:noFill/>
          <a:ln/>
        </p:spPr>
        <p:txBody>
          <a:bodyPr wrap="square" lIns="0" tIns="0" rIns="0" bIns="0" rtlCol="0" anchor="ctr">
            <a:normAutofit/>
          </a:bodyPr>
          <a:lstStyle/>
          <a:p>
            <a:pPr algn="ctr" indent="0" marL="0">
              <a:lnSpc>
                <a:spcPct val="92000"/>
              </a:lnSpc>
              <a:buNone/>
            </a:pPr>
            <a:r>
              <a:rPr lang="en-US" sz="2000" b="1" dirty="0">
                <a:solidFill>
                  <a:srgbClr val="B17B20"/>
                </a:solidFill>
                <a:latin typeface="Hiragino Sans GB" pitchFamily="34" charset="0"/>
                <a:ea typeface="Hiragino Sans GB" pitchFamily="34" charset="-122"/>
                <a:cs typeface="Hiragino Sans GB" pitchFamily="34" charset="-120"/>
              </a:rPr>
              <a:t>02</a:t>
            </a:r>
            <a:endParaRPr lang="en-US" sz="2000" dirty="0"/>
          </a:p>
        </p:txBody>
      </p:sp>
      <p:sp>
        <p:nvSpPr>
          <p:cNvPr id="16" name="Shape 14"/>
          <p:cNvSpPr/>
          <p:nvPr/>
        </p:nvSpPr>
        <p:spPr>
          <a:xfrm>
            <a:off x="1344168" y="2724912"/>
            <a:ext cx="0" cy="768096"/>
          </a:xfrm>
          <a:prstGeom prst="line">
            <a:avLst/>
          </a:prstGeom>
          <a:noFill/>
          <a:ln w="40640">
            <a:solidFill>
              <a:srgbClr val="B17B20"/>
            </a:solidFill>
            <a:prstDash val="solid"/>
          </a:ln>
        </p:spPr>
      </p:sp>
      <p:sp>
        <p:nvSpPr>
          <p:cNvPr id="17" name="Text 15"/>
          <p:cNvSpPr txBox="1"/>
          <p:nvPr/>
        </p:nvSpPr>
        <p:spPr>
          <a:xfrm>
            <a:off x="1572768" y="2651760"/>
            <a:ext cx="1920240" cy="310896"/>
          </a:xfrm>
          <a:prstGeom prst="rect">
            <a:avLst/>
          </a:prstGeom>
          <a:noFill/>
          <a:ln/>
        </p:spPr>
        <p:txBody>
          <a:bodyPr wrap="square" lIns="0" tIns="0" rIns="0" bIns="0" rtlCol="0" anchor="t">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对标结论</a:t>
            </a:r>
            <a:endParaRPr lang="en-US" sz="1500" dirty="0"/>
          </a:p>
        </p:txBody>
      </p:sp>
      <p:sp>
        <p:nvSpPr>
          <p:cNvPr id="18" name="Text 16"/>
          <p:cNvSpPr txBox="1"/>
          <p:nvPr/>
        </p:nvSpPr>
        <p:spPr>
          <a:xfrm>
            <a:off x="3383280" y="2651760"/>
            <a:ext cx="8001000" cy="694944"/>
          </a:xfrm>
          <a:prstGeom prst="rect">
            <a:avLst/>
          </a:prstGeom>
          <a:noFill/>
          <a:ln/>
        </p:spPr>
        <p:txBody>
          <a:bodyPr wrap="square" lIns="0" tIns="0" rIns="0" bIns="0" rtlCol="0" anchor="t">
            <a:normAutofit/>
          </a:bodyPr>
          <a:lstStyle/>
          <a:p>
            <a:pPr algn="l" indent="0" marL="0">
              <a:lnSpc>
                <a:spcPct val="88000"/>
              </a:lnSpc>
              <a:buNone/>
            </a:pPr>
            <a:r>
              <a:rPr lang="en-US" sz="1140" dirty="0">
                <a:solidFill>
                  <a:srgbClr val="32474D"/>
                </a:solidFill>
                <a:latin typeface="Hiragino Sans GB" pitchFamily="34" charset="0"/>
                <a:ea typeface="Hiragino Sans GB" pitchFamily="34" charset="-122"/>
                <a:cs typeface="Hiragino Sans GB" pitchFamily="34" charset="-120"/>
              </a:rPr>
              <a:t>GeoSOS-FLUS 是成熟强基线；GWM 的能力空间更宽，当前整体精度与生产成熟度仍处于验证阶段。</a:t>
            </a:r>
            <a:endParaRPr lang="en-US" sz="1140" dirty="0"/>
          </a:p>
        </p:txBody>
      </p:sp>
      <p:sp>
        <p:nvSpPr>
          <p:cNvPr id="19" name="Shape 17"/>
          <p:cNvSpPr/>
          <p:nvPr/>
        </p:nvSpPr>
        <p:spPr>
          <a:xfrm>
            <a:off x="1581912" y="3593592"/>
            <a:ext cx="9811512" cy="0"/>
          </a:xfrm>
          <a:prstGeom prst="line">
            <a:avLst/>
          </a:prstGeom>
          <a:noFill/>
          <a:ln w="7620">
            <a:solidFill>
              <a:srgbClr val="D0DBD8"/>
            </a:solidFill>
            <a:prstDash val="solid"/>
          </a:ln>
        </p:spPr>
      </p:sp>
      <p:sp>
        <p:nvSpPr>
          <p:cNvPr id="20" name="Text 18"/>
          <p:cNvSpPr txBox="1"/>
          <p:nvPr/>
        </p:nvSpPr>
        <p:spPr>
          <a:xfrm>
            <a:off x="530352" y="3831336"/>
            <a:ext cx="658368" cy="402336"/>
          </a:xfrm>
          <a:prstGeom prst="rect">
            <a:avLst/>
          </a:prstGeom>
          <a:noFill/>
          <a:ln/>
        </p:spPr>
        <p:txBody>
          <a:bodyPr wrap="square" lIns="0" tIns="0" rIns="0" bIns="0" rtlCol="0" anchor="ctr">
            <a:normAutofit/>
          </a:bodyPr>
          <a:lstStyle/>
          <a:p>
            <a:pPr algn="ctr" indent="0" marL="0">
              <a:lnSpc>
                <a:spcPct val="92000"/>
              </a:lnSpc>
              <a:buNone/>
            </a:pPr>
            <a:r>
              <a:rPr lang="en-US" sz="2000" b="1" dirty="0">
                <a:solidFill>
                  <a:srgbClr val="356CA8"/>
                </a:solidFill>
                <a:latin typeface="Hiragino Sans GB" pitchFamily="34" charset="0"/>
                <a:ea typeface="Hiragino Sans GB" pitchFamily="34" charset="-122"/>
                <a:cs typeface="Hiragino Sans GB" pitchFamily="34" charset="-120"/>
              </a:rPr>
              <a:t>03</a:t>
            </a:r>
            <a:endParaRPr lang="en-US" sz="2000" dirty="0"/>
          </a:p>
        </p:txBody>
      </p:sp>
      <p:sp>
        <p:nvSpPr>
          <p:cNvPr id="21" name="Shape 19"/>
          <p:cNvSpPr/>
          <p:nvPr/>
        </p:nvSpPr>
        <p:spPr>
          <a:xfrm>
            <a:off x="1344168" y="3886200"/>
            <a:ext cx="0" cy="768096"/>
          </a:xfrm>
          <a:prstGeom prst="line">
            <a:avLst/>
          </a:prstGeom>
          <a:noFill/>
          <a:ln w="40640">
            <a:solidFill>
              <a:srgbClr val="356CA8"/>
            </a:solidFill>
            <a:prstDash val="solid"/>
          </a:ln>
        </p:spPr>
      </p:sp>
      <p:sp>
        <p:nvSpPr>
          <p:cNvPr id="22" name="Text 20"/>
          <p:cNvSpPr txBox="1"/>
          <p:nvPr/>
        </p:nvSpPr>
        <p:spPr>
          <a:xfrm>
            <a:off x="1572768" y="3813048"/>
            <a:ext cx="1920240" cy="310896"/>
          </a:xfrm>
          <a:prstGeom prst="rect">
            <a:avLst/>
          </a:prstGeom>
          <a:noFill/>
          <a:ln/>
        </p:spPr>
        <p:txBody>
          <a:bodyPr wrap="square" lIns="0" tIns="0" rIns="0" bIns="0" rtlCol="0" anchor="t">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技术核心</a:t>
            </a:r>
            <a:endParaRPr lang="en-US" sz="1500" dirty="0"/>
          </a:p>
        </p:txBody>
      </p:sp>
      <p:sp>
        <p:nvSpPr>
          <p:cNvPr id="23" name="Text 21"/>
          <p:cNvSpPr txBox="1"/>
          <p:nvPr/>
        </p:nvSpPr>
        <p:spPr>
          <a:xfrm>
            <a:off x="3383280" y="3813048"/>
            <a:ext cx="8001000" cy="694944"/>
          </a:xfrm>
          <a:prstGeom prst="rect">
            <a:avLst/>
          </a:prstGeom>
          <a:noFill/>
          <a:ln/>
        </p:spPr>
        <p:txBody>
          <a:bodyPr wrap="square" lIns="0" tIns="0" rIns="0" bIns="0" rtlCol="0" anchor="t">
            <a:normAutofit/>
          </a:bodyPr>
          <a:lstStyle/>
          <a:p>
            <a:pPr algn="l" indent="0" marL="0">
              <a:lnSpc>
                <a:spcPct val="88000"/>
              </a:lnSpc>
              <a:buNone/>
            </a:pPr>
            <a:r>
              <a:rPr lang="en-US" sz="1140" dirty="0">
                <a:solidFill>
                  <a:srgbClr val="32474D"/>
                </a:solidFill>
                <a:latin typeface="Hiragino Sans GB" pitchFamily="34" charset="0"/>
                <a:ea typeface="Hiragino Sans GB" pitchFamily="34" charset="-122"/>
                <a:cs typeface="Hiragino Sans GB" pitchFamily="34" charset="-120"/>
              </a:rPr>
              <a:t>DAM-GK 负责空间动力学；GWM Runtime 负责状态、动作、写回、不确定性、证据与领域适配。</a:t>
            </a:r>
            <a:endParaRPr lang="en-US" sz="1140" dirty="0"/>
          </a:p>
        </p:txBody>
      </p:sp>
      <p:sp>
        <p:nvSpPr>
          <p:cNvPr id="24" name="Shape 22"/>
          <p:cNvSpPr/>
          <p:nvPr/>
        </p:nvSpPr>
        <p:spPr>
          <a:xfrm>
            <a:off x="1581912" y="4754880"/>
            <a:ext cx="9811512" cy="0"/>
          </a:xfrm>
          <a:prstGeom prst="line">
            <a:avLst/>
          </a:prstGeom>
          <a:noFill/>
          <a:ln w="7620">
            <a:solidFill>
              <a:srgbClr val="D0DBD8"/>
            </a:solidFill>
            <a:prstDash val="solid"/>
          </a:ln>
        </p:spPr>
      </p:sp>
      <p:sp>
        <p:nvSpPr>
          <p:cNvPr id="25" name="Text 23"/>
          <p:cNvSpPr txBox="1"/>
          <p:nvPr/>
        </p:nvSpPr>
        <p:spPr>
          <a:xfrm>
            <a:off x="530352" y="4992624"/>
            <a:ext cx="658368" cy="402336"/>
          </a:xfrm>
          <a:prstGeom prst="rect">
            <a:avLst/>
          </a:prstGeom>
          <a:noFill/>
          <a:ln/>
        </p:spPr>
        <p:txBody>
          <a:bodyPr wrap="square" lIns="0" tIns="0" rIns="0" bIns="0" rtlCol="0" anchor="ctr">
            <a:normAutofit/>
          </a:bodyPr>
          <a:lstStyle/>
          <a:p>
            <a:pPr algn="ctr" indent="0" marL="0">
              <a:lnSpc>
                <a:spcPct val="92000"/>
              </a:lnSpc>
              <a:buNone/>
            </a:pPr>
            <a:r>
              <a:rPr lang="en-US" sz="2000" b="1" dirty="0">
                <a:solidFill>
                  <a:srgbClr val="2D8A57"/>
                </a:solidFill>
                <a:latin typeface="Hiragino Sans GB" pitchFamily="34" charset="0"/>
                <a:ea typeface="Hiragino Sans GB" pitchFamily="34" charset="-122"/>
                <a:cs typeface="Hiragino Sans GB" pitchFamily="34" charset="-120"/>
              </a:rPr>
              <a:t>04</a:t>
            </a:r>
            <a:endParaRPr lang="en-US" sz="2000" dirty="0"/>
          </a:p>
        </p:txBody>
      </p:sp>
      <p:sp>
        <p:nvSpPr>
          <p:cNvPr id="26" name="Shape 24"/>
          <p:cNvSpPr/>
          <p:nvPr/>
        </p:nvSpPr>
        <p:spPr>
          <a:xfrm>
            <a:off x="1344168" y="5047488"/>
            <a:ext cx="0" cy="768096"/>
          </a:xfrm>
          <a:prstGeom prst="line">
            <a:avLst/>
          </a:prstGeom>
          <a:noFill/>
          <a:ln w="40640">
            <a:solidFill>
              <a:srgbClr val="2D8A57"/>
            </a:solidFill>
            <a:prstDash val="solid"/>
          </a:ln>
        </p:spPr>
      </p:sp>
      <p:sp>
        <p:nvSpPr>
          <p:cNvPr id="27" name="Text 25"/>
          <p:cNvSpPr txBox="1"/>
          <p:nvPr/>
        </p:nvSpPr>
        <p:spPr>
          <a:xfrm>
            <a:off x="1572768" y="4974336"/>
            <a:ext cx="1920240" cy="310896"/>
          </a:xfrm>
          <a:prstGeom prst="rect">
            <a:avLst/>
          </a:prstGeom>
          <a:noFill/>
          <a:ln/>
        </p:spPr>
        <p:txBody>
          <a:bodyPr wrap="square" lIns="0" tIns="0" rIns="0" bIns="0" rtlCol="0" anchor="t">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平台形态</a:t>
            </a:r>
            <a:endParaRPr lang="en-US" sz="1500" dirty="0"/>
          </a:p>
        </p:txBody>
      </p:sp>
      <p:sp>
        <p:nvSpPr>
          <p:cNvPr id="28" name="Text 26"/>
          <p:cNvSpPr txBox="1"/>
          <p:nvPr/>
        </p:nvSpPr>
        <p:spPr>
          <a:xfrm>
            <a:off x="3383280" y="4974336"/>
            <a:ext cx="8001000" cy="694944"/>
          </a:xfrm>
          <a:prstGeom prst="rect">
            <a:avLst/>
          </a:prstGeom>
          <a:noFill/>
          <a:ln/>
        </p:spPr>
        <p:txBody>
          <a:bodyPr wrap="square" lIns="0" tIns="0" rIns="0" bIns="0" rtlCol="0" anchor="t">
            <a:normAutofit/>
          </a:bodyPr>
          <a:lstStyle/>
          <a:p>
            <a:pPr algn="l" indent="0" marL="0">
              <a:lnSpc>
                <a:spcPct val="88000"/>
              </a:lnSpc>
              <a:buNone/>
            </a:pPr>
            <a:r>
              <a:rPr lang="en-US" sz="1140" dirty="0">
                <a:solidFill>
                  <a:srgbClr val="32474D"/>
                </a:solidFill>
                <a:latin typeface="Hiragino Sans GB" pitchFamily="34" charset="0"/>
                <a:ea typeface="Hiragino Sans GB" pitchFamily="34" charset="-122"/>
                <a:cs typeface="Hiragino Sans GB" pitchFamily="34" charset="-120"/>
              </a:rPr>
              <a:t>TWM 是 GWM 的自然资源实例；未来智能体平台应由 LLM 负责语义编排、WM 负责数值推演。</a:t>
            </a:r>
            <a:endParaRPr lang="en-US" sz="1140" dirty="0"/>
          </a:p>
        </p:txBody>
      </p:sp>
      <p:sp>
        <p:nvSpPr>
          <p:cNvPr id="29" name="Shape 27"/>
          <p:cNvSpPr/>
          <p:nvPr/>
        </p:nvSpPr>
        <p:spPr>
          <a:xfrm>
            <a:off x="530352" y="5989320"/>
            <a:ext cx="10863072" cy="320040"/>
          </a:xfrm>
          <a:prstGeom prst="roundRect">
            <a:avLst>
              <a:gd name="adj" fmla="val 11429"/>
            </a:avLst>
          </a:prstGeom>
          <a:solidFill>
            <a:srgbClr val="102F34"/>
          </a:solidFill>
          <a:ln w="12700">
            <a:solidFill>
              <a:srgbClr val="102F34"/>
            </a:solidFill>
            <a:prstDash val="solid"/>
          </a:ln>
        </p:spPr>
      </p:sp>
      <p:sp>
        <p:nvSpPr>
          <p:cNvPr id="30" name="Text 28"/>
          <p:cNvSpPr txBox="1"/>
          <p:nvPr/>
        </p:nvSpPr>
        <p:spPr>
          <a:xfrm>
            <a:off x="713232" y="6053328"/>
            <a:ext cx="10469880" cy="164592"/>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FFFFFF"/>
                </a:solidFill>
                <a:latin typeface="Hiragino Sans GB" pitchFamily="34" charset="0"/>
                <a:ea typeface="Hiragino Sans GB" pitchFamily="34" charset="-122"/>
                <a:cs typeface="Hiragino Sans GB" pitchFamily="34" charset="-120"/>
              </a:rPr>
              <a:t>证据口径：架构能力、已实现机制、已验证效果和生产可用性实行分层陈述。</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全局综述</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世界模型技术谱系与 GWM 的定位</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各类世界模型共享状态表示与动力学，其差异主要体现在建模对象、行动接口和决策消费方。</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代表性来源：Dyna；World Models；PlaNet / Dreamer；MuZero；TD-MPC2；Sora / Genie / V-JEPA / Cosmos；GAIA-1；scientific emulators</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04 / 29</a:t>
            </a:r>
            <a:endParaRPr lang="en-US" sz="670" dirty="0"/>
          </a:p>
        </p:txBody>
      </p:sp>
      <p:sp>
        <p:nvSpPr>
          <p:cNvPr id="10" name="Text 8"/>
          <p:cNvSpPr txBox="1"/>
          <p:nvPr/>
        </p:nvSpPr>
        <p:spPr>
          <a:xfrm>
            <a:off x="576072" y="1463040"/>
            <a:ext cx="1444752" cy="219456"/>
          </a:xfrm>
          <a:prstGeom prst="rect">
            <a:avLst/>
          </a:prstGeom>
          <a:noFill/>
          <a:ln/>
        </p:spPr>
        <p:txBody>
          <a:bodyPr wrap="square" lIns="0" tIns="0" rIns="0" bIns="0" rtlCol="0" anchor="ctr">
            <a:normAutofit/>
          </a:bodyPr>
          <a:lstStyle/>
          <a:p>
            <a:pPr algn="l" indent="0" marL="0">
              <a:lnSpc>
                <a:spcPct val="92000"/>
              </a:lnSpc>
              <a:buNone/>
            </a:pPr>
            <a:r>
              <a:rPr lang="en-US" sz="860" b="1" dirty="0">
                <a:solidFill>
                  <a:srgbClr val="6C7C80"/>
                </a:solidFill>
                <a:latin typeface="Hiragino Sans GB" pitchFamily="34" charset="0"/>
                <a:ea typeface="Hiragino Sans GB" pitchFamily="34" charset="-122"/>
                <a:cs typeface="Hiragino Sans GB" pitchFamily="34" charset="-120"/>
              </a:rPr>
              <a:t>主要谱系</a:t>
            </a:r>
            <a:endParaRPr lang="en-US" sz="860" dirty="0"/>
          </a:p>
        </p:txBody>
      </p:sp>
      <p:sp>
        <p:nvSpPr>
          <p:cNvPr id="11" name="Text 9"/>
          <p:cNvSpPr txBox="1"/>
          <p:nvPr/>
        </p:nvSpPr>
        <p:spPr>
          <a:xfrm>
            <a:off x="2240280" y="1463040"/>
            <a:ext cx="2240280" cy="219456"/>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6C7C80"/>
                </a:solidFill>
                <a:latin typeface="Hiragino Sans GB" pitchFamily="34" charset="0"/>
                <a:ea typeface="Hiragino Sans GB" pitchFamily="34" charset="-122"/>
                <a:cs typeface="Hiragino Sans GB" pitchFamily="34" charset="-120"/>
              </a:rPr>
              <a:t>代表工作</a:t>
            </a:r>
            <a:endParaRPr lang="en-US" sz="860" dirty="0"/>
          </a:p>
        </p:txBody>
      </p:sp>
      <p:sp>
        <p:nvSpPr>
          <p:cNvPr id="12" name="Text 10"/>
          <p:cNvSpPr txBox="1"/>
          <p:nvPr/>
        </p:nvSpPr>
        <p:spPr>
          <a:xfrm>
            <a:off x="4690872" y="1463040"/>
            <a:ext cx="3895344" cy="219456"/>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6C7C80"/>
                </a:solidFill>
                <a:latin typeface="Hiragino Sans GB" pitchFamily="34" charset="0"/>
                <a:ea typeface="Hiragino Sans GB" pitchFamily="34" charset="-122"/>
                <a:cs typeface="Hiragino Sans GB" pitchFamily="34" charset="-120"/>
              </a:rPr>
              <a:t>核心任务</a:t>
            </a:r>
            <a:endParaRPr lang="en-US" sz="860" dirty="0"/>
          </a:p>
        </p:txBody>
      </p:sp>
      <p:sp>
        <p:nvSpPr>
          <p:cNvPr id="13" name="Text 11"/>
          <p:cNvSpPr txBox="1"/>
          <p:nvPr/>
        </p:nvSpPr>
        <p:spPr>
          <a:xfrm>
            <a:off x="8869680" y="1463040"/>
            <a:ext cx="1143000" cy="219456"/>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6C7C80"/>
                </a:solidFill>
                <a:latin typeface="Hiragino Sans GB" pitchFamily="34" charset="0"/>
                <a:ea typeface="Hiragino Sans GB" pitchFamily="34" charset="-122"/>
                <a:cs typeface="Hiragino Sans GB" pitchFamily="34" charset="-120"/>
              </a:rPr>
              <a:t>典型时间</a:t>
            </a:r>
            <a:endParaRPr lang="en-US" sz="860" dirty="0"/>
          </a:p>
        </p:txBody>
      </p:sp>
      <p:sp>
        <p:nvSpPr>
          <p:cNvPr id="14" name="Text 12"/>
          <p:cNvSpPr txBox="1"/>
          <p:nvPr/>
        </p:nvSpPr>
        <p:spPr>
          <a:xfrm>
            <a:off x="10104120" y="1463040"/>
            <a:ext cx="1490472" cy="219456"/>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6C7C80"/>
                </a:solidFill>
                <a:latin typeface="Hiragino Sans GB" pitchFamily="34" charset="0"/>
                <a:ea typeface="Hiragino Sans GB" pitchFamily="34" charset="-122"/>
                <a:cs typeface="Hiragino Sans GB" pitchFamily="34" charset="-120"/>
              </a:rPr>
              <a:t>主要消费方</a:t>
            </a:r>
            <a:endParaRPr lang="en-US" sz="860" dirty="0"/>
          </a:p>
        </p:txBody>
      </p:sp>
      <p:sp>
        <p:nvSpPr>
          <p:cNvPr id="15" name="Shape 13"/>
          <p:cNvSpPr/>
          <p:nvPr/>
        </p:nvSpPr>
        <p:spPr>
          <a:xfrm>
            <a:off x="539496" y="1764792"/>
            <a:ext cx="11064240" cy="566928"/>
          </a:xfrm>
          <a:prstGeom prst="roundRect">
            <a:avLst>
              <a:gd name="adj" fmla="val 3226"/>
            </a:avLst>
          </a:prstGeom>
          <a:solidFill>
            <a:srgbClr val="FFFFFF"/>
          </a:solidFill>
          <a:ln w="6350">
            <a:solidFill>
              <a:srgbClr val="D0DBD8"/>
            </a:solidFill>
            <a:prstDash val="solid"/>
          </a:ln>
        </p:spPr>
      </p:sp>
      <p:sp>
        <p:nvSpPr>
          <p:cNvPr id="16" name="Shape 14"/>
          <p:cNvSpPr/>
          <p:nvPr/>
        </p:nvSpPr>
        <p:spPr>
          <a:xfrm>
            <a:off x="539496" y="1764792"/>
            <a:ext cx="109728" cy="566928"/>
          </a:xfrm>
          <a:prstGeom prst="rect">
            <a:avLst/>
          </a:prstGeom>
          <a:solidFill>
            <a:srgbClr val="356CA8"/>
          </a:solidFill>
          <a:ln w="12700">
            <a:solidFill>
              <a:srgbClr val="356CA8"/>
            </a:solidFill>
            <a:prstDash val="solid"/>
          </a:ln>
        </p:spPr>
      </p:sp>
      <p:sp>
        <p:nvSpPr>
          <p:cNvPr id="17" name="Text 15"/>
          <p:cNvSpPr txBox="1"/>
          <p:nvPr/>
        </p:nvSpPr>
        <p:spPr>
          <a:xfrm>
            <a:off x="758952" y="1883664"/>
            <a:ext cx="1344168" cy="256032"/>
          </a:xfrm>
          <a:prstGeom prst="rect">
            <a:avLst/>
          </a:prstGeom>
          <a:noFill/>
          <a:ln/>
        </p:spPr>
        <p:txBody>
          <a:bodyPr wrap="square" lIns="0" tIns="0" rIns="0" bIns="0" rtlCol="0" anchor="ctr">
            <a:normAutofit/>
          </a:bodyPr>
          <a:lstStyle/>
          <a:p>
            <a:pPr algn="l" indent="0" marL="0">
              <a:lnSpc>
                <a:spcPct val="92000"/>
              </a:lnSpc>
              <a:buNone/>
            </a:pPr>
            <a:r>
              <a:rPr lang="en-US" sz="950" b="1" dirty="0">
                <a:solidFill>
                  <a:srgbClr val="356CA8"/>
                </a:solidFill>
                <a:latin typeface="Hiragino Sans GB" pitchFamily="34" charset="0"/>
                <a:ea typeface="Hiragino Sans GB" pitchFamily="34" charset="-122"/>
                <a:cs typeface="Hiragino Sans GB" pitchFamily="34" charset="-120"/>
              </a:rPr>
              <a:t>控制与规划</a:t>
            </a:r>
            <a:endParaRPr lang="en-US" sz="950" dirty="0"/>
          </a:p>
        </p:txBody>
      </p:sp>
      <p:sp>
        <p:nvSpPr>
          <p:cNvPr id="18" name="Text 16"/>
          <p:cNvSpPr txBox="1"/>
          <p:nvPr/>
        </p:nvSpPr>
        <p:spPr>
          <a:xfrm>
            <a:off x="2212848" y="1837944"/>
            <a:ext cx="2286000" cy="384048"/>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Dyna / PlaNet / Dreamer</a:t>
            </a:r>
            <a:endParaRPr lang="en-US" sz="770" dirty="0"/>
          </a:p>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MuZero / TD-MPC2</a:t>
            </a:r>
            <a:endParaRPr lang="en-US" sz="770" dirty="0"/>
          </a:p>
        </p:txBody>
      </p:sp>
      <p:sp>
        <p:nvSpPr>
          <p:cNvPr id="19" name="Text 17"/>
          <p:cNvSpPr txBox="1"/>
          <p:nvPr/>
        </p:nvSpPr>
        <p:spPr>
          <a:xfrm>
            <a:off x="4709160" y="1837944"/>
            <a:ext cx="3867912" cy="384048"/>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学习潜在状态转移，在想象轨迹中选择动作</a:t>
            </a:r>
            <a:endParaRPr lang="en-US" sz="820" dirty="0"/>
          </a:p>
        </p:txBody>
      </p:sp>
      <p:sp>
        <p:nvSpPr>
          <p:cNvPr id="20" name="Text 18"/>
          <p:cNvSpPr txBox="1"/>
          <p:nvPr/>
        </p:nvSpPr>
        <p:spPr>
          <a:xfrm>
            <a:off x="8869680" y="1911096"/>
            <a:ext cx="1143000" cy="219456"/>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秒-回合</a:t>
            </a:r>
            <a:endParaRPr lang="en-US" sz="810" dirty="0"/>
          </a:p>
        </p:txBody>
      </p:sp>
      <p:sp>
        <p:nvSpPr>
          <p:cNvPr id="21" name="Text 19"/>
          <p:cNvSpPr txBox="1"/>
          <p:nvPr/>
        </p:nvSpPr>
        <p:spPr>
          <a:xfrm>
            <a:off x="10094976" y="1883664"/>
            <a:ext cx="1316736" cy="265176"/>
          </a:xfrm>
          <a:prstGeom prst="rect">
            <a:avLst/>
          </a:prstGeom>
          <a:noFill/>
          <a:ln/>
        </p:spPr>
        <p:txBody>
          <a:bodyPr wrap="square" lIns="0" tIns="0" rIns="0" bIns="0" rtlCol="0" anchor="ctr">
            <a:normAutofit/>
          </a:bodyPr>
          <a:lstStyle/>
          <a:p>
            <a:pPr algn="ctr" indent="0" marL="0">
              <a:lnSpc>
                <a:spcPct val="92000"/>
              </a:lnSpc>
              <a:buNone/>
            </a:pPr>
            <a:r>
              <a:rPr lang="en-US" sz="750" dirty="0">
                <a:solidFill>
                  <a:srgbClr val="6C7C80"/>
                </a:solidFill>
                <a:latin typeface="Arial" pitchFamily="34" charset="0"/>
                <a:ea typeface="Arial" pitchFamily="34" charset="-122"/>
                <a:cs typeface="Arial" pitchFamily="34" charset="-120"/>
              </a:rPr>
              <a:t>policy / planner</a:t>
            </a:r>
            <a:endParaRPr lang="en-US" sz="750" dirty="0"/>
          </a:p>
        </p:txBody>
      </p:sp>
      <p:sp>
        <p:nvSpPr>
          <p:cNvPr id="22" name="Shape 20"/>
          <p:cNvSpPr/>
          <p:nvPr/>
        </p:nvSpPr>
        <p:spPr>
          <a:xfrm>
            <a:off x="539496" y="2432304"/>
            <a:ext cx="11064240" cy="566928"/>
          </a:xfrm>
          <a:prstGeom prst="roundRect">
            <a:avLst>
              <a:gd name="adj" fmla="val 3226"/>
            </a:avLst>
          </a:prstGeom>
          <a:solidFill>
            <a:srgbClr val="EDF1F0"/>
          </a:solidFill>
          <a:ln w="6350">
            <a:solidFill>
              <a:srgbClr val="D0DBD8"/>
            </a:solidFill>
            <a:prstDash val="solid"/>
          </a:ln>
        </p:spPr>
      </p:sp>
      <p:sp>
        <p:nvSpPr>
          <p:cNvPr id="23" name="Shape 21"/>
          <p:cNvSpPr/>
          <p:nvPr/>
        </p:nvSpPr>
        <p:spPr>
          <a:xfrm>
            <a:off x="539496" y="2432304"/>
            <a:ext cx="109728" cy="566928"/>
          </a:xfrm>
          <a:prstGeom prst="rect">
            <a:avLst/>
          </a:prstGeom>
          <a:solidFill>
            <a:srgbClr val="705FA7"/>
          </a:solidFill>
          <a:ln w="12700">
            <a:solidFill>
              <a:srgbClr val="705FA7"/>
            </a:solidFill>
            <a:prstDash val="solid"/>
          </a:ln>
        </p:spPr>
      </p:sp>
      <p:sp>
        <p:nvSpPr>
          <p:cNvPr id="24" name="Text 22"/>
          <p:cNvSpPr txBox="1"/>
          <p:nvPr/>
        </p:nvSpPr>
        <p:spPr>
          <a:xfrm>
            <a:off x="758952" y="2551176"/>
            <a:ext cx="1344168" cy="256032"/>
          </a:xfrm>
          <a:prstGeom prst="rect">
            <a:avLst/>
          </a:prstGeom>
          <a:noFill/>
          <a:ln/>
        </p:spPr>
        <p:txBody>
          <a:bodyPr wrap="square" lIns="0" tIns="0" rIns="0" bIns="0" rtlCol="0" anchor="ctr">
            <a:normAutofit/>
          </a:bodyPr>
          <a:lstStyle/>
          <a:p>
            <a:pPr algn="l" indent="0" marL="0">
              <a:lnSpc>
                <a:spcPct val="92000"/>
              </a:lnSpc>
              <a:buNone/>
            </a:pPr>
            <a:r>
              <a:rPr lang="en-US" sz="950" b="1" dirty="0">
                <a:solidFill>
                  <a:srgbClr val="705FA7"/>
                </a:solidFill>
                <a:latin typeface="Hiragino Sans GB" pitchFamily="34" charset="0"/>
                <a:ea typeface="Hiragino Sans GB" pitchFamily="34" charset="-122"/>
                <a:cs typeface="Hiragino Sans GB" pitchFamily="34" charset="-120"/>
              </a:rPr>
              <a:t>视觉与生成</a:t>
            </a:r>
            <a:endParaRPr lang="en-US" sz="950" dirty="0"/>
          </a:p>
        </p:txBody>
      </p:sp>
      <p:sp>
        <p:nvSpPr>
          <p:cNvPr id="25" name="Text 23"/>
          <p:cNvSpPr txBox="1"/>
          <p:nvPr/>
        </p:nvSpPr>
        <p:spPr>
          <a:xfrm>
            <a:off x="2212848" y="2505456"/>
            <a:ext cx="2286000" cy="384048"/>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Sora / Genie / V-JEPA</a:t>
            </a:r>
            <a:endParaRPr lang="en-US" sz="770" dirty="0"/>
          </a:p>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Cosmos</a:t>
            </a:r>
            <a:endParaRPr lang="en-US" sz="770" dirty="0"/>
          </a:p>
        </p:txBody>
      </p:sp>
      <p:sp>
        <p:nvSpPr>
          <p:cNvPr id="26" name="Text 24"/>
          <p:cNvSpPr txBox="1"/>
          <p:nvPr/>
        </p:nvSpPr>
        <p:spPr>
          <a:xfrm>
            <a:off x="4709160" y="2505456"/>
            <a:ext cx="3867912" cy="384048"/>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生成或预测视觉世界，支持交互环境与物理表征</a:t>
            </a:r>
            <a:endParaRPr lang="en-US" sz="820" dirty="0"/>
          </a:p>
        </p:txBody>
      </p:sp>
      <p:sp>
        <p:nvSpPr>
          <p:cNvPr id="27" name="Text 25"/>
          <p:cNvSpPr txBox="1"/>
          <p:nvPr/>
        </p:nvSpPr>
        <p:spPr>
          <a:xfrm>
            <a:off x="8869680" y="2578608"/>
            <a:ext cx="1143000" cy="219456"/>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帧-分钟</a:t>
            </a:r>
            <a:endParaRPr lang="en-US" sz="810" dirty="0"/>
          </a:p>
        </p:txBody>
      </p:sp>
      <p:sp>
        <p:nvSpPr>
          <p:cNvPr id="28" name="Text 26"/>
          <p:cNvSpPr txBox="1"/>
          <p:nvPr/>
        </p:nvSpPr>
        <p:spPr>
          <a:xfrm>
            <a:off x="10094976" y="2551176"/>
            <a:ext cx="1316736" cy="265176"/>
          </a:xfrm>
          <a:prstGeom prst="rect">
            <a:avLst/>
          </a:prstGeom>
          <a:noFill/>
          <a:ln/>
        </p:spPr>
        <p:txBody>
          <a:bodyPr wrap="square" lIns="0" tIns="0" rIns="0" bIns="0" rtlCol="0" anchor="ctr">
            <a:normAutofit/>
          </a:bodyPr>
          <a:lstStyle/>
          <a:p>
            <a:pPr algn="ctr" indent="0" marL="0">
              <a:lnSpc>
                <a:spcPct val="92000"/>
              </a:lnSpc>
              <a:buNone/>
            </a:pPr>
            <a:r>
              <a:rPr lang="en-US" sz="750" dirty="0">
                <a:solidFill>
                  <a:srgbClr val="6C7C80"/>
                </a:solidFill>
                <a:latin typeface="Arial" pitchFamily="34" charset="0"/>
                <a:ea typeface="Arial" pitchFamily="34" charset="-122"/>
                <a:cs typeface="Arial" pitchFamily="34" charset="-120"/>
              </a:rPr>
              <a:t>human / agent</a:t>
            </a:r>
            <a:endParaRPr lang="en-US" sz="750" dirty="0"/>
          </a:p>
        </p:txBody>
      </p:sp>
      <p:sp>
        <p:nvSpPr>
          <p:cNvPr id="29" name="Shape 27"/>
          <p:cNvSpPr/>
          <p:nvPr/>
        </p:nvSpPr>
        <p:spPr>
          <a:xfrm>
            <a:off x="539496" y="3099816"/>
            <a:ext cx="11064240" cy="566928"/>
          </a:xfrm>
          <a:prstGeom prst="roundRect">
            <a:avLst>
              <a:gd name="adj" fmla="val 3226"/>
            </a:avLst>
          </a:prstGeom>
          <a:solidFill>
            <a:srgbClr val="FFFFFF"/>
          </a:solidFill>
          <a:ln w="6350">
            <a:solidFill>
              <a:srgbClr val="D0DBD8"/>
            </a:solidFill>
            <a:prstDash val="solid"/>
          </a:ln>
        </p:spPr>
      </p:sp>
      <p:sp>
        <p:nvSpPr>
          <p:cNvPr id="30" name="Shape 28"/>
          <p:cNvSpPr/>
          <p:nvPr/>
        </p:nvSpPr>
        <p:spPr>
          <a:xfrm>
            <a:off x="539496" y="3099816"/>
            <a:ext cx="109728" cy="566928"/>
          </a:xfrm>
          <a:prstGeom prst="rect">
            <a:avLst/>
          </a:prstGeom>
          <a:solidFill>
            <a:srgbClr val="2D8A57"/>
          </a:solidFill>
          <a:ln w="12700">
            <a:solidFill>
              <a:srgbClr val="2D8A57"/>
            </a:solidFill>
            <a:prstDash val="solid"/>
          </a:ln>
        </p:spPr>
      </p:sp>
      <p:sp>
        <p:nvSpPr>
          <p:cNvPr id="31" name="Text 29"/>
          <p:cNvSpPr txBox="1"/>
          <p:nvPr/>
        </p:nvSpPr>
        <p:spPr>
          <a:xfrm>
            <a:off x="758952" y="3218688"/>
            <a:ext cx="1344168" cy="256032"/>
          </a:xfrm>
          <a:prstGeom prst="rect">
            <a:avLst/>
          </a:prstGeom>
          <a:noFill/>
          <a:ln/>
        </p:spPr>
        <p:txBody>
          <a:bodyPr wrap="square" lIns="0" tIns="0" rIns="0" bIns="0" rtlCol="0" anchor="ctr">
            <a:normAutofit/>
          </a:bodyPr>
          <a:lstStyle/>
          <a:p>
            <a:pPr algn="l" indent="0" marL="0">
              <a:lnSpc>
                <a:spcPct val="92000"/>
              </a:lnSpc>
              <a:buNone/>
            </a:pPr>
            <a:r>
              <a:rPr lang="en-US" sz="950" b="1" dirty="0">
                <a:solidFill>
                  <a:srgbClr val="2D8A57"/>
                </a:solidFill>
                <a:latin typeface="Hiragino Sans GB" pitchFamily="34" charset="0"/>
                <a:ea typeface="Hiragino Sans GB" pitchFamily="34" charset="-122"/>
                <a:cs typeface="Hiragino Sans GB" pitchFamily="34" charset="-120"/>
              </a:rPr>
              <a:t>具身与机器人</a:t>
            </a:r>
            <a:endParaRPr lang="en-US" sz="950" dirty="0"/>
          </a:p>
        </p:txBody>
      </p:sp>
      <p:sp>
        <p:nvSpPr>
          <p:cNvPr id="32" name="Text 30"/>
          <p:cNvSpPr txBox="1"/>
          <p:nvPr/>
        </p:nvSpPr>
        <p:spPr>
          <a:xfrm>
            <a:off x="2212848" y="3172968"/>
            <a:ext cx="2286000" cy="384048"/>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robotics world models</a:t>
            </a:r>
            <a:endParaRPr lang="en-US" sz="770" dirty="0"/>
          </a:p>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action-conditioned video</a:t>
            </a:r>
            <a:endParaRPr lang="en-US" sz="770" dirty="0"/>
          </a:p>
        </p:txBody>
      </p:sp>
      <p:sp>
        <p:nvSpPr>
          <p:cNvPr id="33" name="Text 31"/>
          <p:cNvSpPr txBox="1"/>
          <p:nvPr/>
        </p:nvSpPr>
        <p:spPr>
          <a:xfrm>
            <a:off x="4709160" y="3172968"/>
            <a:ext cx="3867912" cy="384048"/>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预测操作、接触、运动后的局部物理结果</a:t>
            </a:r>
            <a:endParaRPr lang="en-US" sz="820" dirty="0"/>
          </a:p>
        </p:txBody>
      </p:sp>
      <p:sp>
        <p:nvSpPr>
          <p:cNvPr id="34" name="Text 32"/>
          <p:cNvSpPr txBox="1"/>
          <p:nvPr/>
        </p:nvSpPr>
        <p:spPr>
          <a:xfrm>
            <a:off x="8869680" y="3246120"/>
            <a:ext cx="1143000" cy="219456"/>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毫秒-分钟</a:t>
            </a:r>
            <a:endParaRPr lang="en-US" sz="810" dirty="0"/>
          </a:p>
        </p:txBody>
      </p:sp>
      <p:sp>
        <p:nvSpPr>
          <p:cNvPr id="35" name="Text 33"/>
          <p:cNvSpPr txBox="1"/>
          <p:nvPr/>
        </p:nvSpPr>
        <p:spPr>
          <a:xfrm>
            <a:off x="10094976" y="3218688"/>
            <a:ext cx="1316736" cy="265176"/>
          </a:xfrm>
          <a:prstGeom prst="rect">
            <a:avLst/>
          </a:prstGeom>
          <a:noFill/>
          <a:ln/>
        </p:spPr>
        <p:txBody>
          <a:bodyPr wrap="square" lIns="0" tIns="0" rIns="0" bIns="0" rtlCol="0" anchor="ctr">
            <a:normAutofit/>
          </a:bodyPr>
          <a:lstStyle/>
          <a:p>
            <a:pPr algn="ctr" indent="0" marL="0">
              <a:lnSpc>
                <a:spcPct val="92000"/>
              </a:lnSpc>
              <a:buNone/>
            </a:pPr>
            <a:r>
              <a:rPr lang="en-US" sz="750" dirty="0">
                <a:solidFill>
                  <a:srgbClr val="6C7C80"/>
                </a:solidFill>
                <a:latin typeface="Arial" pitchFamily="34" charset="0"/>
                <a:ea typeface="Arial" pitchFamily="34" charset="-122"/>
                <a:cs typeface="Arial" pitchFamily="34" charset="-120"/>
              </a:rPr>
              <a:t>robot policy</a:t>
            </a:r>
            <a:endParaRPr lang="en-US" sz="750" dirty="0"/>
          </a:p>
        </p:txBody>
      </p:sp>
      <p:sp>
        <p:nvSpPr>
          <p:cNvPr id="36" name="Shape 34"/>
          <p:cNvSpPr/>
          <p:nvPr/>
        </p:nvSpPr>
        <p:spPr>
          <a:xfrm>
            <a:off x="539496" y="3767328"/>
            <a:ext cx="11064240" cy="566928"/>
          </a:xfrm>
          <a:prstGeom prst="roundRect">
            <a:avLst>
              <a:gd name="adj" fmla="val 3226"/>
            </a:avLst>
          </a:prstGeom>
          <a:solidFill>
            <a:srgbClr val="EDF1F0"/>
          </a:solidFill>
          <a:ln w="6350">
            <a:solidFill>
              <a:srgbClr val="D0DBD8"/>
            </a:solidFill>
            <a:prstDash val="solid"/>
          </a:ln>
        </p:spPr>
      </p:sp>
      <p:sp>
        <p:nvSpPr>
          <p:cNvPr id="37" name="Shape 35"/>
          <p:cNvSpPr/>
          <p:nvPr/>
        </p:nvSpPr>
        <p:spPr>
          <a:xfrm>
            <a:off x="539496" y="3767328"/>
            <a:ext cx="109728" cy="566928"/>
          </a:xfrm>
          <a:prstGeom prst="rect">
            <a:avLst/>
          </a:prstGeom>
          <a:solidFill>
            <a:srgbClr val="B17B20"/>
          </a:solidFill>
          <a:ln w="12700">
            <a:solidFill>
              <a:srgbClr val="B17B20"/>
            </a:solidFill>
            <a:prstDash val="solid"/>
          </a:ln>
        </p:spPr>
      </p:sp>
      <p:sp>
        <p:nvSpPr>
          <p:cNvPr id="38" name="Text 36"/>
          <p:cNvSpPr txBox="1"/>
          <p:nvPr/>
        </p:nvSpPr>
        <p:spPr>
          <a:xfrm>
            <a:off x="758952" y="3886200"/>
            <a:ext cx="1344168" cy="256032"/>
          </a:xfrm>
          <a:prstGeom prst="rect">
            <a:avLst/>
          </a:prstGeom>
          <a:noFill/>
          <a:ln/>
        </p:spPr>
        <p:txBody>
          <a:bodyPr wrap="square" lIns="0" tIns="0" rIns="0" bIns="0" rtlCol="0" anchor="ctr">
            <a:normAutofit/>
          </a:bodyPr>
          <a:lstStyle/>
          <a:p>
            <a:pPr algn="l" indent="0" marL="0">
              <a:lnSpc>
                <a:spcPct val="92000"/>
              </a:lnSpc>
              <a:buNone/>
            </a:pPr>
            <a:r>
              <a:rPr lang="en-US" sz="950" b="1" dirty="0">
                <a:solidFill>
                  <a:srgbClr val="B17B20"/>
                </a:solidFill>
                <a:latin typeface="Hiragino Sans GB" pitchFamily="34" charset="0"/>
                <a:ea typeface="Hiragino Sans GB" pitchFamily="34" charset="-122"/>
                <a:cs typeface="Hiragino Sans GB" pitchFamily="34" charset="-120"/>
              </a:rPr>
              <a:t>自动驾驶</a:t>
            </a:r>
            <a:endParaRPr lang="en-US" sz="950" dirty="0"/>
          </a:p>
        </p:txBody>
      </p:sp>
      <p:sp>
        <p:nvSpPr>
          <p:cNvPr id="39" name="Text 37"/>
          <p:cNvSpPr txBox="1"/>
          <p:nvPr/>
        </p:nvSpPr>
        <p:spPr>
          <a:xfrm>
            <a:off x="2212848" y="3840480"/>
            <a:ext cx="2286000" cy="384048"/>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GAIA-1 等</a:t>
            </a:r>
            <a:endParaRPr lang="en-US" sz="770" dirty="0"/>
          </a:p>
        </p:txBody>
      </p:sp>
      <p:sp>
        <p:nvSpPr>
          <p:cNvPr id="40" name="Text 38"/>
          <p:cNvSpPr txBox="1"/>
          <p:nvPr/>
        </p:nvSpPr>
        <p:spPr>
          <a:xfrm>
            <a:off x="4709160" y="3840480"/>
            <a:ext cx="3867912" cy="384048"/>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融合道路、交通参与者和车辆动作，预测驾驶场景</a:t>
            </a:r>
            <a:endParaRPr lang="en-US" sz="820" dirty="0"/>
          </a:p>
        </p:txBody>
      </p:sp>
      <p:sp>
        <p:nvSpPr>
          <p:cNvPr id="41" name="Text 39"/>
          <p:cNvSpPr txBox="1"/>
          <p:nvPr/>
        </p:nvSpPr>
        <p:spPr>
          <a:xfrm>
            <a:off x="8869680" y="3913632"/>
            <a:ext cx="1143000" cy="219456"/>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秒-分钟</a:t>
            </a:r>
            <a:endParaRPr lang="en-US" sz="810" dirty="0"/>
          </a:p>
        </p:txBody>
      </p:sp>
      <p:sp>
        <p:nvSpPr>
          <p:cNvPr id="42" name="Text 40"/>
          <p:cNvSpPr txBox="1"/>
          <p:nvPr/>
        </p:nvSpPr>
        <p:spPr>
          <a:xfrm>
            <a:off x="10094976" y="3886200"/>
            <a:ext cx="1316736" cy="265176"/>
          </a:xfrm>
          <a:prstGeom prst="rect">
            <a:avLst/>
          </a:prstGeom>
          <a:noFill/>
          <a:ln/>
        </p:spPr>
        <p:txBody>
          <a:bodyPr wrap="square" lIns="0" tIns="0" rIns="0" bIns="0" rtlCol="0" anchor="ctr">
            <a:normAutofit/>
          </a:bodyPr>
          <a:lstStyle/>
          <a:p>
            <a:pPr algn="ctr" indent="0" marL="0">
              <a:lnSpc>
                <a:spcPct val="92000"/>
              </a:lnSpc>
              <a:buNone/>
            </a:pPr>
            <a:r>
              <a:rPr lang="en-US" sz="750" dirty="0">
                <a:solidFill>
                  <a:srgbClr val="6C7C80"/>
                </a:solidFill>
                <a:latin typeface="Arial" pitchFamily="34" charset="0"/>
                <a:ea typeface="Arial" pitchFamily="34" charset="-122"/>
                <a:cs typeface="Arial" pitchFamily="34" charset="-120"/>
              </a:rPr>
              <a:t>driving policy</a:t>
            </a:r>
            <a:endParaRPr lang="en-US" sz="750" dirty="0"/>
          </a:p>
        </p:txBody>
      </p:sp>
      <p:sp>
        <p:nvSpPr>
          <p:cNvPr id="43" name="Shape 41"/>
          <p:cNvSpPr/>
          <p:nvPr/>
        </p:nvSpPr>
        <p:spPr>
          <a:xfrm>
            <a:off x="539496" y="4434840"/>
            <a:ext cx="11064240" cy="566928"/>
          </a:xfrm>
          <a:prstGeom prst="roundRect">
            <a:avLst>
              <a:gd name="adj" fmla="val 3226"/>
            </a:avLst>
          </a:prstGeom>
          <a:solidFill>
            <a:srgbClr val="FFFFFF"/>
          </a:solidFill>
          <a:ln w="6350">
            <a:solidFill>
              <a:srgbClr val="D0DBD8"/>
            </a:solidFill>
            <a:prstDash val="solid"/>
          </a:ln>
        </p:spPr>
      </p:sp>
      <p:sp>
        <p:nvSpPr>
          <p:cNvPr id="44" name="Shape 42"/>
          <p:cNvSpPr/>
          <p:nvPr/>
        </p:nvSpPr>
        <p:spPr>
          <a:xfrm>
            <a:off x="539496" y="4434840"/>
            <a:ext cx="109728" cy="566928"/>
          </a:xfrm>
          <a:prstGeom prst="rect">
            <a:avLst/>
          </a:prstGeom>
          <a:solidFill>
            <a:srgbClr val="137F7A"/>
          </a:solidFill>
          <a:ln w="12700">
            <a:solidFill>
              <a:srgbClr val="137F7A"/>
            </a:solidFill>
            <a:prstDash val="solid"/>
          </a:ln>
        </p:spPr>
      </p:sp>
      <p:sp>
        <p:nvSpPr>
          <p:cNvPr id="45" name="Text 43"/>
          <p:cNvSpPr txBox="1"/>
          <p:nvPr/>
        </p:nvSpPr>
        <p:spPr>
          <a:xfrm>
            <a:off x="758952" y="4553712"/>
            <a:ext cx="1344168" cy="256032"/>
          </a:xfrm>
          <a:prstGeom prst="rect">
            <a:avLst/>
          </a:prstGeom>
          <a:noFill/>
          <a:ln/>
        </p:spPr>
        <p:txBody>
          <a:bodyPr wrap="square" lIns="0" tIns="0" rIns="0" bIns="0" rtlCol="0" anchor="ctr">
            <a:normAutofit/>
          </a:bodyPr>
          <a:lstStyle/>
          <a:p>
            <a:pPr algn="l" indent="0" marL="0">
              <a:lnSpc>
                <a:spcPct val="92000"/>
              </a:lnSpc>
              <a:buNone/>
            </a:pPr>
            <a:r>
              <a:rPr lang="en-US" sz="950" b="1" dirty="0">
                <a:solidFill>
                  <a:srgbClr val="137F7A"/>
                </a:solidFill>
                <a:latin typeface="Hiragino Sans GB" pitchFamily="34" charset="0"/>
                <a:ea typeface="Hiragino Sans GB" pitchFamily="34" charset="-122"/>
                <a:cs typeface="Hiragino Sans GB" pitchFamily="34" charset="-120"/>
              </a:rPr>
              <a:t>科学模拟与孪生</a:t>
            </a:r>
            <a:endParaRPr lang="en-US" sz="950" dirty="0"/>
          </a:p>
        </p:txBody>
      </p:sp>
      <p:sp>
        <p:nvSpPr>
          <p:cNvPr id="46" name="Text 44"/>
          <p:cNvSpPr txBox="1"/>
          <p:nvPr/>
        </p:nvSpPr>
        <p:spPr>
          <a:xfrm>
            <a:off x="2212848" y="4507992"/>
            <a:ext cx="2286000" cy="384048"/>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气象 / 气候 / 流体</a:t>
            </a:r>
            <a:endParaRPr lang="en-US" sz="770" dirty="0"/>
          </a:p>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工业数字孪生</a:t>
            </a:r>
            <a:endParaRPr lang="en-US" sz="770" dirty="0"/>
          </a:p>
        </p:txBody>
      </p:sp>
      <p:sp>
        <p:nvSpPr>
          <p:cNvPr id="47" name="Text 45"/>
          <p:cNvSpPr txBox="1"/>
          <p:nvPr/>
        </p:nvSpPr>
        <p:spPr>
          <a:xfrm>
            <a:off x="4709160" y="4507992"/>
            <a:ext cx="3867912" cy="384048"/>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以物理场、边界条件和 forcing 预测系统演化</a:t>
            </a:r>
            <a:endParaRPr lang="en-US" sz="820" dirty="0"/>
          </a:p>
        </p:txBody>
      </p:sp>
      <p:sp>
        <p:nvSpPr>
          <p:cNvPr id="48" name="Text 46"/>
          <p:cNvSpPr txBox="1"/>
          <p:nvPr/>
        </p:nvSpPr>
        <p:spPr>
          <a:xfrm>
            <a:off x="8869680" y="4581144"/>
            <a:ext cx="1143000" cy="219456"/>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小时-年代</a:t>
            </a:r>
            <a:endParaRPr lang="en-US" sz="810" dirty="0"/>
          </a:p>
        </p:txBody>
      </p:sp>
      <p:sp>
        <p:nvSpPr>
          <p:cNvPr id="49" name="Text 47"/>
          <p:cNvSpPr txBox="1"/>
          <p:nvPr/>
        </p:nvSpPr>
        <p:spPr>
          <a:xfrm>
            <a:off x="10094976" y="4553712"/>
            <a:ext cx="1316736" cy="265176"/>
          </a:xfrm>
          <a:prstGeom prst="rect">
            <a:avLst/>
          </a:prstGeom>
          <a:noFill/>
          <a:ln/>
        </p:spPr>
        <p:txBody>
          <a:bodyPr wrap="square" lIns="0" tIns="0" rIns="0" bIns="0" rtlCol="0" anchor="ctr">
            <a:normAutofit/>
          </a:bodyPr>
          <a:lstStyle/>
          <a:p>
            <a:pPr algn="ctr" indent="0" marL="0">
              <a:lnSpc>
                <a:spcPct val="92000"/>
              </a:lnSpc>
              <a:buNone/>
            </a:pPr>
            <a:r>
              <a:rPr lang="en-US" sz="750" dirty="0">
                <a:solidFill>
                  <a:srgbClr val="6C7C80"/>
                </a:solidFill>
                <a:latin typeface="Arial" pitchFamily="34" charset="0"/>
                <a:ea typeface="Arial" pitchFamily="34" charset="-122"/>
                <a:cs typeface="Arial" pitchFamily="34" charset="-120"/>
              </a:rPr>
              <a:t>scientist / operator</a:t>
            </a:r>
            <a:endParaRPr lang="en-US" sz="750" dirty="0"/>
          </a:p>
        </p:txBody>
      </p:sp>
      <p:sp>
        <p:nvSpPr>
          <p:cNvPr id="50" name="Shape 48"/>
          <p:cNvSpPr/>
          <p:nvPr/>
        </p:nvSpPr>
        <p:spPr>
          <a:xfrm>
            <a:off x="539496" y="5102352"/>
            <a:ext cx="11064240" cy="566928"/>
          </a:xfrm>
          <a:prstGeom prst="roundRect">
            <a:avLst>
              <a:gd name="adj" fmla="val 3226"/>
            </a:avLst>
          </a:prstGeom>
          <a:solidFill>
            <a:srgbClr val="EDF1F0"/>
          </a:solidFill>
          <a:ln w="6350">
            <a:solidFill>
              <a:srgbClr val="D0DBD8"/>
            </a:solidFill>
            <a:prstDash val="solid"/>
          </a:ln>
        </p:spPr>
      </p:sp>
      <p:sp>
        <p:nvSpPr>
          <p:cNvPr id="51" name="Shape 49"/>
          <p:cNvSpPr/>
          <p:nvPr/>
        </p:nvSpPr>
        <p:spPr>
          <a:xfrm>
            <a:off x="539496" y="5102352"/>
            <a:ext cx="109728" cy="566928"/>
          </a:xfrm>
          <a:prstGeom prst="rect">
            <a:avLst/>
          </a:prstGeom>
          <a:solidFill>
            <a:srgbClr val="B04A50"/>
          </a:solidFill>
          <a:ln w="12700">
            <a:solidFill>
              <a:srgbClr val="B04A50"/>
            </a:solidFill>
            <a:prstDash val="solid"/>
          </a:ln>
        </p:spPr>
      </p:sp>
      <p:sp>
        <p:nvSpPr>
          <p:cNvPr id="52" name="Text 50"/>
          <p:cNvSpPr txBox="1"/>
          <p:nvPr/>
        </p:nvSpPr>
        <p:spPr>
          <a:xfrm>
            <a:off x="758952" y="5221224"/>
            <a:ext cx="1344168" cy="256032"/>
          </a:xfrm>
          <a:prstGeom prst="rect">
            <a:avLst/>
          </a:prstGeom>
          <a:noFill/>
          <a:ln/>
        </p:spPr>
        <p:txBody>
          <a:bodyPr wrap="square" lIns="0" tIns="0" rIns="0" bIns="0" rtlCol="0" anchor="ctr">
            <a:normAutofit/>
          </a:bodyPr>
          <a:lstStyle/>
          <a:p>
            <a:pPr algn="l" indent="0" marL="0">
              <a:lnSpc>
                <a:spcPct val="92000"/>
              </a:lnSpc>
              <a:buNone/>
            </a:pPr>
            <a:r>
              <a:rPr lang="en-US" sz="950" b="1" dirty="0">
                <a:solidFill>
                  <a:srgbClr val="B04A50"/>
                </a:solidFill>
                <a:latin typeface="Hiragino Sans GB" pitchFamily="34" charset="0"/>
                <a:ea typeface="Hiragino Sans GB" pitchFamily="34" charset="-122"/>
                <a:cs typeface="Hiragino Sans GB" pitchFamily="34" charset="-120"/>
              </a:rPr>
              <a:t>地理治理</a:t>
            </a:r>
            <a:endParaRPr lang="en-US" sz="950" dirty="0"/>
          </a:p>
        </p:txBody>
      </p:sp>
      <p:sp>
        <p:nvSpPr>
          <p:cNvPr id="53" name="Text 51"/>
          <p:cNvSpPr txBox="1"/>
          <p:nvPr/>
        </p:nvSpPr>
        <p:spPr>
          <a:xfrm>
            <a:off x="2212848" y="5175504"/>
            <a:ext cx="2286000" cy="384048"/>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17252A"/>
                </a:solidFill>
                <a:latin typeface="Arial" pitchFamily="34" charset="0"/>
                <a:ea typeface="Arial" pitchFamily="34" charset="-122"/>
                <a:cs typeface="Arial" pitchFamily="34" charset="-120"/>
              </a:rPr>
              <a:t>GWM / TWM</a:t>
            </a:r>
            <a:endParaRPr lang="en-US" sz="770" dirty="0"/>
          </a:p>
        </p:txBody>
      </p:sp>
      <p:sp>
        <p:nvSpPr>
          <p:cNvPr id="54" name="Text 52"/>
          <p:cNvSpPr txBox="1"/>
          <p:nvPr/>
        </p:nvSpPr>
        <p:spPr>
          <a:xfrm>
            <a:off x="4709160" y="5175504"/>
            <a:ext cx="3867912" cy="384048"/>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以空间对象、关系、规则、证据和治理行动推演区域状态</a:t>
            </a:r>
            <a:endParaRPr lang="en-US" sz="820" dirty="0"/>
          </a:p>
        </p:txBody>
      </p:sp>
      <p:sp>
        <p:nvSpPr>
          <p:cNvPr id="55" name="Text 53"/>
          <p:cNvSpPr txBox="1"/>
          <p:nvPr/>
        </p:nvSpPr>
        <p:spPr>
          <a:xfrm>
            <a:off x="8869680" y="5248656"/>
            <a:ext cx="1143000" cy="219456"/>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月-规划期</a:t>
            </a:r>
            <a:endParaRPr lang="en-US" sz="810" dirty="0"/>
          </a:p>
        </p:txBody>
      </p:sp>
      <p:sp>
        <p:nvSpPr>
          <p:cNvPr id="56" name="Text 54"/>
          <p:cNvSpPr txBox="1"/>
          <p:nvPr/>
        </p:nvSpPr>
        <p:spPr>
          <a:xfrm>
            <a:off x="10094976" y="5221224"/>
            <a:ext cx="1316736" cy="265176"/>
          </a:xfrm>
          <a:prstGeom prst="rect">
            <a:avLst/>
          </a:prstGeom>
          <a:noFill/>
          <a:ln/>
        </p:spPr>
        <p:txBody>
          <a:bodyPr wrap="square" lIns="0" tIns="0" rIns="0" bIns="0" rtlCol="0" anchor="ctr">
            <a:normAutofit/>
          </a:bodyPr>
          <a:lstStyle/>
          <a:p>
            <a:pPr algn="ctr" indent="0" marL="0">
              <a:lnSpc>
                <a:spcPct val="92000"/>
              </a:lnSpc>
              <a:buNone/>
            </a:pPr>
            <a:r>
              <a:rPr lang="en-US" sz="750" dirty="0">
                <a:solidFill>
                  <a:srgbClr val="6C7C80"/>
                </a:solidFill>
                <a:latin typeface="Arial" pitchFamily="34" charset="0"/>
                <a:ea typeface="Arial" pitchFamily="34" charset="-122"/>
                <a:cs typeface="Arial" pitchFamily="34" charset="-120"/>
              </a:rPr>
              <a:t>planner / reviewer</a:t>
            </a:r>
            <a:endParaRPr lang="en-US" sz="750" dirty="0"/>
          </a:p>
        </p:txBody>
      </p:sp>
      <p:sp>
        <p:nvSpPr>
          <p:cNvPr id="57" name="Shape 55"/>
          <p:cNvSpPr/>
          <p:nvPr/>
        </p:nvSpPr>
        <p:spPr>
          <a:xfrm>
            <a:off x="658368" y="5934456"/>
            <a:ext cx="10844784" cy="384048"/>
          </a:xfrm>
          <a:prstGeom prst="roundRect">
            <a:avLst>
              <a:gd name="adj" fmla="val 9524"/>
            </a:avLst>
          </a:prstGeom>
          <a:solidFill>
            <a:srgbClr val="102F34"/>
          </a:solidFill>
          <a:ln w="12700">
            <a:solidFill>
              <a:srgbClr val="102F34"/>
            </a:solidFill>
            <a:prstDash val="solid"/>
          </a:ln>
        </p:spPr>
      </p:sp>
      <p:sp>
        <p:nvSpPr>
          <p:cNvPr id="58" name="Text 56"/>
          <p:cNvSpPr txBox="1"/>
          <p:nvPr/>
        </p:nvSpPr>
        <p:spPr>
          <a:xfrm>
            <a:off x="877824" y="6007608"/>
            <a:ext cx="10424160" cy="219456"/>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FFFFFF"/>
                </a:solidFill>
                <a:latin typeface="Hiragino Sans GB" pitchFamily="34" charset="0"/>
                <a:ea typeface="Hiragino Sans GB" pitchFamily="34" charset="-122"/>
                <a:cs typeface="Hiragino Sans GB" pitchFamily="34" charset="-120"/>
              </a:rPr>
              <a:t>决策型世界模型的共同要求：行动进入状态转移，预测结果能够被规划器和验证闭环持续消费。</a:t>
            </a:r>
            <a:endParaRPr lang="en-US" sz="8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定义与融合</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地理空间世界模型（GWM）的定义与能力构成</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GWM 将 GIScience 的对象、场、CRS、拓扑、网络方向、尺度层级和治理约束纳入状态、转移、验证与交付契约。</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 Research Principles；TWM scale and novelty；TWM authoritative references；GIScience / provenance / constrained decision making</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05 / 29</a:t>
            </a:r>
            <a:endParaRPr lang="en-US" sz="670" dirty="0"/>
          </a:p>
        </p:txBody>
      </p:sp>
      <p:sp>
        <p:nvSpPr>
          <p:cNvPr id="10" name="Shape 8"/>
          <p:cNvSpPr/>
          <p:nvPr/>
        </p:nvSpPr>
        <p:spPr>
          <a:xfrm>
            <a:off x="438912" y="1463040"/>
            <a:ext cx="1426464" cy="457200"/>
          </a:xfrm>
          <a:prstGeom prst="roundRect">
            <a:avLst>
              <a:gd name="adj" fmla="val 4000"/>
            </a:avLst>
          </a:prstGeom>
          <a:solidFill>
            <a:srgbClr val="102F34"/>
          </a:solidFill>
          <a:ln w="7620">
            <a:solidFill>
              <a:srgbClr val="102F34"/>
            </a:solidFill>
            <a:prstDash val="solid"/>
          </a:ln>
        </p:spPr>
      </p:sp>
      <p:sp>
        <p:nvSpPr>
          <p:cNvPr id="11" name="Text 9"/>
          <p:cNvSpPr txBox="1"/>
          <p:nvPr/>
        </p:nvSpPr>
        <p:spPr>
          <a:xfrm>
            <a:off x="493776" y="1572768"/>
            <a:ext cx="1316736" cy="22860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FFFFFF"/>
                </a:solidFill>
                <a:latin typeface="Hiragino Sans GB" pitchFamily="34" charset="0"/>
                <a:ea typeface="Hiragino Sans GB" pitchFamily="34" charset="-122"/>
                <a:cs typeface="Hiragino Sans GB" pitchFamily="34" charset="-120"/>
              </a:rPr>
              <a:t>维度</a:t>
            </a:r>
            <a:endParaRPr lang="en-US" sz="900" dirty="0"/>
          </a:p>
        </p:txBody>
      </p:sp>
      <p:sp>
        <p:nvSpPr>
          <p:cNvPr id="12" name="Shape 10"/>
          <p:cNvSpPr/>
          <p:nvPr/>
        </p:nvSpPr>
        <p:spPr>
          <a:xfrm>
            <a:off x="1865376" y="1463040"/>
            <a:ext cx="2331720" cy="457200"/>
          </a:xfrm>
          <a:prstGeom prst="roundRect">
            <a:avLst>
              <a:gd name="adj" fmla="val 4000"/>
            </a:avLst>
          </a:prstGeom>
          <a:solidFill>
            <a:srgbClr val="EEEAF8"/>
          </a:solidFill>
          <a:ln w="7620">
            <a:solidFill>
              <a:srgbClr val="705FA7"/>
            </a:solidFill>
            <a:prstDash val="solid"/>
          </a:ln>
        </p:spPr>
      </p:sp>
      <p:sp>
        <p:nvSpPr>
          <p:cNvPr id="13" name="Text 11"/>
          <p:cNvSpPr txBox="1"/>
          <p:nvPr/>
        </p:nvSpPr>
        <p:spPr>
          <a:xfrm>
            <a:off x="1920240" y="1572768"/>
            <a:ext cx="2221992" cy="22860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705FA7"/>
                </a:solidFill>
                <a:latin typeface="Hiragino Sans GB" pitchFamily="34" charset="0"/>
                <a:ea typeface="Hiragino Sans GB" pitchFamily="34" charset="-122"/>
                <a:cs typeface="Hiragino Sans GB" pitchFamily="34" charset="-120"/>
              </a:rPr>
              <a:t>视觉 / 生成 WM</a:t>
            </a:r>
            <a:endParaRPr lang="en-US" sz="900" dirty="0"/>
          </a:p>
        </p:txBody>
      </p:sp>
      <p:sp>
        <p:nvSpPr>
          <p:cNvPr id="14" name="Shape 12"/>
          <p:cNvSpPr/>
          <p:nvPr/>
        </p:nvSpPr>
        <p:spPr>
          <a:xfrm>
            <a:off x="4197096" y="1463040"/>
            <a:ext cx="2322576" cy="457200"/>
          </a:xfrm>
          <a:prstGeom prst="roundRect">
            <a:avLst>
              <a:gd name="adj" fmla="val 4000"/>
            </a:avLst>
          </a:prstGeom>
          <a:solidFill>
            <a:srgbClr val="E7F3EA"/>
          </a:solidFill>
          <a:ln w="7620">
            <a:solidFill>
              <a:srgbClr val="2D8A57"/>
            </a:solidFill>
            <a:prstDash val="solid"/>
          </a:ln>
        </p:spPr>
      </p:sp>
      <p:sp>
        <p:nvSpPr>
          <p:cNvPr id="15" name="Text 13"/>
          <p:cNvSpPr txBox="1"/>
          <p:nvPr/>
        </p:nvSpPr>
        <p:spPr>
          <a:xfrm>
            <a:off x="4251960" y="1572768"/>
            <a:ext cx="2212848" cy="22860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2D8A57"/>
                </a:solidFill>
                <a:latin typeface="Hiragino Sans GB" pitchFamily="34" charset="0"/>
                <a:ea typeface="Hiragino Sans GB" pitchFamily="34" charset="-122"/>
                <a:cs typeface="Hiragino Sans GB" pitchFamily="34" charset="-120"/>
              </a:rPr>
              <a:t>具身 / 驾驶 WM</a:t>
            </a:r>
            <a:endParaRPr lang="en-US" sz="900" dirty="0"/>
          </a:p>
        </p:txBody>
      </p:sp>
      <p:sp>
        <p:nvSpPr>
          <p:cNvPr id="16" name="Shape 14"/>
          <p:cNvSpPr/>
          <p:nvPr/>
        </p:nvSpPr>
        <p:spPr>
          <a:xfrm>
            <a:off x="6519672" y="1463040"/>
            <a:ext cx="2313432" cy="457200"/>
          </a:xfrm>
          <a:prstGeom prst="roundRect">
            <a:avLst>
              <a:gd name="adj" fmla="val 4000"/>
            </a:avLst>
          </a:prstGeom>
          <a:solidFill>
            <a:srgbClr val="E7EFF8"/>
          </a:solidFill>
          <a:ln w="7620">
            <a:solidFill>
              <a:srgbClr val="356CA8"/>
            </a:solidFill>
            <a:prstDash val="solid"/>
          </a:ln>
        </p:spPr>
      </p:sp>
      <p:sp>
        <p:nvSpPr>
          <p:cNvPr id="17" name="Text 15"/>
          <p:cNvSpPr txBox="1"/>
          <p:nvPr/>
        </p:nvSpPr>
        <p:spPr>
          <a:xfrm>
            <a:off x="6574536" y="1572768"/>
            <a:ext cx="2203704" cy="22860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356CA8"/>
                </a:solidFill>
                <a:latin typeface="Hiragino Sans GB" pitchFamily="34" charset="0"/>
                <a:ea typeface="Hiragino Sans GB" pitchFamily="34" charset="-122"/>
                <a:cs typeface="Hiragino Sans GB" pitchFamily="34" charset="-120"/>
              </a:rPr>
              <a:t>科学模拟 / 孪生</a:t>
            </a:r>
            <a:endParaRPr lang="en-US" sz="900" dirty="0"/>
          </a:p>
        </p:txBody>
      </p:sp>
      <p:sp>
        <p:nvSpPr>
          <p:cNvPr id="18" name="Shape 16"/>
          <p:cNvSpPr/>
          <p:nvPr/>
        </p:nvSpPr>
        <p:spPr>
          <a:xfrm>
            <a:off x="8833104" y="1463040"/>
            <a:ext cx="2898648" cy="457200"/>
          </a:xfrm>
          <a:prstGeom prst="roundRect">
            <a:avLst>
              <a:gd name="adj" fmla="val 4000"/>
            </a:avLst>
          </a:prstGeom>
          <a:solidFill>
            <a:srgbClr val="E2F2EF"/>
          </a:solidFill>
          <a:ln w="7620">
            <a:solidFill>
              <a:srgbClr val="0E5C59"/>
            </a:solidFill>
            <a:prstDash val="solid"/>
          </a:ln>
        </p:spPr>
      </p:sp>
      <p:sp>
        <p:nvSpPr>
          <p:cNvPr id="19" name="Text 17"/>
          <p:cNvSpPr txBox="1"/>
          <p:nvPr/>
        </p:nvSpPr>
        <p:spPr>
          <a:xfrm>
            <a:off x="8887968" y="1572768"/>
            <a:ext cx="2788920" cy="22860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0E5C59"/>
                </a:solidFill>
                <a:latin typeface="Hiragino Sans GB" pitchFamily="34" charset="0"/>
                <a:ea typeface="Hiragino Sans GB" pitchFamily="34" charset="-122"/>
                <a:cs typeface="Hiragino Sans GB" pitchFamily="34" charset="-120"/>
              </a:rPr>
              <a:t>GWM / TWM</a:t>
            </a:r>
            <a:endParaRPr lang="en-US" sz="900" dirty="0"/>
          </a:p>
        </p:txBody>
      </p:sp>
      <p:sp>
        <p:nvSpPr>
          <p:cNvPr id="20" name="Shape 18"/>
          <p:cNvSpPr/>
          <p:nvPr/>
        </p:nvSpPr>
        <p:spPr>
          <a:xfrm>
            <a:off x="438912" y="1920240"/>
            <a:ext cx="1426464" cy="621792"/>
          </a:xfrm>
          <a:prstGeom prst="rect">
            <a:avLst/>
          </a:prstGeom>
          <a:solidFill>
            <a:srgbClr val="FFFFFF"/>
          </a:solidFill>
          <a:ln w="5715">
            <a:solidFill>
              <a:srgbClr val="D0DBD8"/>
            </a:solidFill>
            <a:prstDash val="solid"/>
          </a:ln>
        </p:spPr>
      </p:sp>
      <p:sp>
        <p:nvSpPr>
          <p:cNvPr id="21" name="Text 19"/>
          <p:cNvSpPr txBox="1"/>
          <p:nvPr/>
        </p:nvSpPr>
        <p:spPr>
          <a:xfrm>
            <a:off x="512064" y="2011680"/>
            <a:ext cx="1280160" cy="402336"/>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17252A"/>
                </a:solidFill>
                <a:latin typeface="Hiragino Sans GB" pitchFamily="34" charset="0"/>
                <a:ea typeface="Hiragino Sans GB" pitchFamily="34" charset="-122"/>
                <a:cs typeface="Hiragino Sans GB" pitchFamily="34" charset="-120"/>
              </a:rPr>
              <a:t>世界表征</a:t>
            </a:r>
            <a:endParaRPr lang="en-US" sz="860" dirty="0"/>
          </a:p>
        </p:txBody>
      </p:sp>
      <p:sp>
        <p:nvSpPr>
          <p:cNvPr id="22" name="Shape 20"/>
          <p:cNvSpPr/>
          <p:nvPr/>
        </p:nvSpPr>
        <p:spPr>
          <a:xfrm>
            <a:off x="1865376" y="1920240"/>
            <a:ext cx="2331720" cy="621792"/>
          </a:xfrm>
          <a:prstGeom prst="rect">
            <a:avLst/>
          </a:prstGeom>
          <a:solidFill>
            <a:srgbClr val="FFFFFF"/>
          </a:solidFill>
          <a:ln w="5715">
            <a:solidFill>
              <a:srgbClr val="D0DBD8"/>
            </a:solidFill>
            <a:prstDash val="solid"/>
          </a:ln>
        </p:spPr>
      </p:sp>
      <p:sp>
        <p:nvSpPr>
          <p:cNvPr id="23" name="Text 21"/>
          <p:cNvSpPr txBox="1"/>
          <p:nvPr/>
        </p:nvSpPr>
        <p:spPr>
          <a:xfrm>
            <a:off x="1938528" y="2011680"/>
            <a:ext cx="2185416"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像素 / latent frame</a:t>
            </a:r>
            <a:endParaRPr lang="en-US" sz="770" dirty="0"/>
          </a:p>
        </p:txBody>
      </p:sp>
      <p:sp>
        <p:nvSpPr>
          <p:cNvPr id="24" name="Shape 22"/>
          <p:cNvSpPr/>
          <p:nvPr/>
        </p:nvSpPr>
        <p:spPr>
          <a:xfrm>
            <a:off x="4197096" y="1920240"/>
            <a:ext cx="2322576" cy="621792"/>
          </a:xfrm>
          <a:prstGeom prst="rect">
            <a:avLst/>
          </a:prstGeom>
          <a:solidFill>
            <a:srgbClr val="FFFFFF"/>
          </a:solidFill>
          <a:ln w="5715">
            <a:solidFill>
              <a:srgbClr val="D0DBD8"/>
            </a:solidFill>
            <a:prstDash val="solid"/>
          </a:ln>
        </p:spPr>
      </p:sp>
      <p:sp>
        <p:nvSpPr>
          <p:cNvPr id="25" name="Text 23"/>
          <p:cNvSpPr txBox="1"/>
          <p:nvPr/>
        </p:nvSpPr>
        <p:spPr>
          <a:xfrm>
            <a:off x="4270248" y="2011680"/>
            <a:ext cx="2176272"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局部物体与物理状态</a:t>
            </a:r>
            <a:endParaRPr lang="en-US" sz="770" dirty="0"/>
          </a:p>
        </p:txBody>
      </p:sp>
      <p:sp>
        <p:nvSpPr>
          <p:cNvPr id="26" name="Shape 24"/>
          <p:cNvSpPr/>
          <p:nvPr/>
        </p:nvSpPr>
        <p:spPr>
          <a:xfrm>
            <a:off x="6519672" y="1920240"/>
            <a:ext cx="2313432" cy="621792"/>
          </a:xfrm>
          <a:prstGeom prst="rect">
            <a:avLst/>
          </a:prstGeom>
          <a:solidFill>
            <a:srgbClr val="FFFFFF"/>
          </a:solidFill>
          <a:ln w="5715">
            <a:solidFill>
              <a:srgbClr val="D0DBD8"/>
            </a:solidFill>
            <a:prstDash val="solid"/>
          </a:ln>
        </p:spPr>
      </p:sp>
      <p:sp>
        <p:nvSpPr>
          <p:cNvPr id="27" name="Text 25"/>
          <p:cNvSpPr txBox="1"/>
          <p:nvPr/>
        </p:nvSpPr>
        <p:spPr>
          <a:xfrm>
            <a:off x="6592824" y="2011680"/>
            <a:ext cx="2167128"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网格化物理场</a:t>
            </a:r>
            <a:endParaRPr lang="en-US" sz="770" dirty="0"/>
          </a:p>
        </p:txBody>
      </p:sp>
      <p:sp>
        <p:nvSpPr>
          <p:cNvPr id="28" name="Shape 26"/>
          <p:cNvSpPr/>
          <p:nvPr/>
        </p:nvSpPr>
        <p:spPr>
          <a:xfrm>
            <a:off x="8833104" y="1920240"/>
            <a:ext cx="2898648" cy="621792"/>
          </a:xfrm>
          <a:prstGeom prst="rect">
            <a:avLst/>
          </a:prstGeom>
          <a:solidFill>
            <a:srgbClr val="EDF8F5"/>
          </a:solidFill>
          <a:ln w="10160">
            <a:solidFill>
              <a:srgbClr val="137F7A"/>
            </a:solidFill>
            <a:prstDash val="solid"/>
          </a:ln>
        </p:spPr>
      </p:sp>
      <p:sp>
        <p:nvSpPr>
          <p:cNvPr id="29" name="Text 27"/>
          <p:cNvSpPr txBox="1"/>
          <p:nvPr/>
        </p:nvSpPr>
        <p:spPr>
          <a:xfrm>
            <a:off x="8906256" y="2011680"/>
            <a:ext cx="2752344" cy="402336"/>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对象 + 场 + 关系 + 规则 + 证据</a:t>
            </a:r>
            <a:endParaRPr lang="en-US" sz="770" dirty="0"/>
          </a:p>
        </p:txBody>
      </p:sp>
      <p:sp>
        <p:nvSpPr>
          <p:cNvPr id="30" name="Shape 28"/>
          <p:cNvSpPr/>
          <p:nvPr/>
        </p:nvSpPr>
        <p:spPr>
          <a:xfrm>
            <a:off x="438912" y="2542032"/>
            <a:ext cx="1426464" cy="621792"/>
          </a:xfrm>
          <a:prstGeom prst="rect">
            <a:avLst/>
          </a:prstGeom>
          <a:solidFill>
            <a:srgbClr val="EDF1F0"/>
          </a:solidFill>
          <a:ln w="5715">
            <a:solidFill>
              <a:srgbClr val="D0DBD8"/>
            </a:solidFill>
            <a:prstDash val="solid"/>
          </a:ln>
        </p:spPr>
      </p:sp>
      <p:sp>
        <p:nvSpPr>
          <p:cNvPr id="31" name="Text 29"/>
          <p:cNvSpPr txBox="1"/>
          <p:nvPr/>
        </p:nvSpPr>
        <p:spPr>
          <a:xfrm>
            <a:off x="512064" y="2633472"/>
            <a:ext cx="1280160" cy="402336"/>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17252A"/>
                </a:solidFill>
                <a:latin typeface="Hiragino Sans GB" pitchFamily="34" charset="0"/>
                <a:ea typeface="Hiragino Sans GB" pitchFamily="34" charset="-122"/>
                <a:cs typeface="Hiragino Sans GB" pitchFamily="34" charset="-120"/>
              </a:rPr>
              <a:t>空间结构</a:t>
            </a:r>
            <a:endParaRPr lang="en-US" sz="860" dirty="0"/>
          </a:p>
        </p:txBody>
      </p:sp>
      <p:sp>
        <p:nvSpPr>
          <p:cNvPr id="32" name="Shape 30"/>
          <p:cNvSpPr/>
          <p:nvPr/>
        </p:nvSpPr>
        <p:spPr>
          <a:xfrm>
            <a:off x="1865376" y="2542032"/>
            <a:ext cx="2331720" cy="621792"/>
          </a:xfrm>
          <a:prstGeom prst="rect">
            <a:avLst/>
          </a:prstGeom>
          <a:solidFill>
            <a:srgbClr val="EDF1F0"/>
          </a:solidFill>
          <a:ln w="5715">
            <a:solidFill>
              <a:srgbClr val="D0DBD8"/>
            </a:solidFill>
            <a:prstDash val="solid"/>
          </a:ln>
        </p:spPr>
      </p:sp>
      <p:sp>
        <p:nvSpPr>
          <p:cNvPr id="33" name="Text 31"/>
          <p:cNvSpPr txBox="1"/>
          <p:nvPr/>
        </p:nvSpPr>
        <p:spPr>
          <a:xfrm>
            <a:off x="1938528" y="2633472"/>
            <a:ext cx="2185416"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隐含在视觉特征中</a:t>
            </a:r>
            <a:endParaRPr lang="en-US" sz="770" dirty="0"/>
          </a:p>
        </p:txBody>
      </p:sp>
      <p:sp>
        <p:nvSpPr>
          <p:cNvPr id="34" name="Shape 32"/>
          <p:cNvSpPr/>
          <p:nvPr/>
        </p:nvSpPr>
        <p:spPr>
          <a:xfrm>
            <a:off x="4197096" y="2542032"/>
            <a:ext cx="2322576" cy="621792"/>
          </a:xfrm>
          <a:prstGeom prst="rect">
            <a:avLst/>
          </a:prstGeom>
          <a:solidFill>
            <a:srgbClr val="EDF1F0"/>
          </a:solidFill>
          <a:ln w="5715">
            <a:solidFill>
              <a:srgbClr val="D0DBD8"/>
            </a:solidFill>
            <a:prstDash val="solid"/>
          </a:ln>
        </p:spPr>
      </p:sp>
      <p:sp>
        <p:nvSpPr>
          <p:cNvPr id="35" name="Text 33"/>
          <p:cNvSpPr txBox="1"/>
          <p:nvPr/>
        </p:nvSpPr>
        <p:spPr>
          <a:xfrm>
            <a:off x="4270248" y="2633472"/>
            <a:ext cx="2176272"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局部坐标 / 3D 几何</a:t>
            </a:r>
            <a:endParaRPr lang="en-US" sz="770" dirty="0"/>
          </a:p>
        </p:txBody>
      </p:sp>
      <p:sp>
        <p:nvSpPr>
          <p:cNvPr id="36" name="Shape 34"/>
          <p:cNvSpPr/>
          <p:nvPr/>
        </p:nvSpPr>
        <p:spPr>
          <a:xfrm>
            <a:off x="6519672" y="2542032"/>
            <a:ext cx="2313432" cy="621792"/>
          </a:xfrm>
          <a:prstGeom prst="rect">
            <a:avLst/>
          </a:prstGeom>
          <a:solidFill>
            <a:srgbClr val="EDF1F0"/>
          </a:solidFill>
          <a:ln w="5715">
            <a:solidFill>
              <a:srgbClr val="D0DBD8"/>
            </a:solidFill>
            <a:prstDash val="solid"/>
          </a:ln>
        </p:spPr>
      </p:sp>
      <p:sp>
        <p:nvSpPr>
          <p:cNvPr id="37" name="Text 35"/>
          <p:cNvSpPr txBox="1"/>
          <p:nvPr/>
        </p:nvSpPr>
        <p:spPr>
          <a:xfrm>
            <a:off x="6592824" y="2633472"/>
            <a:ext cx="2167128"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规则网格 / 方程域</a:t>
            </a:r>
            <a:endParaRPr lang="en-US" sz="770" dirty="0"/>
          </a:p>
        </p:txBody>
      </p:sp>
      <p:sp>
        <p:nvSpPr>
          <p:cNvPr id="38" name="Shape 36"/>
          <p:cNvSpPr/>
          <p:nvPr/>
        </p:nvSpPr>
        <p:spPr>
          <a:xfrm>
            <a:off x="8833104" y="2542032"/>
            <a:ext cx="2898648" cy="621792"/>
          </a:xfrm>
          <a:prstGeom prst="rect">
            <a:avLst/>
          </a:prstGeom>
          <a:solidFill>
            <a:srgbClr val="E2F2EF"/>
          </a:solidFill>
          <a:ln w="10160">
            <a:solidFill>
              <a:srgbClr val="137F7A"/>
            </a:solidFill>
            <a:prstDash val="solid"/>
          </a:ln>
        </p:spPr>
      </p:sp>
      <p:sp>
        <p:nvSpPr>
          <p:cNvPr id="39" name="Text 37"/>
          <p:cNvSpPr txBox="1"/>
          <p:nvPr/>
        </p:nvSpPr>
        <p:spPr>
          <a:xfrm>
            <a:off x="8906256" y="2633472"/>
            <a:ext cx="2752344" cy="402336"/>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CRS、拓扑、网络方向、行政层级</a:t>
            </a:r>
            <a:endParaRPr lang="en-US" sz="770" dirty="0"/>
          </a:p>
        </p:txBody>
      </p:sp>
      <p:sp>
        <p:nvSpPr>
          <p:cNvPr id="40" name="Shape 38"/>
          <p:cNvSpPr/>
          <p:nvPr/>
        </p:nvSpPr>
        <p:spPr>
          <a:xfrm>
            <a:off x="438912" y="3163824"/>
            <a:ext cx="1426464" cy="621792"/>
          </a:xfrm>
          <a:prstGeom prst="rect">
            <a:avLst/>
          </a:prstGeom>
          <a:solidFill>
            <a:srgbClr val="FFFFFF"/>
          </a:solidFill>
          <a:ln w="5715">
            <a:solidFill>
              <a:srgbClr val="D0DBD8"/>
            </a:solidFill>
            <a:prstDash val="solid"/>
          </a:ln>
        </p:spPr>
      </p:sp>
      <p:sp>
        <p:nvSpPr>
          <p:cNvPr id="41" name="Text 39"/>
          <p:cNvSpPr txBox="1"/>
          <p:nvPr/>
        </p:nvSpPr>
        <p:spPr>
          <a:xfrm>
            <a:off x="512064" y="3255264"/>
            <a:ext cx="1280160" cy="402336"/>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17252A"/>
                </a:solidFill>
                <a:latin typeface="Hiragino Sans GB" pitchFamily="34" charset="0"/>
                <a:ea typeface="Hiragino Sans GB" pitchFamily="34" charset="-122"/>
                <a:cs typeface="Hiragino Sans GB" pitchFamily="34" charset="-120"/>
              </a:rPr>
              <a:t>行动语义</a:t>
            </a:r>
            <a:endParaRPr lang="en-US" sz="860" dirty="0"/>
          </a:p>
        </p:txBody>
      </p:sp>
      <p:sp>
        <p:nvSpPr>
          <p:cNvPr id="42" name="Shape 40"/>
          <p:cNvSpPr/>
          <p:nvPr/>
        </p:nvSpPr>
        <p:spPr>
          <a:xfrm>
            <a:off x="1865376" y="3163824"/>
            <a:ext cx="2331720" cy="621792"/>
          </a:xfrm>
          <a:prstGeom prst="rect">
            <a:avLst/>
          </a:prstGeom>
          <a:solidFill>
            <a:srgbClr val="FFFFFF"/>
          </a:solidFill>
          <a:ln w="5715">
            <a:solidFill>
              <a:srgbClr val="D0DBD8"/>
            </a:solidFill>
            <a:prstDash val="solid"/>
          </a:ln>
        </p:spPr>
      </p:sp>
      <p:sp>
        <p:nvSpPr>
          <p:cNvPr id="43" name="Text 41"/>
          <p:cNvSpPr txBox="1"/>
          <p:nvPr/>
        </p:nvSpPr>
        <p:spPr>
          <a:xfrm>
            <a:off x="1938528" y="3255264"/>
            <a:ext cx="2185416"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提示词或弱条件</a:t>
            </a:r>
            <a:endParaRPr lang="en-US" sz="770" dirty="0"/>
          </a:p>
        </p:txBody>
      </p:sp>
      <p:sp>
        <p:nvSpPr>
          <p:cNvPr id="44" name="Shape 42"/>
          <p:cNvSpPr/>
          <p:nvPr/>
        </p:nvSpPr>
        <p:spPr>
          <a:xfrm>
            <a:off x="4197096" y="3163824"/>
            <a:ext cx="2322576" cy="621792"/>
          </a:xfrm>
          <a:prstGeom prst="rect">
            <a:avLst/>
          </a:prstGeom>
          <a:solidFill>
            <a:srgbClr val="FFFFFF"/>
          </a:solidFill>
          <a:ln w="5715">
            <a:solidFill>
              <a:srgbClr val="D0DBD8"/>
            </a:solidFill>
            <a:prstDash val="solid"/>
          </a:ln>
        </p:spPr>
      </p:sp>
      <p:sp>
        <p:nvSpPr>
          <p:cNvPr id="45" name="Text 43"/>
          <p:cNvSpPr txBox="1"/>
          <p:nvPr/>
        </p:nvSpPr>
        <p:spPr>
          <a:xfrm>
            <a:off x="4270248" y="3255264"/>
            <a:ext cx="2176272"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控制量 / 运动指令</a:t>
            </a:r>
            <a:endParaRPr lang="en-US" sz="770" dirty="0"/>
          </a:p>
        </p:txBody>
      </p:sp>
      <p:sp>
        <p:nvSpPr>
          <p:cNvPr id="46" name="Shape 44"/>
          <p:cNvSpPr/>
          <p:nvPr/>
        </p:nvSpPr>
        <p:spPr>
          <a:xfrm>
            <a:off x="6519672" y="3163824"/>
            <a:ext cx="2313432" cy="621792"/>
          </a:xfrm>
          <a:prstGeom prst="rect">
            <a:avLst/>
          </a:prstGeom>
          <a:solidFill>
            <a:srgbClr val="FFFFFF"/>
          </a:solidFill>
          <a:ln w="5715">
            <a:solidFill>
              <a:srgbClr val="D0DBD8"/>
            </a:solidFill>
            <a:prstDash val="solid"/>
          </a:ln>
        </p:spPr>
      </p:sp>
      <p:sp>
        <p:nvSpPr>
          <p:cNvPr id="47" name="Text 45"/>
          <p:cNvSpPr txBox="1"/>
          <p:nvPr/>
        </p:nvSpPr>
        <p:spPr>
          <a:xfrm>
            <a:off x="6592824" y="3255264"/>
            <a:ext cx="2167128"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forcing / 边界条件</a:t>
            </a:r>
            <a:endParaRPr lang="en-US" sz="770" dirty="0"/>
          </a:p>
        </p:txBody>
      </p:sp>
      <p:sp>
        <p:nvSpPr>
          <p:cNvPr id="48" name="Shape 46"/>
          <p:cNvSpPr/>
          <p:nvPr/>
        </p:nvSpPr>
        <p:spPr>
          <a:xfrm>
            <a:off x="8833104" y="3163824"/>
            <a:ext cx="2898648" cy="621792"/>
          </a:xfrm>
          <a:prstGeom prst="rect">
            <a:avLst/>
          </a:prstGeom>
          <a:solidFill>
            <a:srgbClr val="EDF8F5"/>
          </a:solidFill>
          <a:ln w="10160">
            <a:solidFill>
              <a:srgbClr val="137F7A"/>
            </a:solidFill>
            <a:prstDash val="solid"/>
          </a:ln>
        </p:spPr>
      </p:sp>
      <p:sp>
        <p:nvSpPr>
          <p:cNvPr id="49" name="Text 47"/>
          <p:cNvSpPr txBox="1"/>
          <p:nvPr/>
        </p:nvSpPr>
        <p:spPr>
          <a:xfrm>
            <a:off x="8906256" y="3255264"/>
            <a:ext cx="2752344" cy="402336"/>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选址、审批、保护、整治、修复、管控</a:t>
            </a:r>
            <a:endParaRPr lang="en-US" sz="770" dirty="0"/>
          </a:p>
        </p:txBody>
      </p:sp>
      <p:sp>
        <p:nvSpPr>
          <p:cNvPr id="50" name="Shape 48"/>
          <p:cNvSpPr/>
          <p:nvPr/>
        </p:nvSpPr>
        <p:spPr>
          <a:xfrm>
            <a:off x="438912" y="3785616"/>
            <a:ext cx="1426464" cy="621792"/>
          </a:xfrm>
          <a:prstGeom prst="rect">
            <a:avLst/>
          </a:prstGeom>
          <a:solidFill>
            <a:srgbClr val="EDF1F0"/>
          </a:solidFill>
          <a:ln w="5715">
            <a:solidFill>
              <a:srgbClr val="D0DBD8"/>
            </a:solidFill>
            <a:prstDash val="solid"/>
          </a:ln>
        </p:spPr>
      </p:sp>
      <p:sp>
        <p:nvSpPr>
          <p:cNvPr id="51" name="Text 49"/>
          <p:cNvSpPr txBox="1"/>
          <p:nvPr/>
        </p:nvSpPr>
        <p:spPr>
          <a:xfrm>
            <a:off x="512064" y="3877056"/>
            <a:ext cx="1280160" cy="402336"/>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17252A"/>
                </a:solidFill>
                <a:latin typeface="Hiragino Sans GB" pitchFamily="34" charset="0"/>
                <a:ea typeface="Hiragino Sans GB" pitchFamily="34" charset="-122"/>
                <a:cs typeface="Hiragino Sans GB" pitchFamily="34" charset="-120"/>
              </a:rPr>
              <a:t>约束来源</a:t>
            </a:r>
            <a:endParaRPr lang="en-US" sz="860" dirty="0"/>
          </a:p>
        </p:txBody>
      </p:sp>
      <p:sp>
        <p:nvSpPr>
          <p:cNvPr id="52" name="Shape 50"/>
          <p:cNvSpPr/>
          <p:nvPr/>
        </p:nvSpPr>
        <p:spPr>
          <a:xfrm>
            <a:off x="1865376" y="3785616"/>
            <a:ext cx="2331720" cy="621792"/>
          </a:xfrm>
          <a:prstGeom prst="rect">
            <a:avLst/>
          </a:prstGeom>
          <a:solidFill>
            <a:srgbClr val="EDF1F0"/>
          </a:solidFill>
          <a:ln w="5715">
            <a:solidFill>
              <a:srgbClr val="D0DBD8"/>
            </a:solidFill>
            <a:prstDash val="solid"/>
          </a:ln>
        </p:spPr>
      </p:sp>
      <p:sp>
        <p:nvSpPr>
          <p:cNvPr id="53" name="Text 51"/>
          <p:cNvSpPr txBox="1"/>
          <p:nvPr/>
        </p:nvSpPr>
        <p:spPr>
          <a:xfrm>
            <a:off x="1938528" y="3877056"/>
            <a:ext cx="2185416"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生成一致性</a:t>
            </a:r>
            <a:endParaRPr lang="en-US" sz="770" dirty="0"/>
          </a:p>
        </p:txBody>
      </p:sp>
      <p:sp>
        <p:nvSpPr>
          <p:cNvPr id="54" name="Shape 52"/>
          <p:cNvSpPr/>
          <p:nvPr/>
        </p:nvSpPr>
        <p:spPr>
          <a:xfrm>
            <a:off x="4197096" y="3785616"/>
            <a:ext cx="2322576" cy="621792"/>
          </a:xfrm>
          <a:prstGeom prst="rect">
            <a:avLst/>
          </a:prstGeom>
          <a:solidFill>
            <a:srgbClr val="EDF1F0"/>
          </a:solidFill>
          <a:ln w="5715">
            <a:solidFill>
              <a:srgbClr val="D0DBD8"/>
            </a:solidFill>
            <a:prstDash val="solid"/>
          </a:ln>
        </p:spPr>
      </p:sp>
      <p:sp>
        <p:nvSpPr>
          <p:cNvPr id="55" name="Text 53"/>
          <p:cNvSpPr txBox="1"/>
          <p:nvPr/>
        </p:nvSpPr>
        <p:spPr>
          <a:xfrm>
            <a:off x="4270248" y="3877056"/>
            <a:ext cx="2176272"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物理与安全</a:t>
            </a:r>
            <a:endParaRPr lang="en-US" sz="770" dirty="0"/>
          </a:p>
        </p:txBody>
      </p:sp>
      <p:sp>
        <p:nvSpPr>
          <p:cNvPr id="56" name="Shape 54"/>
          <p:cNvSpPr/>
          <p:nvPr/>
        </p:nvSpPr>
        <p:spPr>
          <a:xfrm>
            <a:off x="6519672" y="3785616"/>
            <a:ext cx="2313432" cy="621792"/>
          </a:xfrm>
          <a:prstGeom prst="rect">
            <a:avLst/>
          </a:prstGeom>
          <a:solidFill>
            <a:srgbClr val="EDF1F0"/>
          </a:solidFill>
          <a:ln w="5715">
            <a:solidFill>
              <a:srgbClr val="D0DBD8"/>
            </a:solidFill>
            <a:prstDash val="solid"/>
          </a:ln>
        </p:spPr>
      </p:sp>
      <p:sp>
        <p:nvSpPr>
          <p:cNvPr id="57" name="Text 55"/>
          <p:cNvSpPr txBox="1"/>
          <p:nvPr/>
        </p:nvSpPr>
        <p:spPr>
          <a:xfrm>
            <a:off x="6592824" y="3877056"/>
            <a:ext cx="2167128"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守恒律与方程</a:t>
            </a:r>
            <a:endParaRPr lang="en-US" sz="770" dirty="0"/>
          </a:p>
        </p:txBody>
      </p:sp>
      <p:sp>
        <p:nvSpPr>
          <p:cNvPr id="58" name="Shape 56"/>
          <p:cNvSpPr/>
          <p:nvPr/>
        </p:nvSpPr>
        <p:spPr>
          <a:xfrm>
            <a:off x="8833104" y="3785616"/>
            <a:ext cx="2898648" cy="621792"/>
          </a:xfrm>
          <a:prstGeom prst="rect">
            <a:avLst/>
          </a:prstGeom>
          <a:solidFill>
            <a:srgbClr val="E2F2EF"/>
          </a:solidFill>
          <a:ln w="10160">
            <a:solidFill>
              <a:srgbClr val="137F7A"/>
            </a:solidFill>
            <a:prstDash val="solid"/>
          </a:ln>
        </p:spPr>
      </p:sp>
      <p:sp>
        <p:nvSpPr>
          <p:cNvPr id="59" name="Text 57"/>
          <p:cNvSpPr txBox="1"/>
          <p:nvPr/>
        </p:nvSpPr>
        <p:spPr>
          <a:xfrm>
            <a:off x="8906256" y="3877056"/>
            <a:ext cx="2752344" cy="402336"/>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法律政策、用途管制、权属、生态与数量底线</a:t>
            </a:r>
            <a:endParaRPr lang="en-US" sz="770" dirty="0"/>
          </a:p>
        </p:txBody>
      </p:sp>
      <p:sp>
        <p:nvSpPr>
          <p:cNvPr id="60" name="Shape 58"/>
          <p:cNvSpPr/>
          <p:nvPr/>
        </p:nvSpPr>
        <p:spPr>
          <a:xfrm>
            <a:off x="438912" y="4407408"/>
            <a:ext cx="1426464" cy="621792"/>
          </a:xfrm>
          <a:prstGeom prst="rect">
            <a:avLst/>
          </a:prstGeom>
          <a:solidFill>
            <a:srgbClr val="FFFFFF"/>
          </a:solidFill>
          <a:ln w="5715">
            <a:solidFill>
              <a:srgbClr val="D0DBD8"/>
            </a:solidFill>
            <a:prstDash val="solid"/>
          </a:ln>
        </p:spPr>
      </p:sp>
      <p:sp>
        <p:nvSpPr>
          <p:cNvPr id="61" name="Text 59"/>
          <p:cNvSpPr txBox="1"/>
          <p:nvPr/>
        </p:nvSpPr>
        <p:spPr>
          <a:xfrm>
            <a:off x="512064" y="4498848"/>
            <a:ext cx="1280160" cy="402336"/>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17252A"/>
                </a:solidFill>
                <a:latin typeface="Hiragino Sans GB" pitchFamily="34" charset="0"/>
                <a:ea typeface="Hiragino Sans GB" pitchFamily="34" charset="-122"/>
                <a:cs typeface="Hiragino Sans GB" pitchFamily="34" charset="-120"/>
              </a:rPr>
              <a:t>时间尺度</a:t>
            </a:r>
            <a:endParaRPr lang="en-US" sz="860" dirty="0"/>
          </a:p>
        </p:txBody>
      </p:sp>
      <p:sp>
        <p:nvSpPr>
          <p:cNvPr id="62" name="Shape 60"/>
          <p:cNvSpPr/>
          <p:nvPr/>
        </p:nvSpPr>
        <p:spPr>
          <a:xfrm>
            <a:off x="1865376" y="4407408"/>
            <a:ext cx="2331720" cy="621792"/>
          </a:xfrm>
          <a:prstGeom prst="rect">
            <a:avLst/>
          </a:prstGeom>
          <a:solidFill>
            <a:srgbClr val="FFFFFF"/>
          </a:solidFill>
          <a:ln w="5715">
            <a:solidFill>
              <a:srgbClr val="D0DBD8"/>
            </a:solidFill>
            <a:prstDash val="solid"/>
          </a:ln>
        </p:spPr>
      </p:sp>
      <p:sp>
        <p:nvSpPr>
          <p:cNvPr id="63" name="Text 61"/>
          <p:cNvSpPr txBox="1"/>
          <p:nvPr/>
        </p:nvSpPr>
        <p:spPr>
          <a:xfrm>
            <a:off x="1938528" y="4498848"/>
            <a:ext cx="2185416"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帧到分钟</a:t>
            </a:r>
            <a:endParaRPr lang="en-US" sz="770" dirty="0"/>
          </a:p>
        </p:txBody>
      </p:sp>
      <p:sp>
        <p:nvSpPr>
          <p:cNvPr id="64" name="Shape 62"/>
          <p:cNvSpPr/>
          <p:nvPr/>
        </p:nvSpPr>
        <p:spPr>
          <a:xfrm>
            <a:off x="4197096" y="4407408"/>
            <a:ext cx="2322576" cy="621792"/>
          </a:xfrm>
          <a:prstGeom prst="rect">
            <a:avLst/>
          </a:prstGeom>
          <a:solidFill>
            <a:srgbClr val="FFFFFF"/>
          </a:solidFill>
          <a:ln w="5715">
            <a:solidFill>
              <a:srgbClr val="D0DBD8"/>
            </a:solidFill>
            <a:prstDash val="solid"/>
          </a:ln>
        </p:spPr>
      </p:sp>
      <p:sp>
        <p:nvSpPr>
          <p:cNvPr id="65" name="Text 63"/>
          <p:cNvSpPr txBox="1"/>
          <p:nvPr/>
        </p:nvSpPr>
        <p:spPr>
          <a:xfrm>
            <a:off x="4270248" y="4498848"/>
            <a:ext cx="2176272"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毫秒到分钟</a:t>
            </a:r>
            <a:endParaRPr lang="en-US" sz="770" dirty="0"/>
          </a:p>
        </p:txBody>
      </p:sp>
      <p:sp>
        <p:nvSpPr>
          <p:cNvPr id="66" name="Shape 64"/>
          <p:cNvSpPr/>
          <p:nvPr/>
        </p:nvSpPr>
        <p:spPr>
          <a:xfrm>
            <a:off x="6519672" y="4407408"/>
            <a:ext cx="2313432" cy="621792"/>
          </a:xfrm>
          <a:prstGeom prst="rect">
            <a:avLst/>
          </a:prstGeom>
          <a:solidFill>
            <a:srgbClr val="FFFFFF"/>
          </a:solidFill>
          <a:ln w="5715">
            <a:solidFill>
              <a:srgbClr val="D0DBD8"/>
            </a:solidFill>
            <a:prstDash val="solid"/>
          </a:ln>
        </p:spPr>
      </p:sp>
      <p:sp>
        <p:nvSpPr>
          <p:cNvPr id="67" name="Text 65"/>
          <p:cNvSpPr txBox="1"/>
          <p:nvPr/>
        </p:nvSpPr>
        <p:spPr>
          <a:xfrm>
            <a:off x="6592824" y="4498848"/>
            <a:ext cx="2167128"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小时到年代</a:t>
            </a:r>
            <a:endParaRPr lang="en-US" sz="770" dirty="0"/>
          </a:p>
        </p:txBody>
      </p:sp>
      <p:sp>
        <p:nvSpPr>
          <p:cNvPr id="68" name="Shape 66"/>
          <p:cNvSpPr/>
          <p:nvPr/>
        </p:nvSpPr>
        <p:spPr>
          <a:xfrm>
            <a:off x="8833104" y="4407408"/>
            <a:ext cx="2898648" cy="621792"/>
          </a:xfrm>
          <a:prstGeom prst="rect">
            <a:avLst/>
          </a:prstGeom>
          <a:solidFill>
            <a:srgbClr val="EDF8F5"/>
          </a:solidFill>
          <a:ln w="10160">
            <a:solidFill>
              <a:srgbClr val="137F7A"/>
            </a:solidFill>
            <a:prstDash val="solid"/>
          </a:ln>
        </p:spPr>
      </p:sp>
      <p:sp>
        <p:nvSpPr>
          <p:cNvPr id="69" name="Text 67"/>
          <p:cNvSpPr txBox="1"/>
          <p:nvPr/>
        </p:nvSpPr>
        <p:spPr>
          <a:xfrm>
            <a:off x="8906256" y="4498848"/>
            <a:ext cx="2752344" cy="402336"/>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月度、年度、规划周期</a:t>
            </a:r>
            <a:endParaRPr lang="en-US" sz="770" dirty="0"/>
          </a:p>
        </p:txBody>
      </p:sp>
      <p:sp>
        <p:nvSpPr>
          <p:cNvPr id="70" name="Shape 68"/>
          <p:cNvSpPr/>
          <p:nvPr/>
        </p:nvSpPr>
        <p:spPr>
          <a:xfrm>
            <a:off x="438912" y="5029200"/>
            <a:ext cx="1426464" cy="621792"/>
          </a:xfrm>
          <a:prstGeom prst="rect">
            <a:avLst/>
          </a:prstGeom>
          <a:solidFill>
            <a:srgbClr val="EDF1F0"/>
          </a:solidFill>
          <a:ln w="5715">
            <a:solidFill>
              <a:srgbClr val="D0DBD8"/>
            </a:solidFill>
            <a:prstDash val="solid"/>
          </a:ln>
        </p:spPr>
      </p:sp>
      <p:sp>
        <p:nvSpPr>
          <p:cNvPr id="71" name="Text 69"/>
          <p:cNvSpPr txBox="1"/>
          <p:nvPr/>
        </p:nvSpPr>
        <p:spPr>
          <a:xfrm>
            <a:off x="512064" y="5120640"/>
            <a:ext cx="1280160" cy="402336"/>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17252A"/>
                </a:solidFill>
                <a:latin typeface="Hiragino Sans GB" pitchFamily="34" charset="0"/>
                <a:ea typeface="Hiragino Sans GB" pitchFamily="34" charset="-122"/>
                <a:cs typeface="Hiragino Sans GB" pitchFamily="34" charset="-120"/>
              </a:rPr>
              <a:t>可用输出</a:t>
            </a:r>
            <a:endParaRPr lang="en-US" sz="860" dirty="0"/>
          </a:p>
        </p:txBody>
      </p:sp>
      <p:sp>
        <p:nvSpPr>
          <p:cNvPr id="72" name="Shape 70"/>
          <p:cNvSpPr/>
          <p:nvPr/>
        </p:nvSpPr>
        <p:spPr>
          <a:xfrm>
            <a:off x="1865376" y="5029200"/>
            <a:ext cx="2331720" cy="621792"/>
          </a:xfrm>
          <a:prstGeom prst="rect">
            <a:avLst/>
          </a:prstGeom>
          <a:solidFill>
            <a:srgbClr val="EDF1F0"/>
          </a:solidFill>
          <a:ln w="5715">
            <a:solidFill>
              <a:srgbClr val="D0DBD8"/>
            </a:solidFill>
            <a:prstDash val="solid"/>
          </a:ln>
        </p:spPr>
      </p:sp>
      <p:sp>
        <p:nvSpPr>
          <p:cNvPr id="73" name="Text 71"/>
          <p:cNvSpPr txBox="1"/>
          <p:nvPr/>
        </p:nvSpPr>
        <p:spPr>
          <a:xfrm>
            <a:off x="1938528" y="5120640"/>
            <a:ext cx="2185416"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视频 / observation</a:t>
            </a:r>
            <a:endParaRPr lang="en-US" sz="770" dirty="0"/>
          </a:p>
        </p:txBody>
      </p:sp>
      <p:sp>
        <p:nvSpPr>
          <p:cNvPr id="74" name="Shape 72"/>
          <p:cNvSpPr/>
          <p:nvPr/>
        </p:nvSpPr>
        <p:spPr>
          <a:xfrm>
            <a:off x="4197096" y="5029200"/>
            <a:ext cx="2322576" cy="621792"/>
          </a:xfrm>
          <a:prstGeom prst="rect">
            <a:avLst/>
          </a:prstGeom>
          <a:solidFill>
            <a:srgbClr val="EDF1F0"/>
          </a:solidFill>
          <a:ln w="5715">
            <a:solidFill>
              <a:srgbClr val="D0DBD8"/>
            </a:solidFill>
            <a:prstDash val="solid"/>
          </a:ln>
        </p:spPr>
      </p:sp>
      <p:sp>
        <p:nvSpPr>
          <p:cNvPr id="75" name="Text 73"/>
          <p:cNvSpPr txBox="1"/>
          <p:nvPr/>
        </p:nvSpPr>
        <p:spPr>
          <a:xfrm>
            <a:off x="4270248" y="5120640"/>
            <a:ext cx="2176272"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轨迹 / 控制价值</a:t>
            </a:r>
            <a:endParaRPr lang="en-US" sz="770" dirty="0"/>
          </a:p>
        </p:txBody>
      </p:sp>
      <p:sp>
        <p:nvSpPr>
          <p:cNvPr id="76" name="Shape 74"/>
          <p:cNvSpPr/>
          <p:nvPr/>
        </p:nvSpPr>
        <p:spPr>
          <a:xfrm>
            <a:off x="6519672" y="5029200"/>
            <a:ext cx="2313432" cy="621792"/>
          </a:xfrm>
          <a:prstGeom prst="rect">
            <a:avLst/>
          </a:prstGeom>
          <a:solidFill>
            <a:srgbClr val="EDF1F0"/>
          </a:solidFill>
          <a:ln w="5715">
            <a:solidFill>
              <a:srgbClr val="D0DBD8"/>
            </a:solidFill>
            <a:prstDash val="solid"/>
          </a:ln>
        </p:spPr>
      </p:sp>
      <p:sp>
        <p:nvSpPr>
          <p:cNvPr id="77" name="Text 75"/>
          <p:cNvSpPr txBox="1"/>
          <p:nvPr/>
        </p:nvSpPr>
        <p:spPr>
          <a:xfrm>
            <a:off x="6592824" y="5120640"/>
            <a:ext cx="2167128" cy="402336"/>
          </a:xfrm>
          <a:prstGeom prst="rect">
            <a:avLst/>
          </a:prstGeom>
          <a:noFill/>
          <a:ln/>
        </p:spPr>
        <p:txBody>
          <a:bodyPr wrap="square" lIns="0" tIns="0" rIns="0" bIns="0" rtlCol="0" anchor="t">
            <a:normAutofit/>
          </a:bodyPr>
          <a:lstStyle/>
          <a:p>
            <a:pPr algn="ctr" indent="0" marL="0">
              <a:lnSpc>
                <a:spcPct val="92000"/>
              </a:lnSpc>
              <a:buNone/>
            </a:pPr>
            <a:r>
              <a:rPr lang="en-US" sz="770" dirty="0">
                <a:solidFill>
                  <a:srgbClr val="32474D"/>
                </a:solidFill>
                <a:latin typeface="Hiragino Sans GB" pitchFamily="34" charset="0"/>
                <a:ea typeface="Hiragino Sans GB" pitchFamily="34" charset="-122"/>
                <a:cs typeface="Hiragino Sans GB" pitchFamily="34" charset="-120"/>
              </a:rPr>
              <a:t>未来场 / 风险场</a:t>
            </a:r>
            <a:endParaRPr lang="en-US" sz="770" dirty="0"/>
          </a:p>
        </p:txBody>
      </p:sp>
      <p:sp>
        <p:nvSpPr>
          <p:cNvPr id="78" name="Shape 76"/>
          <p:cNvSpPr/>
          <p:nvPr/>
        </p:nvSpPr>
        <p:spPr>
          <a:xfrm>
            <a:off x="8833104" y="5029200"/>
            <a:ext cx="2898648" cy="621792"/>
          </a:xfrm>
          <a:prstGeom prst="rect">
            <a:avLst/>
          </a:prstGeom>
          <a:solidFill>
            <a:srgbClr val="E2F2EF"/>
          </a:solidFill>
          <a:ln w="10160">
            <a:solidFill>
              <a:srgbClr val="137F7A"/>
            </a:solidFill>
            <a:prstDash val="solid"/>
          </a:ln>
        </p:spPr>
      </p:sp>
      <p:sp>
        <p:nvSpPr>
          <p:cNvPr id="79" name="Text 77"/>
          <p:cNvSpPr txBox="1"/>
          <p:nvPr/>
        </p:nvSpPr>
        <p:spPr>
          <a:xfrm>
            <a:off x="8906256" y="5120640"/>
            <a:ext cx="2752344" cy="402336"/>
          </a:xfrm>
          <a:prstGeom prst="rect">
            <a:avLst/>
          </a:prstGeom>
          <a:noFill/>
          <a:ln/>
        </p:spPr>
        <p:txBody>
          <a:bodyPr wrap="square" lIns="0" tIns="0" rIns="0" bIns="0" rtlCol="0" anchor="t">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GIS 图层、方案排序、风险、效用、不确定性、证据任务</a:t>
            </a:r>
            <a:endParaRPr lang="en-US" sz="770" dirty="0"/>
          </a:p>
        </p:txBody>
      </p:sp>
      <p:sp>
        <p:nvSpPr>
          <p:cNvPr id="80" name="Shape 78"/>
          <p:cNvSpPr/>
          <p:nvPr/>
        </p:nvSpPr>
        <p:spPr>
          <a:xfrm>
            <a:off x="658368" y="5852160"/>
            <a:ext cx="10863072" cy="438912"/>
          </a:xfrm>
          <a:prstGeom prst="roundRect">
            <a:avLst>
              <a:gd name="adj" fmla="val 8333"/>
            </a:avLst>
          </a:prstGeom>
          <a:solidFill>
            <a:srgbClr val="FFF3D9"/>
          </a:solidFill>
          <a:ln w="8890">
            <a:solidFill>
              <a:srgbClr val="B17B20"/>
            </a:solidFill>
            <a:prstDash val="solid"/>
          </a:ln>
        </p:spPr>
      </p:sp>
      <p:sp>
        <p:nvSpPr>
          <p:cNvPr id="81" name="Text 79"/>
          <p:cNvSpPr txBox="1"/>
          <p:nvPr/>
        </p:nvSpPr>
        <p:spPr>
          <a:xfrm>
            <a:off x="877824" y="5943600"/>
            <a:ext cx="10424160" cy="22860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17252A"/>
                </a:solidFill>
                <a:latin typeface="Hiragino Sans GB" pitchFamily="34" charset="0"/>
                <a:ea typeface="Hiragino Sans GB" pitchFamily="34" charset="-122"/>
                <a:cs typeface="Hiragino Sans GB" pitchFamily="34" charset="-120"/>
              </a:rPr>
              <a:t>形式化定义：GWM = 可版本化地理状态 + 行动条件空间转移 + 受约束递归推演 + GIS 可操作输出 + 证据门控规划。</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研究起点</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空间优化研究向世界模型演进</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地块、规划单元、片区和县域的连续研究，逐步形成面向状态转移、长期效应和工程部署的技术主线。</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来源：Paper1-Paper4 / Paper9 项目材料；farmland-drl-optimization；paper3；paper4；paper9 MNR package</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06 / 29</a:t>
            </a:r>
            <a:endParaRPr lang="en-US" sz="670" dirty="0"/>
          </a:p>
        </p:txBody>
      </p:sp>
      <p:sp>
        <p:nvSpPr>
          <p:cNvPr id="10" name="Shape 8"/>
          <p:cNvSpPr/>
          <p:nvPr/>
        </p:nvSpPr>
        <p:spPr>
          <a:xfrm>
            <a:off x="960120" y="2907792"/>
            <a:ext cx="10149840" cy="0"/>
          </a:xfrm>
          <a:prstGeom prst="line">
            <a:avLst/>
          </a:prstGeom>
          <a:noFill/>
          <a:ln w="38100">
            <a:solidFill>
              <a:srgbClr val="D0DBD8"/>
            </a:solidFill>
            <a:prstDash val="solid"/>
          </a:ln>
        </p:spPr>
      </p:sp>
      <p:sp>
        <p:nvSpPr>
          <p:cNvPr id="11" name="Shape 9"/>
          <p:cNvSpPr/>
          <p:nvPr/>
        </p:nvSpPr>
        <p:spPr>
          <a:xfrm>
            <a:off x="1005840" y="2679192"/>
            <a:ext cx="457200" cy="457200"/>
          </a:xfrm>
          <a:prstGeom prst="ellipse">
            <a:avLst/>
          </a:prstGeom>
          <a:solidFill>
            <a:srgbClr val="137F7A"/>
          </a:solidFill>
          <a:ln w="16510">
            <a:solidFill>
              <a:srgbClr val="FFFFFF"/>
            </a:solidFill>
            <a:prstDash val="solid"/>
          </a:ln>
        </p:spPr>
      </p:sp>
      <p:sp>
        <p:nvSpPr>
          <p:cNvPr id="12" name="Text 10"/>
          <p:cNvSpPr txBox="1"/>
          <p:nvPr/>
        </p:nvSpPr>
        <p:spPr>
          <a:xfrm>
            <a:off x="1005840" y="2752344"/>
            <a:ext cx="457200" cy="18288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FFFFFF"/>
                </a:solidFill>
                <a:latin typeface="Hiragino Sans GB" pitchFamily="34" charset="0"/>
                <a:ea typeface="Hiragino Sans GB" pitchFamily="34" charset="-122"/>
                <a:cs typeface="Hiragino Sans GB" pitchFamily="34" charset="-120"/>
              </a:rPr>
              <a:t>1</a:t>
            </a:r>
            <a:endParaRPr lang="en-US" sz="900" dirty="0"/>
          </a:p>
        </p:txBody>
      </p:sp>
      <p:sp>
        <p:nvSpPr>
          <p:cNvPr id="13" name="Text 11"/>
          <p:cNvSpPr txBox="1"/>
          <p:nvPr/>
        </p:nvSpPr>
        <p:spPr>
          <a:xfrm>
            <a:off x="512064" y="1883664"/>
            <a:ext cx="1444752" cy="256032"/>
          </a:xfrm>
          <a:prstGeom prst="rect">
            <a:avLst/>
          </a:prstGeom>
          <a:noFill/>
          <a:ln/>
        </p:spPr>
        <p:txBody>
          <a:bodyPr wrap="square" lIns="0" tIns="0" rIns="0" bIns="0" rtlCol="0" anchor="ctr">
            <a:normAutofit/>
          </a:bodyPr>
          <a:lstStyle/>
          <a:p>
            <a:pPr algn="ctr" indent="0" marL="0">
              <a:lnSpc>
                <a:spcPct val="92000"/>
              </a:lnSpc>
              <a:buNone/>
            </a:pPr>
            <a:r>
              <a:rPr lang="en-US" sz="1150" b="1" dirty="0">
                <a:solidFill>
                  <a:srgbClr val="137F7A"/>
                </a:solidFill>
                <a:latin typeface="Hiragino Sans GB" pitchFamily="34" charset="0"/>
                <a:ea typeface="Hiragino Sans GB" pitchFamily="34" charset="-122"/>
                <a:cs typeface="Hiragino Sans GB" pitchFamily="34" charset="-120"/>
              </a:rPr>
              <a:t>地块级</a:t>
            </a:r>
            <a:endParaRPr lang="en-US" sz="1150" dirty="0"/>
          </a:p>
        </p:txBody>
      </p:sp>
      <p:sp>
        <p:nvSpPr>
          <p:cNvPr id="14" name="Text 12"/>
          <p:cNvSpPr txBox="1"/>
          <p:nvPr/>
        </p:nvSpPr>
        <p:spPr>
          <a:xfrm>
            <a:off x="411480" y="2167128"/>
            <a:ext cx="1645920" cy="301752"/>
          </a:xfrm>
          <a:prstGeom prst="rect">
            <a:avLst/>
          </a:prstGeom>
          <a:noFill/>
          <a:ln/>
        </p:spPr>
        <p:txBody>
          <a:bodyPr wrap="square" lIns="0" tIns="0" rIns="0" bIns="0" rtlCol="0" anchor="ctr">
            <a:normAutofit/>
          </a:bodyPr>
          <a:lstStyle/>
          <a:p>
            <a:pPr algn="ctr" indent="0" marL="0">
              <a:lnSpc>
                <a:spcPct val="92000"/>
              </a:lnSpc>
              <a:buNone/>
            </a:pPr>
            <a:r>
              <a:rPr lang="en-US" sz="1060" b="1" dirty="0">
                <a:solidFill>
                  <a:srgbClr val="17252A"/>
                </a:solidFill>
                <a:latin typeface="Hiragino Sans GB" pitchFamily="34" charset="0"/>
                <a:ea typeface="Hiragino Sans GB" pitchFamily="34" charset="-122"/>
                <a:cs typeface="Hiragino Sans GB" pitchFamily="34" charset="-120"/>
              </a:rPr>
              <a:t>受约束 DRL</a:t>
            </a:r>
            <a:endParaRPr lang="en-US" sz="1060" dirty="0"/>
          </a:p>
        </p:txBody>
      </p:sp>
      <p:sp>
        <p:nvSpPr>
          <p:cNvPr id="15" name="Text 13"/>
          <p:cNvSpPr txBox="1"/>
          <p:nvPr/>
        </p:nvSpPr>
        <p:spPr>
          <a:xfrm>
            <a:off x="292608" y="3310128"/>
            <a:ext cx="1920240" cy="566928"/>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坡度 / 连片度 / 面积平衡</a:t>
            </a:r>
            <a:endParaRPr lang="en-US" sz="880" dirty="0"/>
          </a:p>
        </p:txBody>
      </p:sp>
      <p:sp>
        <p:nvSpPr>
          <p:cNvPr id="16" name="Shape 14"/>
          <p:cNvSpPr/>
          <p:nvPr/>
        </p:nvSpPr>
        <p:spPr>
          <a:xfrm>
            <a:off x="3246120" y="2679192"/>
            <a:ext cx="457200" cy="457200"/>
          </a:xfrm>
          <a:prstGeom prst="ellipse">
            <a:avLst/>
          </a:prstGeom>
          <a:solidFill>
            <a:srgbClr val="356CA8"/>
          </a:solidFill>
          <a:ln w="16510">
            <a:solidFill>
              <a:srgbClr val="FFFFFF"/>
            </a:solidFill>
            <a:prstDash val="solid"/>
          </a:ln>
        </p:spPr>
      </p:sp>
      <p:sp>
        <p:nvSpPr>
          <p:cNvPr id="17" name="Text 15"/>
          <p:cNvSpPr txBox="1"/>
          <p:nvPr/>
        </p:nvSpPr>
        <p:spPr>
          <a:xfrm>
            <a:off x="3246120" y="2752344"/>
            <a:ext cx="457200" cy="18288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FFFFFF"/>
                </a:solidFill>
                <a:latin typeface="Hiragino Sans GB" pitchFamily="34" charset="0"/>
                <a:ea typeface="Hiragino Sans GB" pitchFamily="34" charset="-122"/>
                <a:cs typeface="Hiragino Sans GB" pitchFamily="34" charset="-120"/>
              </a:rPr>
              <a:t>2</a:t>
            </a:r>
            <a:endParaRPr lang="en-US" sz="900" dirty="0"/>
          </a:p>
        </p:txBody>
      </p:sp>
      <p:sp>
        <p:nvSpPr>
          <p:cNvPr id="18" name="Text 16"/>
          <p:cNvSpPr txBox="1"/>
          <p:nvPr/>
        </p:nvSpPr>
        <p:spPr>
          <a:xfrm>
            <a:off x="2752344" y="1883664"/>
            <a:ext cx="1444752" cy="256032"/>
          </a:xfrm>
          <a:prstGeom prst="rect">
            <a:avLst/>
          </a:prstGeom>
          <a:noFill/>
          <a:ln/>
        </p:spPr>
        <p:txBody>
          <a:bodyPr wrap="square" lIns="0" tIns="0" rIns="0" bIns="0" rtlCol="0" anchor="ctr">
            <a:normAutofit/>
          </a:bodyPr>
          <a:lstStyle/>
          <a:p>
            <a:pPr algn="ctr" indent="0" marL="0">
              <a:lnSpc>
                <a:spcPct val="92000"/>
              </a:lnSpc>
              <a:buNone/>
            </a:pPr>
            <a:r>
              <a:rPr lang="en-US" sz="1150" b="1" dirty="0">
                <a:solidFill>
                  <a:srgbClr val="356CA8"/>
                </a:solidFill>
                <a:latin typeface="Hiragino Sans GB" pitchFamily="34" charset="0"/>
                <a:ea typeface="Hiragino Sans GB" pitchFamily="34" charset="-122"/>
                <a:cs typeface="Hiragino Sans GB" pitchFamily="34" charset="-120"/>
              </a:rPr>
              <a:t>规划单元级</a:t>
            </a:r>
            <a:endParaRPr lang="en-US" sz="1150" dirty="0"/>
          </a:p>
        </p:txBody>
      </p:sp>
      <p:sp>
        <p:nvSpPr>
          <p:cNvPr id="19" name="Text 17"/>
          <p:cNvSpPr txBox="1"/>
          <p:nvPr/>
        </p:nvSpPr>
        <p:spPr>
          <a:xfrm>
            <a:off x="2651760" y="2167128"/>
            <a:ext cx="1645920" cy="301752"/>
          </a:xfrm>
          <a:prstGeom prst="rect">
            <a:avLst/>
          </a:prstGeom>
          <a:noFill/>
          <a:ln/>
        </p:spPr>
        <p:txBody>
          <a:bodyPr wrap="square" lIns="0" tIns="0" rIns="0" bIns="0" rtlCol="0" anchor="ctr">
            <a:normAutofit/>
          </a:bodyPr>
          <a:lstStyle/>
          <a:p>
            <a:pPr algn="ctr" indent="0" marL="0">
              <a:lnSpc>
                <a:spcPct val="92000"/>
              </a:lnSpc>
              <a:buNone/>
            </a:pPr>
            <a:r>
              <a:rPr lang="en-US" sz="1060" b="1" dirty="0">
                <a:solidFill>
                  <a:srgbClr val="17252A"/>
                </a:solidFill>
                <a:latin typeface="Hiragino Sans GB" pitchFamily="34" charset="0"/>
                <a:ea typeface="Hiragino Sans GB" pitchFamily="34" charset="-122"/>
                <a:cs typeface="Hiragino Sans GB" pitchFamily="34" charset="-120"/>
              </a:rPr>
              <a:t>维度不变策略</a:t>
            </a:r>
            <a:endParaRPr lang="en-US" sz="1060" dirty="0"/>
          </a:p>
        </p:txBody>
      </p:sp>
      <p:sp>
        <p:nvSpPr>
          <p:cNvPr id="20" name="Text 18"/>
          <p:cNvSpPr txBox="1"/>
          <p:nvPr/>
        </p:nvSpPr>
        <p:spPr>
          <a:xfrm>
            <a:off x="2532888" y="3310128"/>
            <a:ext cx="1920240" cy="566928"/>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跨规模动作评分与迁移</a:t>
            </a:r>
            <a:endParaRPr lang="en-US" sz="880" dirty="0"/>
          </a:p>
        </p:txBody>
      </p:sp>
      <p:sp>
        <p:nvSpPr>
          <p:cNvPr id="21" name="Shape 19"/>
          <p:cNvSpPr/>
          <p:nvPr/>
        </p:nvSpPr>
        <p:spPr>
          <a:xfrm>
            <a:off x="5486400" y="2679192"/>
            <a:ext cx="457200" cy="457200"/>
          </a:xfrm>
          <a:prstGeom prst="ellipse">
            <a:avLst/>
          </a:prstGeom>
          <a:solidFill>
            <a:srgbClr val="705FA7"/>
          </a:solidFill>
          <a:ln w="16510">
            <a:solidFill>
              <a:srgbClr val="FFFFFF"/>
            </a:solidFill>
            <a:prstDash val="solid"/>
          </a:ln>
        </p:spPr>
      </p:sp>
      <p:sp>
        <p:nvSpPr>
          <p:cNvPr id="22" name="Text 20"/>
          <p:cNvSpPr txBox="1"/>
          <p:nvPr/>
        </p:nvSpPr>
        <p:spPr>
          <a:xfrm>
            <a:off x="5486400" y="2752344"/>
            <a:ext cx="457200" cy="18288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FFFFFF"/>
                </a:solidFill>
                <a:latin typeface="Hiragino Sans GB" pitchFamily="34" charset="0"/>
                <a:ea typeface="Hiragino Sans GB" pitchFamily="34" charset="-122"/>
                <a:cs typeface="Hiragino Sans GB" pitchFamily="34" charset="-120"/>
              </a:rPr>
              <a:t>3</a:t>
            </a:r>
            <a:endParaRPr lang="en-US" sz="900" dirty="0"/>
          </a:p>
        </p:txBody>
      </p:sp>
      <p:sp>
        <p:nvSpPr>
          <p:cNvPr id="23" name="Text 21"/>
          <p:cNvSpPr txBox="1"/>
          <p:nvPr/>
        </p:nvSpPr>
        <p:spPr>
          <a:xfrm>
            <a:off x="4992624" y="1883664"/>
            <a:ext cx="1444752" cy="256032"/>
          </a:xfrm>
          <a:prstGeom prst="rect">
            <a:avLst/>
          </a:prstGeom>
          <a:noFill/>
          <a:ln/>
        </p:spPr>
        <p:txBody>
          <a:bodyPr wrap="square" lIns="0" tIns="0" rIns="0" bIns="0" rtlCol="0" anchor="ctr">
            <a:normAutofit/>
          </a:bodyPr>
          <a:lstStyle/>
          <a:p>
            <a:pPr algn="ctr" indent="0" marL="0">
              <a:lnSpc>
                <a:spcPct val="92000"/>
              </a:lnSpc>
              <a:buNone/>
            </a:pPr>
            <a:r>
              <a:rPr lang="en-US" sz="1150" b="1" dirty="0">
                <a:solidFill>
                  <a:srgbClr val="705FA7"/>
                </a:solidFill>
                <a:latin typeface="Hiragino Sans GB" pitchFamily="34" charset="0"/>
                <a:ea typeface="Hiragino Sans GB" pitchFamily="34" charset="-122"/>
                <a:cs typeface="Hiragino Sans GB" pitchFamily="34" charset="-120"/>
              </a:rPr>
              <a:t>街区 / 片区级</a:t>
            </a:r>
            <a:endParaRPr lang="en-US" sz="1150" dirty="0"/>
          </a:p>
        </p:txBody>
      </p:sp>
      <p:sp>
        <p:nvSpPr>
          <p:cNvPr id="24" name="Text 22"/>
          <p:cNvSpPr txBox="1"/>
          <p:nvPr/>
        </p:nvSpPr>
        <p:spPr>
          <a:xfrm>
            <a:off x="4892040" y="2167128"/>
            <a:ext cx="1645920" cy="301752"/>
          </a:xfrm>
          <a:prstGeom prst="rect">
            <a:avLst/>
          </a:prstGeom>
          <a:noFill/>
          <a:ln/>
        </p:spPr>
        <p:txBody>
          <a:bodyPr wrap="square" lIns="0" tIns="0" rIns="0" bIns="0" rtlCol="0" anchor="ctr">
            <a:normAutofit/>
          </a:bodyPr>
          <a:lstStyle/>
          <a:p>
            <a:pPr algn="ctr" indent="0" marL="0">
              <a:lnSpc>
                <a:spcPct val="92000"/>
              </a:lnSpc>
              <a:buNone/>
            </a:pPr>
            <a:r>
              <a:rPr lang="en-US" sz="1060" b="1" dirty="0">
                <a:solidFill>
                  <a:srgbClr val="17252A"/>
                </a:solidFill>
                <a:latin typeface="Hiragino Sans GB" pitchFamily="34" charset="0"/>
                <a:ea typeface="Hiragino Sans GB" pitchFamily="34" charset="-122"/>
                <a:cs typeface="Hiragino Sans GB" pitchFamily="34" charset="-120"/>
              </a:rPr>
              <a:t>序列情景筛选</a:t>
            </a:r>
            <a:endParaRPr lang="en-US" sz="1060" dirty="0"/>
          </a:p>
        </p:txBody>
      </p:sp>
      <p:sp>
        <p:nvSpPr>
          <p:cNvPr id="25" name="Text 23"/>
          <p:cNvSpPr txBox="1"/>
          <p:nvPr/>
        </p:nvSpPr>
        <p:spPr>
          <a:xfrm>
            <a:off x="4773168" y="3310128"/>
            <a:ext cx="1920240" cy="566928"/>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从图斑动作到政策场景</a:t>
            </a:r>
            <a:endParaRPr lang="en-US" sz="880" dirty="0"/>
          </a:p>
        </p:txBody>
      </p:sp>
      <p:sp>
        <p:nvSpPr>
          <p:cNvPr id="26" name="Shape 24"/>
          <p:cNvSpPr/>
          <p:nvPr/>
        </p:nvSpPr>
        <p:spPr>
          <a:xfrm>
            <a:off x="7726680" y="2679192"/>
            <a:ext cx="457200" cy="457200"/>
          </a:xfrm>
          <a:prstGeom prst="ellipse">
            <a:avLst/>
          </a:prstGeom>
          <a:solidFill>
            <a:srgbClr val="B17B20"/>
          </a:solidFill>
          <a:ln w="16510">
            <a:solidFill>
              <a:srgbClr val="FFFFFF"/>
            </a:solidFill>
            <a:prstDash val="solid"/>
          </a:ln>
        </p:spPr>
      </p:sp>
      <p:sp>
        <p:nvSpPr>
          <p:cNvPr id="27" name="Text 25"/>
          <p:cNvSpPr txBox="1"/>
          <p:nvPr/>
        </p:nvSpPr>
        <p:spPr>
          <a:xfrm>
            <a:off x="7726680" y="2752344"/>
            <a:ext cx="457200" cy="18288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FFFFFF"/>
                </a:solidFill>
                <a:latin typeface="Hiragino Sans GB" pitchFamily="34" charset="0"/>
                <a:ea typeface="Hiragino Sans GB" pitchFamily="34" charset="-122"/>
                <a:cs typeface="Hiragino Sans GB" pitchFamily="34" charset="-120"/>
              </a:rPr>
              <a:t>4</a:t>
            </a:r>
            <a:endParaRPr lang="en-US" sz="900" dirty="0"/>
          </a:p>
        </p:txBody>
      </p:sp>
      <p:sp>
        <p:nvSpPr>
          <p:cNvPr id="28" name="Text 26"/>
          <p:cNvSpPr txBox="1"/>
          <p:nvPr/>
        </p:nvSpPr>
        <p:spPr>
          <a:xfrm>
            <a:off x="7232904" y="1883664"/>
            <a:ext cx="1444752" cy="256032"/>
          </a:xfrm>
          <a:prstGeom prst="rect">
            <a:avLst/>
          </a:prstGeom>
          <a:noFill/>
          <a:ln/>
        </p:spPr>
        <p:txBody>
          <a:bodyPr wrap="square" lIns="0" tIns="0" rIns="0" bIns="0" rtlCol="0" anchor="ctr">
            <a:normAutofit/>
          </a:bodyPr>
          <a:lstStyle/>
          <a:p>
            <a:pPr algn="ctr" indent="0" marL="0">
              <a:lnSpc>
                <a:spcPct val="92000"/>
              </a:lnSpc>
              <a:buNone/>
            </a:pPr>
            <a:r>
              <a:rPr lang="en-US" sz="1150" b="1" dirty="0">
                <a:solidFill>
                  <a:srgbClr val="B17B20"/>
                </a:solidFill>
                <a:latin typeface="Hiragino Sans GB" pitchFamily="34" charset="0"/>
                <a:ea typeface="Hiragino Sans GB" pitchFamily="34" charset="-122"/>
                <a:cs typeface="Hiragino Sans GB" pitchFamily="34" charset="-120"/>
              </a:rPr>
              <a:t>县域级</a:t>
            </a:r>
            <a:endParaRPr lang="en-US" sz="1150" dirty="0"/>
          </a:p>
        </p:txBody>
      </p:sp>
      <p:sp>
        <p:nvSpPr>
          <p:cNvPr id="29" name="Text 27"/>
          <p:cNvSpPr txBox="1"/>
          <p:nvPr/>
        </p:nvSpPr>
        <p:spPr>
          <a:xfrm>
            <a:off x="7132320" y="2167128"/>
            <a:ext cx="1645920" cy="301752"/>
          </a:xfrm>
          <a:prstGeom prst="rect">
            <a:avLst/>
          </a:prstGeom>
          <a:noFill/>
          <a:ln/>
        </p:spPr>
        <p:txBody>
          <a:bodyPr wrap="square" lIns="0" tIns="0" rIns="0" bIns="0" rtlCol="0" anchor="ctr">
            <a:normAutofit/>
          </a:bodyPr>
          <a:lstStyle/>
          <a:p>
            <a:pPr algn="ctr" indent="0" marL="0">
              <a:lnSpc>
                <a:spcPct val="92000"/>
              </a:lnSpc>
              <a:buNone/>
            </a:pPr>
            <a:r>
              <a:rPr lang="en-US" sz="1060" b="1" dirty="0">
                <a:solidFill>
                  <a:srgbClr val="17252A"/>
                </a:solidFill>
                <a:latin typeface="Hiragino Sans GB" pitchFamily="34" charset="0"/>
                <a:ea typeface="Hiragino Sans GB" pitchFamily="34" charset="-122"/>
                <a:cs typeface="Hiragino Sans GB" pitchFamily="34" charset="-120"/>
              </a:rPr>
              <a:t>多主体协同</a:t>
            </a:r>
            <a:endParaRPr lang="en-US" sz="1060" dirty="0"/>
          </a:p>
        </p:txBody>
      </p:sp>
      <p:sp>
        <p:nvSpPr>
          <p:cNvPr id="30" name="Text 28"/>
          <p:cNvSpPr txBox="1"/>
          <p:nvPr/>
        </p:nvSpPr>
        <p:spPr>
          <a:xfrm>
            <a:off x="7013448" y="3310128"/>
            <a:ext cx="1920240" cy="566928"/>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跨乡镇资源分配与稳定性</a:t>
            </a:r>
            <a:endParaRPr lang="en-US" sz="880" dirty="0"/>
          </a:p>
        </p:txBody>
      </p:sp>
      <p:sp>
        <p:nvSpPr>
          <p:cNvPr id="31" name="Shape 29"/>
          <p:cNvSpPr/>
          <p:nvPr/>
        </p:nvSpPr>
        <p:spPr>
          <a:xfrm>
            <a:off x="9966960" y="2679192"/>
            <a:ext cx="457200" cy="457200"/>
          </a:xfrm>
          <a:prstGeom prst="ellipse">
            <a:avLst/>
          </a:prstGeom>
          <a:solidFill>
            <a:srgbClr val="2D8A57"/>
          </a:solidFill>
          <a:ln w="16510">
            <a:solidFill>
              <a:srgbClr val="FFFFFF"/>
            </a:solidFill>
            <a:prstDash val="solid"/>
          </a:ln>
        </p:spPr>
      </p:sp>
      <p:sp>
        <p:nvSpPr>
          <p:cNvPr id="32" name="Text 30"/>
          <p:cNvSpPr txBox="1"/>
          <p:nvPr/>
        </p:nvSpPr>
        <p:spPr>
          <a:xfrm>
            <a:off x="9966960" y="2752344"/>
            <a:ext cx="457200" cy="182880"/>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FFFFFF"/>
                </a:solidFill>
                <a:latin typeface="Hiragino Sans GB" pitchFamily="34" charset="0"/>
                <a:ea typeface="Hiragino Sans GB" pitchFamily="34" charset="-122"/>
                <a:cs typeface="Hiragino Sans GB" pitchFamily="34" charset="-120"/>
              </a:rPr>
              <a:t>5</a:t>
            </a:r>
            <a:endParaRPr lang="en-US" sz="900" dirty="0"/>
          </a:p>
        </p:txBody>
      </p:sp>
      <p:sp>
        <p:nvSpPr>
          <p:cNvPr id="33" name="Text 31"/>
          <p:cNvSpPr txBox="1"/>
          <p:nvPr/>
        </p:nvSpPr>
        <p:spPr>
          <a:xfrm>
            <a:off x="9473184" y="1883664"/>
            <a:ext cx="1444752" cy="256032"/>
          </a:xfrm>
          <a:prstGeom prst="rect">
            <a:avLst/>
          </a:prstGeom>
          <a:noFill/>
          <a:ln/>
        </p:spPr>
        <p:txBody>
          <a:bodyPr wrap="square" lIns="0" tIns="0" rIns="0" bIns="0" rtlCol="0" anchor="ctr">
            <a:normAutofit/>
          </a:bodyPr>
          <a:lstStyle/>
          <a:p>
            <a:pPr algn="ctr" indent="0" marL="0">
              <a:lnSpc>
                <a:spcPct val="92000"/>
              </a:lnSpc>
              <a:buNone/>
            </a:pPr>
            <a:r>
              <a:rPr lang="en-US" sz="1150" b="1" dirty="0">
                <a:solidFill>
                  <a:srgbClr val="2D8A57"/>
                </a:solidFill>
                <a:latin typeface="Hiragino Sans GB" pitchFamily="34" charset="0"/>
                <a:ea typeface="Hiragino Sans GB" pitchFamily="34" charset="-122"/>
                <a:cs typeface="Hiragino Sans GB" pitchFamily="34" charset="-120"/>
              </a:rPr>
              <a:t>工程化</a:t>
            </a:r>
            <a:endParaRPr lang="en-US" sz="1150" dirty="0"/>
          </a:p>
        </p:txBody>
      </p:sp>
      <p:sp>
        <p:nvSpPr>
          <p:cNvPr id="34" name="Text 32"/>
          <p:cNvSpPr txBox="1"/>
          <p:nvPr/>
        </p:nvSpPr>
        <p:spPr>
          <a:xfrm>
            <a:off x="9372600" y="2167128"/>
            <a:ext cx="1645920" cy="301752"/>
          </a:xfrm>
          <a:prstGeom prst="rect">
            <a:avLst/>
          </a:prstGeom>
          <a:noFill/>
          <a:ln/>
        </p:spPr>
        <p:txBody>
          <a:bodyPr wrap="square" lIns="0" tIns="0" rIns="0" bIns="0" rtlCol="0" anchor="ctr">
            <a:normAutofit/>
          </a:bodyPr>
          <a:lstStyle/>
          <a:p>
            <a:pPr algn="ctr" indent="0" marL="0">
              <a:lnSpc>
                <a:spcPct val="92000"/>
              </a:lnSpc>
              <a:buNone/>
            </a:pPr>
            <a:r>
              <a:rPr lang="en-US" sz="1060" b="1" dirty="0">
                <a:solidFill>
                  <a:srgbClr val="17252A"/>
                </a:solidFill>
                <a:latin typeface="Hiragino Sans GB" pitchFamily="34" charset="0"/>
                <a:ea typeface="Hiragino Sans GB" pitchFamily="34" charset="-122"/>
                <a:cs typeface="Hiragino Sans GB" pitchFamily="34" charset="-120"/>
              </a:rPr>
              <a:t>模型式规划</a:t>
            </a:r>
            <a:endParaRPr lang="en-US" sz="1060" dirty="0"/>
          </a:p>
        </p:txBody>
      </p:sp>
      <p:sp>
        <p:nvSpPr>
          <p:cNvPr id="35" name="Text 33"/>
          <p:cNvSpPr txBox="1"/>
          <p:nvPr/>
        </p:nvSpPr>
        <p:spPr>
          <a:xfrm>
            <a:off x="9253728" y="3310128"/>
            <a:ext cx="1920240" cy="566928"/>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采样-训练-MPC-审计-内网</a:t>
            </a:r>
            <a:endParaRPr lang="en-US" sz="880" dirty="0"/>
          </a:p>
        </p:txBody>
      </p:sp>
      <p:sp>
        <p:nvSpPr>
          <p:cNvPr id="36" name="Shape 34"/>
          <p:cNvSpPr/>
          <p:nvPr/>
        </p:nvSpPr>
        <p:spPr>
          <a:xfrm>
            <a:off x="612648" y="4325112"/>
            <a:ext cx="10972800" cy="1143000"/>
          </a:xfrm>
          <a:prstGeom prst="roundRect">
            <a:avLst>
              <a:gd name="adj" fmla="val 4800"/>
            </a:avLst>
          </a:prstGeom>
          <a:solidFill>
            <a:srgbClr val="FFFFFF"/>
          </a:solidFill>
          <a:ln w="10160">
            <a:solidFill>
              <a:srgbClr val="D0DBD8"/>
            </a:solidFill>
            <a:prstDash val="solid"/>
          </a:ln>
        </p:spPr>
      </p:sp>
      <p:sp>
        <p:nvSpPr>
          <p:cNvPr id="37" name="Text 35"/>
          <p:cNvSpPr txBox="1"/>
          <p:nvPr/>
        </p:nvSpPr>
        <p:spPr>
          <a:xfrm>
            <a:off x="868680" y="4562856"/>
            <a:ext cx="2377440" cy="256032"/>
          </a:xfrm>
          <a:prstGeom prst="rect">
            <a:avLst/>
          </a:prstGeom>
          <a:noFill/>
          <a:ln/>
        </p:spPr>
        <p:txBody>
          <a:bodyPr wrap="square" lIns="0" tIns="0" rIns="0" bIns="0" rtlCol="0" anchor="ctr">
            <a:normAutofit/>
          </a:bodyPr>
          <a:lstStyle/>
          <a:p>
            <a:pPr algn="l" indent="0" marL="0">
              <a:lnSpc>
                <a:spcPct val="92000"/>
              </a:lnSpc>
              <a:buNone/>
            </a:pPr>
            <a:r>
              <a:rPr lang="en-US" sz="1320" b="1" dirty="0">
                <a:solidFill>
                  <a:srgbClr val="17252A"/>
                </a:solidFill>
                <a:latin typeface="Hiragino Sans GB" pitchFamily="34" charset="0"/>
                <a:ea typeface="Hiragino Sans GB" pitchFamily="34" charset="-122"/>
                <a:cs typeface="Hiragino Sans GB" pitchFamily="34" charset="-120"/>
              </a:rPr>
              <a:t>由优化问题形成的能力需求</a:t>
            </a:r>
            <a:endParaRPr lang="en-US" sz="1320" dirty="0"/>
          </a:p>
        </p:txBody>
      </p:sp>
      <p:sp>
        <p:nvSpPr>
          <p:cNvPr id="38" name="Text 36"/>
          <p:cNvSpPr txBox="1"/>
          <p:nvPr/>
        </p:nvSpPr>
        <p:spPr>
          <a:xfrm>
            <a:off x="3227832" y="4480560"/>
            <a:ext cx="7955280" cy="658368"/>
          </a:xfrm>
          <a:prstGeom prst="rect">
            <a:avLst/>
          </a:prstGeom>
          <a:noFill/>
          <a:ln/>
        </p:spPr>
        <p:txBody>
          <a:bodyPr wrap="square" lIns="0" tIns="0" rIns="0" bIns="0" rtlCol="0" anchor="t">
            <a:normAutofit/>
          </a:bodyPr>
          <a:lstStyle/>
          <a:p>
            <a:pPr algn="l" indent="0" marL="0">
              <a:lnSpc>
                <a:spcPct val="92000"/>
              </a:lnSpc>
              <a:buNone/>
            </a:pPr>
            <a:r>
              <a:rPr lang="en-US" sz="1120" dirty="0">
                <a:solidFill>
                  <a:srgbClr val="32474D"/>
                </a:solidFill>
                <a:latin typeface="Hiragino Sans GB" pitchFamily="34" charset="0"/>
                <a:ea typeface="Hiragino Sans GB" pitchFamily="34" charset="-122"/>
                <a:cs typeface="Hiragino Sans GB" pitchFamily="34" charset="-120"/>
              </a:rPr>
              <a:t>既有优化器侧重在给定状态上选择动作；多期治理进一步要求显式建模状态转移、长期效应、空间溢出及证据边界。</a:t>
            </a:r>
            <a:endParaRPr lang="en-US" sz="1120" dirty="0"/>
          </a:p>
        </p:txBody>
      </p:sp>
      <p:sp>
        <p:nvSpPr>
          <p:cNvPr id="39" name="Shape 37"/>
          <p:cNvSpPr/>
          <p:nvPr/>
        </p:nvSpPr>
        <p:spPr>
          <a:xfrm>
            <a:off x="1965960" y="5724144"/>
            <a:ext cx="1874520" cy="256032"/>
          </a:xfrm>
          <a:prstGeom prst="roundRect">
            <a:avLst>
              <a:gd name="adj" fmla="val 50000"/>
            </a:avLst>
          </a:prstGeom>
          <a:solidFill>
            <a:srgbClr val="EDF1F0"/>
          </a:solidFill>
          <a:ln w="6350">
            <a:solidFill>
              <a:srgbClr val="D0DBD8"/>
            </a:solidFill>
            <a:prstDash val="solid"/>
          </a:ln>
        </p:spPr>
      </p:sp>
      <p:sp>
        <p:nvSpPr>
          <p:cNvPr id="40" name="Text 38"/>
          <p:cNvSpPr txBox="1"/>
          <p:nvPr/>
        </p:nvSpPr>
        <p:spPr>
          <a:xfrm>
            <a:off x="2020824" y="5747004"/>
            <a:ext cx="1764792" cy="182880"/>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32474D"/>
                </a:solidFill>
                <a:latin typeface="Hiragino Sans GB" pitchFamily="34" charset="0"/>
                <a:ea typeface="Hiragino Sans GB" pitchFamily="34" charset="-122"/>
                <a:cs typeface="Hiragino Sans GB" pitchFamily="34" charset="-120"/>
              </a:rPr>
              <a:t>优化给定世界</a:t>
            </a:r>
            <a:endParaRPr lang="en-US" sz="860" dirty="0"/>
          </a:p>
        </p:txBody>
      </p:sp>
      <p:sp>
        <p:nvSpPr>
          <p:cNvPr id="41" name="Shape 39"/>
          <p:cNvSpPr/>
          <p:nvPr/>
        </p:nvSpPr>
        <p:spPr>
          <a:xfrm>
            <a:off x="4050792" y="5852160"/>
            <a:ext cx="1051560" cy="0"/>
          </a:xfrm>
          <a:prstGeom prst="line">
            <a:avLst/>
          </a:prstGeom>
          <a:noFill/>
          <a:ln w="20320">
            <a:solidFill>
              <a:srgbClr val="137F7A"/>
            </a:solidFill>
            <a:prstDash val="solid"/>
            <a:tailEnd type="triangle"/>
          </a:ln>
        </p:spPr>
      </p:sp>
      <p:sp>
        <p:nvSpPr>
          <p:cNvPr id="42" name="Shape 40"/>
          <p:cNvSpPr/>
          <p:nvPr/>
        </p:nvSpPr>
        <p:spPr>
          <a:xfrm>
            <a:off x="5321808" y="5724144"/>
            <a:ext cx="2194560" cy="256032"/>
          </a:xfrm>
          <a:prstGeom prst="roundRect">
            <a:avLst>
              <a:gd name="adj" fmla="val 50000"/>
            </a:avLst>
          </a:prstGeom>
          <a:solidFill>
            <a:srgbClr val="E2F2EF"/>
          </a:solidFill>
          <a:ln w="6350">
            <a:solidFill>
              <a:srgbClr val="137F7A"/>
            </a:solidFill>
            <a:prstDash val="solid"/>
          </a:ln>
        </p:spPr>
      </p:sp>
      <p:sp>
        <p:nvSpPr>
          <p:cNvPr id="43" name="Text 41"/>
          <p:cNvSpPr txBox="1"/>
          <p:nvPr/>
        </p:nvSpPr>
        <p:spPr>
          <a:xfrm>
            <a:off x="5376672" y="5747004"/>
            <a:ext cx="2084832" cy="182880"/>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0E5C59"/>
                </a:solidFill>
                <a:latin typeface="Hiragino Sans GB" pitchFamily="34" charset="0"/>
                <a:ea typeface="Hiragino Sans GB" pitchFamily="34" charset="-122"/>
                <a:cs typeface="Hiragino Sans GB" pitchFamily="34" charset="-120"/>
              </a:rPr>
              <a:t>模拟行动后的世界</a:t>
            </a:r>
            <a:endParaRPr lang="en-US" sz="860" dirty="0"/>
          </a:p>
        </p:txBody>
      </p:sp>
      <p:sp>
        <p:nvSpPr>
          <p:cNvPr id="44" name="Shape 42"/>
          <p:cNvSpPr/>
          <p:nvPr/>
        </p:nvSpPr>
        <p:spPr>
          <a:xfrm>
            <a:off x="7754112" y="5852160"/>
            <a:ext cx="1051560" cy="0"/>
          </a:xfrm>
          <a:prstGeom prst="line">
            <a:avLst/>
          </a:prstGeom>
          <a:noFill/>
          <a:ln w="20320">
            <a:solidFill>
              <a:srgbClr val="2D8A57"/>
            </a:solidFill>
            <a:prstDash val="solid"/>
            <a:tailEnd type="triangle"/>
          </a:ln>
        </p:spPr>
      </p:sp>
      <p:sp>
        <p:nvSpPr>
          <p:cNvPr id="45" name="Shape 43"/>
          <p:cNvSpPr/>
          <p:nvPr/>
        </p:nvSpPr>
        <p:spPr>
          <a:xfrm>
            <a:off x="9015984" y="5724144"/>
            <a:ext cx="2194560" cy="256032"/>
          </a:xfrm>
          <a:prstGeom prst="roundRect">
            <a:avLst>
              <a:gd name="adj" fmla="val 50000"/>
            </a:avLst>
          </a:prstGeom>
          <a:solidFill>
            <a:srgbClr val="E7F3EA"/>
          </a:solidFill>
          <a:ln w="6350">
            <a:solidFill>
              <a:srgbClr val="2D8A57"/>
            </a:solidFill>
            <a:prstDash val="solid"/>
          </a:ln>
        </p:spPr>
      </p:sp>
      <p:sp>
        <p:nvSpPr>
          <p:cNvPr id="46" name="Text 44"/>
          <p:cNvSpPr txBox="1"/>
          <p:nvPr/>
        </p:nvSpPr>
        <p:spPr>
          <a:xfrm>
            <a:off x="9070848" y="5747004"/>
            <a:ext cx="2084832" cy="182880"/>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2D8A57"/>
                </a:solidFill>
                <a:latin typeface="Hiragino Sans GB" pitchFamily="34" charset="0"/>
                <a:ea typeface="Hiragino Sans GB" pitchFamily="34" charset="-122"/>
                <a:cs typeface="Hiragino Sans GB" pitchFamily="34" charset="-120"/>
              </a:rPr>
              <a:t>在未来世界中规划</a:t>
            </a:r>
            <a:endParaRPr lang="en-US" sz="8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方法必要性</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多期约束场景需要模型式规划</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Paper9 以局部转移学习表达非线性影响，并通过受约束前瞻规划处理组合动作和硬约束。</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理论来源：MDP / model-based RL / MPC / constrained optimization；项目来源：Paper9v2 algorithm and versioning；双数据 E2E 报告</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07 / 29</a:t>
            </a:r>
            <a:endParaRPr lang="en-US" sz="670" dirty="0"/>
          </a:p>
        </p:txBody>
      </p:sp>
      <p:sp>
        <p:nvSpPr>
          <p:cNvPr id="10" name="Text 8"/>
          <p:cNvSpPr txBox="1"/>
          <p:nvPr/>
        </p:nvSpPr>
        <p:spPr>
          <a:xfrm>
            <a:off x="530352" y="1490472"/>
            <a:ext cx="1847088" cy="219456"/>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6C7C80"/>
                </a:solidFill>
                <a:latin typeface="Hiragino Sans GB" pitchFamily="34" charset="0"/>
                <a:ea typeface="Hiragino Sans GB" pitchFamily="34" charset="-122"/>
                <a:cs typeface="Hiragino Sans GB" pitchFamily="34" charset="-120"/>
              </a:rPr>
              <a:t>方法</a:t>
            </a:r>
            <a:endParaRPr lang="en-US" sz="850" dirty="0"/>
          </a:p>
        </p:txBody>
      </p:sp>
      <p:sp>
        <p:nvSpPr>
          <p:cNvPr id="11" name="Text 9"/>
          <p:cNvSpPr txBox="1"/>
          <p:nvPr/>
        </p:nvSpPr>
        <p:spPr>
          <a:xfrm>
            <a:off x="2487168" y="1490472"/>
            <a:ext cx="3310128" cy="219456"/>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6C7C80"/>
                </a:solidFill>
                <a:latin typeface="Hiragino Sans GB" pitchFamily="34" charset="0"/>
                <a:ea typeface="Hiragino Sans GB" pitchFamily="34" charset="-122"/>
                <a:cs typeface="Hiragino Sans GB" pitchFamily="34" charset="-120"/>
              </a:rPr>
              <a:t>适用优势</a:t>
            </a:r>
            <a:endParaRPr lang="en-US" sz="850" dirty="0"/>
          </a:p>
        </p:txBody>
      </p:sp>
      <p:sp>
        <p:nvSpPr>
          <p:cNvPr id="12" name="Text 10"/>
          <p:cNvSpPr txBox="1"/>
          <p:nvPr/>
        </p:nvSpPr>
        <p:spPr>
          <a:xfrm>
            <a:off x="5989320" y="1490472"/>
            <a:ext cx="5413248" cy="219456"/>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6C7C80"/>
                </a:solidFill>
                <a:latin typeface="Hiragino Sans GB" pitchFamily="34" charset="0"/>
                <a:ea typeface="Hiragino Sans GB" pitchFamily="34" charset="-122"/>
                <a:cs typeface="Hiragino Sans GB" pitchFamily="34" charset="-120"/>
              </a:rPr>
              <a:t>复杂场景局限</a:t>
            </a:r>
            <a:endParaRPr lang="en-US" sz="850" dirty="0"/>
          </a:p>
        </p:txBody>
      </p:sp>
      <p:sp>
        <p:nvSpPr>
          <p:cNvPr id="13" name="Shape 11"/>
          <p:cNvSpPr/>
          <p:nvPr/>
        </p:nvSpPr>
        <p:spPr>
          <a:xfrm>
            <a:off x="512064" y="1773936"/>
            <a:ext cx="10972800" cy="576072"/>
          </a:xfrm>
          <a:prstGeom prst="roundRect">
            <a:avLst>
              <a:gd name="adj" fmla="val 3175"/>
            </a:avLst>
          </a:prstGeom>
          <a:solidFill>
            <a:srgbClr val="FFFFFF"/>
          </a:solidFill>
          <a:ln w="5715">
            <a:solidFill>
              <a:srgbClr val="D0DBD8"/>
            </a:solidFill>
            <a:prstDash val="solid"/>
          </a:ln>
        </p:spPr>
      </p:sp>
      <p:sp>
        <p:nvSpPr>
          <p:cNvPr id="14" name="Shape 12"/>
          <p:cNvSpPr/>
          <p:nvPr/>
        </p:nvSpPr>
        <p:spPr>
          <a:xfrm>
            <a:off x="512064" y="1773936"/>
            <a:ext cx="100584" cy="576072"/>
          </a:xfrm>
          <a:prstGeom prst="rect">
            <a:avLst/>
          </a:prstGeom>
          <a:solidFill>
            <a:srgbClr val="356CA8"/>
          </a:solidFill>
          <a:ln w="12700">
            <a:solidFill>
              <a:srgbClr val="356CA8"/>
            </a:solidFill>
            <a:prstDash val="solid"/>
          </a:ln>
        </p:spPr>
      </p:sp>
      <p:sp>
        <p:nvSpPr>
          <p:cNvPr id="15" name="Text 13"/>
          <p:cNvSpPr txBox="1"/>
          <p:nvPr/>
        </p:nvSpPr>
        <p:spPr>
          <a:xfrm>
            <a:off x="713232" y="1901952"/>
            <a:ext cx="1645920" cy="256032"/>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356CA8"/>
                </a:solidFill>
                <a:latin typeface="Hiragino Sans GB" pitchFamily="34" charset="0"/>
                <a:ea typeface="Hiragino Sans GB" pitchFamily="34" charset="-122"/>
                <a:cs typeface="Hiragino Sans GB" pitchFamily="34" charset="-120"/>
              </a:rPr>
              <a:t>加权叠加 / MCE</a:t>
            </a:r>
            <a:endParaRPr lang="en-US" sz="900" dirty="0"/>
          </a:p>
        </p:txBody>
      </p:sp>
      <p:sp>
        <p:nvSpPr>
          <p:cNvPr id="16" name="Text 14"/>
          <p:cNvSpPr txBox="1"/>
          <p:nvPr/>
        </p:nvSpPr>
        <p:spPr>
          <a:xfrm>
            <a:off x="2532888" y="1856232"/>
            <a:ext cx="3200400"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静态适宜性清晰、解释直观</a:t>
            </a:r>
            <a:endParaRPr lang="en-US" sz="800" dirty="0"/>
          </a:p>
        </p:txBody>
      </p:sp>
      <p:sp>
        <p:nvSpPr>
          <p:cNvPr id="17" name="Text 15"/>
          <p:cNvSpPr txBox="1"/>
          <p:nvPr/>
        </p:nvSpPr>
        <p:spPr>
          <a:xfrm>
            <a:off x="5961888" y="1856232"/>
            <a:ext cx="5321808"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不描述动作后的状态写回；权重难覆盖时滞与相互作用</a:t>
            </a:r>
            <a:endParaRPr lang="en-US" sz="800" dirty="0"/>
          </a:p>
        </p:txBody>
      </p:sp>
      <p:sp>
        <p:nvSpPr>
          <p:cNvPr id="18" name="Shape 16"/>
          <p:cNvSpPr/>
          <p:nvPr/>
        </p:nvSpPr>
        <p:spPr>
          <a:xfrm>
            <a:off x="512064" y="2450592"/>
            <a:ext cx="10972800" cy="576072"/>
          </a:xfrm>
          <a:prstGeom prst="roundRect">
            <a:avLst>
              <a:gd name="adj" fmla="val 3175"/>
            </a:avLst>
          </a:prstGeom>
          <a:solidFill>
            <a:srgbClr val="EDF1F0"/>
          </a:solidFill>
          <a:ln w="5715">
            <a:solidFill>
              <a:srgbClr val="D0DBD8"/>
            </a:solidFill>
            <a:prstDash val="solid"/>
          </a:ln>
        </p:spPr>
      </p:sp>
      <p:sp>
        <p:nvSpPr>
          <p:cNvPr id="19" name="Shape 17"/>
          <p:cNvSpPr/>
          <p:nvPr/>
        </p:nvSpPr>
        <p:spPr>
          <a:xfrm>
            <a:off x="512064" y="2450592"/>
            <a:ext cx="100584" cy="576072"/>
          </a:xfrm>
          <a:prstGeom prst="rect">
            <a:avLst/>
          </a:prstGeom>
          <a:solidFill>
            <a:srgbClr val="705FA7"/>
          </a:solidFill>
          <a:ln w="12700">
            <a:solidFill>
              <a:srgbClr val="705FA7"/>
            </a:solidFill>
            <a:prstDash val="solid"/>
          </a:ln>
        </p:spPr>
      </p:sp>
      <p:sp>
        <p:nvSpPr>
          <p:cNvPr id="20" name="Text 18"/>
          <p:cNvSpPr txBox="1"/>
          <p:nvPr/>
        </p:nvSpPr>
        <p:spPr>
          <a:xfrm>
            <a:off x="713232" y="2578608"/>
            <a:ext cx="1645920" cy="256032"/>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705FA7"/>
                </a:solidFill>
                <a:latin typeface="Hiragino Sans GB" pitchFamily="34" charset="0"/>
                <a:ea typeface="Hiragino Sans GB" pitchFamily="34" charset="-122"/>
                <a:cs typeface="Hiragino Sans GB" pitchFamily="34" charset="-120"/>
              </a:rPr>
              <a:t>数学规划</a:t>
            </a:r>
            <a:endParaRPr lang="en-US" sz="900" dirty="0"/>
          </a:p>
        </p:txBody>
      </p:sp>
      <p:sp>
        <p:nvSpPr>
          <p:cNvPr id="21" name="Text 19"/>
          <p:cNvSpPr txBox="1"/>
          <p:nvPr/>
        </p:nvSpPr>
        <p:spPr>
          <a:xfrm>
            <a:off x="2532888" y="2532888"/>
            <a:ext cx="3200400"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目标和约束已知时可给强基线甚至最优解</a:t>
            </a:r>
            <a:endParaRPr lang="en-US" sz="800" dirty="0"/>
          </a:p>
        </p:txBody>
      </p:sp>
      <p:sp>
        <p:nvSpPr>
          <p:cNvPr id="22" name="Text 20"/>
          <p:cNvSpPr txBox="1"/>
          <p:nvPr/>
        </p:nvSpPr>
        <p:spPr>
          <a:xfrm>
            <a:off x="5961888" y="2532888"/>
            <a:ext cx="5321808"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县域图斑组合巨大；真实转移函数往往不完整或非线性</a:t>
            </a:r>
            <a:endParaRPr lang="en-US" sz="800" dirty="0"/>
          </a:p>
        </p:txBody>
      </p:sp>
      <p:sp>
        <p:nvSpPr>
          <p:cNvPr id="23" name="Shape 21"/>
          <p:cNvSpPr/>
          <p:nvPr/>
        </p:nvSpPr>
        <p:spPr>
          <a:xfrm>
            <a:off x="512064" y="3127248"/>
            <a:ext cx="10972800" cy="576072"/>
          </a:xfrm>
          <a:prstGeom prst="roundRect">
            <a:avLst>
              <a:gd name="adj" fmla="val 3175"/>
            </a:avLst>
          </a:prstGeom>
          <a:solidFill>
            <a:srgbClr val="FFFFFF"/>
          </a:solidFill>
          <a:ln w="5715">
            <a:solidFill>
              <a:srgbClr val="D0DBD8"/>
            </a:solidFill>
            <a:prstDash val="solid"/>
          </a:ln>
        </p:spPr>
      </p:sp>
      <p:sp>
        <p:nvSpPr>
          <p:cNvPr id="24" name="Shape 22"/>
          <p:cNvSpPr/>
          <p:nvPr/>
        </p:nvSpPr>
        <p:spPr>
          <a:xfrm>
            <a:off x="512064" y="3127248"/>
            <a:ext cx="100584" cy="576072"/>
          </a:xfrm>
          <a:prstGeom prst="rect">
            <a:avLst/>
          </a:prstGeom>
          <a:solidFill>
            <a:srgbClr val="B17B20"/>
          </a:solidFill>
          <a:ln w="12700">
            <a:solidFill>
              <a:srgbClr val="B17B20"/>
            </a:solidFill>
            <a:prstDash val="solid"/>
          </a:ln>
        </p:spPr>
      </p:sp>
      <p:sp>
        <p:nvSpPr>
          <p:cNvPr id="25" name="Text 23"/>
          <p:cNvSpPr txBox="1"/>
          <p:nvPr/>
        </p:nvSpPr>
        <p:spPr>
          <a:xfrm>
            <a:off x="713232" y="3255264"/>
            <a:ext cx="1645920" cy="256032"/>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B17B20"/>
                </a:solidFill>
                <a:latin typeface="Hiragino Sans GB" pitchFamily="34" charset="0"/>
                <a:ea typeface="Hiragino Sans GB" pitchFamily="34" charset="-122"/>
                <a:cs typeface="Hiragino Sans GB" pitchFamily="34" charset="-120"/>
              </a:rPr>
              <a:t>CA / FLUS</a:t>
            </a:r>
            <a:endParaRPr lang="en-US" sz="900" dirty="0"/>
          </a:p>
        </p:txBody>
      </p:sp>
      <p:sp>
        <p:nvSpPr>
          <p:cNvPr id="26" name="Text 24"/>
          <p:cNvSpPr txBox="1"/>
          <p:nvPr/>
        </p:nvSpPr>
        <p:spPr>
          <a:xfrm>
            <a:off x="2532888" y="3209544"/>
            <a:ext cx="3200400"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土地利用格局与多地类空间分配成熟</a:t>
            </a:r>
            <a:endParaRPr lang="en-US" sz="800" dirty="0"/>
          </a:p>
        </p:txBody>
      </p:sp>
      <p:sp>
        <p:nvSpPr>
          <p:cNvPr id="27" name="Text 25"/>
          <p:cNvSpPr txBox="1"/>
          <p:nvPr/>
        </p:nvSpPr>
        <p:spPr>
          <a:xfrm>
            <a:off x="5961888" y="3209544"/>
            <a:ext cx="5321808"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主要模拟地类转化，难直接表达逐宗治理动作与审计门槛</a:t>
            </a:r>
            <a:endParaRPr lang="en-US" sz="800" dirty="0"/>
          </a:p>
        </p:txBody>
      </p:sp>
      <p:sp>
        <p:nvSpPr>
          <p:cNvPr id="28" name="Shape 26"/>
          <p:cNvSpPr/>
          <p:nvPr/>
        </p:nvSpPr>
        <p:spPr>
          <a:xfrm>
            <a:off x="512064" y="3803904"/>
            <a:ext cx="10972800" cy="576072"/>
          </a:xfrm>
          <a:prstGeom prst="roundRect">
            <a:avLst>
              <a:gd name="adj" fmla="val 3175"/>
            </a:avLst>
          </a:prstGeom>
          <a:solidFill>
            <a:srgbClr val="EDF1F0"/>
          </a:solidFill>
          <a:ln w="5715">
            <a:solidFill>
              <a:srgbClr val="D0DBD8"/>
            </a:solidFill>
            <a:prstDash val="solid"/>
          </a:ln>
        </p:spPr>
      </p:sp>
      <p:sp>
        <p:nvSpPr>
          <p:cNvPr id="29" name="Shape 27"/>
          <p:cNvSpPr/>
          <p:nvPr/>
        </p:nvSpPr>
        <p:spPr>
          <a:xfrm>
            <a:off x="512064" y="3803904"/>
            <a:ext cx="100584" cy="576072"/>
          </a:xfrm>
          <a:prstGeom prst="rect">
            <a:avLst/>
          </a:prstGeom>
          <a:solidFill>
            <a:srgbClr val="B04A50"/>
          </a:solidFill>
          <a:ln w="12700">
            <a:solidFill>
              <a:srgbClr val="B04A50"/>
            </a:solidFill>
            <a:prstDash val="solid"/>
          </a:ln>
        </p:spPr>
      </p:sp>
      <p:sp>
        <p:nvSpPr>
          <p:cNvPr id="30" name="Text 28"/>
          <p:cNvSpPr txBox="1"/>
          <p:nvPr/>
        </p:nvSpPr>
        <p:spPr>
          <a:xfrm>
            <a:off x="713232" y="3931920"/>
            <a:ext cx="1645920" cy="256032"/>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B04A50"/>
                </a:solidFill>
                <a:latin typeface="Hiragino Sans GB" pitchFamily="34" charset="0"/>
                <a:ea typeface="Hiragino Sans GB" pitchFamily="34" charset="-122"/>
                <a:cs typeface="Hiragino Sans GB" pitchFamily="34" charset="-120"/>
              </a:rPr>
              <a:t>贪心 / 元启发式</a:t>
            </a:r>
            <a:endParaRPr lang="en-US" sz="900" dirty="0"/>
          </a:p>
        </p:txBody>
      </p:sp>
      <p:sp>
        <p:nvSpPr>
          <p:cNvPr id="31" name="Text 29"/>
          <p:cNvSpPr txBox="1"/>
          <p:nvPr/>
        </p:nvSpPr>
        <p:spPr>
          <a:xfrm>
            <a:off x="2532888" y="3886200"/>
            <a:ext cx="3200400"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易部署，局部搜索成本较低</a:t>
            </a:r>
            <a:endParaRPr lang="en-US" sz="800" dirty="0"/>
          </a:p>
        </p:txBody>
      </p:sp>
      <p:sp>
        <p:nvSpPr>
          <p:cNvPr id="32" name="Text 30"/>
          <p:cNvSpPr txBox="1"/>
          <p:nvPr/>
        </p:nvSpPr>
        <p:spPr>
          <a:xfrm>
            <a:off x="5961888" y="3886200"/>
            <a:ext cx="5321808"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偏重即时收益，容易错过延迟效应和动作序列组合</a:t>
            </a:r>
            <a:endParaRPr lang="en-US" sz="800" dirty="0"/>
          </a:p>
        </p:txBody>
      </p:sp>
      <p:sp>
        <p:nvSpPr>
          <p:cNvPr id="33" name="Shape 31"/>
          <p:cNvSpPr/>
          <p:nvPr/>
        </p:nvSpPr>
        <p:spPr>
          <a:xfrm>
            <a:off x="512064" y="4480560"/>
            <a:ext cx="10972800" cy="576072"/>
          </a:xfrm>
          <a:prstGeom prst="roundRect">
            <a:avLst>
              <a:gd name="adj" fmla="val 3175"/>
            </a:avLst>
          </a:prstGeom>
          <a:solidFill>
            <a:srgbClr val="FFFFFF"/>
          </a:solidFill>
          <a:ln w="5715">
            <a:solidFill>
              <a:srgbClr val="D0DBD8"/>
            </a:solidFill>
            <a:prstDash val="solid"/>
          </a:ln>
        </p:spPr>
      </p:sp>
      <p:sp>
        <p:nvSpPr>
          <p:cNvPr id="34" name="Shape 32"/>
          <p:cNvSpPr/>
          <p:nvPr/>
        </p:nvSpPr>
        <p:spPr>
          <a:xfrm>
            <a:off x="512064" y="4480560"/>
            <a:ext cx="100584" cy="576072"/>
          </a:xfrm>
          <a:prstGeom prst="rect">
            <a:avLst/>
          </a:prstGeom>
          <a:solidFill>
            <a:srgbClr val="2D8A57"/>
          </a:solidFill>
          <a:ln w="12700">
            <a:solidFill>
              <a:srgbClr val="2D8A57"/>
            </a:solidFill>
            <a:prstDash val="solid"/>
          </a:ln>
        </p:spPr>
      </p:sp>
      <p:sp>
        <p:nvSpPr>
          <p:cNvPr id="35" name="Text 33"/>
          <p:cNvSpPr txBox="1"/>
          <p:nvPr/>
        </p:nvSpPr>
        <p:spPr>
          <a:xfrm>
            <a:off x="713232" y="4608576"/>
            <a:ext cx="1645920" cy="256032"/>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2D8A57"/>
                </a:solidFill>
                <a:latin typeface="Arial" pitchFamily="34" charset="0"/>
                <a:ea typeface="Arial" pitchFamily="34" charset="-122"/>
                <a:cs typeface="Arial" pitchFamily="34" charset="-120"/>
              </a:rPr>
              <a:t>Model-free DRL</a:t>
            </a:r>
            <a:endParaRPr lang="en-US" sz="900" dirty="0"/>
          </a:p>
        </p:txBody>
      </p:sp>
      <p:sp>
        <p:nvSpPr>
          <p:cNvPr id="36" name="Text 34"/>
          <p:cNvSpPr txBox="1"/>
          <p:nvPr/>
        </p:nvSpPr>
        <p:spPr>
          <a:xfrm>
            <a:off x="2532888" y="4562856"/>
            <a:ext cx="3200400"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可学习复杂策略</a:t>
            </a:r>
            <a:endParaRPr lang="en-US" sz="800" dirty="0"/>
          </a:p>
        </p:txBody>
      </p:sp>
      <p:sp>
        <p:nvSpPr>
          <p:cNvPr id="37" name="Text 35"/>
          <p:cNvSpPr txBox="1"/>
          <p:nvPr/>
        </p:nvSpPr>
        <p:spPr>
          <a:xfrm>
            <a:off x="5961888" y="4562856"/>
            <a:ext cx="5321808" cy="365760"/>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样本效率低；没有显式未来状态，反事实解释和复演较弱</a:t>
            </a:r>
            <a:endParaRPr lang="en-US" sz="800" dirty="0"/>
          </a:p>
        </p:txBody>
      </p:sp>
      <p:sp>
        <p:nvSpPr>
          <p:cNvPr id="38" name="Text 36"/>
          <p:cNvSpPr txBox="1"/>
          <p:nvPr/>
        </p:nvSpPr>
        <p:spPr>
          <a:xfrm>
            <a:off x="649224" y="5367528"/>
            <a:ext cx="1865376" cy="265176"/>
          </a:xfrm>
          <a:prstGeom prst="rect">
            <a:avLst/>
          </a:prstGeom>
          <a:noFill/>
          <a:ln/>
        </p:spPr>
        <p:txBody>
          <a:bodyPr wrap="square" lIns="0" tIns="0" rIns="0" bIns="0" rtlCol="0" anchor="ctr">
            <a:normAutofit/>
          </a:bodyPr>
          <a:lstStyle/>
          <a:p>
            <a:pPr algn="l" indent="0" marL="0">
              <a:lnSpc>
                <a:spcPct val="92000"/>
              </a:lnSpc>
              <a:buNone/>
            </a:pPr>
            <a:r>
              <a:rPr lang="en-US" sz="1270" b="1" dirty="0">
                <a:solidFill>
                  <a:srgbClr val="17252A"/>
                </a:solidFill>
                <a:latin typeface="Hiragino Sans GB" pitchFamily="34" charset="0"/>
                <a:ea typeface="Hiragino Sans GB" pitchFamily="34" charset="-122"/>
                <a:cs typeface="Hiragino Sans GB" pitchFamily="34" charset="-120"/>
              </a:rPr>
              <a:t>Paper9 方法组合</a:t>
            </a:r>
            <a:endParaRPr lang="en-US" sz="1270" dirty="0"/>
          </a:p>
        </p:txBody>
      </p:sp>
      <p:sp>
        <p:nvSpPr>
          <p:cNvPr id="39" name="Shape 37"/>
          <p:cNvSpPr/>
          <p:nvPr/>
        </p:nvSpPr>
        <p:spPr>
          <a:xfrm>
            <a:off x="2532888" y="5239512"/>
            <a:ext cx="1956816" cy="749808"/>
          </a:xfrm>
          <a:prstGeom prst="roundRect">
            <a:avLst>
              <a:gd name="adj" fmla="val 6098"/>
            </a:avLst>
          </a:prstGeom>
          <a:solidFill>
            <a:srgbClr val="E2F2EF"/>
          </a:solidFill>
          <a:ln w="8890">
            <a:solidFill>
              <a:srgbClr val="137F7A"/>
            </a:solidFill>
            <a:prstDash val="solid"/>
          </a:ln>
        </p:spPr>
      </p:sp>
      <p:sp>
        <p:nvSpPr>
          <p:cNvPr id="40" name="Text 38"/>
          <p:cNvSpPr txBox="1"/>
          <p:nvPr/>
        </p:nvSpPr>
        <p:spPr>
          <a:xfrm>
            <a:off x="2633472" y="5376672"/>
            <a:ext cx="1755648" cy="219456"/>
          </a:xfrm>
          <a:prstGeom prst="rect">
            <a:avLst/>
          </a:prstGeom>
          <a:noFill/>
          <a:ln/>
        </p:spPr>
        <p:txBody>
          <a:bodyPr wrap="square" lIns="0" tIns="0" rIns="0" bIns="0" rtlCol="0" anchor="ctr">
            <a:normAutofit/>
          </a:bodyPr>
          <a:lstStyle/>
          <a:p>
            <a:pPr algn="ctr" indent="0" marL="0">
              <a:lnSpc>
                <a:spcPct val="92000"/>
              </a:lnSpc>
              <a:buNone/>
            </a:pPr>
            <a:r>
              <a:rPr lang="en-US" sz="930" b="1" dirty="0">
                <a:solidFill>
                  <a:srgbClr val="0E5C59"/>
                </a:solidFill>
                <a:latin typeface="Hiragino Sans GB" pitchFamily="34" charset="0"/>
                <a:ea typeface="Hiragino Sans GB" pitchFamily="34" charset="-122"/>
                <a:cs typeface="Hiragino Sans GB" pitchFamily="34" charset="-120"/>
              </a:rPr>
              <a:t>学习转移</a:t>
            </a:r>
            <a:endParaRPr lang="en-US" sz="930" dirty="0"/>
          </a:p>
        </p:txBody>
      </p:sp>
      <p:sp>
        <p:nvSpPr>
          <p:cNvPr id="41" name="Text 39"/>
          <p:cNvSpPr txBox="1"/>
          <p:nvPr/>
        </p:nvSpPr>
        <p:spPr>
          <a:xfrm>
            <a:off x="2642616" y="5669280"/>
            <a:ext cx="1737360" cy="201168"/>
          </a:xfrm>
          <a:prstGeom prst="rect">
            <a:avLst/>
          </a:prstGeom>
          <a:noFill/>
          <a:ln/>
        </p:spPr>
        <p:txBody>
          <a:bodyPr wrap="square" lIns="0" tIns="0" rIns="0" bIns="0" rtlCol="0" anchor="ctr">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ensemble 预测状态与奖励</a:t>
            </a:r>
            <a:endParaRPr lang="en-US" sz="720" dirty="0"/>
          </a:p>
        </p:txBody>
      </p:sp>
      <p:sp>
        <p:nvSpPr>
          <p:cNvPr id="42" name="Shape 40"/>
          <p:cNvSpPr/>
          <p:nvPr/>
        </p:nvSpPr>
        <p:spPr>
          <a:xfrm>
            <a:off x="4718304" y="5239512"/>
            <a:ext cx="1956816" cy="749808"/>
          </a:xfrm>
          <a:prstGeom prst="roundRect">
            <a:avLst>
              <a:gd name="adj" fmla="val 6098"/>
            </a:avLst>
          </a:prstGeom>
          <a:solidFill>
            <a:srgbClr val="E2F2EF"/>
          </a:solidFill>
          <a:ln w="8890">
            <a:solidFill>
              <a:srgbClr val="137F7A"/>
            </a:solidFill>
            <a:prstDash val="solid"/>
          </a:ln>
        </p:spPr>
      </p:sp>
      <p:sp>
        <p:nvSpPr>
          <p:cNvPr id="43" name="Text 41"/>
          <p:cNvSpPr txBox="1"/>
          <p:nvPr/>
        </p:nvSpPr>
        <p:spPr>
          <a:xfrm>
            <a:off x="4818888" y="5376672"/>
            <a:ext cx="1755648" cy="219456"/>
          </a:xfrm>
          <a:prstGeom prst="rect">
            <a:avLst/>
          </a:prstGeom>
          <a:noFill/>
          <a:ln/>
        </p:spPr>
        <p:txBody>
          <a:bodyPr wrap="square" lIns="0" tIns="0" rIns="0" bIns="0" rtlCol="0" anchor="ctr">
            <a:normAutofit/>
          </a:bodyPr>
          <a:lstStyle/>
          <a:p>
            <a:pPr algn="ctr" indent="0" marL="0">
              <a:lnSpc>
                <a:spcPct val="92000"/>
              </a:lnSpc>
              <a:buNone/>
            </a:pPr>
            <a:r>
              <a:rPr lang="en-US" sz="930" b="1" dirty="0">
                <a:solidFill>
                  <a:srgbClr val="0E5C59"/>
                </a:solidFill>
                <a:latin typeface="Hiragino Sans GB" pitchFamily="34" charset="0"/>
                <a:ea typeface="Hiragino Sans GB" pitchFamily="34" charset="-122"/>
                <a:cs typeface="Hiragino Sans GB" pitchFamily="34" charset="-120"/>
              </a:rPr>
              <a:t>候选排序</a:t>
            </a:r>
            <a:endParaRPr lang="en-US" sz="930" dirty="0"/>
          </a:p>
        </p:txBody>
      </p:sp>
      <p:sp>
        <p:nvSpPr>
          <p:cNvPr id="44" name="Text 42"/>
          <p:cNvSpPr txBox="1"/>
          <p:nvPr/>
        </p:nvSpPr>
        <p:spPr>
          <a:xfrm>
            <a:off x="4828032" y="5669280"/>
            <a:ext cx="1737360" cy="201168"/>
          </a:xfrm>
          <a:prstGeom prst="rect">
            <a:avLst/>
          </a:prstGeom>
          <a:noFill/>
          <a:ln/>
        </p:spPr>
        <p:txBody>
          <a:bodyPr wrap="square" lIns="0" tIns="0" rIns="0" bIns="0" rtlCol="0" anchor="ctr">
            <a:normAutofit/>
          </a:bodyPr>
          <a:lstStyle/>
          <a:p>
            <a:pPr algn="ctr" indent="0" marL="0">
              <a:lnSpc>
                <a:spcPct val="92000"/>
              </a:lnSpc>
              <a:buNone/>
            </a:pPr>
            <a:r>
              <a:rPr lang="en-US" sz="720" dirty="0">
                <a:solidFill>
                  <a:srgbClr val="32474D"/>
                </a:solidFill>
                <a:latin typeface="Arial" pitchFamily="34" charset="0"/>
                <a:ea typeface="Arial" pitchFamily="34" charset="-122"/>
                <a:cs typeface="Arial" pitchFamily="34" charset="-120"/>
              </a:rPr>
              <a:t>pairwise margin loss 区分近似候选</a:t>
            </a:r>
            <a:endParaRPr lang="en-US" sz="720" dirty="0"/>
          </a:p>
        </p:txBody>
      </p:sp>
      <p:sp>
        <p:nvSpPr>
          <p:cNvPr id="45" name="Shape 43"/>
          <p:cNvSpPr/>
          <p:nvPr/>
        </p:nvSpPr>
        <p:spPr>
          <a:xfrm>
            <a:off x="6903720" y="5239512"/>
            <a:ext cx="1956816" cy="749808"/>
          </a:xfrm>
          <a:prstGeom prst="roundRect">
            <a:avLst>
              <a:gd name="adj" fmla="val 6098"/>
            </a:avLst>
          </a:prstGeom>
          <a:solidFill>
            <a:srgbClr val="E2F2EF"/>
          </a:solidFill>
          <a:ln w="8890">
            <a:solidFill>
              <a:srgbClr val="137F7A"/>
            </a:solidFill>
            <a:prstDash val="solid"/>
          </a:ln>
        </p:spPr>
      </p:sp>
      <p:sp>
        <p:nvSpPr>
          <p:cNvPr id="46" name="Text 44"/>
          <p:cNvSpPr txBox="1"/>
          <p:nvPr/>
        </p:nvSpPr>
        <p:spPr>
          <a:xfrm>
            <a:off x="7004304" y="5376672"/>
            <a:ext cx="1755648" cy="219456"/>
          </a:xfrm>
          <a:prstGeom prst="rect">
            <a:avLst/>
          </a:prstGeom>
          <a:noFill/>
          <a:ln/>
        </p:spPr>
        <p:txBody>
          <a:bodyPr wrap="square" lIns="0" tIns="0" rIns="0" bIns="0" rtlCol="0" anchor="ctr">
            <a:normAutofit/>
          </a:bodyPr>
          <a:lstStyle/>
          <a:p>
            <a:pPr algn="ctr" indent="0" marL="0">
              <a:lnSpc>
                <a:spcPct val="92000"/>
              </a:lnSpc>
              <a:buNone/>
            </a:pPr>
            <a:r>
              <a:rPr lang="en-US" sz="930" b="1" dirty="0">
                <a:solidFill>
                  <a:srgbClr val="0E5C59"/>
                </a:solidFill>
                <a:latin typeface="Hiragino Sans GB" pitchFamily="34" charset="0"/>
                <a:ea typeface="Hiragino Sans GB" pitchFamily="34" charset="-122"/>
                <a:cs typeface="Hiragino Sans GB" pitchFamily="34" charset="-120"/>
              </a:rPr>
              <a:t>多步规划</a:t>
            </a:r>
            <a:endParaRPr lang="en-US" sz="930" dirty="0"/>
          </a:p>
        </p:txBody>
      </p:sp>
      <p:sp>
        <p:nvSpPr>
          <p:cNvPr id="47" name="Text 45"/>
          <p:cNvSpPr txBox="1"/>
          <p:nvPr/>
        </p:nvSpPr>
        <p:spPr>
          <a:xfrm>
            <a:off x="7013448" y="5669280"/>
            <a:ext cx="1737360" cy="201168"/>
          </a:xfrm>
          <a:prstGeom prst="rect">
            <a:avLst/>
          </a:prstGeom>
          <a:noFill/>
          <a:ln/>
        </p:spPr>
        <p:txBody>
          <a:bodyPr wrap="square" lIns="0" tIns="0" rIns="0" bIns="0" rtlCol="0" anchor="ctr">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MPC 比较 H=5 的动作序列</a:t>
            </a:r>
            <a:endParaRPr lang="en-US" sz="720" dirty="0"/>
          </a:p>
        </p:txBody>
      </p:sp>
      <p:sp>
        <p:nvSpPr>
          <p:cNvPr id="48" name="Shape 46"/>
          <p:cNvSpPr/>
          <p:nvPr/>
        </p:nvSpPr>
        <p:spPr>
          <a:xfrm>
            <a:off x="9089136" y="5239512"/>
            <a:ext cx="1956816" cy="749808"/>
          </a:xfrm>
          <a:prstGeom prst="roundRect">
            <a:avLst>
              <a:gd name="adj" fmla="val 6098"/>
            </a:avLst>
          </a:prstGeom>
          <a:solidFill>
            <a:srgbClr val="E7F3EA"/>
          </a:solidFill>
          <a:ln w="8890">
            <a:solidFill>
              <a:srgbClr val="2D8A57"/>
            </a:solidFill>
            <a:prstDash val="solid"/>
          </a:ln>
        </p:spPr>
      </p:sp>
      <p:sp>
        <p:nvSpPr>
          <p:cNvPr id="49" name="Text 47"/>
          <p:cNvSpPr txBox="1"/>
          <p:nvPr/>
        </p:nvSpPr>
        <p:spPr>
          <a:xfrm>
            <a:off x="9189720" y="5376672"/>
            <a:ext cx="1755648" cy="219456"/>
          </a:xfrm>
          <a:prstGeom prst="rect">
            <a:avLst/>
          </a:prstGeom>
          <a:noFill/>
          <a:ln/>
        </p:spPr>
        <p:txBody>
          <a:bodyPr wrap="square" lIns="0" tIns="0" rIns="0" bIns="0" rtlCol="0" anchor="ctr">
            <a:normAutofit/>
          </a:bodyPr>
          <a:lstStyle/>
          <a:p>
            <a:pPr algn="ctr" indent="0" marL="0">
              <a:lnSpc>
                <a:spcPct val="92000"/>
              </a:lnSpc>
              <a:buNone/>
            </a:pPr>
            <a:r>
              <a:rPr lang="en-US" sz="930" b="1" dirty="0">
                <a:solidFill>
                  <a:srgbClr val="2D8A57"/>
                </a:solidFill>
                <a:latin typeface="Hiragino Sans GB" pitchFamily="34" charset="0"/>
                <a:ea typeface="Hiragino Sans GB" pitchFamily="34" charset="-122"/>
                <a:cs typeface="Hiragino Sans GB" pitchFamily="34" charset="-120"/>
              </a:rPr>
              <a:t>硬约束门控</a:t>
            </a:r>
            <a:endParaRPr lang="en-US" sz="930" dirty="0"/>
          </a:p>
        </p:txBody>
      </p:sp>
      <p:sp>
        <p:nvSpPr>
          <p:cNvPr id="50" name="Text 48"/>
          <p:cNvSpPr txBox="1"/>
          <p:nvPr/>
        </p:nvSpPr>
        <p:spPr>
          <a:xfrm>
            <a:off x="9198864" y="5669280"/>
            <a:ext cx="1737360" cy="201168"/>
          </a:xfrm>
          <a:prstGeom prst="rect">
            <a:avLst/>
          </a:prstGeom>
          <a:noFill/>
          <a:ln/>
        </p:spPr>
        <p:txBody>
          <a:bodyPr wrap="square" lIns="0" tIns="0" rIns="0" bIns="0" rtlCol="0" anchor="ctr">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action mask + area floor + audit gate</a:t>
            </a:r>
            <a:endParaRPr lang="en-US" sz="720" dirty="0"/>
          </a:p>
        </p:txBody>
      </p:sp>
      <p:sp>
        <p:nvSpPr>
          <p:cNvPr id="51" name="Text 49"/>
          <p:cNvSpPr txBox="1"/>
          <p:nvPr/>
        </p:nvSpPr>
        <p:spPr>
          <a:xfrm>
            <a:off x="1271016" y="6153912"/>
            <a:ext cx="9637776" cy="173736"/>
          </a:xfrm>
          <a:prstGeom prst="rect">
            <a:avLst/>
          </a:prstGeom>
          <a:noFill/>
          <a:ln/>
        </p:spPr>
        <p:txBody>
          <a:bodyPr wrap="square" lIns="0" tIns="0" rIns="0" bIns="0" rtlCol="0" anchor="ctr">
            <a:normAutofit/>
          </a:bodyPr>
          <a:lstStyle/>
          <a:p>
            <a:pPr algn="ctr" indent="0" marL="0">
              <a:lnSpc>
                <a:spcPct val="92000"/>
              </a:lnSpc>
              <a:buNone/>
            </a:pPr>
            <a:r>
              <a:rPr lang="en-US" sz="790" b="1" dirty="0">
                <a:solidFill>
                  <a:srgbClr val="6C7C80"/>
                </a:solidFill>
                <a:latin typeface="Hiragino Sans GB" pitchFamily="34" charset="0"/>
                <a:ea typeface="Hiragino Sans GB" pitchFamily="34" charset="-122"/>
                <a:cs typeface="Hiragino Sans GB" pitchFamily="34" charset="-120"/>
              </a:rPr>
              <a:t>工程原则：传统优化、FLUS 与启发式仍应保留为基线；当目标与约束可完全形式化时，经典运筹方法可能更合适。</a:t>
            </a:r>
            <a:endParaRPr lang="en-US" sz="7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落地证据</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Paper9：真实数据离线部署与硬约束验证</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双县真实数据已完成 prepare → sample → train → plan → audit 全流程，并形成内网候选部署包。</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来源：paper9-mnr-offline-package；Paper9v2 Docker 双数据 E2E 报告；Paper9v2.1 legacy-amd64 E2E 报告（2026-07-01）</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08 / 29</a:t>
            </a:r>
            <a:endParaRPr lang="en-US" sz="670" dirty="0"/>
          </a:p>
        </p:txBody>
      </p:sp>
      <p:sp>
        <p:nvSpPr>
          <p:cNvPr id="10" name="Text 8"/>
          <p:cNvSpPr txBox="1"/>
          <p:nvPr/>
        </p:nvSpPr>
        <p:spPr>
          <a:xfrm>
            <a:off x="612648" y="1463040"/>
            <a:ext cx="2084832" cy="274320"/>
          </a:xfrm>
          <a:prstGeom prst="rect">
            <a:avLst/>
          </a:prstGeom>
          <a:noFill/>
          <a:ln/>
        </p:spPr>
        <p:txBody>
          <a:bodyPr wrap="square" lIns="0" tIns="0" rIns="0" bIns="0" rtlCol="0" anchor="ctr">
            <a:normAutofit/>
          </a:bodyPr>
          <a:lstStyle/>
          <a:p>
            <a:pPr algn="l" indent="0" marL="0">
              <a:lnSpc>
                <a:spcPct val="92000"/>
              </a:lnSpc>
              <a:buNone/>
            </a:pPr>
            <a:r>
              <a:rPr lang="en-US" sz="1380" b="1" dirty="0">
                <a:solidFill>
                  <a:srgbClr val="17252A"/>
                </a:solidFill>
                <a:latin typeface="Hiragino Sans GB" pitchFamily="34" charset="0"/>
                <a:ea typeface="Hiragino Sans GB" pitchFamily="34" charset="-122"/>
                <a:cs typeface="Hiragino Sans GB" pitchFamily="34" charset="-120"/>
              </a:rPr>
              <a:t>解决的业务问题</a:t>
            </a:r>
            <a:endParaRPr lang="en-US" sz="1380" dirty="0"/>
          </a:p>
        </p:txBody>
      </p:sp>
      <p:sp>
        <p:nvSpPr>
          <p:cNvPr id="11" name="Shape 9"/>
          <p:cNvSpPr/>
          <p:nvPr/>
        </p:nvSpPr>
        <p:spPr>
          <a:xfrm>
            <a:off x="612648" y="1847088"/>
            <a:ext cx="2926080" cy="3575304"/>
          </a:xfrm>
          <a:prstGeom prst="roundRect">
            <a:avLst>
              <a:gd name="adj" fmla="val 1875"/>
            </a:avLst>
          </a:prstGeom>
          <a:solidFill>
            <a:srgbClr val="FFFFFF"/>
          </a:solidFill>
          <a:ln w="10160">
            <a:solidFill>
              <a:srgbClr val="D0DBD8"/>
            </a:solidFill>
            <a:prstDash val="solid"/>
          </a:ln>
        </p:spPr>
      </p:sp>
      <p:sp>
        <p:nvSpPr>
          <p:cNvPr id="12" name="Text 10"/>
          <p:cNvSpPr txBox="1"/>
          <p:nvPr/>
        </p:nvSpPr>
        <p:spPr>
          <a:xfrm>
            <a:off x="859536" y="2103120"/>
            <a:ext cx="2432304" cy="283464"/>
          </a:xfrm>
          <a:prstGeom prst="rect">
            <a:avLst/>
          </a:prstGeom>
          <a:noFill/>
          <a:ln/>
        </p:spPr>
        <p:txBody>
          <a:bodyPr wrap="square" lIns="0" tIns="0" rIns="0" bIns="0" rtlCol="0" anchor="ctr">
            <a:normAutofit/>
          </a:bodyPr>
          <a:lstStyle/>
          <a:p>
            <a:pPr algn="ctr" indent="0" marL="0">
              <a:lnSpc>
                <a:spcPct val="92000"/>
              </a:lnSpc>
              <a:buNone/>
            </a:pPr>
            <a:r>
              <a:rPr lang="en-US" sz="1420" b="1" dirty="0">
                <a:solidFill>
                  <a:srgbClr val="0E5C59"/>
                </a:solidFill>
                <a:latin typeface="Hiragino Sans GB" pitchFamily="34" charset="0"/>
                <a:ea typeface="Hiragino Sans GB" pitchFamily="34" charset="-122"/>
                <a:cs typeface="Hiragino Sans GB" pitchFamily="34" charset="-120"/>
              </a:rPr>
              <a:t>县域耕地布局优化</a:t>
            </a:r>
            <a:endParaRPr lang="en-US" sz="1420" dirty="0"/>
          </a:p>
        </p:txBody>
      </p:sp>
      <p:sp>
        <p:nvSpPr>
          <p:cNvPr id="13" name="Shape 11"/>
          <p:cNvSpPr/>
          <p:nvPr/>
        </p:nvSpPr>
        <p:spPr>
          <a:xfrm>
            <a:off x="868680" y="2747772"/>
            <a:ext cx="64008" cy="64008"/>
          </a:xfrm>
          <a:prstGeom prst="ellipse">
            <a:avLst/>
          </a:prstGeom>
          <a:solidFill>
            <a:srgbClr val="137F7A"/>
          </a:solidFill>
          <a:ln w="8890">
            <a:solidFill>
              <a:srgbClr val="137F7A"/>
            </a:solidFill>
            <a:prstDash val="solid"/>
          </a:ln>
        </p:spPr>
      </p:sp>
      <p:sp>
        <p:nvSpPr>
          <p:cNvPr id="14" name="Text 12"/>
          <p:cNvSpPr txBox="1"/>
          <p:nvPr/>
        </p:nvSpPr>
        <p:spPr>
          <a:xfrm>
            <a:off x="1005840" y="2651760"/>
            <a:ext cx="2295144" cy="329184"/>
          </a:xfrm>
          <a:prstGeom prst="rect">
            <a:avLst/>
          </a:prstGeom>
          <a:noFill/>
          <a:ln/>
        </p:spPr>
        <p:txBody>
          <a:bodyPr wrap="square" lIns="0" tIns="0" rIns="0" bIns="0" rtlCol="0" anchor="t">
            <a:normAutofit/>
          </a:bodyPr>
          <a:lstStyle/>
          <a:p>
            <a:pPr algn="l" indent="0" marL="0">
              <a:lnSpc>
                <a:spcPct val="90000"/>
              </a:lnSpc>
              <a:buNone/>
            </a:pPr>
            <a:r>
              <a:rPr lang="en-US" sz="830" dirty="0">
                <a:solidFill>
                  <a:srgbClr val="32474D"/>
                </a:solidFill>
                <a:latin typeface="Hiragino Sans GB" pitchFamily="34" charset="0"/>
                <a:ea typeface="Hiragino Sans GB" pitchFamily="34" charset="-122"/>
                <a:cs typeface="Hiragino Sans GB" pitchFamily="34" charset="-120"/>
              </a:rPr>
              <a:t>输入：权威 DLTB 图斑、坡度属性、行政边界</a:t>
            </a:r>
            <a:endParaRPr lang="en-US" sz="830" dirty="0"/>
          </a:p>
        </p:txBody>
      </p:sp>
      <p:sp>
        <p:nvSpPr>
          <p:cNvPr id="15" name="Shape 13"/>
          <p:cNvSpPr/>
          <p:nvPr/>
        </p:nvSpPr>
        <p:spPr>
          <a:xfrm>
            <a:off x="868680" y="3223260"/>
            <a:ext cx="64008" cy="64008"/>
          </a:xfrm>
          <a:prstGeom prst="ellipse">
            <a:avLst/>
          </a:prstGeom>
          <a:solidFill>
            <a:srgbClr val="137F7A"/>
          </a:solidFill>
          <a:ln w="8890">
            <a:solidFill>
              <a:srgbClr val="137F7A"/>
            </a:solidFill>
            <a:prstDash val="solid"/>
          </a:ln>
        </p:spPr>
      </p:sp>
      <p:sp>
        <p:nvSpPr>
          <p:cNvPr id="16" name="Text 14"/>
          <p:cNvSpPr txBox="1"/>
          <p:nvPr/>
        </p:nvSpPr>
        <p:spPr>
          <a:xfrm>
            <a:off x="1005840" y="3127248"/>
            <a:ext cx="2295144" cy="329184"/>
          </a:xfrm>
          <a:prstGeom prst="rect">
            <a:avLst/>
          </a:prstGeom>
          <a:noFill/>
          <a:ln/>
        </p:spPr>
        <p:txBody>
          <a:bodyPr wrap="square" lIns="0" tIns="0" rIns="0" bIns="0" rtlCol="0" anchor="t">
            <a:normAutofit/>
          </a:bodyPr>
          <a:lstStyle/>
          <a:p>
            <a:pPr algn="l" indent="0" marL="0">
              <a:lnSpc>
                <a:spcPct val="90000"/>
              </a:lnSpc>
              <a:buNone/>
            </a:pPr>
            <a:r>
              <a:rPr lang="en-US" sz="830" dirty="0">
                <a:solidFill>
                  <a:srgbClr val="32474D"/>
                </a:solidFill>
                <a:latin typeface="Hiragino Sans GB" pitchFamily="34" charset="0"/>
                <a:ea typeface="Hiragino Sans GB" pitchFamily="34" charset="-122"/>
                <a:cs typeface="Hiragino Sans GB" pitchFamily="34" charset="-120"/>
              </a:rPr>
              <a:t>动作：耕地与非耕地候选图斑的约束置换</a:t>
            </a:r>
            <a:endParaRPr lang="en-US" sz="830" dirty="0"/>
          </a:p>
        </p:txBody>
      </p:sp>
      <p:sp>
        <p:nvSpPr>
          <p:cNvPr id="17" name="Shape 15"/>
          <p:cNvSpPr/>
          <p:nvPr/>
        </p:nvSpPr>
        <p:spPr>
          <a:xfrm>
            <a:off x="868680" y="3698748"/>
            <a:ext cx="64008" cy="64008"/>
          </a:xfrm>
          <a:prstGeom prst="ellipse">
            <a:avLst/>
          </a:prstGeom>
          <a:solidFill>
            <a:srgbClr val="137F7A"/>
          </a:solidFill>
          <a:ln w="8890">
            <a:solidFill>
              <a:srgbClr val="137F7A"/>
            </a:solidFill>
            <a:prstDash val="solid"/>
          </a:ln>
        </p:spPr>
      </p:sp>
      <p:sp>
        <p:nvSpPr>
          <p:cNvPr id="18" name="Text 16"/>
          <p:cNvSpPr txBox="1"/>
          <p:nvPr/>
        </p:nvSpPr>
        <p:spPr>
          <a:xfrm>
            <a:off x="1005840" y="3602736"/>
            <a:ext cx="2295144" cy="329184"/>
          </a:xfrm>
          <a:prstGeom prst="rect">
            <a:avLst/>
          </a:prstGeom>
          <a:noFill/>
          <a:ln/>
        </p:spPr>
        <p:txBody>
          <a:bodyPr wrap="square" lIns="0" tIns="0" rIns="0" bIns="0" rtlCol="0" anchor="t">
            <a:normAutofit/>
          </a:bodyPr>
          <a:lstStyle/>
          <a:p>
            <a:pPr algn="l" indent="0" marL="0">
              <a:lnSpc>
                <a:spcPct val="90000"/>
              </a:lnSpc>
              <a:buNone/>
            </a:pPr>
            <a:r>
              <a:rPr lang="en-US" sz="830" dirty="0">
                <a:solidFill>
                  <a:srgbClr val="32474D"/>
                </a:solidFill>
                <a:latin typeface="Hiragino Sans GB" pitchFamily="34" charset="0"/>
                <a:ea typeface="Hiragino Sans GB" pitchFamily="34" charset="-122"/>
                <a:cs typeface="Hiragino Sans GB" pitchFamily="34" charset="-120"/>
              </a:rPr>
              <a:t>目标：降低坡度、提升连片度，尽量形成百亩方</a:t>
            </a:r>
            <a:endParaRPr lang="en-US" sz="830" dirty="0"/>
          </a:p>
        </p:txBody>
      </p:sp>
      <p:sp>
        <p:nvSpPr>
          <p:cNvPr id="19" name="Shape 17"/>
          <p:cNvSpPr/>
          <p:nvPr/>
        </p:nvSpPr>
        <p:spPr>
          <a:xfrm>
            <a:off x="868680" y="4174236"/>
            <a:ext cx="64008" cy="64008"/>
          </a:xfrm>
          <a:prstGeom prst="ellipse">
            <a:avLst/>
          </a:prstGeom>
          <a:solidFill>
            <a:srgbClr val="B04A50"/>
          </a:solidFill>
          <a:ln w="8890">
            <a:solidFill>
              <a:srgbClr val="B04A50"/>
            </a:solidFill>
            <a:prstDash val="solid"/>
          </a:ln>
        </p:spPr>
      </p:sp>
      <p:sp>
        <p:nvSpPr>
          <p:cNvPr id="20" name="Text 18"/>
          <p:cNvSpPr txBox="1"/>
          <p:nvPr/>
        </p:nvSpPr>
        <p:spPr>
          <a:xfrm>
            <a:off x="1005840" y="4078224"/>
            <a:ext cx="2295144" cy="329184"/>
          </a:xfrm>
          <a:prstGeom prst="rect">
            <a:avLst/>
          </a:prstGeom>
          <a:noFill/>
          <a:ln/>
        </p:spPr>
        <p:txBody>
          <a:bodyPr wrap="square" lIns="0" tIns="0" rIns="0" bIns="0" rtlCol="0" anchor="t">
            <a:normAutofit/>
          </a:bodyPr>
          <a:lstStyle/>
          <a:p>
            <a:pPr algn="l" indent="0" marL="0">
              <a:lnSpc>
                <a:spcPct val="90000"/>
              </a:lnSpc>
              <a:buNone/>
            </a:pPr>
            <a:r>
              <a:rPr lang="en-US" sz="830" dirty="0">
                <a:solidFill>
                  <a:srgbClr val="32474D"/>
                </a:solidFill>
                <a:latin typeface="Hiragino Sans GB" pitchFamily="34" charset="0"/>
                <a:ea typeface="Hiragino Sans GB" pitchFamily="34" charset="-122"/>
                <a:cs typeface="Hiragino Sans GB" pitchFamily="34" charset="-120"/>
              </a:rPr>
              <a:t>底线：县域耕地总面积不减少</a:t>
            </a:r>
            <a:endParaRPr lang="en-US" sz="830" dirty="0"/>
          </a:p>
        </p:txBody>
      </p:sp>
      <p:sp>
        <p:nvSpPr>
          <p:cNvPr id="21" name="Shape 19"/>
          <p:cNvSpPr/>
          <p:nvPr/>
        </p:nvSpPr>
        <p:spPr>
          <a:xfrm>
            <a:off x="868680" y="4649724"/>
            <a:ext cx="64008" cy="64008"/>
          </a:xfrm>
          <a:prstGeom prst="ellipse">
            <a:avLst/>
          </a:prstGeom>
          <a:solidFill>
            <a:srgbClr val="137F7A"/>
          </a:solidFill>
          <a:ln w="8890">
            <a:solidFill>
              <a:srgbClr val="137F7A"/>
            </a:solidFill>
            <a:prstDash val="solid"/>
          </a:ln>
        </p:spPr>
      </p:sp>
      <p:sp>
        <p:nvSpPr>
          <p:cNvPr id="22" name="Text 20"/>
          <p:cNvSpPr txBox="1"/>
          <p:nvPr/>
        </p:nvSpPr>
        <p:spPr>
          <a:xfrm>
            <a:off x="1005840" y="4553712"/>
            <a:ext cx="2295144" cy="329184"/>
          </a:xfrm>
          <a:prstGeom prst="rect">
            <a:avLst/>
          </a:prstGeom>
          <a:noFill/>
          <a:ln/>
        </p:spPr>
        <p:txBody>
          <a:bodyPr wrap="square" lIns="0" tIns="0" rIns="0" bIns="0" rtlCol="0" anchor="t">
            <a:normAutofit/>
          </a:bodyPr>
          <a:lstStyle/>
          <a:p>
            <a:pPr algn="l" indent="0" marL="0">
              <a:lnSpc>
                <a:spcPct val="90000"/>
              </a:lnSpc>
              <a:buNone/>
            </a:pPr>
            <a:r>
              <a:rPr lang="en-US" sz="830" dirty="0">
                <a:solidFill>
                  <a:srgbClr val="32474D"/>
                </a:solidFill>
                <a:latin typeface="Hiragino Sans GB" pitchFamily="34" charset="0"/>
                <a:ea typeface="Hiragino Sans GB" pitchFamily="34" charset="-122"/>
                <a:cs typeface="Hiragino Sans GB" pitchFamily="34" charset="-120"/>
              </a:rPr>
              <a:t>输出：优化图斑、指标汇总、运行清单与审计结论</a:t>
            </a:r>
            <a:endParaRPr lang="en-US" sz="830" dirty="0"/>
          </a:p>
        </p:txBody>
      </p:sp>
      <p:sp>
        <p:nvSpPr>
          <p:cNvPr id="23" name="Text 21"/>
          <p:cNvSpPr txBox="1"/>
          <p:nvPr/>
        </p:nvSpPr>
        <p:spPr>
          <a:xfrm>
            <a:off x="3886200" y="1463040"/>
            <a:ext cx="2944368" cy="274320"/>
          </a:xfrm>
          <a:prstGeom prst="rect">
            <a:avLst/>
          </a:prstGeom>
          <a:noFill/>
          <a:ln/>
        </p:spPr>
        <p:txBody>
          <a:bodyPr wrap="square" lIns="0" tIns="0" rIns="0" bIns="0" rtlCol="0" anchor="ctr">
            <a:normAutofit/>
          </a:bodyPr>
          <a:lstStyle/>
          <a:p>
            <a:pPr algn="l" indent="0" marL="0">
              <a:lnSpc>
                <a:spcPct val="92000"/>
              </a:lnSpc>
              <a:buNone/>
            </a:pPr>
            <a:r>
              <a:rPr lang="en-US" sz="1380" b="1" dirty="0">
                <a:solidFill>
                  <a:srgbClr val="17252A"/>
                </a:solidFill>
                <a:latin typeface="Hiragino Sans GB" pitchFamily="34" charset="0"/>
                <a:ea typeface="Hiragino Sans GB" pitchFamily="34" charset="-122"/>
                <a:cs typeface="Hiragino Sans GB" pitchFamily="34" charset="-120"/>
              </a:rPr>
              <a:t>算法与运行链路</a:t>
            </a:r>
            <a:endParaRPr lang="en-US" sz="1380" dirty="0"/>
          </a:p>
        </p:txBody>
      </p:sp>
      <p:sp>
        <p:nvSpPr>
          <p:cNvPr id="24" name="Shape 22"/>
          <p:cNvSpPr/>
          <p:nvPr/>
        </p:nvSpPr>
        <p:spPr>
          <a:xfrm>
            <a:off x="3904488" y="1856232"/>
            <a:ext cx="1024128" cy="256032"/>
          </a:xfrm>
          <a:prstGeom prst="roundRect">
            <a:avLst>
              <a:gd name="adj" fmla="val 50000"/>
            </a:avLst>
          </a:prstGeom>
          <a:solidFill>
            <a:srgbClr val="E7EFF8"/>
          </a:solidFill>
          <a:ln w="6350">
            <a:solidFill>
              <a:srgbClr val="E7EFF8"/>
            </a:solidFill>
            <a:prstDash val="solid"/>
          </a:ln>
        </p:spPr>
      </p:sp>
      <p:sp>
        <p:nvSpPr>
          <p:cNvPr id="25" name="Text 23"/>
          <p:cNvSpPr txBox="1"/>
          <p:nvPr/>
        </p:nvSpPr>
        <p:spPr>
          <a:xfrm>
            <a:off x="3959352" y="1879092"/>
            <a:ext cx="914400"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356CA8"/>
                </a:solidFill>
                <a:latin typeface="Hiragino Sans GB" pitchFamily="34" charset="0"/>
                <a:ea typeface="Hiragino Sans GB" pitchFamily="34" charset="-122"/>
                <a:cs typeface="Hiragino Sans GB" pitchFamily="34" charset="-120"/>
              </a:rPr>
              <a:t>prepare</a:t>
            </a:r>
            <a:endParaRPr lang="en-US" sz="770" dirty="0"/>
          </a:p>
        </p:txBody>
      </p:sp>
      <p:sp>
        <p:nvSpPr>
          <p:cNvPr id="26" name="Text 24"/>
          <p:cNvSpPr txBox="1"/>
          <p:nvPr/>
        </p:nvSpPr>
        <p:spPr>
          <a:xfrm>
            <a:off x="5129784" y="1865376"/>
            <a:ext cx="2926080" cy="283464"/>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Hiragino Sans GB" pitchFamily="34" charset="0"/>
                <a:ea typeface="Hiragino Sans GB" pitchFamily="34" charset="-122"/>
                <a:cs typeface="Hiragino Sans GB" pitchFamily="34" charset="-120"/>
              </a:rPr>
              <a:t>建立区县环境与候选块</a:t>
            </a:r>
            <a:endParaRPr lang="en-US" sz="810" dirty="0"/>
          </a:p>
        </p:txBody>
      </p:sp>
      <p:sp>
        <p:nvSpPr>
          <p:cNvPr id="27" name="Shape 25"/>
          <p:cNvSpPr/>
          <p:nvPr/>
        </p:nvSpPr>
        <p:spPr>
          <a:xfrm>
            <a:off x="4416552" y="2139696"/>
            <a:ext cx="0" cy="365760"/>
          </a:xfrm>
          <a:prstGeom prst="line">
            <a:avLst/>
          </a:prstGeom>
          <a:noFill/>
          <a:ln w="15240">
            <a:solidFill>
              <a:srgbClr val="356CA8"/>
            </a:solidFill>
            <a:prstDash val="solid"/>
            <a:tailEnd type="triangle"/>
          </a:ln>
        </p:spPr>
      </p:sp>
      <p:sp>
        <p:nvSpPr>
          <p:cNvPr id="28" name="Shape 26"/>
          <p:cNvSpPr/>
          <p:nvPr/>
        </p:nvSpPr>
        <p:spPr>
          <a:xfrm>
            <a:off x="3904488" y="2560320"/>
            <a:ext cx="1024128" cy="256032"/>
          </a:xfrm>
          <a:prstGeom prst="roundRect">
            <a:avLst>
              <a:gd name="adj" fmla="val 50000"/>
            </a:avLst>
          </a:prstGeom>
          <a:solidFill>
            <a:srgbClr val="E7EFF8"/>
          </a:solidFill>
          <a:ln w="6350">
            <a:solidFill>
              <a:srgbClr val="E7EFF8"/>
            </a:solidFill>
            <a:prstDash val="solid"/>
          </a:ln>
        </p:spPr>
      </p:sp>
      <p:sp>
        <p:nvSpPr>
          <p:cNvPr id="29" name="Text 27"/>
          <p:cNvSpPr txBox="1"/>
          <p:nvPr/>
        </p:nvSpPr>
        <p:spPr>
          <a:xfrm>
            <a:off x="3959352" y="2583180"/>
            <a:ext cx="914400"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356CA8"/>
                </a:solidFill>
                <a:latin typeface="Hiragino Sans GB" pitchFamily="34" charset="0"/>
                <a:ea typeface="Hiragino Sans GB" pitchFamily="34" charset="-122"/>
                <a:cs typeface="Hiragino Sans GB" pitchFamily="34" charset="-120"/>
              </a:rPr>
              <a:t>sample</a:t>
            </a:r>
            <a:endParaRPr lang="en-US" sz="770" dirty="0"/>
          </a:p>
        </p:txBody>
      </p:sp>
      <p:sp>
        <p:nvSpPr>
          <p:cNvPr id="30" name="Text 28"/>
          <p:cNvSpPr txBox="1"/>
          <p:nvPr/>
        </p:nvSpPr>
        <p:spPr>
          <a:xfrm>
            <a:off x="5129784" y="2569464"/>
            <a:ext cx="2926080" cy="283464"/>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Hiragino Sans GB" pitchFamily="34" charset="0"/>
                <a:ea typeface="Hiragino Sans GB" pitchFamily="34" charset="-122"/>
                <a:cs typeface="Hiragino Sans GB" pitchFamily="34" charset="-120"/>
              </a:rPr>
              <a:t>采集转移与候选排序样本</a:t>
            </a:r>
            <a:endParaRPr lang="en-US" sz="810" dirty="0"/>
          </a:p>
        </p:txBody>
      </p:sp>
      <p:sp>
        <p:nvSpPr>
          <p:cNvPr id="31" name="Shape 29"/>
          <p:cNvSpPr/>
          <p:nvPr/>
        </p:nvSpPr>
        <p:spPr>
          <a:xfrm>
            <a:off x="4416552" y="2843784"/>
            <a:ext cx="0" cy="365760"/>
          </a:xfrm>
          <a:prstGeom prst="line">
            <a:avLst/>
          </a:prstGeom>
          <a:noFill/>
          <a:ln w="15240">
            <a:solidFill>
              <a:srgbClr val="356CA8"/>
            </a:solidFill>
            <a:prstDash val="solid"/>
            <a:tailEnd type="triangle"/>
          </a:ln>
        </p:spPr>
      </p:sp>
      <p:sp>
        <p:nvSpPr>
          <p:cNvPr id="32" name="Shape 30"/>
          <p:cNvSpPr/>
          <p:nvPr/>
        </p:nvSpPr>
        <p:spPr>
          <a:xfrm>
            <a:off x="3904488" y="3264408"/>
            <a:ext cx="1024128" cy="256032"/>
          </a:xfrm>
          <a:prstGeom prst="roundRect">
            <a:avLst>
              <a:gd name="adj" fmla="val 50000"/>
            </a:avLst>
          </a:prstGeom>
          <a:solidFill>
            <a:srgbClr val="E7EFF8"/>
          </a:solidFill>
          <a:ln w="6350">
            <a:solidFill>
              <a:srgbClr val="E7EFF8"/>
            </a:solidFill>
            <a:prstDash val="solid"/>
          </a:ln>
        </p:spPr>
      </p:sp>
      <p:sp>
        <p:nvSpPr>
          <p:cNvPr id="33" name="Text 31"/>
          <p:cNvSpPr txBox="1"/>
          <p:nvPr/>
        </p:nvSpPr>
        <p:spPr>
          <a:xfrm>
            <a:off x="3959352" y="3287268"/>
            <a:ext cx="914400"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356CA8"/>
                </a:solidFill>
                <a:latin typeface="Hiragino Sans GB" pitchFamily="34" charset="0"/>
                <a:ea typeface="Hiragino Sans GB" pitchFamily="34" charset="-122"/>
                <a:cs typeface="Hiragino Sans GB" pitchFamily="34" charset="-120"/>
              </a:rPr>
              <a:t>train</a:t>
            </a:r>
            <a:endParaRPr lang="en-US" sz="770" dirty="0"/>
          </a:p>
        </p:txBody>
      </p:sp>
      <p:sp>
        <p:nvSpPr>
          <p:cNvPr id="34" name="Text 32"/>
          <p:cNvSpPr txBox="1"/>
          <p:nvPr/>
        </p:nvSpPr>
        <p:spPr>
          <a:xfrm>
            <a:off x="5129784" y="3273552"/>
            <a:ext cx="2926080" cy="283464"/>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Arial" pitchFamily="34" charset="0"/>
                <a:ea typeface="Arial" pitchFamily="34" charset="-122"/>
                <a:cs typeface="Arial" pitchFamily="34" charset="-120"/>
              </a:rPr>
              <a:t>ensemble：状态/奖励 MSE + pairwise ranking</a:t>
            </a:r>
            <a:endParaRPr lang="en-US" sz="810" dirty="0"/>
          </a:p>
        </p:txBody>
      </p:sp>
      <p:sp>
        <p:nvSpPr>
          <p:cNvPr id="35" name="Shape 33"/>
          <p:cNvSpPr/>
          <p:nvPr/>
        </p:nvSpPr>
        <p:spPr>
          <a:xfrm>
            <a:off x="4416552" y="3547872"/>
            <a:ext cx="0" cy="365760"/>
          </a:xfrm>
          <a:prstGeom prst="line">
            <a:avLst/>
          </a:prstGeom>
          <a:noFill/>
          <a:ln w="15240">
            <a:solidFill>
              <a:srgbClr val="356CA8"/>
            </a:solidFill>
            <a:prstDash val="solid"/>
            <a:tailEnd type="triangle"/>
          </a:ln>
        </p:spPr>
      </p:sp>
      <p:sp>
        <p:nvSpPr>
          <p:cNvPr id="36" name="Shape 34"/>
          <p:cNvSpPr/>
          <p:nvPr/>
        </p:nvSpPr>
        <p:spPr>
          <a:xfrm>
            <a:off x="3904488" y="3968496"/>
            <a:ext cx="1024128" cy="256032"/>
          </a:xfrm>
          <a:prstGeom prst="roundRect">
            <a:avLst>
              <a:gd name="adj" fmla="val 50000"/>
            </a:avLst>
          </a:prstGeom>
          <a:solidFill>
            <a:srgbClr val="E7EFF8"/>
          </a:solidFill>
          <a:ln w="6350">
            <a:solidFill>
              <a:srgbClr val="E7EFF8"/>
            </a:solidFill>
            <a:prstDash val="solid"/>
          </a:ln>
        </p:spPr>
      </p:sp>
      <p:sp>
        <p:nvSpPr>
          <p:cNvPr id="37" name="Text 35"/>
          <p:cNvSpPr txBox="1"/>
          <p:nvPr/>
        </p:nvSpPr>
        <p:spPr>
          <a:xfrm>
            <a:off x="3959352" y="3991356"/>
            <a:ext cx="914400"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356CA8"/>
                </a:solidFill>
                <a:latin typeface="Hiragino Sans GB" pitchFamily="34" charset="0"/>
                <a:ea typeface="Hiragino Sans GB" pitchFamily="34" charset="-122"/>
                <a:cs typeface="Hiragino Sans GB" pitchFamily="34" charset="-120"/>
              </a:rPr>
              <a:t>plan</a:t>
            </a:r>
            <a:endParaRPr lang="en-US" sz="770" dirty="0"/>
          </a:p>
        </p:txBody>
      </p:sp>
      <p:sp>
        <p:nvSpPr>
          <p:cNvPr id="38" name="Text 36"/>
          <p:cNvSpPr txBox="1"/>
          <p:nvPr/>
        </p:nvSpPr>
        <p:spPr>
          <a:xfrm>
            <a:off x="5129784" y="3977640"/>
            <a:ext cx="2926080" cy="283464"/>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Hiragino Sans GB" pitchFamily="34" charset="0"/>
                <a:ea typeface="Hiragino Sans GB" pitchFamily="34" charset="-122"/>
                <a:cs typeface="Hiragino Sans GB" pitchFamily="34" charset="-120"/>
              </a:rPr>
              <a:t>MPC：horizon=5 / top-k=50 的约束前瞻搜索</a:t>
            </a:r>
            <a:endParaRPr lang="en-US" sz="810" dirty="0"/>
          </a:p>
        </p:txBody>
      </p:sp>
      <p:sp>
        <p:nvSpPr>
          <p:cNvPr id="39" name="Shape 37"/>
          <p:cNvSpPr/>
          <p:nvPr/>
        </p:nvSpPr>
        <p:spPr>
          <a:xfrm>
            <a:off x="4416552" y="4251960"/>
            <a:ext cx="0" cy="365760"/>
          </a:xfrm>
          <a:prstGeom prst="line">
            <a:avLst/>
          </a:prstGeom>
          <a:noFill/>
          <a:ln w="15240">
            <a:solidFill>
              <a:srgbClr val="356CA8"/>
            </a:solidFill>
            <a:prstDash val="solid"/>
            <a:tailEnd type="triangle"/>
          </a:ln>
        </p:spPr>
      </p:sp>
      <p:sp>
        <p:nvSpPr>
          <p:cNvPr id="40" name="Shape 38"/>
          <p:cNvSpPr/>
          <p:nvPr/>
        </p:nvSpPr>
        <p:spPr>
          <a:xfrm>
            <a:off x="3904488" y="4672584"/>
            <a:ext cx="1024128" cy="256032"/>
          </a:xfrm>
          <a:prstGeom prst="roundRect">
            <a:avLst>
              <a:gd name="adj" fmla="val 50000"/>
            </a:avLst>
          </a:prstGeom>
          <a:solidFill>
            <a:srgbClr val="E7F3EA"/>
          </a:solidFill>
          <a:ln w="6350">
            <a:solidFill>
              <a:srgbClr val="E7F3EA"/>
            </a:solidFill>
            <a:prstDash val="solid"/>
          </a:ln>
        </p:spPr>
      </p:sp>
      <p:sp>
        <p:nvSpPr>
          <p:cNvPr id="41" name="Text 39"/>
          <p:cNvSpPr txBox="1"/>
          <p:nvPr/>
        </p:nvSpPr>
        <p:spPr>
          <a:xfrm>
            <a:off x="3959352" y="4695444"/>
            <a:ext cx="914400"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2D8A57"/>
                </a:solidFill>
                <a:latin typeface="Hiragino Sans GB" pitchFamily="34" charset="0"/>
                <a:ea typeface="Hiragino Sans GB" pitchFamily="34" charset="-122"/>
                <a:cs typeface="Hiragino Sans GB" pitchFamily="34" charset="-120"/>
              </a:rPr>
              <a:t>audit</a:t>
            </a:r>
            <a:endParaRPr lang="en-US" sz="770" dirty="0"/>
          </a:p>
        </p:txBody>
      </p:sp>
      <p:sp>
        <p:nvSpPr>
          <p:cNvPr id="42" name="Text 40"/>
          <p:cNvSpPr txBox="1"/>
          <p:nvPr/>
        </p:nvSpPr>
        <p:spPr>
          <a:xfrm>
            <a:off x="5129784" y="4681728"/>
            <a:ext cx="2926080" cy="283464"/>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文件完整性 + 三项 hard gate</a:t>
            </a:r>
            <a:endParaRPr lang="en-US" sz="810" dirty="0"/>
          </a:p>
        </p:txBody>
      </p:sp>
      <p:sp>
        <p:nvSpPr>
          <p:cNvPr id="43" name="Shape 41"/>
          <p:cNvSpPr/>
          <p:nvPr/>
        </p:nvSpPr>
        <p:spPr>
          <a:xfrm>
            <a:off x="8138160" y="1563624"/>
            <a:ext cx="0" cy="4297680"/>
          </a:xfrm>
          <a:prstGeom prst="line">
            <a:avLst/>
          </a:prstGeom>
          <a:noFill/>
          <a:ln w="10160">
            <a:solidFill>
              <a:srgbClr val="D0DBD8"/>
            </a:solidFill>
            <a:prstDash val="solid"/>
          </a:ln>
        </p:spPr>
      </p:sp>
      <p:sp>
        <p:nvSpPr>
          <p:cNvPr id="44" name="Text 42"/>
          <p:cNvSpPr txBox="1"/>
          <p:nvPr/>
        </p:nvSpPr>
        <p:spPr>
          <a:xfrm>
            <a:off x="8430768" y="1463040"/>
            <a:ext cx="3118104" cy="274320"/>
          </a:xfrm>
          <a:prstGeom prst="rect">
            <a:avLst/>
          </a:prstGeom>
          <a:noFill/>
          <a:ln/>
        </p:spPr>
        <p:txBody>
          <a:bodyPr wrap="square" lIns="0" tIns="0" rIns="0" bIns="0" rtlCol="0" anchor="ctr">
            <a:normAutofit/>
          </a:bodyPr>
          <a:lstStyle/>
          <a:p>
            <a:pPr algn="l" indent="0" marL="0">
              <a:lnSpc>
                <a:spcPct val="92000"/>
              </a:lnSpc>
              <a:buNone/>
            </a:pPr>
            <a:r>
              <a:rPr lang="en-US" sz="1380" b="1" dirty="0">
                <a:solidFill>
                  <a:srgbClr val="17252A"/>
                </a:solidFill>
                <a:latin typeface="Hiragino Sans GB" pitchFamily="34" charset="0"/>
                <a:ea typeface="Hiragino Sans GB" pitchFamily="34" charset="-122"/>
                <a:cs typeface="Hiragino Sans GB" pitchFamily="34" charset="-120"/>
              </a:rPr>
              <a:t>真实数据与离线部署证据</a:t>
            </a:r>
            <a:endParaRPr lang="en-US" sz="1380" dirty="0"/>
          </a:p>
        </p:txBody>
      </p:sp>
      <p:sp>
        <p:nvSpPr>
          <p:cNvPr id="45" name="Text 43"/>
          <p:cNvSpPr txBox="1"/>
          <p:nvPr/>
        </p:nvSpPr>
        <p:spPr>
          <a:xfrm>
            <a:off x="8385048" y="1883664"/>
            <a:ext cx="1216152" cy="301752"/>
          </a:xfrm>
          <a:prstGeom prst="rect">
            <a:avLst/>
          </a:prstGeom>
          <a:noFill/>
          <a:ln/>
        </p:spPr>
        <p:txBody>
          <a:bodyPr wrap="square" lIns="0" tIns="0" rIns="0" bIns="0" rtlCol="0" anchor="ctr">
            <a:normAutofit/>
          </a:bodyPr>
          <a:lstStyle/>
          <a:p>
            <a:pPr algn="r" indent="0" marL="0">
              <a:lnSpc>
                <a:spcPct val="92000"/>
              </a:lnSpc>
              <a:buNone/>
            </a:pPr>
            <a:r>
              <a:rPr lang="en-US" sz="1320" b="1" dirty="0">
                <a:solidFill>
                  <a:srgbClr val="705FA7"/>
                </a:solidFill>
                <a:latin typeface="Arial" pitchFamily="34" charset="0"/>
                <a:ea typeface="Arial" pitchFamily="34" charset="-122"/>
                <a:cs typeface="Arial" pitchFamily="34" charset="-120"/>
              </a:rPr>
              <a:t>2 套</a:t>
            </a:r>
            <a:endParaRPr lang="en-US" sz="1320" dirty="0"/>
          </a:p>
        </p:txBody>
      </p:sp>
      <p:sp>
        <p:nvSpPr>
          <p:cNvPr id="46" name="Text 44"/>
          <p:cNvSpPr txBox="1"/>
          <p:nvPr/>
        </p:nvSpPr>
        <p:spPr>
          <a:xfrm>
            <a:off x="9765792" y="1892808"/>
            <a:ext cx="1572768" cy="438912"/>
          </a:xfrm>
          <a:prstGeom prst="rect">
            <a:avLst/>
          </a:prstGeom>
          <a:noFill/>
          <a:ln/>
        </p:spPr>
        <p:txBody>
          <a:bodyPr wrap="square" lIns="0" tIns="0" rIns="0" bIns="0" rtlCol="0" anchor="ctr">
            <a:normAutofit/>
          </a:bodyPr>
          <a:lstStyle/>
          <a:p>
            <a:pPr algn="l" indent="0" marL="0">
              <a:lnSpc>
                <a:spcPct val="92000"/>
              </a:lnSpc>
              <a:buNone/>
            </a:pPr>
            <a:r>
              <a:rPr lang="en-US" sz="740" dirty="0">
                <a:solidFill>
                  <a:srgbClr val="32474D"/>
                </a:solidFill>
                <a:latin typeface="Hiragino Sans GB" pitchFamily="34" charset="0"/>
                <a:ea typeface="Hiragino Sans GB" pitchFamily="34" charset="-122"/>
                <a:cs typeface="Hiragino Sans GB" pitchFamily="34" charset="-120"/>
              </a:rPr>
              <a:t>四川省内江市东兴区</a:t>
            </a:r>
            <a:endParaRPr lang="en-US" sz="740" dirty="0"/>
          </a:p>
          <a:p>
            <a:pPr algn="l" indent="0" marL="0">
              <a:lnSpc>
                <a:spcPct val="92000"/>
              </a:lnSpc>
              <a:buNone/>
            </a:pPr>
            <a:r>
              <a:rPr lang="en-US" sz="740" dirty="0">
                <a:solidFill>
                  <a:srgbClr val="32474D"/>
                </a:solidFill>
                <a:latin typeface="Hiragino Sans GB" pitchFamily="34" charset="0"/>
                <a:ea typeface="Hiragino Sans GB" pitchFamily="34" charset="-122"/>
                <a:cs typeface="Hiragino Sans GB" pitchFamily="34" charset="-120"/>
              </a:rPr>
              <a:t>重庆市璧山区</a:t>
            </a:r>
            <a:endParaRPr lang="en-US" sz="740" dirty="0"/>
          </a:p>
        </p:txBody>
      </p:sp>
      <p:sp>
        <p:nvSpPr>
          <p:cNvPr id="47" name="Text 45"/>
          <p:cNvSpPr txBox="1"/>
          <p:nvPr/>
        </p:nvSpPr>
        <p:spPr>
          <a:xfrm>
            <a:off x="8385048" y="2514600"/>
            <a:ext cx="1216152" cy="301752"/>
          </a:xfrm>
          <a:prstGeom prst="rect">
            <a:avLst/>
          </a:prstGeom>
          <a:noFill/>
          <a:ln/>
        </p:spPr>
        <p:txBody>
          <a:bodyPr wrap="square" lIns="0" tIns="0" rIns="0" bIns="0" rtlCol="0" anchor="ctr">
            <a:normAutofit/>
          </a:bodyPr>
          <a:lstStyle/>
          <a:p>
            <a:pPr algn="r" indent="0" marL="0">
              <a:lnSpc>
                <a:spcPct val="92000"/>
              </a:lnSpc>
              <a:buNone/>
            </a:pPr>
            <a:r>
              <a:rPr lang="en-US" sz="1320" b="1" dirty="0">
                <a:solidFill>
                  <a:srgbClr val="2D8A57"/>
                </a:solidFill>
                <a:latin typeface="Arial" pitchFamily="34" charset="0"/>
                <a:ea typeface="Arial" pitchFamily="34" charset="-122"/>
                <a:cs typeface="Arial" pitchFamily="34" charset="-120"/>
              </a:rPr>
              <a:t>均通过</a:t>
            </a:r>
            <a:endParaRPr lang="en-US" sz="1320" dirty="0"/>
          </a:p>
        </p:txBody>
      </p:sp>
      <p:sp>
        <p:nvSpPr>
          <p:cNvPr id="48" name="Text 46"/>
          <p:cNvSpPr txBox="1"/>
          <p:nvPr/>
        </p:nvSpPr>
        <p:spPr>
          <a:xfrm>
            <a:off x="9765792" y="2523744"/>
            <a:ext cx="1572768" cy="320040"/>
          </a:xfrm>
          <a:prstGeom prst="rect">
            <a:avLst/>
          </a:prstGeom>
          <a:noFill/>
          <a:ln/>
        </p:spPr>
        <p:txBody>
          <a:bodyPr wrap="square" lIns="0" tIns="0" rIns="0" bIns="0" rtlCol="0" anchor="ctr">
            <a:normAutofit/>
          </a:bodyPr>
          <a:lstStyle/>
          <a:p>
            <a:pPr algn="l" indent="0" marL="0">
              <a:lnSpc>
                <a:spcPct val="92000"/>
              </a:lnSpc>
              <a:buNone/>
            </a:pPr>
            <a:r>
              <a:rPr lang="en-US" sz="780" b="1" dirty="0">
                <a:solidFill>
                  <a:srgbClr val="32474D"/>
                </a:solidFill>
                <a:latin typeface="Hiragino Sans GB" pitchFamily="34" charset="0"/>
                <a:ea typeface="Hiragino Sans GB" pitchFamily="34" charset="-122"/>
                <a:cs typeface="Hiragino Sans GB" pitchFamily="34" charset="-120"/>
              </a:rPr>
              <a:t>面积不减、坡度下降、连片度上升</a:t>
            </a:r>
            <a:endParaRPr lang="en-US" sz="780" dirty="0"/>
          </a:p>
        </p:txBody>
      </p:sp>
      <p:sp>
        <p:nvSpPr>
          <p:cNvPr id="49" name="Text 47"/>
          <p:cNvSpPr txBox="1"/>
          <p:nvPr/>
        </p:nvSpPr>
        <p:spPr>
          <a:xfrm>
            <a:off x="8385048" y="3145536"/>
            <a:ext cx="1216152" cy="301752"/>
          </a:xfrm>
          <a:prstGeom prst="rect">
            <a:avLst/>
          </a:prstGeom>
          <a:noFill/>
          <a:ln/>
        </p:spPr>
        <p:txBody>
          <a:bodyPr wrap="square" lIns="0" tIns="0" rIns="0" bIns="0" rtlCol="0" anchor="ctr">
            <a:normAutofit/>
          </a:bodyPr>
          <a:lstStyle/>
          <a:p>
            <a:pPr algn="r" indent="0" marL="0">
              <a:lnSpc>
                <a:spcPct val="92000"/>
              </a:lnSpc>
              <a:buNone/>
            </a:pPr>
            <a:r>
              <a:rPr lang="en-US" sz="1320" b="1" dirty="0">
                <a:solidFill>
                  <a:srgbClr val="705FA7"/>
                </a:solidFill>
                <a:latin typeface="Arial" pitchFamily="34" charset="0"/>
                <a:ea typeface="Arial" pitchFamily="34" charset="-122"/>
                <a:cs typeface="Arial" pitchFamily="34" charset="-120"/>
              </a:rPr>
              <a:t>101,657</a:t>
            </a:r>
            <a:endParaRPr lang="en-US" sz="1320" dirty="0"/>
          </a:p>
        </p:txBody>
      </p:sp>
      <p:sp>
        <p:nvSpPr>
          <p:cNvPr id="50" name="Text 48"/>
          <p:cNvSpPr txBox="1"/>
          <p:nvPr/>
        </p:nvSpPr>
        <p:spPr>
          <a:xfrm>
            <a:off x="9765792" y="3154680"/>
            <a:ext cx="1572768" cy="320040"/>
          </a:xfrm>
          <a:prstGeom prst="rect">
            <a:avLst/>
          </a:prstGeom>
          <a:noFill/>
          <a:ln/>
        </p:spPr>
        <p:txBody>
          <a:bodyPr wrap="square" lIns="0" tIns="0" rIns="0" bIns="0" rtlCol="0" anchor="ctr">
            <a:normAutofit/>
          </a:bodyPr>
          <a:lstStyle/>
          <a:p>
            <a:pPr algn="l"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重庆市璧山区输入图斑规模</a:t>
            </a:r>
            <a:endParaRPr lang="en-US" sz="780" dirty="0"/>
          </a:p>
        </p:txBody>
      </p:sp>
      <p:sp>
        <p:nvSpPr>
          <p:cNvPr id="51" name="Text 49"/>
          <p:cNvSpPr txBox="1"/>
          <p:nvPr/>
        </p:nvSpPr>
        <p:spPr>
          <a:xfrm>
            <a:off x="8385048" y="3776472"/>
            <a:ext cx="1216152" cy="301752"/>
          </a:xfrm>
          <a:prstGeom prst="rect">
            <a:avLst/>
          </a:prstGeom>
          <a:noFill/>
          <a:ln/>
        </p:spPr>
        <p:txBody>
          <a:bodyPr wrap="square" lIns="0" tIns="0" rIns="0" bIns="0" rtlCol="0" anchor="ctr">
            <a:normAutofit/>
          </a:bodyPr>
          <a:lstStyle/>
          <a:p>
            <a:pPr algn="r" indent="0" marL="0">
              <a:lnSpc>
                <a:spcPct val="92000"/>
              </a:lnSpc>
              <a:buNone/>
            </a:pPr>
            <a:r>
              <a:rPr lang="en-US" sz="1320" b="1" dirty="0">
                <a:solidFill>
                  <a:srgbClr val="705FA7"/>
                </a:solidFill>
                <a:latin typeface="Arial" pitchFamily="34" charset="0"/>
                <a:ea typeface="Arial" pitchFamily="34" charset="-122"/>
                <a:cs typeface="Arial" pitchFamily="34" charset="-120"/>
              </a:rPr>
              <a:t>134,369</a:t>
            </a:r>
            <a:endParaRPr lang="en-US" sz="1320" dirty="0"/>
          </a:p>
        </p:txBody>
      </p:sp>
      <p:sp>
        <p:nvSpPr>
          <p:cNvPr id="52" name="Text 50"/>
          <p:cNvSpPr txBox="1"/>
          <p:nvPr/>
        </p:nvSpPr>
        <p:spPr>
          <a:xfrm>
            <a:off x="9765792" y="3785616"/>
            <a:ext cx="1572768" cy="320040"/>
          </a:xfrm>
          <a:prstGeom prst="rect">
            <a:avLst/>
          </a:prstGeom>
          <a:noFill/>
          <a:ln/>
        </p:spPr>
        <p:txBody>
          <a:bodyPr wrap="square" lIns="0" tIns="0" rIns="0" bIns="0" rtlCol="0" anchor="ctr">
            <a:normAutofit/>
          </a:bodyPr>
          <a:lstStyle/>
          <a:p>
            <a:pPr algn="l"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四川省内江市东兴区输入图斑规模</a:t>
            </a:r>
            <a:endParaRPr lang="en-US" sz="780" dirty="0"/>
          </a:p>
        </p:txBody>
      </p:sp>
      <p:sp>
        <p:nvSpPr>
          <p:cNvPr id="53" name="Text 51"/>
          <p:cNvSpPr txBox="1"/>
          <p:nvPr/>
        </p:nvSpPr>
        <p:spPr>
          <a:xfrm>
            <a:off x="8385048" y="4407408"/>
            <a:ext cx="1216152" cy="301752"/>
          </a:xfrm>
          <a:prstGeom prst="rect">
            <a:avLst/>
          </a:prstGeom>
          <a:noFill/>
          <a:ln/>
        </p:spPr>
        <p:txBody>
          <a:bodyPr wrap="square" lIns="0" tIns="0" rIns="0" bIns="0" rtlCol="0" anchor="ctr">
            <a:normAutofit/>
          </a:bodyPr>
          <a:lstStyle/>
          <a:p>
            <a:pPr algn="r" indent="0" marL="0">
              <a:lnSpc>
                <a:spcPct val="92000"/>
              </a:lnSpc>
              <a:buNone/>
            </a:pPr>
            <a:r>
              <a:rPr lang="en-US" sz="1320" b="1" dirty="0">
                <a:solidFill>
                  <a:srgbClr val="705FA7"/>
                </a:solidFill>
                <a:latin typeface="Arial" pitchFamily="34" charset="0"/>
                <a:ea typeface="Arial" pitchFamily="34" charset="-122"/>
                <a:cs typeface="Arial" pitchFamily="34" charset="-120"/>
              </a:rPr>
              <a:t>61 passed</a:t>
            </a:r>
            <a:endParaRPr lang="en-US" sz="1320" dirty="0"/>
          </a:p>
        </p:txBody>
      </p:sp>
      <p:sp>
        <p:nvSpPr>
          <p:cNvPr id="54" name="Text 52"/>
          <p:cNvSpPr txBox="1"/>
          <p:nvPr/>
        </p:nvSpPr>
        <p:spPr>
          <a:xfrm>
            <a:off x="9765792" y="4416552"/>
            <a:ext cx="1572768" cy="320040"/>
          </a:xfrm>
          <a:prstGeom prst="rect">
            <a:avLst/>
          </a:prstGeom>
          <a:noFill/>
          <a:ln/>
        </p:spPr>
        <p:txBody>
          <a:bodyPr wrap="square" lIns="0" tIns="0" rIns="0" bIns="0" rtlCol="0" anchor="ctr">
            <a:normAutofit/>
          </a:bodyPr>
          <a:lstStyle/>
          <a:p>
            <a:pPr algn="l"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legacy-amd64 代码侧验证</a:t>
            </a:r>
            <a:endParaRPr lang="en-US" sz="780" dirty="0"/>
          </a:p>
        </p:txBody>
      </p:sp>
      <p:sp>
        <p:nvSpPr>
          <p:cNvPr id="55" name="Shape 53"/>
          <p:cNvSpPr/>
          <p:nvPr/>
        </p:nvSpPr>
        <p:spPr>
          <a:xfrm>
            <a:off x="8394192" y="5175504"/>
            <a:ext cx="2926080" cy="448056"/>
          </a:xfrm>
          <a:prstGeom prst="roundRect">
            <a:avLst>
              <a:gd name="adj" fmla="val 8163"/>
            </a:avLst>
          </a:prstGeom>
          <a:solidFill>
            <a:srgbClr val="FFF3D9"/>
          </a:solidFill>
          <a:ln w="8890">
            <a:solidFill>
              <a:srgbClr val="B17B20"/>
            </a:solidFill>
            <a:prstDash val="solid"/>
          </a:ln>
        </p:spPr>
      </p:sp>
      <p:sp>
        <p:nvSpPr>
          <p:cNvPr id="56" name="Text 54"/>
          <p:cNvSpPr txBox="1"/>
          <p:nvPr/>
        </p:nvSpPr>
        <p:spPr>
          <a:xfrm>
            <a:off x="8503920" y="5230368"/>
            <a:ext cx="2743200" cy="310896"/>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B17B20"/>
                </a:solidFill>
                <a:latin typeface="Hiragino Sans GB" pitchFamily="34" charset="0"/>
                <a:ea typeface="Hiragino Sans GB" pitchFamily="34" charset="-122"/>
                <a:cs typeface="Hiragino Sans GB" pitchFamily="34" charset="-120"/>
              </a:rPr>
              <a:t>已形成自然资源部内网下一轮测试候选包，并完成目标老旧 x86_64 兼容适配</a:t>
            </a:r>
            <a:endParaRPr lang="en-US" sz="770" dirty="0"/>
          </a:p>
        </p:txBody>
      </p:sp>
      <p:sp>
        <p:nvSpPr>
          <p:cNvPr id="57" name="Shape 55"/>
          <p:cNvSpPr/>
          <p:nvPr/>
        </p:nvSpPr>
        <p:spPr>
          <a:xfrm>
            <a:off x="667512" y="5806440"/>
            <a:ext cx="10835640" cy="420624"/>
          </a:xfrm>
          <a:prstGeom prst="roundRect">
            <a:avLst>
              <a:gd name="adj" fmla="val 8696"/>
            </a:avLst>
          </a:prstGeom>
          <a:solidFill>
            <a:srgbClr val="FBE9EA"/>
          </a:solidFill>
          <a:ln w="8890">
            <a:solidFill>
              <a:srgbClr val="B04A50"/>
            </a:solidFill>
            <a:prstDash val="solid"/>
          </a:ln>
        </p:spPr>
      </p:sp>
      <p:sp>
        <p:nvSpPr>
          <p:cNvPr id="58" name="Text 56"/>
          <p:cNvSpPr txBox="1"/>
          <p:nvPr/>
        </p:nvSpPr>
        <p:spPr>
          <a:xfrm>
            <a:off x="877824" y="5888736"/>
            <a:ext cx="10442448" cy="246888"/>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B04A50"/>
                </a:solidFill>
                <a:latin typeface="Hiragino Sans GB" pitchFamily="34" charset="0"/>
                <a:ea typeface="Hiragino Sans GB" pitchFamily="34" charset="-122"/>
                <a:cs typeface="Hiragino Sans GB" pitchFamily="34" charset="-120"/>
              </a:rPr>
              <a:t>当前验收状态：候选包已完成真实数据 E2E 和 Intel Windows 重建验证；最终结论以目标内网机器 run / audit 结果为准。</a:t>
            </a:r>
            <a:endParaRPr lang="en-US" sz="8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问题升级</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从空间优化器到世界模型：显式状态转移与递归规划</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GWM 在策略搜索基础上增加行动条件转移、状态写回、关系重算和未来状态再规划。</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理论：MDP / model-based RL / state-space model；项目：GWM Research Principles</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09 / 29</a:t>
            </a:r>
            <a:endParaRPr lang="en-US" sz="670" dirty="0"/>
          </a:p>
        </p:txBody>
      </p:sp>
      <p:sp>
        <p:nvSpPr>
          <p:cNvPr id="10" name="Text 8"/>
          <p:cNvSpPr txBox="1"/>
          <p:nvPr/>
        </p:nvSpPr>
        <p:spPr>
          <a:xfrm>
            <a:off x="640080" y="1554480"/>
            <a:ext cx="2057400" cy="310896"/>
          </a:xfrm>
          <a:prstGeom prst="rect">
            <a:avLst/>
          </a:prstGeom>
          <a:noFill/>
          <a:ln/>
        </p:spPr>
        <p:txBody>
          <a:bodyPr wrap="square" lIns="0" tIns="0" rIns="0" bIns="0" rtlCol="0" anchor="ctr">
            <a:normAutofit/>
          </a:bodyPr>
          <a:lstStyle/>
          <a:p>
            <a:pPr algn="ctr" indent="0" marL="0">
              <a:lnSpc>
                <a:spcPct val="92000"/>
              </a:lnSpc>
              <a:buNone/>
            </a:pPr>
            <a:r>
              <a:rPr lang="en-US" sz="1500" b="1" dirty="0">
                <a:solidFill>
                  <a:srgbClr val="6C7C80"/>
                </a:solidFill>
                <a:latin typeface="Hiragino Sans GB" pitchFamily="34" charset="0"/>
                <a:ea typeface="Hiragino Sans GB" pitchFamily="34" charset="-122"/>
                <a:cs typeface="Hiragino Sans GB" pitchFamily="34" charset="-120"/>
              </a:rPr>
              <a:t>传统空间优化</a:t>
            </a:r>
            <a:endParaRPr lang="en-US" sz="1500" dirty="0"/>
          </a:p>
        </p:txBody>
      </p:sp>
      <p:sp>
        <p:nvSpPr>
          <p:cNvPr id="11" name="Shape 9"/>
          <p:cNvSpPr/>
          <p:nvPr/>
        </p:nvSpPr>
        <p:spPr>
          <a:xfrm>
            <a:off x="640080" y="1975104"/>
            <a:ext cx="2743200" cy="2542032"/>
          </a:xfrm>
          <a:prstGeom prst="roundRect">
            <a:avLst>
              <a:gd name="adj" fmla="val 2158"/>
            </a:avLst>
          </a:prstGeom>
          <a:solidFill>
            <a:srgbClr val="FFFFFF"/>
          </a:solidFill>
          <a:ln w="10160">
            <a:solidFill>
              <a:srgbClr val="D0DBD8"/>
            </a:solidFill>
            <a:prstDash val="solid"/>
          </a:ln>
        </p:spPr>
      </p:sp>
      <p:sp>
        <p:nvSpPr>
          <p:cNvPr id="12" name="Text 10"/>
          <p:cNvSpPr txBox="1"/>
          <p:nvPr/>
        </p:nvSpPr>
        <p:spPr>
          <a:xfrm>
            <a:off x="1042416" y="2267712"/>
            <a:ext cx="1938528" cy="475488"/>
          </a:xfrm>
          <a:prstGeom prst="rect">
            <a:avLst/>
          </a:prstGeom>
          <a:noFill/>
          <a:ln/>
        </p:spPr>
        <p:txBody>
          <a:bodyPr wrap="square" lIns="0" tIns="0" rIns="0" bIns="0" rtlCol="0" anchor="ctr">
            <a:normAutofit/>
          </a:bodyPr>
          <a:lstStyle/>
          <a:p>
            <a:pPr algn="ctr" indent="0" marL="0">
              <a:lnSpc>
                <a:spcPct val="92000"/>
              </a:lnSpc>
              <a:buNone/>
            </a:pPr>
            <a:r>
              <a:rPr lang="en-US" sz="2800" b="1" dirty="0">
                <a:solidFill>
                  <a:srgbClr val="0E5C59"/>
                </a:solidFill>
                <a:latin typeface="Arial" pitchFamily="34" charset="0"/>
                <a:ea typeface="Arial" pitchFamily="34" charset="-122"/>
                <a:cs typeface="Arial" pitchFamily="34" charset="-120"/>
              </a:rPr>
              <a:t>π(a | s)</a:t>
            </a:r>
            <a:endParaRPr lang="en-US" sz="2800" dirty="0"/>
          </a:p>
        </p:txBody>
      </p:sp>
      <p:sp>
        <p:nvSpPr>
          <p:cNvPr id="13" name="Text 11"/>
          <p:cNvSpPr txBox="1"/>
          <p:nvPr/>
        </p:nvSpPr>
        <p:spPr>
          <a:xfrm>
            <a:off x="987552" y="2926080"/>
            <a:ext cx="2029968" cy="685800"/>
          </a:xfrm>
          <a:prstGeom prst="rect">
            <a:avLst/>
          </a:prstGeom>
          <a:noFill/>
          <a:ln/>
        </p:spPr>
        <p:txBody>
          <a:bodyPr wrap="square" lIns="0" tIns="0" rIns="0" bIns="0" rtlCol="0" anchor="t">
            <a:normAutofit/>
          </a:bodyPr>
          <a:lstStyle/>
          <a:p>
            <a:pPr algn="ctr" indent="0" marL="0">
              <a:lnSpc>
                <a:spcPct val="92000"/>
              </a:lnSpc>
              <a:buNone/>
            </a:pPr>
            <a:r>
              <a:rPr lang="en-US" sz="1300" b="1" dirty="0">
                <a:solidFill>
                  <a:srgbClr val="17252A"/>
                </a:solidFill>
                <a:latin typeface="Hiragino Sans GB" pitchFamily="34" charset="0"/>
                <a:ea typeface="Hiragino Sans GB" pitchFamily="34" charset="-122"/>
                <a:cs typeface="Hiragino Sans GB" pitchFamily="34" charset="-120"/>
              </a:rPr>
              <a:t>给定状态 s</a:t>
            </a:r>
            <a:endParaRPr lang="en-US" sz="1300" dirty="0"/>
          </a:p>
          <a:p>
            <a:pPr algn="ctr" indent="0" marL="0">
              <a:lnSpc>
                <a:spcPct val="92000"/>
              </a:lnSpc>
              <a:buNone/>
            </a:pPr>
            <a:r>
              <a:rPr lang="en-US" sz="1300" b="1" dirty="0">
                <a:solidFill>
                  <a:srgbClr val="17252A"/>
                </a:solidFill>
                <a:latin typeface="Hiragino Sans GB" pitchFamily="34" charset="0"/>
                <a:ea typeface="Hiragino Sans GB" pitchFamily="34" charset="-122"/>
                <a:cs typeface="Hiragino Sans GB" pitchFamily="34" charset="-120"/>
              </a:rPr>
              <a:t>直接选择动作 a</a:t>
            </a:r>
            <a:endParaRPr lang="en-US" sz="1300" dirty="0"/>
          </a:p>
        </p:txBody>
      </p:sp>
      <p:sp>
        <p:nvSpPr>
          <p:cNvPr id="14" name="Text 12"/>
          <p:cNvSpPr txBox="1"/>
          <p:nvPr/>
        </p:nvSpPr>
        <p:spPr>
          <a:xfrm>
            <a:off x="932688" y="3904488"/>
            <a:ext cx="2148840" cy="365760"/>
          </a:xfrm>
          <a:prstGeom prst="rect">
            <a:avLst/>
          </a:prstGeom>
          <a:noFill/>
          <a:ln/>
        </p:spPr>
        <p:txBody>
          <a:bodyPr wrap="square" lIns="0" tIns="0" rIns="0" bIns="0" rtlCol="0" anchor="ctr">
            <a:normAutofit/>
          </a:bodyPr>
          <a:lstStyle/>
          <a:p>
            <a:pPr algn="ctr" indent="0" marL="0">
              <a:lnSpc>
                <a:spcPct val="92000"/>
              </a:lnSpc>
              <a:buNone/>
            </a:pPr>
            <a:r>
              <a:rPr lang="en-US" sz="880" dirty="0">
                <a:solidFill>
                  <a:srgbClr val="6C7C80"/>
                </a:solidFill>
                <a:latin typeface="Hiragino Sans GB" pitchFamily="34" charset="0"/>
                <a:ea typeface="Hiragino Sans GB" pitchFamily="34" charset="-122"/>
                <a:cs typeface="Hiragino Sans GB" pitchFamily="34" charset="-120"/>
              </a:rPr>
              <a:t>适合：明确奖励、稳定约束、有限动作空间</a:t>
            </a:r>
            <a:endParaRPr lang="en-US" sz="880" dirty="0"/>
          </a:p>
        </p:txBody>
      </p:sp>
      <p:sp>
        <p:nvSpPr>
          <p:cNvPr id="15" name="Shape 13"/>
          <p:cNvSpPr/>
          <p:nvPr/>
        </p:nvSpPr>
        <p:spPr>
          <a:xfrm>
            <a:off x="3685032" y="3163824"/>
            <a:ext cx="640080" cy="0"/>
          </a:xfrm>
          <a:prstGeom prst="line">
            <a:avLst/>
          </a:prstGeom>
          <a:noFill/>
          <a:ln w="20320">
            <a:solidFill>
              <a:srgbClr val="B17B20"/>
            </a:solidFill>
            <a:prstDash val="solid"/>
            <a:tailEnd type="triangle"/>
          </a:ln>
        </p:spPr>
      </p:sp>
      <p:sp>
        <p:nvSpPr>
          <p:cNvPr id="16" name="Text 14"/>
          <p:cNvSpPr txBox="1"/>
          <p:nvPr/>
        </p:nvSpPr>
        <p:spPr>
          <a:xfrm>
            <a:off x="3575304" y="2670048"/>
            <a:ext cx="896112" cy="210312"/>
          </a:xfrm>
          <a:prstGeom prst="rect">
            <a:avLst/>
          </a:prstGeom>
          <a:noFill/>
          <a:ln/>
        </p:spPr>
        <p:txBody>
          <a:bodyPr wrap="square" lIns="0" tIns="0" rIns="0" bIns="0" rtlCol="0" anchor="ctr">
            <a:normAutofit/>
          </a:bodyPr>
          <a:lstStyle/>
          <a:p>
            <a:pPr algn="ctr" indent="0" marL="0">
              <a:lnSpc>
                <a:spcPct val="92000"/>
              </a:lnSpc>
              <a:buNone/>
            </a:pPr>
            <a:r>
              <a:rPr lang="en-US" sz="740" b="1" dirty="0">
                <a:solidFill>
                  <a:srgbClr val="B17B20"/>
                </a:solidFill>
                <a:latin typeface="Hiragino Sans GB" pitchFamily="34" charset="0"/>
                <a:ea typeface="Hiragino Sans GB" pitchFamily="34" charset="-122"/>
                <a:cs typeface="Hiragino Sans GB" pitchFamily="34" charset="-120"/>
              </a:rPr>
              <a:t>研究对象改变</a:t>
            </a:r>
            <a:endParaRPr lang="en-US" sz="740" dirty="0"/>
          </a:p>
        </p:txBody>
      </p:sp>
      <p:sp>
        <p:nvSpPr>
          <p:cNvPr id="17" name="Text 15"/>
          <p:cNvSpPr txBox="1"/>
          <p:nvPr/>
        </p:nvSpPr>
        <p:spPr>
          <a:xfrm>
            <a:off x="4599432" y="1554480"/>
            <a:ext cx="2423160" cy="310896"/>
          </a:xfrm>
          <a:prstGeom prst="rect">
            <a:avLst/>
          </a:prstGeom>
          <a:noFill/>
          <a:ln/>
        </p:spPr>
        <p:txBody>
          <a:bodyPr wrap="square" lIns="0" tIns="0" rIns="0" bIns="0" rtlCol="0" anchor="ctr">
            <a:normAutofit/>
          </a:bodyPr>
          <a:lstStyle/>
          <a:p>
            <a:pPr algn="ctr" indent="0" marL="0">
              <a:lnSpc>
                <a:spcPct val="92000"/>
              </a:lnSpc>
              <a:buNone/>
            </a:pPr>
            <a:r>
              <a:rPr lang="en-US" sz="1500" b="1" dirty="0">
                <a:solidFill>
                  <a:srgbClr val="0E5C59"/>
                </a:solidFill>
                <a:latin typeface="Hiragino Sans GB" pitchFamily="34" charset="0"/>
                <a:ea typeface="Hiragino Sans GB" pitchFamily="34" charset="-122"/>
                <a:cs typeface="Hiragino Sans GB" pitchFamily="34" charset="-120"/>
              </a:rPr>
              <a:t>地理空间世界模型</a:t>
            </a:r>
            <a:endParaRPr lang="en-US" sz="1500" dirty="0"/>
          </a:p>
        </p:txBody>
      </p:sp>
      <p:sp>
        <p:nvSpPr>
          <p:cNvPr id="18" name="Shape 16"/>
          <p:cNvSpPr/>
          <p:nvPr/>
        </p:nvSpPr>
        <p:spPr>
          <a:xfrm>
            <a:off x="4572000" y="1975104"/>
            <a:ext cx="6967728" cy="2542032"/>
          </a:xfrm>
          <a:prstGeom prst="roundRect">
            <a:avLst>
              <a:gd name="adj" fmla="val 2158"/>
            </a:avLst>
          </a:prstGeom>
          <a:solidFill>
            <a:srgbClr val="E2F2EF"/>
          </a:solidFill>
          <a:ln w="12700">
            <a:solidFill>
              <a:srgbClr val="137F7A"/>
            </a:solidFill>
            <a:prstDash val="solid"/>
          </a:ln>
        </p:spPr>
      </p:sp>
      <p:sp>
        <p:nvSpPr>
          <p:cNvPr id="19" name="Text 17"/>
          <p:cNvSpPr txBox="1"/>
          <p:nvPr/>
        </p:nvSpPr>
        <p:spPr>
          <a:xfrm>
            <a:off x="4965192" y="2221992"/>
            <a:ext cx="6181344" cy="457200"/>
          </a:xfrm>
          <a:prstGeom prst="rect">
            <a:avLst/>
          </a:prstGeom>
          <a:noFill/>
          <a:ln/>
        </p:spPr>
        <p:txBody>
          <a:bodyPr wrap="square" lIns="0" tIns="0" rIns="0" bIns="0" rtlCol="0" anchor="ctr">
            <a:normAutofit/>
          </a:bodyPr>
          <a:lstStyle/>
          <a:p>
            <a:pPr algn="ctr" indent="0" marL="0">
              <a:lnSpc>
                <a:spcPct val="92000"/>
              </a:lnSpc>
              <a:buNone/>
            </a:pPr>
            <a:r>
              <a:rPr lang="en-US" sz="2400" b="1" dirty="0">
                <a:solidFill>
                  <a:srgbClr val="0E5C59"/>
                </a:solidFill>
                <a:latin typeface="Arial" pitchFamily="34" charset="0"/>
                <a:ea typeface="Arial" pitchFamily="34" charset="-122"/>
                <a:cs typeface="Arial" pitchFamily="34" charset="-120"/>
              </a:rPr>
              <a:t>P(Sₜ₊₁ | Sₜ, Aₜ, Cₜ, Gₜ)</a:t>
            </a:r>
            <a:endParaRPr lang="en-US" sz="2400" dirty="0"/>
          </a:p>
        </p:txBody>
      </p:sp>
      <p:sp>
        <p:nvSpPr>
          <p:cNvPr id="20" name="Text 18"/>
          <p:cNvSpPr txBox="1"/>
          <p:nvPr/>
        </p:nvSpPr>
        <p:spPr>
          <a:xfrm>
            <a:off x="4864608" y="3054096"/>
            <a:ext cx="502920"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0E5C59"/>
                </a:solidFill>
                <a:latin typeface="Arial" pitchFamily="34" charset="0"/>
                <a:ea typeface="Arial" pitchFamily="34" charset="-122"/>
                <a:cs typeface="Arial" pitchFamily="34" charset="-120"/>
              </a:rPr>
              <a:t>Sₜ</a:t>
            </a:r>
            <a:endParaRPr lang="en-US" sz="1300" dirty="0"/>
          </a:p>
        </p:txBody>
      </p:sp>
      <p:sp>
        <p:nvSpPr>
          <p:cNvPr id="21" name="Text 19"/>
          <p:cNvSpPr txBox="1"/>
          <p:nvPr/>
        </p:nvSpPr>
        <p:spPr>
          <a:xfrm>
            <a:off x="4544568" y="3374136"/>
            <a:ext cx="1143000" cy="493776"/>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可更新的多尺度状态</a:t>
            </a:r>
            <a:endParaRPr lang="en-US" sz="820" dirty="0"/>
          </a:p>
        </p:txBody>
      </p:sp>
      <p:sp>
        <p:nvSpPr>
          <p:cNvPr id="22" name="Text 20"/>
          <p:cNvSpPr txBox="1"/>
          <p:nvPr/>
        </p:nvSpPr>
        <p:spPr>
          <a:xfrm>
            <a:off x="6492240" y="3054096"/>
            <a:ext cx="502920"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0E5C59"/>
                </a:solidFill>
                <a:latin typeface="Arial" pitchFamily="34" charset="0"/>
                <a:ea typeface="Arial" pitchFamily="34" charset="-122"/>
                <a:cs typeface="Arial" pitchFamily="34" charset="-120"/>
              </a:rPr>
              <a:t>Aₜ</a:t>
            </a:r>
            <a:endParaRPr lang="en-US" sz="1300" dirty="0"/>
          </a:p>
        </p:txBody>
      </p:sp>
      <p:sp>
        <p:nvSpPr>
          <p:cNvPr id="23" name="Text 21"/>
          <p:cNvSpPr txBox="1"/>
          <p:nvPr/>
        </p:nvSpPr>
        <p:spPr>
          <a:xfrm>
            <a:off x="6172200" y="3374136"/>
            <a:ext cx="1143000" cy="493776"/>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结构化治理行动</a:t>
            </a:r>
            <a:endParaRPr lang="en-US" sz="820" dirty="0"/>
          </a:p>
        </p:txBody>
      </p:sp>
      <p:sp>
        <p:nvSpPr>
          <p:cNvPr id="24" name="Text 22"/>
          <p:cNvSpPr txBox="1"/>
          <p:nvPr/>
        </p:nvSpPr>
        <p:spPr>
          <a:xfrm>
            <a:off x="8119872" y="3054096"/>
            <a:ext cx="502920"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0E5C59"/>
                </a:solidFill>
                <a:latin typeface="Arial" pitchFamily="34" charset="0"/>
                <a:ea typeface="Arial" pitchFamily="34" charset="-122"/>
                <a:cs typeface="Arial" pitchFamily="34" charset="-120"/>
              </a:rPr>
              <a:t>Cₜ</a:t>
            </a:r>
            <a:endParaRPr lang="en-US" sz="1300" dirty="0"/>
          </a:p>
        </p:txBody>
      </p:sp>
      <p:sp>
        <p:nvSpPr>
          <p:cNvPr id="25" name="Text 23"/>
          <p:cNvSpPr txBox="1"/>
          <p:nvPr/>
        </p:nvSpPr>
        <p:spPr>
          <a:xfrm>
            <a:off x="7799832" y="3374136"/>
            <a:ext cx="1143000" cy="493776"/>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天气 / 历史</a:t>
            </a:r>
            <a:endParaRPr lang="en-US" sz="820" dirty="0"/>
          </a:p>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区域上下文</a:t>
            </a:r>
            <a:endParaRPr lang="en-US" sz="820" dirty="0"/>
          </a:p>
        </p:txBody>
      </p:sp>
      <p:sp>
        <p:nvSpPr>
          <p:cNvPr id="26" name="Text 24"/>
          <p:cNvSpPr txBox="1"/>
          <p:nvPr/>
        </p:nvSpPr>
        <p:spPr>
          <a:xfrm>
            <a:off x="9747504" y="3054096"/>
            <a:ext cx="502920"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0E5C59"/>
                </a:solidFill>
                <a:latin typeface="Arial" pitchFamily="34" charset="0"/>
                <a:ea typeface="Arial" pitchFamily="34" charset="-122"/>
                <a:cs typeface="Arial" pitchFamily="34" charset="-120"/>
              </a:rPr>
              <a:t>Gₜ</a:t>
            </a:r>
            <a:endParaRPr lang="en-US" sz="1300" dirty="0"/>
          </a:p>
        </p:txBody>
      </p:sp>
      <p:sp>
        <p:nvSpPr>
          <p:cNvPr id="27" name="Text 25"/>
          <p:cNvSpPr txBox="1"/>
          <p:nvPr/>
        </p:nvSpPr>
        <p:spPr>
          <a:xfrm>
            <a:off x="9427464" y="3374136"/>
            <a:ext cx="1143000" cy="493776"/>
          </a:xfrm>
          <a:prstGeom prst="rect">
            <a:avLst/>
          </a:prstGeom>
          <a:noFill/>
          <a:ln/>
        </p:spPr>
        <p:txBody>
          <a:bodyPr wrap="square" lIns="0" tIns="0" rIns="0" bIns="0" rtlCol="0" anchor="t">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可变化的空间关系图</a:t>
            </a:r>
            <a:endParaRPr lang="en-US" sz="820" dirty="0"/>
          </a:p>
        </p:txBody>
      </p:sp>
      <p:sp>
        <p:nvSpPr>
          <p:cNvPr id="28" name="Text 26"/>
          <p:cNvSpPr txBox="1"/>
          <p:nvPr/>
        </p:nvSpPr>
        <p:spPr>
          <a:xfrm>
            <a:off x="4919472" y="4087368"/>
            <a:ext cx="6327648" cy="228600"/>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17252A"/>
                </a:solidFill>
                <a:latin typeface="Hiragino Sans GB" pitchFamily="34" charset="0"/>
                <a:ea typeface="Hiragino Sans GB" pitchFamily="34" charset="-122"/>
                <a:cs typeface="Hiragino Sans GB" pitchFamily="34" charset="-120"/>
              </a:rPr>
              <a:t>输出：未来状态 + 关系变化 + 风险 / 效用 + 不确定性</a:t>
            </a:r>
            <a:endParaRPr lang="en-US" sz="1020" dirty="0"/>
          </a:p>
        </p:txBody>
      </p:sp>
      <p:sp>
        <p:nvSpPr>
          <p:cNvPr id="29" name="Text 27"/>
          <p:cNvSpPr txBox="1"/>
          <p:nvPr/>
        </p:nvSpPr>
        <p:spPr>
          <a:xfrm>
            <a:off x="640080" y="5010912"/>
            <a:ext cx="3337560" cy="283464"/>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0E5C59"/>
                </a:solidFill>
                <a:latin typeface="Hiragino Sans GB" pitchFamily="34" charset="0"/>
                <a:ea typeface="Hiragino Sans GB" pitchFamily="34" charset="-122"/>
                <a:cs typeface="Hiragino Sans GB" pitchFamily="34" charset="-120"/>
              </a:rPr>
              <a:t>状态写回</a:t>
            </a:r>
            <a:endParaRPr lang="en-US" sz="1250" dirty="0"/>
          </a:p>
        </p:txBody>
      </p:sp>
      <p:sp>
        <p:nvSpPr>
          <p:cNvPr id="30" name="Text 28"/>
          <p:cNvSpPr txBox="1"/>
          <p:nvPr/>
        </p:nvSpPr>
        <p:spPr>
          <a:xfrm>
            <a:off x="804672" y="5394960"/>
            <a:ext cx="3017520" cy="566928"/>
          </a:xfrm>
          <a:prstGeom prst="rect">
            <a:avLst/>
          </a:prstGeom>
          <a:noFill/>
          <a:ln/>
        </p:spPr>
        <p:txBody>
          <a:bodyPr wrap="square" lIns="0" tIns="0" rIns="0" bIns="0" rtlCol="0" anchor="t">
            <a:normAutofit/>
          </a:bodyPr>
          <a:lstStyle/>
          <a:p>
            <a:pPr algn="ctr" indent="0" marL="0">
              <a:lnSpc>
                <a:spcPct val="92000"/>
              </a:lnSpc>
              <a:buNone/>
            </a:pPr>
            <a:r>
              <a:rPr lang="en-US" sz="920" dirty="0">
                <a:solidFill>
                  <a:srgbClr val="32474D"/>
                </a:solidFill>
                <a:latin typeface="Hiragino Sans GB" pitchFamily="34" charset="0"/>
                <a:ea typeface="Hiragino Sans GB" pitchFamily="34" charset="-122"/>
                <a:cs typeface="Hiragino Sans GB" pitchFamily="34" charset="-120"/>
              </a:rPr>
              <a:t>每一步预测结果形成下一步可消费状态。</a:t>
            </a:r>
            <a:endParaRPr lang="en-US" sz="920" dirty="0"/>
          </a:p>
        </p:txBody>
      </p:sp>
      <p:sp>
        <p:nvSpPr>
          <p:cNvPr id="31" name="Text 29"/>
          <p:cNvSpPr txBox="1"/>
          <p:nvPr/>
        </p:nvSpPr>
        <p:spPr>
          <a:xfrm>
            <a:off x="4315968" y="5010912"/>
            <a:ext cx="3337560" cy="283464"/>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356CA8"/>
                </a:solidFill>
                <a:latin typeface="Hiragino Sans GB" pitchFamily="34" charset="0"/>
                <a:ea typeface="Hiragino Sans GB" pitchFamily="34" charset="-122"/>
                <a:cs typeface="Hiragino Sans GB" pitchFamily="34" charset="-120"/>
              </a:rPr>
              <a:t>关系重算</a:t>
            </a:r>
            <a:endParaRPr lang="en-US" sz="1250" dirty="0"/>
          </a:p>
        </p:txBody>
      </p:sp>
      <p:sp>
        <p:nvSpPr>
          <p:cNvPr id="32" name="Text 30"/>
          <p:cNvSpPr txBox="1"/>
          <p:nvPr/>
        </p:nvSpPr>
        <p:spPr>
          <a:xfrm>
            <a:off x="4480560" y="5394960"/>
            <a:ext cx="3017520" cy="566928"/>
          </a:xfrm>
          <a:prstGeom prst="rect">
            <a:avLst/>
          </a:prstGeom>
          <a:noFill/>
          <a:ln/>
        </p:spPr>
        <p:txBody>
          <a:bodyPr wrap="square" lIns="0" tIns="0" rIns="0" bIns="0" rtlCol="0" anchor="t">
            <a:normAutofit/>
          </a:bodyPr>
          <a:lstStyle/>
          <a:p>
            <a:pPr algn="ctr" indent="0" marL="0">
              <a:lnSpc>
                <a:spcPct val="92000"/>
              </a:lnSpc>
              <a:buNone/>
            </a:pPr>
            <a:r>
              <a:rPr lang="en-US" sz="920" dirty="0">
                <a:solidFill>
                  <a:srgbClr val="32474D"/>
                </a:solidFill>
                <a:latin typeface="Hiragino Sans GB" pitchFamily="34" charset="0"/>
                <a:ea typeface="Hiragino Sans GB" pitchFamily="34" charset="-122"/>
                <a:cs typeface="Hiragino Sans GB" pitchFamily="34" charset="-120"/>
              </a:rPr>
              <a:t>道路、水系与功能联系随治理行动动态更新。</a:t>
            </a:r>
            <a:endParaRPr lang="en-US" sz="920" dirty="0"/>
          </a:p>
        </p:txBody>
      </p:sp>
      <p:sp>
        <p:nvSpPr>
          <p:cNvPr id="33" name="Text 31"/>
          <p:cNvSpPr txBox="1"/>
          <p:nvPr/>
        </p:nvSpPr>
        <p:spPr>
          <a:xfrm>
            <a:off x="7991856" y="5010912"/>
            <a:ext cx="3337560" cy="283464"/>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2D8A57"/>
                </a:solidFill>
                <a:latin typeface="Hiragino Sans GB" pitchFamily="34" charset="0"/>
                <a:ea typeface="Hiragino Sans GB" pitchFamily="34" charset="-122"/>
                <a:cs typeface="Hiragino Sans GB" pitchFamily="34" charset="-120"/>
              </a:rPr>
              <a:t>递归规划</a:t>
            </a:r>
            <a:endParaRPr lang="en-US" sz="1250" dirty="0"/>
          </a:p>
        </p:txBody>
      </p:sp>
      <p:sp>
        <p:nvSpPr>
          <p:cNvPr id="34" name="Text 32"/>
          <p:cNvSpPr txBox="1"/>
          <p:nvPr/>
        </p:nvSpPr>
        <p:spPr>
          <a:xfrm>
            <a:off x="8156448" y="5394960"/>
            <a:ext cx="3017520" cy="566928"/>
          </a:xfrm>
          <a:prstGeom prst="rect">
            <a:avLst/>
          </a:prstGeom>
          <a:noFill/>
          <a:ln/>
        </p:spPr>
        <p:txBody>
          <a:bodyPr wrap="square" lIns="0" tIns="0" rIns="0" bIns="0" rtlCol="0" anchor="t">
            <a:normAutofit/>
          </a:bodyPr>
          <a:lstStyle/>
          <a:p>
            <a:pPr algn="ctr" indent="0" marL="0">
              <a:lnSpc>
                <a:spcPct val="92000"/>
              </a:lnSpc>
              <a:buNone/>
            </a:pPr>
            <a:r>
              <a:rPr lang="en-US" sz="920" dirty="0">
                <a:solidFill>
                  <a:srgbClr val="32474D"/>
                </a:solidFill>
                <a:latin typeface="Hiragino Sans GB" pitchFamily="34" charset="0"/>
                <a:ea typeface="Hiragino Sans GB" pitchFamily="34" charset="-122"/>
                <a:cs typeface="Hiragino Sans GB" pitchFamily="34" charset="-120"/>
              </a:rPr>
              <a:t>Planner 在预测的未来状态中重新评估行动。</a:t>
            </a:r>
            <a:endParaRPr lang="en-US"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数据逻辑</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状态—动作—结果：GWM 的训练数据契约</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与常规机器学习相比，差异集中在样本组织、预测目标、递归运行方式和验证协议。</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理论：state-space model / MDP / model-based RL；数据纪律：action-conditioned transition / temporal holdout / causal identification</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10 / 29</a:t>
            </a:r>
            <a:endParaRPr lang="en-US" sz="670" dirty="0"/>
          </a:p>
        </p:txBody>
      </p:sp>
      <p:sp>
        <p:nvSpPr>
          <p:cNvPr id="10" name="Shape 8"/>
          <p:cNvSpPr/>
          <p:nvPr/>
        </p:nvSpPr>
        <p:spPr>
          <a:xfrm>
            <a:off x="530352" y="1463040"/>
            <a:ext cx="5230368" cy="1435608"/>
          </a:xfrm>
          <a:prstGeom prst="roundRect">
            <a:avLst>
              <a:gd name="adj" fmla="val 3822"/>
            </a:avLst>
          </a:prstGeom>
          <a:solidFill>
            <a:srgbClr val="FFFFFF"/>
          </a:solidFill>
          <a:ln w="10160">
            <a:solidFill>
              <a:srgbClr val="D0DBD8"/>
            </a:solidFill>
            <a:prstDash val="solid"/>
          </a:ln>
        </p:spPr>
      </p:sp>
      <p:sp>
        <p:nvSpPr>
          <p:cNvPr id="11" name="Shape 9"/>
          <p:cNvSpPr/>
          <p:nvPr/>
        </p:nvSpPr>
        <p:spPr>
          <a:xfrm>
            <a:off x="758952" y="1664208"/>
            <a:ext cx="1883664" cy="256032"/>
          </a:xfrm>
          <a:prstGeom prst="roundRect">
            <a:avLst>
              <a:gd name="adj" fmla="val 50000"/>
            </a:avLst>
          </a:prstGeom>
          <a:solidFill>
            <a:srgbClr val="EDF1F0"/>
          </a:solidFill>
          <a:ln w="6350">
            <a:solidFill>
              <a:srgbClr val="D0DBD8"/>
            </a:solidFill>
            <a:prstDash val="solid"/>
          </a:ln>
        </p:spPr>
      </p:sp>
      <p:sp>
        <p:nvSpPr>
          <p:cNvPr id="12" name="Text 10"/>
          <p:cNvSpPr txBox="1"/>
          <p:nvPr/>
        </p:nvSpPr>
        <p:spPr>
          <a:xfrm>
            <a:off x="813816" y="1687068"/>
            <a:ext cx="1773936"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32474D"/>
                </a:solidFill>
                <a:latin typeface="Hiragino Sans GB" pitchFamily="34" charset="0"/>
                <a:ea typeface="Hiragino Sans GB" pitchFamily="34" charset="-122"/>
                <a:cs typeface="Hiragino Sans GB" pitchFamily="34" charset="-120"/>
              </a:rPr>
              <a:t>常规监督学习 / 预测模型</a:t>
            </a:r>
            <a:endParaRPr lang="en-US" sz="770" dirty="0"/>
          </a:p>
        </p:txBody>
      </p:sp>
      <p:sp>
        <p:nvSpPr>
          <p:cNvPr id="13" name="Text 11"/>
          <p:cNvSpPr txBox="1"/>
          <p:nvPr/>
        </p:nvSpPr>
        <p:spPr>
          <a:xfrm>
            <a:off x="841248" y="2011680"/>
            <a:ext cx="1664208" cy="356616"/>
          </a:xfrm>
          <a:prstGeom prst="rect">
            <a:avLst/>
          </a:prstGeom>
          <a:noFill/>
          <a:ln/>
        </p:spPr>
        <p:txBody>
          <a:bodyPr wrap="square" lIns="0" tIns="0" rIns="0" bIns="0" rtlCol="0" anchor="ctr">
            <a:normAutofit/>
          </a:bodyPr>
          <a:lstStyle/>
          <a:p>
            <a:pPr algn="ctr" indent="0" marL="0">
              <a:lnSpc>
                <a:spcPct val="92000"/>
              </a:lnSpc>
              <a:buNone/>
            </a:pPr>
            <a:r>
              <a:rPr lang="en-US" sz="2200" b="1" dirty="0">
                <a:solidFill>
                  <a:srgbClr val="6C7C80"/>
                </a:solidFill>
                <a:latin typeface="Arial" pitchFamily="34" charset="0"/>
                <a:ea typeface="Arial" pitchFamily="34" charset="-122"/>
                <a:cs typeface="Arial" pitchFamily="34" charset="-120"/>
              </a:rPr>
              <a:t>ŷ = fθ(x)</a:t>
            </a:r>
            <a:endParaRPr lang="en-US" sz="2200" dirty="0"/>
          </a:p>
        </p:txBody>
      </p:sp>
      <p:sp>
        <p:nvSpPr>
          <p:cNvPr id="14" name="Text 12"/>
          <p:cNvSpPr txBox="1"/>
          <p:nvPr/>
        </p:nvSpPr>
        <p:spPr>
          <a:xfrm>
            <a:off x="2706624" y="1792224"/>
            <a:ext cx="2706624" cy="667512"/>
          </a:xfrm>
          <a:prstGeom prst="rect">
            <a:avLst/>
          </a:prstGeom>
          <a:noFill/>
          <a:ln/>
        </p:spPr>
        <p:txBody>
          <a:bodyPr wrap="square" lIns="0" tIns="0" rIns="0" bIns="0" rtlCol="0" anchor="t">
            <a:normAutofit/>
          </a:bodyPr>
          <a:lstStyle/>
          <a:p>
            <a:pPr algn="ctr" indent="0" marL="0">
              <a:lnSpc>
                <a:spcPct val="92000"/>
              </a:lnSpc>
              <a:buNone/>
            </a:pPr>
            <a:r>
              <a:rPr lang="en-US" sz="970" b="1" dirty="0">
                <a:solidFill>
                  <a:srgbClr val="32474D"/>
                </a:solidFill>
                <a:latin typeface="Hiragino Sans GB" pitchFamily="34" charset="0"/>
                <a:ea typeface="Hiragino Sans GB" pitchFamily="34" charset="-122"/>
                <a:cs typeface="Hiragino Sans GB" pitchFamily="34" charset="-120"/>
              </a:rPr>
              <a:t>预测目标：在历史观测分布内，</a:t>
            </a:r>
            <a:endParaRPr lang="en-US" sz="970" dirty="0"/>
          </a:p>
          <a:p>
            <a:pPr algn="ctr" indent="0" marL="0">
              <a:lnSpc>
                <a:spcPct val="92000"/>
              </a:lnSpc>
              <a:buNone/>
            </a:pPr>
            <a:r>
              <a:rPr lang="en-US" sz="970" b="1" dirty="0">
                <a:solidFill>
                  <a:srgbClr val="32474D"/>
                </a:solidFill>
                <a:latin typeface="Hiragino Sans GB" pitchFamily="34" charset="0"/>
                <a:ea typeface="Hiragino Sans GB" pitchFamily="34" charset="-122"/>
                <a:cs typeface="Hiragino Sans GB" pitchFamily="34" charset="-120"/>
              </a:rPr>
              <a:t>估计对象对应的标签、分数或数值。</a:t>
            </a:r>
            <a:endParaRPr lang="en-US" sz="970" dirty="0"/>
          </a:p>
        </p:txBody>
      </p:sp>
      <p:sp>
        <p:nvSpPr>
          <p:cNvPr id="15" name="Text 13"/>
          <p:cNvSpPr txBox="1"/>
          <p:nvPr/>
        </p:nvSpPr>
        <p:spPr>
          <a:xfrm>
            <a:off x="822960" y="2542032"/>
            <a:ext cx="4553712" cy="182880"/>
          </a:xfrm>
          <a:prstGeom prst="rect">
            <a:avLst/>
          </a:prstGeom>
          <a:noFill/>
          <a:ln/>
        </p:spPr>
        <p:txBody>
          <a:bodyPr wrap="square" lIns="0" tIns="0" rIns="0" bIns="0" rtlCol="0" anchor="ctr">
            <a:normAutofit/>
          </a:bodyPr>
          <a:lstStyle/>
          <a:p>
            <a:pPr algn="ctr" indent="0" marL="0">
              <a:lnSpc>
                <a:spcPct val="92000"/>
              </a:lnSpc>
              <a:buNone/>
            </a:pPr>
            <a:r>
              <a:rPr lang="en-US" sz="770" dirty="0">
                <a:solidFill>
                  <a:srgbClr val="6C7C80"/>
                </a:solidFill>
                <a:latin typeface="Hiragino Sans GB" pitchFamily="34" charset="0"/>
                <a:ea typeface="Hiragino Sans GB" pitchFamily="34" charset="-122"/>
                <a:cs typeface="Hiragino Sans GB" pitchFamily="34" charset="-120"/>
              </a:rPr>
              <a:t>例：地块适宜性、违法风险、项目获批概率</a:t>
            </a:r>
            <a:endParaRPr lang="en-US" sz="770" dirty="0"/>
          </a:p>
        </p:txBody>
      </p:sp>
      <p:sp>
        <p:nvSpPr>
          <p:cNvPr id="16" name="Shape 14"/>
          <p:cNvSpPr/>
          <p:nvPr/>
        </p:nvSpPr>
        <p:spPr>
          <a:xfrm>
            <a:off x="5989320" y="1463040"/>
            <a:ext cx="5650992" cy="1435608"/>
          </a:xfrm>
          <a:prstGeom prst="roundRect">
            <a:avLst>
              <a:gd name="adj" fmla="val 3822"/>
            </a:avLst>
          </a:prstGeom>
          <a:solidFill>
            <a:srgbClr val="E2F2EF"/>
          </a:solidFill>
          <a:ln w="12700">
            <a:solidFill>
              <a:srgbClr val="137F7A"/>
            </a:solidFill>
            <a:prstDash val="solid"/>
          </a:ln>
        </p:spPr>
      </p:sp>
      <p:sp>
        <p:nvSpPr>
          <p:cNvPr id="17" name="Shape 15"/>
          <p:cNvSpPr/>
          <p:nvPr/>
        </p:nvSpPr>
        <p:spPr>
          <a:xfrm>
            <a:off x="6236208" y="1664208"/>
            <a:ext cx="1691640" cy="256032"/>
          </a:xfrm>
          <a:prstGeom prst="roundRect">
            <a:avLst>
              <a:gd name="adj" fmla="val 50000"/>
            </a:avLst>
          </a:prstGeom>
          <a:solidFill>
            <a:srgbClr val="FFFFFF"/>
          </a:solidFill>
          <a:ln w="6350">
            <a:solidFill>
              <a:srgbClr val="FFFFFF"/>
            </a:solidFill>
            <a:prstDash val="solid"/>
          </a:ln>
        </p:spPr>
      </p:sp>
      <p:sp>
        <p:nvSpPr>
          <p:cNvPr id="18" name="Text 16"/>
          <p:cNvSpPr txBox="1"/>
          <p:nvPr/>
        </p:nvSpPr>
        <p:spPr>
          <a:xfrm>
            <a:off x="6291072" y="1687068"/>
            <a:ext cx="1581912" cy="182880"/>
          </a:xfrm>
          <a:prstGeom prst="rect">
            <a:avLst/>
          </a:prstGeom>
          <a:noFill/>
          <a:ln/>
        </p:spPr>
        <p:txBody>
          <a:bodyPr wrap="square" lIns="0" tIns="0" rIns="0" bIns="0" rtlCol="0" anchor="ctr">
            <a:normAutofit/>
          </a:bodyPr>
          <a:lstStyle/>
          <a:p>
            <a:pPr algn="ctr" indent="0" marL="0">
              <a:lnSpc>
                <a:spcPct val="92000"/>
              </a:lnSpc>
              <a:buNone/>
            </a:pPr>
            <a:r>
              <a:rPr lang="en-US" sz="770" b="1" dirty="0">
                <a:solidFill>
                  <a:srgbClr val="0E5C59"/>
                </a:solidFill>
                <a:latin typeface="Hiragino Sans GB" pitchFamily="34" charset="0"/>
                <a:ea typeface="Hiragino Sans GB" pitchFamily="34" charset="-122"/>
                <a:cs typeface="Hiragino Sans GB" pitchFamily="34" charset="-120"/>
              </a:rPr>
              <a:t>GWM / TWM 转移模型</a:t>
            </a:r>
            <a:endParaRPr lang="en-US" sz="770" dirty="0"/>
          </a:p>
        </p:txBody>
      </p:sp>
      <p:sp>
        <p:nvSpPr>
          <p:cNvPr id="19" name="Text 17"/>
          <p:cNvSpPr txBox="1"/>
          <p:nvPr/>
        </p:nvSpPr>
        <p:spPr>
          <a:xfrm>
            <a:off x="6291072" y="2011680"/>
            <a:ext cx="3054096" cy="356616"/>
          </a:xfrm>
          <a:prstGeom prst="rect">
            <a:avLst/>
          </a:prstGeom>
          <a:noFill/>
          <a:ln/>
        </p:spPr>
        <p:txBody>
          <a:bodyPr wrap="square" lIns="0" tIns="0" rIns="0" bIns="0" rtlCol="0" anchor="ctr">
            <a:normAutofit/>
          </a:bodyPr>
          <a:lstStyle/>
          <a:p>
            <a:pPr algn="ctr" indent="0" marL="0">
              <a:lnSpc>
                <a:spcPct val="92000"/>
              </a:lnSpc>
              <a:buNone/>
            </a:pPr>
            <a:r>
              <a:rPr lang="en-US" sz="1650" b="1" dirty="0">
                <a:solidFill>
                  <a:srgbClr val="0E5C59"/>
                </a:solidFill>
                <a:latin typeface="Arial" pitchFamily="34" charset="0"/>
                <a:ea typeface="Arial" pitchFamily="34" charset="-122"/>
                <a:cs typeface="Arial" pitchFamily="34" charset="-120"/>
              </a:rPr>
              <a:t>Ŝₜ₊₁, Ŷₜ:ₜ₊H = Tθ(Sₜ, Aₜ, Eₜ)</a:t>
            </a:r>
            <a:endParaRPr lang="en-US" sz="1650" dirty="0"/>
          </a:p>
        </p:txBody>
      </p:sp>
      <p:sp>
        <p:nvSpPr>
          <p:cNvPr id="20" name="Text 18"/>
          <p:cNvSpPr txBox="1"/>
          <p:nvPr/>
        </p:nvSpPr>
        <p:spPr>
          <a:xfrm>
            <a:off x="9308592" y="1792224"/>
            <a:ext cx="1984248" cy="667512"/>
          </a:xfrm>
          <a:prstGeom prst="rect">
            <a:avLst/>
          </a:prstGeom>
          <a:noFill/>
          <a:ln/>
        </p:spPr>
        <p:txBody>
          <a:bodyPr wrap="square" lIns="0" tIns="0" rIns="0" bIns="0" rtlCol="0" anchor="t">
            <a:normAutofit/>
          </a:bodyPr>
          <a:lstStyle/>
          <a:p>
            <a:pPr algn="ctr" indent="0" marL="0">
              <a:lnSpc>
                <a:spcPct val="92000"/>
              </a:lnSpc>
              <a:buNone/>
            </a:pPr>
            <a:r>
              <a:rPr lang="en-US" sz="950" b="1" dirty="0">
                <a:solidFill>
                  <a:srgbClr val="17252A"/>
                </a:solidFill>
                <a:latin typeface="Hiragino Sans GB" pitchFamily="34" charset="0"/>
                <a:ea typeface="Hiragino Sans GB" pitchFamily="34" charset="-122"/>
                <a:cs typeface="Hiragino Sans GB" pitchFamily="34" charset="-120"/>
              </a:rPr>
              <a:t>预测目标：给定当前状态和可执行行动，</a:t>
            </a:r>
            <a:endParaRPr lang="en-US" sz="950" dirty="0"/>
          </a:p>
          <a:p>
            <a:pPr algn="ctr" indent="0" marL="0">
              <a:lnSpc>
                <a:spcPct val="92000"/>
              </a:lnSpc>
              <a:buNone/>
            </a:pPr>
            <a:r>
              <a:rPr lang="en-US" sz="950" b="1" dirty="0">
                <a:solidFill>
                  <a:srgbClr val="17252A"/>
                </a:solidFill>
                <a:latin typeface="Hiragino Sans GB" pitchFamily="34" charset="0"/>
                <a:ea typeface="Hiragino Sans GB" pitchFamily="34" charset="-122"/>
                <a:cs typeface="Hiragino Sans GB" pitchFamily="34" charset="-120"/>
              </a:rPr>
              <a:t>估计下一状态及后续结果。</a:t>
            </a:r>
            <a:endParaRPr lang="en-US" sz="950" dirty="0"/>
          </a:p>
        </p:txBody>
      </p:sp>
      <p:sp>
        <p:nvSpPr>
          <p:cNvPr id="21" name="Text 19"/>
          <p:cNvSpPr txBox="1"/>
          <p:nvPr/>
        </p:nvSpPr>
        <p:spPr>
          <a:xfrm>
            <a:off x="6336792" y="2542032"/>
            <a:ext cx="4855464" cy="182880"/>
          </a:xfrm>
          <a:prstGeom prst="rect">
            <a:avLst/>
          </a:prstGeom>
          <a:noFill/>
          <a:ln/>
        </p:spPr>
        <p:txBody>
          <a:bodyPr wrap="square" lIns="0" tIns="0" rIns="0" bIns="0" rtlCol="0" anchor="ctr">
            <a:normAutofit/>
          </a:bodyPr>
          <a:lstStyle/>
          <a:p>
            <a:pPr algn="ctr" indent="0" marL="0">
              <a:lnSpc>
                <a:spcPct val="92000"/>
              </a:lnSpc>
              <a:buNone/>
            </a:pPr>
            <a:r>
              <a:rPr lang="en-US" sz="760" dirty="0">
                <a:solidFill>
                  <a:srgbClr val="0E5C59"/>
                </a:solidFill>
                <a:latin typeface="Hiragino Sans GB" pitchFamily="34" charset="0"/>
                <a:ea typeface="Hiragino Sans GB" pitchFamily="34" charset="-122"/>
                <a:cs typeface="Hiragino Sans GB" pitchFamily="34" charset="-120"/>
              </a:rPr>
              <a:t>例：原案、缩减、移位分别改变哪些冲突、指标和后续可行动作</a:t>
            </a:r>
            <a:endParaRPr lang="en-US" sz="760" dirty="0"/>
          </a:p>
        </p:txBody>
      </p:sp>
      <p:sp>
        <p:nvSpPr>
          <p:cNvPr id="22" name="Shape 20"/>
          <p:cNvSpPr/>
          <p:nvPr/>
        </p:nvSpPr>
        <p:spPr>
          <a:xfrm>
            <a:off x="502920" y="3154680"/>
            <a:ext cx="1417320" cy="384048"/>
          </a:xfrm>
          <a:prstGeom prst="roundRect">
            <a:avLst>
              <a:gd name="adj" fmla="val 4762"/>
            </a:avLst>
          </a:prstGeom>
          <a:solidFill>
            <a:srgbClr val="102F34"/>
          </a:solidFill>
          <a:ln w="7620">
            <a:solidFill>
              <a:srgbClr val="102F34"/>
            </a:solidFill>
            <a:prstDash val="solid"/>
          </a:ln>
        </p:spPr>
      </p:sp>
      <p:sp>
        <p:nvSpPr>
          <p:cNvPr id="23" name="Text 21"/>
          <p:cNvSpPr txBox="1"/>
          <p:nvPr/>
        </p:nvSpPr>
        <p:spPr>
          <a:xfrm>
            <a:off x="557784" y="3236976"/>
            <a:ext cx="1307592"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FFFFFF"/>
                </a:solidFill>
                <a:latin typeface="Hiragino Sans GB" pitchFamily="34" charset="0"/>
                <a:ea typeface="Hiragino Sans GB" pitchFamily="34" charset="-122"/>
                <a:cs typeface="Hiragino Sans GB" pitchFamily="34" charset="-120"/>
              </a:rPr>
              <a:t>比较维度</a:t>
            </a:r>
            <a:endParaRPr lang="en-US" sz="840" dirty="0"/>
          </a:p>
        </p:txBody>
      </p:sp>
      <p:sp>
        <p:nvSpPr>
          <p:cNvPr id="24" name="Shape 22"/>
          <p:cNvSpPr/>
          <p:nvPr/>
        </p:nvSpPr>
        <p:spPr>
          <a:xfrm>
            <a:off x="1920240" y="3154680"/>
            <a:ext cx="3813048" cy="384048"/>
          </a:xfrm>
          <a:prstGeom prst="roundRect">
            <a:avLst>
              <a:gd name="adj" fmla="val 4762"/>
            </a:avLst>
          </a:prstGeom>
          <a:solidFill>
            <a:srgbClr val="EDF1F0"/>
          </a:solidFill>
          <a:ln w="7620">
            <a:solidFill>
              <a:srgbClr val="D0DBD8"/>
            </a:solidFill>
            <a:prstDash val="solid"/>
          </a:ln>
        </p:spPr>
      </p:sp>
      <p:sp>
        <p:nvSpPr>
          <p:cNvPr id="25" name="Text 23"/>
          <p:cNvSpPr txBox="1"/>
          <p:nvPr/>
        </p:nvSpPr>
        <p:spPr>
          <a:xfrm>
            <a:off x="1975104" y="3236976"/>
            <a:ext cx="3703320"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常规预测任务</a:t>
            </a:r>
            <a:endParaRPr lang="en-US" sz="840" dirty="0"/>
          </a:p>
        </p:txBody>
      </p:sp>
      <p:sp>
        <p:nvSpPr>
          <p:cNvPr id="26" name="Shape 24"/>
          <p:cNvSpPr/>
          <p:nvPr/>
        </p:nvSpPr>
        <p:spPr>
          <a:xfrm>
            <a:off x="5733288" y="3154680"/>
            <a:ext cx="5925312" cy="384048"/>
          </a:xfrm>
          <a:prstGeom prst="roundRect">
            <a:avLst>
              <a:gd name="adj" fmla="val 4762"/>
            </a:avLst>
          </a:prstGeom>
          <a:solidFill>
            <a:srgbClr val="E2F2EF"/>
          </a:solidFill>
          <a:ln w="7620">
            <a:solidFill>
              <a:srgbClr val="137F7A"/>
            </a:solidFill>
            <a:prstDash val="solid"/>
          </a:ln>
        </p:spPr>
      </p:sp>
      <p:sp>
        <p:nvSpPr>
          <p:cNvPr id="27" name="Text 25"/>
          <p:cNvSpPr txBox="1"/>
          <p:nvPr/>
        </p:nvSpPr>
        <p:spPr>
          <a:xfrm>
            <a:off x="5788152" y="3236976"/>
            <a:ext cx="5815584"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0E5C59"/>
                </a:solidFill>
                <a:latin typeface="Hiragino Sans GB" pitchFamily="34" charset="0"/>
                <a:ea typeface="Hiragino Sans GB" pitchFamily="34" charset="-122"/>
                <a:cs typeface="Hiragino Sans GB" pitchFamily="34" charset="-120"/>
              </a:rPr>
              <a:t>世界模型任务</a:t>
            </a:r>
            <a:endParaRPr lang="en-US" sz="840" dirty="0"/>
          </a:p>
        </p:txBody>
      </p:sp>
      <p:sp>
        <p:nvSpPr>
          <p:cNvPr id="28" name="Shape 26"/>
          <p:cNvSpPr/>
          <p:nvPr/>
        </p:nvSpPr>
        <p:spPr>
          <a:xfrm>
            <a:off x="502920" y="3538728"/>
            <a:ext cx="1417320" cy="457200"/>
          </a:xfrm>
          <a:prstGeom prst="rect">
            <a:avLst/>
          </a:prstGeom>
          <a:solidFill>
            <a:srgbClr val="FFFFFF"/>
          </a:solidFill>
          <a:ln w="5080">
            <a:solidFill>
              <a:srgbClr val="D0DBD8"/>
            </a:solidFill>
            <a:prstDash val="solid"/>
          </a:ln>
        </p:spPr>
      </p:sp>
      <p:sp>
        <p:nvSpPr>
          <p:cNvPr id="29" name="Text 27"/>
          <p:cNvSpPr txBox="1"/>
          <p:nvPr/>
        </p:nvSpPr>
        <p:spPr>
          <a:xfrm>
            <a:off x="576072" y="3621024"/>
            <a:ext cx="1271016" cy="283464"/>
          </a:xfrm>
          <a:prstGeom prst="rect">
            <a:avLst/>
          </a:prstGeom>
          <a:noFill/>
          <a:ln/>
        </p:spPr>
        <p:txBody>
          <a:bodyPr wrap="square" lIns="0" tIns="0" rIns="0" bIns="0" rtlCol="0" anchor="t">
            <a:normAutofit/>
          </a:bodyPr>
          <a:lstStyle/>
          <a:p>
            <a:pPr algn="ctr" indent="0" marL="0">
              <a:lnSpc>
                <a:spcPct val="92000"/>
              </a:lnSpc>
              <a:buNone/>
            </a:pPr>
            <a:r>
              <a:rPr lang="en-US" sz="790" b="1" dirty="0">
                <a:solidFill>
                  <a:srgbClr val="17252A"/>
                </a:solidFill>
                <a:latin typeface="Hiragino Sans GB" pitchFamily="34" charset="0"/>
                <a:ea typeface="Hiragino Sans GB" pitchFamily="34" charset="-122"/>
                <a:cs typeface="Hiragino Sans GB" pitchFamily="34" charset="-120"/>
              </a:rPr>
              <a:t>样本单位</a:t>
            </a:r>
            <a:endParaRPr lang="en-US" sz="790" dirty="0"/>
          </a:p>
        </p:txBody>
      </p:sp>
      <p:sp>
        <p:nvSpPr>
          <p:cNvPr id="30" name="Shape 28"/>
          <p:cNvSpPr/>
          <p:nvPr/>
        </p:nvSpPr>
        <p:spPr>
          <a:xfrm>
            <a:off x="1920240" y="3538728"/>
            <a:ext cx="3813048" cy="457200"/>
          </a:xfrm>
          <a:prstGeom prst="rect">
            <a:avLst/>
          </a:prstGeom>
          <a:solidFill>
            <a:srgbClr val="FFFFFF"/>
          </a:solidFill>
          <a:ln w="5080">
            <a:solidFill>
              <a:srgbClr val="D0DBD8"/>
            </a:solidFill>
            <a:prstDash val="solid"/>
          </a:ln>
        </p:spPr>
      </p:sp>
      <p:sp>
        <p:nvSpPr>
          <p:cNvPr id="31" name="Text 29"/>
          <p:cNvSpPr txBox="1"/>
          <p:nvPr/>
        </p:nvSpPr>
        <p:spPr>
          <a:xfrm>
            <a:off x="1993392" y="3621024"/>
            <a:ext cx="3666744" cy="283464"/>
          </a:xfrm>
          <a:prstGeom prst="rect">
            <a:avLst/>
          </a:prstGeom>
          <a:noFill/>
          <a:ln/>
        </p:spPr>
        <p:txBody>
          <a:bodyPr wrap="square" lIns="0" tIns="0" rIns="0" bIns="0" rtlCol="0" anchor="t">
            <a:normAutofit/>
          </a:bodyPr>
          <a:lstStyle/>
          <a:p>
            <a:pPr algn="ctr" indent="0" marL="0">
              <a:lnSpc>
                <a:spcPct val="92000"/>
              </a:lnSpc>
              <a:buNone/>
            </a:pPr>
            <a:r>
              <a:rPr lang="en-US" sz="750" dirty="0">
                <a:solidFill>
                  <a:srgbClr val="32474D"/>
                </a:solidFill>
                <a:latin typeface="Arial" pitchFamily="34" charset="0"/>
                <a:ea typeface="Arial" pitchFamily="34" charset="-122"/>
                <a:cs typeface="Arial" pitchFamily="34" charset="-120"/>
              </a:rPr>
              <a:t>相对独立的 (x, y)</a:t>
            </a:r>
            <a:endParaRPr lang="en-US" sz="750" dirty="0"/>
          </a:p>
        </p:txBody>
      </p:sp>
      <p:sp>
        <p:nvSpPr>
          <p:cNvPr id="32" name="Shape 30"/>
          <p:cNvSpPr/>
          <p:nvPr/>
        </p:nvSpPr>
        <p:spPr>
          <a:xfrm>
            <a:off x="5733288" y="3538728"/>
            <a:ext cx="5925312" cy="457200"/>
          </a:xfrm>
          <a:prstGeom prst="rect">
            <a:avLst/>
          </a:prstGeom>
          <a:solidFill>
            <a:srgbClr val="EDF8F5"/>
          </a:solidFill>
          <a:ln w="8255">
            <a:solidFill>
              <a:srgbClr val="137F7A"/>
            </a:solidFill>
            <a:prstDash val="solid"/>
          </a:ln>
        </p:spPr>
      </p:sp>
      <p:sp>
        <p:nvSpPr>
          <p:cNvPr id="33" name="Text 31"/>
          <p:cNvSpPr txBox="1"/>
          <p:nvPr/>
        </p:nvSpPr>
        <p:spPr>
          <a:xfrm>
            <a:off x="5806440" y="3621024"/>
            <a:ext cx="5779008" cy="283464"/>
          </a:xfrm>
          <a:prstGeom prst="rect">
            <a:avLst/>
          </a:prstGeom>
          <a:noFill/>
          <a:ln/>
        </p:spPr>
        <p:txBody>
          <a:bodyPr wrap="square" lIns="0" tIns="0" rIns="0" bIns="0" rtlCol="0" anchor="t">
            <a:normAutofit/>
          </a:bodyPr>
          <a:lstStyle/>
          <a:p>
            <a:pPr algn="ctr" indent="0" marL="0">
              <a:lnSpc>
                <a:spcPct val="92000"/>
              </a:lnSpc>
              <a:buNone/>
            </a:pPr>
            <a:r>
              <a:rPr lang="en-US" sz="750" b="1" dirty="0">
                <a:solidFill>
                  <a:srgbClr val="0E5C59"/>
                </a:solidFill>
                <a:latin typeface="Arial" pitchFamily="34" charset="0"/>
                <a:ea typeface="Arial" pitchFamily="34" charset="-122"/>
                <a:cs typeface="Arial" pitchFamily="34" charset="-120"/>
              </a:rPr>
              <a:t>时间对齐的 (Sₜ, Aₜ, Eₜ, Sₜ₊₁ / Y) 转移事件</a:t>
            </a:r>
            <a:endParaRPr lang="en-US" sz="750" dirty="0"/>
          </a:p>
        </p:txBody>
      </p:sp>
      <p:sp>
        <p:nvSpPr>
          <p:cNvPr id="34" name="Shape 32"/>
          <p:cNvSpPr/>
          <p:nvPr/>
        </p:nvSpPr>
        <p:spPr>
          <a:xfrm>
            <a:off x="502920" y="3995928"/>
            <a:ext cx="1417320" cy="457200"/>
          </a:xfrm>
          <a:prstGeom prst="rect">
            <a:avLst/>
          </a:prstGeom>
          <a:solidFill>
            <a:srgbClr val="EDF1F0"/>
          </a:solidFill>
          <a:ln w="5080">
            <a:solidFill>
              <a:srgbClr val="D0DBD8"/>
            </a:solidFill>
            <a:prstDash val="solid"/>
          </a:ln>
        </p:spPr>
      </p:sp>
      <p:sp>
        <p:nvSpPr>
          <p:cNvPr id="35" name="Text 33"/>
          <p:cNvSpPr txBox="1"/>
          <p:nvPr/>
        </p:nvSpPr>
        <p:spPr>
          <a:xfrm>
            <a:off x="576072" y="4078224"/>
            <a:ext cx="1271016" cy="283464"/>
          </a:xfrm>
          <a:prstGeom prst="rect">
            <a:avLst/>
          </a:prstGeom>
          <a:noFill/>
          <a:ln/>
        </p:spPr>
        <p:txBody>
          <a:bodyPr wrap="square" lIns="0" tIns="0" rIns="0" bIns="0" rtlCol="0" anchor="t">
            <a:normAutofit/>
          </a:bodyPr>
          <a:lstStyle/>
          <a:p>
            <a:pPr algn="ctr" indent="0" marL="0">
              <a:lnSpc>
                <a:spcPct val="92000"/>
              </a:lnSpc>
              <a:buNone/>
            </a:pPr>
            <a:r>
              <a:rPr lang="en-US" sz="790" b="1" dirty="0">
                <a:solidFill>
                  <a:srgbClr val="17252A"/>
                </a:solidFill>
                <a:latin typeface="Hiragino Sans GB" pitchFamily="34" charset="0"/>
                <a:ea typeface="Hiragino Sans GB" pitchFamily="34" charset="-122"/>
                <a:cs typeface="Hiragino Sans GB" pitchFamily="34" charset="-120"/>
              </a:rPr>
              <a:t>动作角色</a:t>
            </a:r>
            <a:endParaRPr lang="en-US" sz="790" dirty="0"/>
          </a:p>
        </p:txBody>
      </p:sp>
      <p:sp>
        <p:nvSpPr>
          <p:cNvPr id="36" name="Shape 34"/>
          <p:cNvSpPr/>
          <p:nvPr/>
        </p:nvSpPr>
        <p:spPr>
          <a:xfrm>
            <a:off x="1920240" y="3995928"/>
            <a:ext cx="3813048" cy="457200"/>
          </a:xfrm>
          <a:prstGeom prst="rect">
            <a:avLst/>
          </a:prstGeom>
          <a:solidFill>
            <a:srgbClr val="EDF1F0"/>
          </a:solidFill>
          <a:ln w="5080">
            <a:solidFill>
              <a:srgbClr val="D0DBD8"/>
            </a:solidFill>
            <a:prstDash val="solid"/>
          </a:ln>
        </p:spPr>
      </p:sp>
      <p:sp>
        <p:nvSpPr>
          <p:cNvPr id="37" name="Text 35"/>
          <p:cNvSpPr txBox="1"/>
          <p:nvPr/>
        </p:nvSpPr>
        <p:spPr>
          <a:xfrm>
            <a:off x="1993392" y="4078224"/>
            <a:ext cx="3666744" cy="283464"/>
          </a:xfrm>
          <a:prstGeom prst="rect">
            <a:avLst/>
          </a:prstGeom>
          <a:noFill/>
          <a:ln/>
        </p:spPr>
        <p:txBody>
          <a:bodyPr wrap="square" lIns="0" tIns="0" rIns="0" bIns="0" rtlCol="0" anchor="t">
            <a:normAutofit/>
          </a:bodyPr>
          <a:lstStyle/>
          <a:p>
            <a:pPr algn="ctr"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可缺失，或只是普通特征</a:t>
            </a:r>
            <a:endParaRPr lang="en-US" sz="750" dirty="0"/>
          </a:p>
        </p:txBody>
      </p:sp>
      <p:sp>
        <p:nvSpPr>
          <p:cNvPr id="38" name="Shape 36"/>
          <p:cNvSpPr/>
          <p:nvPr/>
        </p:nvSpPr>
        <p:spPr>
          <a:xfrm>
            <a:off x="5733288" y="3995928"/>
            <a:ext cx="5925312" cy="457200"/>
          </a:xfrm>
          <a:prstGeom prst="rect">
            <a:avLst/>
          </a:prstGeom>
          <a:solidFill>
            <a:srgbClr val="E2F2EF"/>
          </a:solidFill>
          <a:ln w="8255">
            <a:solidFill>
              <a:srgbClr val="137F7A"/>
            </a:solidFill>
            <a:prstDash val="solid"/>
          </a:ln>
        </p:spPr>
      </p:sp>
      <p:sp>
        <p:nvSpPr>
          <p:cNvPr id="39" name="Text 37"/>
          <p:cNvSpPr txBox="1"/>
          <p:nvPr/>
        </p:nvSpPr>
        <p:spPr>
          <a:xfrm>
            <a:off x="5806440" y="4078224"/>
            <a:ext cx="5779008" cy="283464"/>
          </a:xfrm>
          <a:prstGeom prst="rect">
            <a:avLst/>
          </a:prstGeom>
          <a:noFill/>
          <a:ln/>
        </p:spPr>
        <p:txBody>
          <a:bodyPr wrap="square" lIns="0" tIns="0" rIns="0" bIns="0" rtlCol="0" anchor="t">
            <a:normAutofit/>
          </a:bodyPr>
          <a:lstStyle/>
          <a:p>
            <a:pPr algn="ctr" indent="0" marL="0">
              <a:lnSpc>
                <a:spcPct val="92000"/>
              </a:lnSpc>
              <a:buNone/>
            </a:pPr>
            <a:r>
              <a:rPr lang="en-US" sz="750" b="1" dirty="0">
                <a:solidFill>
                  <a:srgbClr val="0E5C59"/>
                </a:solidFill>
                <a:latin typeface="Hiragino Sans GB" pitchFamily="34" charset="0"/>
                <a:ea typeface="Hiragino Sans GB" pitchFamily="34" charset="-122"/>
                <a:cs typeface="Hiragino Sans GB" pitchFamily="34" charset="-120"/>
              </a:rPr>
              <a:t>是可选择、可约束、指向明确对象的控制变量</a:t>
            </a:r>
            <a:endParaRPr lang="en-US" sz="750" dirty="0"/>
          </a:p>
        </p:txBody>
      </p:sp>
      <p:sp>
        <p:nvSpPr>
          <p:cNvPr id="40" name="Shape 38"/>
          <p:cNvSpPr/>
          <p:nvPr/>
        </p:nvSpPr>
        <p:spPr>
          <a:xfrm>
            <a:off x="502920" y="4453128"/>
            <a:ext cx="1417320" cy="457200"/>
          </a:xfrm>
          <a:prstGeom prst="rect">
            <a:avLst/>
          </a:prstGeom>
          <a:solidFill>
            <a:srgbClr val="FFFFFF"/>
          </a:solidFill>
          <a:ln w="5080">
            <a:solidFill>
              <a:srgbClr val="D0DBD8"/>
            </a:solidFill>
            <a:prstDash val="solid"/>
          </a:ln>
        </p:spPr>
      </p:sp>
      <p:sp>
        <p:nvSpPr>
          <p:cNvPr id="41" name="Text 39"/>
          <p:cNvSpPr txBox="1"/>
          <p:nvPr/>
        </p:nvSpPr>
        <p:spPr>
          <a:xfrm>
            <a:off x="576072" y="4535424"/>
            <a:ext cx="1271016" cy="283464"/>
          </a:xfrm>
          <a:prstGeom prst="rect">
            <a:avLst/>
          </a:prstGeom>
          <a:noFill/>
          <a:ln/>
        </p:spPr>
        <p:txBody>
          <a:bodyPr wrap="square" lIns="0" tIns="0" rIns="0" bIns="0" rtlCol="0" anchor="t">
            <a:normAutofit/>
          </a:bodyPr>
          <a:lstStyle/>
          <a:p>
            <a:pPr algn="ctr" indent="0" marL="0">
              <a:lnSpc>
                <a:spcPct val="92000"/>
              </a:lnSpc>
              <a:buNone/>
            </a:pPr>
            <a:r>
              <a:rPr lang="en-US" sz="790" b="1" dirty="0">
                <a:solidFill>
                  <a:srgbClr val="17252A"/>
                </a:solidFill>
                <a:latin typeface="Hiragino Sans GB" pitchFamily="34" charset="0"/>
                <a:ea typeface="Hiragino Sans GB" pitchFamily="34" charset="-122"/>
                <a:cs typeface="Hiragino Sans GB" pitchFamily="34" charset="-120"/>
              </a:rPr>
              <a:t>学习目标</a:t>
            </a:r>
            <a:endParaRPr lang="en-US" sz="790" dirty="0"/>
          </a:p>
        </p:txBody>
      </p:sp>
      <p:sp>
        <p:nvSpPr>
          <p:cNvPr id="42" name="Shape 40"/>
          <p:cNvSpPr/>
          <p:nvPr/>
        </p:nvSpPr>
        <p:spPr>
          <a:xfrm>
            <a:off x="1920240" y="4453128"/>
            <a:ext cx="3813048" cy="457200"/>
          </a:xfrm>
          <a:prstGeom prst="rect">
            <a:avLst/>
          </a:prstGeom>
          <a:solidFill>
            <a:srgbClr val="FFFFFF"/>
          </a:solidFill>
          <a:ln w="5080">
            <a:solidFill>
              <a:srgbClr val="D0DBD8"/>
            </a:solidFill>
            <a:prstDash val="solid"/>
          </a:ln>
        </p:spPr>
      </p:sp>
      <p:sp>
        <p:nvSpPr>
          <p:cNvPr id="43" name="Text 41"/>
          <p:cNvSpPr txBox="1"/>
          <p:nvPr/>
        </p:nvSpPr>
        <p:spPr>
          <a:xfrm>
            <a:off x="1993392" y="4535424"/>
            <a:ext cx="3666744" cy="283464"/>
          </a:xfrm>
          <a:prstGeom prst="rect">
            <a:avLst/>
          </a:prstGeom>
          <a:noFill/>
          <a:ln/>
        </p:spPr>
        <p:txBody>
          <a:bodyPr wrap="square" lIns="0" tIns="0" rIns="0" bIns="0" rtlCol="0" anchor="t">
            <a:normAutofit/>
          </a:bodyPr>
          <a:lstStyle/>
          <a:p>
            <a:pPr algn="ctr"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预测标签、分数或单期数值</a:t>
            </a:r>
            <a:endParaRPr lang="en-US" sz="750" dirty="0"/>
          </a:p>
        </p:txBody>
      </p:sp>
      <p:sp>
        <p:nvSpPr>
          <p:cNvPr id="44" name="Shape 42"/>
          <p:cNvSpPr/>
          <p:nvPr/>
        </p:nvSpPr>
        <p:spPr>
          <a:xfrm>
            <a:off x="5733288" y="4453128"/>
            <a:ext cx="5925312" cy="457200"/>
          </a:xfrm>
          <a:prstGeom prst="rect">
            <a:avLst/>
          </a:prstGeom>
          <a:solidFill>
            <a:srgbClr val="EDF8F5"/>
          </a:solidFill>
          <a:ln w="8255">
            <a:solidFill>
              <a:srgbClr val="137F7A"/>
            </a:solidFill>
            <a:prstDash val="solid"/>
          </a:ln>
        </p:spPr>
      </p:sp>
      <p:sp>
        <p:nvSpPr>
          <p:cNvPr id="45" name="Text 43"/>
          <p:cNvSpPr txBox="1"/>
          <p:nvPr/>
        </p:nvSpPr>
        <p:spPr>
          <a:xfrm>
            <a:off x="5806440" y="4535424"/>
            <a:ext cx="5779008" cy="283464"/>
          </a:xfrm>
          <a:prstGeom prst="rect">
            <a:avLst/>
          </a:prstGeom>
          <a:noFill/>
          <a:ln/>
        </p:spPr>
        <p:txBody>
          <a:bodyPr wrap="square" lIns="0" tIns="0" rIns="0" bIns="0" rtlCol="0" anchor="t">
            <a:normAutofit/>
          </a:bodyPr>
          <a:lstStyle/>
          <a:p>
            <a:pPr algn="ctr" indent="0" marL="0">
              <a:lnSpc>
                <a:spcPct val="92000"/>
              </a:lnSpc>
              <a:buNone/>
            </a:pPr>
            <a:r>
              <a:rPr lang="en-US" sz="750" b="1" dirty="0">
                <a:solidFill>
                  <a:srgbClr val="0E5C59"/>
                </a:solidFill>
                <a:latin typeface="Hiragino Sans GB" pitchFamily="34" charset="0"/>
                <a:ea typeface="Hiragino Sans GB" pitchFamily="34" charset="-122"/>
                <a:cs typeface="Hiragino Sans GB" pitchFamily="34" charset="-120"/>
              </a:rPr>
              <a:t>预测状态增量、关系变化、滞后结果与不确定性</a:t>
            </a:r>
            <a:endParaRPr lang="en-US" sz="750" dirty="0"/>
          </a:p>
        </p:txBody>
      </p:sp>
      <p:sp>
        <p:nvSpPr>
          <p:cNvPr id="46" name="Shape 44"/>
          <p:cNvSpPr/>
          <p:nvPr/>
        </p:nvSpPr>
        <p:spPr>
          <a:xfrm>
            <a:off x="502920" y="4910328"/>
            <a:ext cx="1417320" cy="457200"/>
          </a:xfrm>
          <a:prstGeom prst="rect">
            <a:avLst/>
          </a:prstGeom>
          <a:solidFill>
            <a:srgbClr val="EDF1F0"/>
          </a:solidFill>
          <a:ln w="5080">
            <a:solidFill>
              <a:srgbClr val="D0DBD8"/>
            </a:solidFill>
            <a:prstDash val="solid"/>
          </a:ln>
        </p:spPr>
      </p:sp>
      <p:sp>
        <p:nvSpPr>
          <p:cNvPr id="47" name="Text 45"/>
          <p:cNvSpPr txBox="1"/>
          <p:nvPr/>
        </p:nvSpPr>
        <p:spPr>
          <a:xfrm>
            <a:off x="576072" y="4992624"/>
            <a:ext cx="1271016" cy="283464"/>
          </a:xfrm>
          <a:prstGeom prst="rect">
            <a:avLst/>
          </a:prstGeom>
          <a:noFill/>
          <a:ln/>
        </p:spPr>
        <p:txBody>
          <a:bodyPr wrap="square" lIns="0" tIns="0" rIns="0" bIns="0" rtlCol="0" anchor="t">
            <a:normAutofit/>
          </a:bodyPr>
          <a:lstStyle/>
          <a:p>
            <a:pPr algn="ctr" indent="0" marL="0">
              <a:lnSpc>
                <a:spcPct val="92000"/>
              </a:lnSpc>
              <a:buNone/>
            </a:pPr>
            <a:r>
              <a:rPr lang="en-US" sz="790" b="1" dirty="0">
                <a:solidFill>
                  <a:srgbClr val="17252A"/>
                </a:solidFill>
                <a:latin typeface="Hiragino Sans GB" pitchFamily="34" charset="0"/>
                <a:ea typeface="Hiragino Sans GB" pitchFamily="34" charset="-122"/>
                <a:cs typeface="Hiragino Sans GB" pitchFamily="34" charset="-120"/>
              </a:rPr>
              <a:t>上线用法</a:t>
            </a:r>
            <a:endParaRPr lang="en-US" sz="790" dirty="0"/>
          </a:p>
        </p:txBody>
      </p:sp>
      <p:sp>
        <p:nvSpPr>
          <p:cNvPr id="48" name="Shape 46"/>
          <p:cNvSpPr/>
          <p:nvPr/>
        </p:nvSpPr>
        <p:spPr>
          <a:xfrm>
            <a:off x="1920240" y="4910328"/>
            <a:ext cx="3813048" cy="457200"/>
          </a:xfrm>
          <a:prstGeom prst="rect">
            <a:avLst/>
          </a:prstGeom>
          <a:solidFill>
            <a:srgbClr val="EDF1F0"/>
          </a:solidFill>
          <a:ln w="5080">
            <a:solidFill>
              <a:srgbClr val="D0DBD8"/>
            </a:solidFill>
            <a:prstDash val="solid"/>
          </a:ln>
        </p:spPr>
      </p:sp>
      <p:sp>
        <p:nvSpPr>
          <p:cNvPr id="49" name="Text 47"/>
          <p:cNvSpPr txBox="1"/>
          <p:nvPr/>
        </p:nvSpPr>
        <p:spPr>
          <a:xfrm>
            <a:off x="1993392" y="4992624"/>
            <a:ext cx="3666744" cy="283464"/>
          </a:xfrm>
          <a:prstGeom prst="rect">
            <a:avLst/>
          </a:prstGeom>
          <a:noFill/>
          <a:ln/>
        </p:spPr>
        <p:txBody>
          <a:bodyPr wrap="square" lIns="0" tIns="0" rIns="0" bIns="0" rtlCol="0" anchor="t">
            <a:normAutofit/>
          </a:bodyPr>
          <a:lstStyle/>
          <a:p>
            <a:pPr algn="ctr"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一次打分、分类或排序</a:t>
            </a:r>
            <a:endParaRPr lang="en-US" sz="750" dirty="0"/>
          </a:p>
        </p:txBody>
      </p:sp>
      <p:sp>
        <p:nvSpPr>
          <p:cNvPr id="50" name="Shape 48"/>
          <p:cNvSpPr/>
          <p:nvPr/>
        </p:nvSpPr>
        <p:spPr>
          <a:xfrm>
            <a:off x="5733288" y="4910328"/>
            <a:ext cx="5925312" cy="457200"/>
          </a:xfrm>
          <a:prstGeom prst="rect">
            <a:avLst/>
          </a:prstGeom>
          <a:solidFill>
            <a:srgbClr val="E2F2EF"/>
          </a:solidFill>
          <a:ln w="8255">
            <a:solidFill>
              <a:srgbClr val="137F7A"/>
            </a:solidFill>
            <a:prstDash val="solid"/>
          </a:ln>
        </p:spPr>
      </p:sp>
      <p:sp>
        <p:nvSpPr>
          <p:cNvPr id="51" name="Text 49"/>
          <p:cNvSpPr txBox="1"/>
          <p:nvPr/>
        </p:nvSpPr>
        <p:spPr>
          <a:xfrm>
            <a:off x="5806440" y="4992624"/>
            <a:ext cx="5779008" cy="283464"/>
          </a:xfrm>
          <a:prstGeom prst="rect">
            <a:avLst/>
          </a:prstGeom>
          <a:noFill/>
          <a:ln/>
        </p:spPr>
        <p:txBody>
          <a:bodyPr wrap="square" lIns="0" tIns="0" rIns="0" bIns="0" rtlCol="0" anchor="t">
            <a:normAutofit/>
          </a:bodyPr>
          <a:lstStyle/>
          <a:p>
            <a:pPr algn="ctr" indent="0" marL="0">
              <a:lnSpc>
                <a:spcPct val="92000"/>
              </a:lnSpc>
              <a:buNone/>
            </a:pPr>
            <a:r>
              <a:rPr lang="en-US" sz="750" b="1" dirty="0">
                <a:solidFill>
                  <a:srgbClr val="0E5C59"/>
                </a:solidFill>
                <a:latin typeface="Hiragino Sans GB" pitchFamily="34" charset="0"/>
                <a:ea typeface="Hiragino Sans GB" pitchFamily="34" charset="-122"/>
                <a:cs typeface="Hiragino Sans GB" pitchFamily="34" charset="-120"/>
              </a:rPr>
              <a:t>状态写回 → 多步 rollout → 比较行动序列 → 再规划</a:t>
            </a:r>
            <a:endParaRPr lang="en-US" sz="750" dirty="0"/>
          </a:p>
        </p:txBody>
      </p:sp>
      <p:sp>
        <p:nvSpPr>
          <p:cNvPr id="52" name="Shape 50"/>
          <p:cNvSpPr/>
          <p:nvPr/>
        </p:nvSpPr>
        <p:spPr>
          <a:xfrm>
            <a:off x="502920" y="5367528"/>
            <a:ext cx="1417320" cy="457200"/>
          </a:xfrm>
          <a:prstGeom prst="rect">
            <a:avLst/>
          </a:prstGeom>
          <a:solidFill>
            <a:srgbClr val="FFFFFF"/>
          </a:solidFill>
          <a:ln w="5080">
            <a:solidFill>
              <a:srgbClr val="D0DBD8"/>
            </a:solidFill>
            <a:prstDash val="solid"/>
          </a:ln>
        </p:spPr>
      </p:sp>
      <p:sp>
        <p:nvSpPr>
          <p:cNvPr id="53" name="Text 51"/>
          <p:cNvSpPr txBox="1"/>
          <p:nvPr/>
        </p:nvSpPr>
        <p:spPr>
          <a:xfrm>
            <a:off x="576072" y="5449824"/>
            <a:ext cx="1271016" cy="283464"/>
          </a:xfrm>
          <a:prstGeom prst="rect">
            <a:avLst/>
          </a:prstGeom>
          <a:noFill/>
          <a:ln/>
        </p:spPr>
        <p:txBody>
          <a:bodyPr wrap="square" lIns="0" tIns="0" rIns="0" bIns="0" rtlCol="0" anchor="t">
            <a:normAutofit/>
          </a:bodyPr>
          <a:lstStyle/>
          <a:p>
            <a:pPr algn="ctr" indent="0" marL="0">
              <a:lnSpc>
                <a:spcPct val="92000"/>
              </a:lnSpc>
              <a:buNone/>
            </a:pPr>
            <a:r>
              <a:rPr lang="en-US" sz="790" b="1" dirty="0">
                <a:solidFill>
                  <a:srgbClr val="17252A"/>
                </a:solidFill>
                <a:latin typeface="Hiragino Sans GB" pitchFamily="34" charset="0"/>
                <a:ea typeface="Hiragino Sans GB" pitchFamily="34" charset="-122"/>
                <a:cs typeface="Hiragino Sans GB" pitchFamily="34" charset="-120"/>
              </a:rPr>
              <a:t>验证重点</a:t>
            </a:r>
            <a:endParaRPr lang="en-US" sz="790" dirty="0"/>
          </a:p>
        </p:txBody>
      </p:sp>
      <p:sp>
        <p:nvSpPr>
          <p:cNvPr id="54" name="Shape 52"/>
          <p:cNvSpPr/>
          <p:nvPr/>
        </p:nvSpPr>
        <p:spPr>
          <a:xfrm>
            <a:off x="1920240" y="5367528"/>
            <a:ext cx="3813048" cy="457200"/>
          </a:xfrm>
          <a:prstGeom prst="rect">
            <a:avLst/>
          </a:prstGeom>
          <a:solidFill>
            <a:srgbClr val="FFFFFF"/>
          </a:solidFill>
          <a:ln w="5080">
            <a:solidFill>
              <a:srgbClr val="D0DBD8"/>
            </a:solidFill>
            <a:prstDash val="solid"/>
          </a:ln>
        </p:spPr>
      </p:sp>
      <p:sp>
        <p:nvSpPr>
          <p:cNvPr id="55" name="Text 53"/>
          <p:cNvSpPr txBox="1"/>
          <p:nvPr/>
        </p:nvSpPr>
        <p:spPr>
          <a:xfrm>
            <a:off x="1993392" y="5449824"/>
            <a:ext cx="3666744" cy="283464"/>
          </a:xfrm>
          <a:prstGeom prst="rect">
            <a:avLst/>
          </a:prstGeom>
          <a:noFill/>
          <a:ln/>
        </p:spPr>
        <p:txBody>
          <a:bodyPr wrap="square" lIns="0" tIns="0" rIns="0" bIns="0" rtlCol="0" anchor="t">
            <a:normAutofit/>
          </a:bodyPr>
          <a:lstStyle/>
          <a:p>
            <a:pPr algn="ctr"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单步误差与分布内泛化</a:t>
            </a:r>
            <a:endParaRPr lang="en-US" sz="750" dirty="0"/>
          </a:p>
        </p:txBody>
      </p:sp>
      <p:sp>
        <p:nvSpPr>
          <p:cNvPr id="56" name="Shape 54"/>
          <p:cNvSpPr/>
          <p:nvPr/>
        </p:nvSpPr>
        <p:spPr>
          <a:xfrm>
            <a:off x="5733288" y="5367528"/>
            <a:ext cx="5925312" cy="457200"/>
          </a:xfrm>
          <a:prstGeom prst="rect">
            <a:avLst/>
          </a:prstGeom>
          <a:solidFill>
            <a:srgbClr val="EDF8F5"/>
          </a:solidFill>
          <a:ln w="8255">
            <a:solidFill>
              <a:srgbClr val="137F7A"/>
            </a:solidFill>
            <a:prstDash val="solid"/>
          </a:ln>
        </p:spPr>
      </p:sp>
      <p:sp>
        <p:nvSpPr>
          <p:cNvPr id="57" name="Text 55"/>
          <p:cNvSpPr txBox="1"/>
          <p:nvPr/>
        </p:nvSpPr>
        <p:spPr>
          <a:xfrm>
            <a:off x="5806440" y="5449824"/>
            <a:ext cx="5779008" cy="283464"/>
          </a:xfrm>
          <a:prstGeom prst="rect">
            <a:avLst/>
          </a:prstGeom>
          <a:noFill/>
          <a:ln/>
        </p:spPr>
        <p:txBody>
          <a:bodyPr wrap="square" lIns="0" tIns="0" rIns="0" bIns="0" rtlCol="0" anchor="t">
            <a:normAutofit/>
          </a:bodyPr>
          <a:lstStyle/>
          <a:p>
            <a:pPr algn="ctr" indent="0" marL="0">
              <a:lnSpc>
                <a:spcPct val="92000"/>
              </a:lnSpc>
              <a:buNone/>
            </a:pPr>
            <a:r>
              <a:rPr lang="en-US" sz="750" b="1" dirty="0">
                <a:solidFill>
                  <a:srgbClr val="0E5C59"/>
                </a:solidFill>
                <a:latin typeface="Hiragino Sans GB" pitchFamily="34" charset="0"/>
                <a:ea typeface="Hiragino Sans GB" pitchFamily="34" charset="-122"/>
                <a:cs typeface="Hiragino Sans GB" pitchFamily="34" charset="-120"/>
              </a:rPr>
              <a:t>时间 / 区域留出、多步漂移、动作消融、约束违反和离支持风险</a:t>
            </a:r>
            <a:endParaRPr lang="en-US" sz="750" dirty="0"/>
          </a:p>
        </p:txBody>
      </p:sp>
      <p:sp>
        <p:nvSpPr>
          <p:cNvPr id="58" name="Shape 56"/>
          <p:cNvSpPr/>
          <p:nvPr/>
        </p:nvSpPr>
        <p:spPr>
          <a:xfrm>
            <a:off x="658368" y="5971032"/>
            <a:ext cx="10863072" cy="338328"/>
          </a:xfrm>
          <a:prstGeom prst="roundRect">
            <a:avLst>
              <a:gd name="adj" fmla="val 10811"/>
            </a:avLst>
          </a:prstGeom>
          <a:solidFill>
            <a:srgbClr val="FFF3D9"/>
          </a:solidFill>
          <a:ln w="8890">
            <a:solidFill>
              <a:srgbClr val="B17B20"/>
            </a:solidFill>
            <a:prstDash val="solid"/>
          </a:ln>
        </p:spPr>
      </p:sp>
      <p:sp>
        <p:nvSpPr>
          <p:cNvPr id="59" name="Text 57"/>
          <p:cNvSpPr txBox="1"/>
          <p:nvPr/>
        </p:nvSpPr>
        <p:spPr>
          <a:xfrm>
            <a:off x="859536" y="6044184"/>
            <a:ext cx="10460736" cy="182880"/>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17252A"/>
                </a:solidFill>
                <a:latin typeface="Hiragino Sans GB" pitchFamily="34" charset="0"/>
                <a:ea typeface="Hiragino Sans GB" pitchFamily="34" charset="-122"/>
                <a:cs typeface="Hiragino Sans GB" pitchFamily="34" charset="-120"/>
              </a:rPr>
              <a:t>因果适用边界：因果效应识别需进一步处理混杂、重叠性、同期行动、时间窗与负对照。</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数据闭环</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省级试点的数据闭环：对象、行动与结果的时空对齐</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可信转移样本由同一对象、准确时间、实际行动、规则版本、前后观测和证据来源共同构成。</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 状态－动作－结果数据讨论；TWM production input requirements；intervention evidence certificate / geospatial kernel data compilation</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11 / 29</a:t>
            </a:r>
            <a:endParaRPr lang="en-US" sz="670" dirty="0"/>
          </a:p>
        </p:txBody>
      </p:sp>
      <p:sp>
        <p:nvSpPr>
          <p:cNvPr id="10" name="Text 8"/>
          <p:cNvSpPr txBox="1"/>
          <p:nvPr/>
        </p:nvSpPr>
        <p:spPr>
          <a:xfrm>
            <a:off x="566928" y="1408176"/>
            <a:ext cx="2505456" cy="246888"/>
          </a:xfrm>
          <a:prstGeom prst="rect">
            <a:avLst/>
          </a:prstGeom>
          <a:noFill/>
          <a:ln/>
        </p:spPr>
        <p:txBody>
          <a:bodyPr wrap="square" lIns="0" tIns="0" rIns="0" bIns="0" rtlCol="0" anchor="ctr">
            <a:normAutofit/>
          </a:bodyPr>
          <a:lstStyle/>
          <a:p>
            <a:pPr algn="l" indent="0" marL="0">
              <a:lnSpc>
                <a:spcPct val="92000"/>
              </a:lnSpc>
              <a:buNone/>
            </a:pPr>
            <a:r>
              <a:rPr lang="en-US" sz="1150" b="1" dirty="0">
                <a:solidFill>
                  <a:srgbClr val="17252A"/>
                </a:solidFill>
                <a:latin typeface="Arial" pitchFamily="34" charset="0"/>
                <a:ea typeface="Arial" pitchFamily="34" charset="-122"/>
                <a:cs typeface="Arial" pitchFamily="34" charset="-120"/>
              </a:rPr>
              <a:t>一条可训练 transition sample</a:t>
            </a:r>
            <a:endParaRPr lang="en-US" sz="1150" dirty="0"/>
          </a:p>
        </p:txBody>
      </p:sp>
      <p:sp>
        <p:nvSpPr>
          <p:cNvPr id="11" name="Shape 9"/>
          <p:cNvSpPr/>
          <p:nvPr/>
        </p:nvSpPr>
        <p:spPr>
          <a:xfrm>
            <a:off x="521208" y="1764792"/>
            <a:ext cx="2276856" cy="1078992"/>
          </a:xfrm>
          <a:prstGeom prst="roundRect">
            <a:avLst>
              <a:gd name="adj" fmla="val 4237"/>
            </a:avLst>
          </a:prstGeom>
          <a:solidFill>
            <a:srgbClr val="E7EFF8"/>
          </a:solidFill>
          <a:ln w="10160">
            <a:solidFill>
              <a:srgbClr val="356CA8"/>
            </a:solidFill>
            <a:prstDash val="solid"/>
          </a:ln>
        </p:spPr>
      </p:sp>
      <p:sp>
        <p:nvSpPr>
          <p:cNvPr id="12" name="Text 10"/>
          <p:cNvSpPr txBox="1"/>
          <p:nvPr/>
        </p:nvSpPr>
        <p:spPr>
          <a:xfrm>
            <a:off x="649224" y="1929384"/>
            <a:ext cx="2020824" cy="246888"/>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356CA8"/>
                </a:solidFill>
                <a:latin typeface="Arial" pitchFamily="34" charset="0"/>
                <a:ea typeface="Arial" pitchFamily="34" charset="-122"/>
                <a:cs typeface="Arial" pitchFamily="34" charset="-120"/>
              </a:rPr>
              <a:t>Sₜ  行动前状态</a:t>
            </a:r>
            <a:endParaRPr lang="en-US" sz="1020" dirty="0"/>
          </a:p>
        </p:txBody>
      </p:sp>
      <p:sp>
        <p:nvSpPr>
          <p:cNvPr id="13" name="Text 11"/>
          <p:cNvSpPr txBox="1"/>
          <p:nvPr/>
        </p:nvSpPr>
        <p:spPr>
          <a:xfrm>
            <a:off x="685800" y="2286000"/>
            <a:ext cx="1947672" cy="393192"/>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对象 / 几何版本</a:t>
            </a:r>
            <a:endParaRPr lang="en-US" sz="780" dirty="0"/>
          </a:p>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属性 / 关系 / 规则</a:t>
            </a:r>
            <a:endParaRPr lang="en-US" sz="780" dirty="0"/>
          </a:p>
        </p:txBody>
      </p:sp>
      <p:sp>
        <p:nvSpPr>
          <p:cNvPr id="14" name="Shape 12"/>
          <p:cNvSpPr/>
          <p:nvPr/>
        </p:nvSpPr>
        <p:spPr>
          <a:xfrm>
            <a:off x="2880360" y="2295144"/>
            <a:ext cx="201168" cy="0"/>
          </a:xfrm>
          <a:prstGeom prst="line">
            <a:avLst/>
          </a:prstGeom>
          <a:noFill/>
          <a:ln w="20320">
            <a:solidFill>
              <a:srgbClr val="6C7C80"/>
            </a:solidFill>
            <a:prstDash val="solid"/>
            <a:tailEnd type="triangle"/>
          </a:ln>
        </p:spPr>
      </p:sp>
      <p:sp>
        <p:nvSpPr>
          <p:cNvPr id="15" name="Shape 13"/>
          <p:cNvSpPr/>
          <p:nvPr/>
        </p:nvSpPr>
        <p:spPr>
          <a:xfrm>
            <a:off x="3172968" y="1764792"/>
            <a:ext cx="2276856" cy="1078992"/>
          </a:xfrm>
          <a:prstGeom prst="roundRect">
            <a:avLst>
              <a:gd name="adj" fmla="val 4237"/>
            </a:avLst>
          </a:prstGeom>
          <a:solidFill>
            <a:srgbClr val="E2F2EF"/>
          </a:solidFill>
          <a:ln w="10160">
            <a:solidFill>
              <a:srgbClr val="137F7A"/>
            </a:solidFill>
            <a:prstDash val="solid"/>
          </a:ln>
        </p:spPr>
      </p:sp>
      <p:sp>
        <p:nvSpPr>
          <p:cNvPr id="16" name="Text 14"/>
          <p:cNvSpPr txBox="1"/>
          <p:nvPr/>
        </p:nvSpPr>
        <p:spPr>
          <a:xfrm>
            <a:off x="3300984" y="1929384"/>
            <a:ext cx="2020824" cy="246888"/>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137F7A"/>
                </a:solidFill>
                <a:latin typeface="Arial" pitchFamily="34" charset="0"/>
                <a:ea typeface="Arial" pitchFamily="34" charset="-122"/>
                <a:cs typeface="Arial" pitchFamily="34" charset="-120"/>
              </a:rPr>
              <a:t>Aₜ  实际行动</a:t>
            </a:r>
            <a:endParaRPr lang="en-US" sz="1020" dirty="0"/>
          </a:p>
        </p:txBody>
      </p:sp>
      <p:sp>
        <p:nvSpPr>
          <p:cNvPr id="17" name="Text 15"/>
          <p:cNvSpPr txBox="1"/>
          <p:nvPr/>
        </p:nvSpPr>
        <p:spPr>
          <a:xfrm>
            <a:off x="3337560" y="2286000"/>
            <a:ext cx="1947672" cy="393192"/>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行动类型 / 目标对象</a:t>
            </a:r>
            <a:endParaRPr lang="en-US" sz="780" dirty="0"/>
          </a:p>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参数 / 主体 / 发生时间</a:t>
            </a:r>
            <a:endParaRPr lang="en-US" sz="780" dirty="0"/>
          </a:p>
        </p:txBody>
      </p:sp>
      <p:sp>
        <p:nvSpPr>
          <p:cNvPr id="18" name="Shape 16"/>
          <p:cNvSpPr/>
          <p:nvPr/>
        </p:nvSpPr>
        <p:spPr>
          <a:xfrm>
            <a:off x="5532120" y="2295144"/>
            <a:ext cx="201168" cy="0"/>
          </a:xfrm>
          <a:prstGeom prst="line">
            <a:avLst/>
          </a:prstGeom>
          <a:noFill/>
          <a:ln w="20320">
            <a:solidFill>
              <a:srgbClr val="6C7C80"/>
            </a:solidFill>
            <a:prstDash val="solid"/>
            <a:tailEnd type="triangle"/>
          </a:ln>
        </p:spPr>
      </p:sp>
      <p:sp>
        <p:nvSpPr>
          <p:cNvPr id="19" name="Shape 17"/>
          <p:cNvSpPr/>
          <p:nvPr/>
        </p:nvSpPr>
        <p:spPr>
          <a:xfrm>
            <a:off x="5824728" y="1764792"/>
            <a:ext cx="2276856" cy="1078992"/>
          </a:xfrm>
          <a:prstGeom prst="roundRect">
            <a:avLst>
              <a:gd name="adj" fmla="val 4237"/>
            </a:avLst>
          </a:prstGeom>
          <a:solidFill>
            <a:srgbClr val="FFF3D9"/>
          </a:solidFill>
          <a:ln w="10160">
            <a:solidFill>
              <a:srgbClr val="B17B20"/>
            </a:solidFill>
            <a:prstDash val="solid"/>
          </a:ln>
        </p:spPr>
      </p:sp>
      <p:sp>
        <p:nvSpPr>
          <p:cNvPr id="20" name="Text 18"/>
          <p:cNvSpPr txBox="1"/>
          <p:nvPr/>
        </p:nvSpPr>
        <p:spPr>
          <a:xfrm>
            <a:off x="5952744" y="1929384"/>
            <a:ext cx="2020824" cy="246888"/>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B17B20"/>
                </a:solidFill>
                <a:latin typeface="Arial" pitchFamily="34" charset="0"/>
                <a:ea typeface="Arial" pitchFamily="34" charset="-122"/>
                <a:cs typeface="Arial" pitchFamily="34" charset="-120"/>
              </a:rPr>
              <a:t>Eₜ  外生条件</a:t>
            </a:r>
            <a:endParaRPr lang="en-US" sz="1020" dirty="0"/>
          </a:p>
        </p:txBody>
      </p:sp>
      <p:sp>
        <p:nvSpPr>
          <p:cNvPr id="21" name="Text 19"/>
          <p:cNvSpPr txBox="1"/>
          <p:nvPr/>
        </p:nvSpPr>
        <p:spPr>
          <a:xfrm>
            <a:off x="5989320" y="2286000"/>
            <a:ext cx="1947672" cy="393192"/>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天气 / 市场 / 上级政策</a:t>
            </a:r>
            <a:endParaRPr lang="en-US" sz="780" dirty="0"/>
          </a:p>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同期其他项目与自然过程</a:t>
            </a:r>
            <a:endParaRPr lang="en-US" sz="780" dirty="0"/>
          </a:p>
        </p:txBody>
      </p:sp>
      <p:sp>
        <p:nvSpPr>
          <p:cNvPr id="22" name="Shape 20"/>
          <p:cNvSpPr/>
          <p:nvPr/>
        </p:nvSpPr>
        <p:spPr>
          <a:xfrm>
            <a:off x="8183880" y="2295144"/>
            <a:ext cx="201168" cy="0"/>
          </a:xfrm>
          <a:prstGeom prst="line">
            <a:avLst/>
          </a:prstGeom>
          <a:noFill/>
          <a:ln w="20320">
            <a:solidFill>
              <a:srgbClr val="6C7C80"/>
            </a:solidFill>
            <a:prstDash val="solid"/>
            <a:tailEnd type="triangle"/>
          </a:ln>
        </p:spPr>
      </p:sp>
      <p:sp>
        <p:nvSpPr>
          <p:cNvPr id="23" name="Shape 21"/>
          <p:cNvSpPr/>
          <p:nvPr/>
        </p:nvSpPr>
        <p:spPr>
          <a:xfrm>
            <a:off x="8476488" y="1764792"/>
            <a:ext cx="2276856" cy="1078992"/>
          </a:xfrm>
          <a:prstGeom prst="roundRect">
            <a:avLst>
              <a:gd name="adj" fmla="val 4237"/>
            </a:avLst>
          </a:prstGeom>
          <a:solidFill>
            <a:srgbClr val="E7F3EA"/>
          </a:solidFill>
          <a:ln w="10160">
            <a:solidFill>
              <a:srgbClr val="2D8A57"/>
            </a:solidFill>
            <a:prstDash val="solid"/>
          </a:ln>
        </p:spPr>
      </p:sp>
      <p:sp>
        <p:nvSpPr>
          <p:cNvPr id="24" name="Text 22"/>
          <p:cNvSpPr txBox="1"/>
          <p:nvPr/>
        </p:nvSpPr>
        <p:spPr>
          <a:xfrm>
            <a:off x="8604504" y="1929384"/>
            <a:ext cx="2020824" cy="246888"/>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2D8A57"/>
                </a:solidFill>
                <a:latin typeface="Arial" pitchFamily="34" charset="0"/>
                <a:ea typeface="Arial" pitchFamily="34" charset="-122"/>
                <a:cs typeface="Arial" pitchFamily="34" charset="-120"/>
              </a:rPr>
              <a:t>Sₜ₊₁ / Y  结果</a:t>
            </a:r>
            <a:endParaRPr lang="en-US" sz="1020" dirty="0"/>
          </a:p>
        </p:txBody>
      </p:sp>
      <p:sp>
        <p:nvSpPr>
          <p:cNvPr id="25" name="Text 23"/>
          <p:cNvSpPr txBox="1"/>
          <p:nvPr/>
        </p:nvSpPr>
        <p:spPr>
          <a:xfrm>
            <a:off x="8641080" y="2286000"/>
            <a:ext cx="1947672" cy="393192"/>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对象与关系变化</a:t>
            </a:r>
            <a:endParaRPr lang="en-US" sz="780" dirty="0"/>
          </a:p>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业务结论 / 滞后成效 / 不确定性</a:t>
            </a:r>
            <a:endParaRPr lang="en-US" sz="780" dirty="0"/>
          </a:p>
        </p:txBody>
      </p:sp>
      <p:sp>
        <p:nvSpPr>
          <p:cNvPr id="26" name="Shape 24"/>
          <p:cNvSpPr/>
          <p:nvPr/>
        </p:nvSpPr>
        <p:spPr>
          <a:xfrm>
            <a:off x="731520" y="3017520"/>
            <a:ext cx="10744200" cy="356616"/>
          </a:xfrm>
          <a:prstGeom prst="roundRect">
            <a:avLst>
              <a:gd name="adj" fmla="val 10256"/>
            </a:avLst>
          </a:prstGeom>
          <a:solidFill>
            <a:srgbClr val="102F34"/>
          </a:solidFill>
          <a:ln w="12700">
            <a:solidFill>
              <a:srgbClr val="102F34"/>
            </a:solidFill>
            <a:prstDash val="solid"/>
          </a:ln>
        </p:spPr>
      </p:sp>
      <p:sp>
        <p:nvSpPr>
          <p:cNvPr id="27" name="Text 25"/>
          <p:cNvSpPr txBox="1"/>
          <p:nvPr/>
        </p:nvSpPr>
        <p:spPr>
          <a:xfrm>
            <a:off x="978408" y="3099816"/>
            <a:ext cx="10241280" cy="182880"/>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FFFFFF"/>
                </a:solidFill>
                <a:latin typeface="Arial" pitchFamily="34" charset="0"/>
                <a:ea typeface="Arial" pitchFamily="34" charset="-122"/>
                <a:cs typeface="Arial" pitchFamily="34" charset="-120"/>
              </a:rPr>
              <a:t>关联主键：stable object ID  +  geometry version  +  event time  +  rule version  +  provenance</a:t>
            </a:r>
            <a:endParaRPr lang="en-US" sz="870" dirty="0"/>
          </a:p>
        </p:txBody>
      </p:sp>
      <p:sp>
        <p:nvSpPr>
          <p:cNvPr id="28" name="Text 26"/>
          <p:cNvSpPr txBox="1"/>
          <p:nvPr/>
        </p:nvSpPr>
        <p:spPr>
          <a:xfrm>
            <a:off x="585216" y="3621024"/>
            <a:ext cx="2816352" cy="256032"/>
          </a:xfrm>
          <a:prstGeom prst="rect">
            <a:avLst/>
          </a:prstGeom>
          <a:noFill/>
          <a:ln/>
        </p:spPr>
        <p:txBody>
          <a:bodyPr wrap="square" lIns="0" tIns="0" rIns="0" bIns="0" rtlCol="0" anchor="ctr">
            <a:normAutofit/>
          </a:bodyPr>
          <a:lstStyle/>
          <a:p>
            <a:pPr algn="l" indent="0" marL="0">
              <a:lnSpc>
                <a:spcPct val="92000"/>
              </a:lnSpc>
              <a:buNone/>
            </a:pPr>
            <a:r>
              <a:rPr lang="en-US" sz="1300" b="1" dirty="0">
                <a:solidFill>
                  <a:srgbClr val="17252A"/>
                </a:solidFill>
                <a:latin typeface="Hiragino Sans GB" pitchFamily="34" charset="0"/>
                <a:ea typeface="Hiragino Sans GB" pitchFamily="34" charset="-122"/>
                <a:cs typeface="Hiragino Sans GB" pitchFamily="34" charset="-120"/>
              </a:rPr>
              <a:t>现有系统的数据映射</a:t>
            </a:r>
            <a:endParaRPr lang="en-US" sz="1300" dirty="0"/>
          </a:p>
        </p:txBody>
      </p:sp>
      <p:sp>
        <p:nvSpPr>
          <p:cNvPr id="29" name="Shape 27"/>
          <p:cNvSpPr/>
          <p:nvPr/>
        </p:nvSpPr>
        <p:spPr>
          <a:xfrm>
            <a:off x="566928" y="3995928"/>
            <a:ext cx="5285232" cy="374904"/>
          </a:xfrm>
          <a:prstGeom prst="roundRect">
            <a:avLst>
              <a:gd name="adj" fmla="val 4878"/>
            </a:avLst>
          </a:prstGeom>
          <a:solidFill>
            <a:srgbClr val="FFFFFF"/>
          </a:solidFill>
          <a:ln w="5715">
            <a:solidFill>
              <a:srgbClr val="D0DBD8"/>
            </a:solidFill>
            <a:prstDash val="solid"/>
          </a:ln>
        </p:spPr>
      </p:sp>
      <p:sp>
        <p:nvSpPr>
          <p:cNvPr id="30" name="Text 28"/>
          <p:cNvSpPr txBox="1"/>
          <p:nvPr/>
        </p:nvSpPr>
        <p:spPr>
          <a:xfrm>
            <a:off x="713232" y="4078224"/>
            <a:ext cx="1984248" cy="210312"/>
          </a:xfrm>
          <a:prstGeom prst="rect">
            <a:avLst/>
          </a:prstGeom>
          <a:noFill/>
          <a:ln/>
        </p:spPr>
        <p:txBody>
          <a:bodyPr wrap="square" lIns="0" tIns="0" rIns="0" bIns="0" rtlCol="0" anchor="ctr">
            <a:normAutofit/>
          </a:bodyPr>
          <a:lstStyle/>
          <a:p>
            <a:pPr algn="l" indent="0" marL="0">
              <a:lnSpc>
                <a:spcPct val="92000"/>
              </a:lnSpc>
              <a:buNone/>
            </a:pPr>
            <a:r>
              <a:rPr lang="en-US" sz="780" b="1" dirty="0">
                <a:solidFill>
                  <a:srgbClr val="0E5C59"/>
                </a:solidFill>
                <a:latin typeface="Hiragino Sans GB" pitchFamily="34" charset="0"/>
                <a:ea typeface="Hiragino Sans GB" pitchFamily="34" charset="-122"/>
                <a:cs typeface="Hiragino Sans GB" pitchFamily="34" charset="-120"/>
              </a:rPr>
              <a:t>一张图 / 调查监测 / 遥感</a:t>
            </a:r>
            <a:endParaRPr lang="en-US" sz="780" dirty="0"/>
          </a:p>
        </p:txBody>
      </p:sp>
      <p:sp>
        <p:nvSpPr>
          <p:cNvPr id="31" name="Text 29"/>
          <p:cNvSpPr txBox="1"/>
          <p:nvPr/>
        </p:nvSpPr>
        <p:spPr>
          <a:xfrm>
            <a:off x="2724912" y="4059936"/>
            <a:ext cx="2944368" cy="246888"/>
          </a:xfrm>
          <a:prstGeom prst="rect">
            <a:avLst/>
          </a:prstGeom>
          <a:noFill/>
          <a:ln/>
        </p:spPr>
        <p:txBody>
          <a:bodyPr wrap="square" lIns="0" tIns="0" rIns="0" bIns="0" rtlCol="0" anchor="t">
            <a:normAutofit/>
          </a:bodyPr>
          <a:lstStyle/>
          <a:p>
            <a:pPr algn="l"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Sₜ 与 Sₜ₊₁：权威对象、几何、属性、关系</a:t>
            </a:r>
            <a:endParaRPr lang="en-US" sz="720" dirty="0"/>
          </a:p>
        </p:txBody>
      </p:sp>
      <p:sp>
        <p:nvSpPr>
          <p:cNvPr id="32" name="Shape 30"/>
          <p:cNvSpPr/>
          <p:nvPr/>
        </p:nvSpPr>
        <p:spPr>
          <a:xfrm>
            <a:off x="566928" y="4434840"/>
            <a:ext cx="5285232" cy="374904"/>
          </a:xfrm>
          <a:prstGeom prst="roundRect">
            <a:avLst>
              <a:gd name="adj" fmla="val 4878"/>
            </a:avLst>
          </a:prstGeom>
          <a:solidFill>
            <a:srgbClr val="EDF1F0"/>
          </a:solidFill>
          <a:ln w="5715">
            <a:solidFill>
              <a:srgbClr val="D0DBD8"/>
            </a:solidFill>
            <a:prstDash val="solid"/>
          </a:ln>
        </p:spPr>
      </p:sp>
      <p:sp>
        <p:nvSpPr>
          <p:cNvPr id="33" name="Text 31"/>
          <p:cNvSpPr txBox="1"/>
          <p:nvPr/>
        </p:nvSpPr>
        <p:spPr>
          <a:xfrm>
            <a:off x="713232" y="4517136"/>
            <a:ext cx="1984248" cy="210312"/>
          </a:xfrm>
          <a:prstGeom prst="rect">
            <a:avLst/>
          </a:prstGeom>
          <a:noFill/>
          <a:ln/>
        </p:spPr>
        <p:txBody>
          <a:bodyPr wrap="square" lIns="0" tIns="0" rIns="0" bIns="0" rtlCol="0" anchor="ctr">
            <a:normAutofit/>
          </a:bodyPr>
          <a:lstStyle/>
          <a:p>
            <a:pPr algn="l" indent="0" marL="0">
              <a:lnSpc>
                <a:spcPct val="92000"/>
              </a:lnSpc>
              <a:buNone/>
            </a:pPr>
            <a:r>
              <a:rPr lang="en-US" sz="780" b="1" dirty="0">
                <a:solidFill>
                  <a:srgbClr val="0E5C59"/>
                </a:solidFill>
                <a:latin typeface="Hiragino Sans GB" pitchFamily="34" charset="0"/>
                <a:ea typeface="Hiragino Sans GB" pitchFamily="34" charset="-122"/>
                <a:cs typeface="Hiragino Sans GB" pitchFamily="34" charset="-120"/>
              </a:rPr>
              <a:t>审批 / 执法 / 整治 / 调度</a:t>
            </a:r>
            <a:endParaRPr lang="en-US" sz="780" dirty="0"/>
          </a:p>
        </p:txBody>
      </p:sp>
      <p:sp>
        <p:nvSpPr>
          <p:cNvPr id="34" name="Text 32"/>
          <p:cNvSpPr txBox="1"/>
          <p:nvPr/>
        </p:nvSpPr>
        <p:spPr>
          <a:xfrm>
            <a:off x="2724912" y="4498848"/>
            <a:ext cx="2944368" cy="246888"/>
          </a:xfrm>
          <a:prstGeom prst="rect">
            <a:avLst/>
          </a:prstGeom>
          <a:noFill/>
          <a:ln/>
        </p:spPr>
        <p:txBody>
          <a:bodyPr wrap="square" lIns="0" tIns="0" rIns="0" bIns="0" rtlCol="0" anchor="t">
            <a:normAutofit/>
          </a:bodyPr>
          <a:lstStyle/>
          <a:p>
            <a:pPr algn="l"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Aₜ：行动类型、作用对象与实际执行时间</a:t>
            </a:r>
            <a:endParaRPr lang="en-US" sz="720" dirty="0"/>
          </a:p>
        </p:txBody>
      </p:sp>
      <p:sp>
        <p:nvSpPr>
          <p:cNvPr id="35" name="Shape 33"/>
          <p:cNvSpPr/>
          <p:nvPr/>
        </p:nvSpPr>
        <p:spPr>
          <a:xfrm>
            <a:off x="566928" y="4873752"/>
            <a:ext cx="5285232" cy="374904"/>
          </a:xfrm>
          <a:prstGeom prst="roundRect">
            <a:avLst>
              <a:gd name="adj" fmla="val 4878"/>
            </a:avLst>
          </a:prstGeom>
          <a:solidFill>
            <a:srgbClr val="FFFFFF"/>
          </a:solidFill>
          <a:ln w="5715">
            <a:solidFill>
              <a:srgbClr val="D0DBD8"/>
            </a:solidFill>
            <a:prstDash val="solid"/>
          </a:ln>
        </p:spPr>
      </p:sp>
      <p:sp>
        <p:nvSpPr>
          <p:cNvPr id="36" name="Text 34"/>
          <p:cNvSpPr txBox="1"/>
          <p:nvPr/>
        </p:nvSpPr>
        <p:spPr>
          <a:xfrm>
            <a:off x="713232" y="4956048"/>
            <a:ext cx="1984248" cy="210312"/>
          </a:xfrm>
          <a:prstGeom prst="rect">
            <a:avLst/>
          </a:prstGeom>
          <a:noFill/>
          <a:ln/>
        </p:spPr>
        <p:txBody>
          <a:bodyPr wrap="square" lIns="0" tIns="0" rIns="0" bIns="0" rtlCol="0" anchor="ctr">
            <a:normAutofit/>
          </a:bodyPr>
          <a:lstStyle/>
          <a:p>
            <a:pPr algn="l" indent="0" marL="0">
              <a:lnSpc>
                <a:spcPct val="92000"/>
              </a:lnSpc>
              <a:buNone/>
            </a:pPr>
            <a:r>
              <a:rPr lang="en-US" sz="780" b="1" dirty="0">
                <a:solidFill>
                  <a:srgbClr val="0E5C59"/>
                </a:solidFill>
                <a:latin typeface="Hiragino Sans GB" pitchFamily="34" charset="0"/>
                <a:ea typeface="Hiragino Sans GB" pitchFamily="34" charset="-122"/>
                <a:cs typeface="Hiragino Sans GB" pitchFamily="34" charset="-120"/>
              </a:rPr>
              <a:t>气象 / 市场 / 同期项目</a:t>
            </a:r>
            <a:endParaRPr lang="en-US" sz="780" dirty="0"/>
          </a:p>
        </p:txBody>
      </p:sp>
      <p:sp>
        <p:nvSpPr>
          <p:cNvPr id="37" name="Text 35"/>
          <p:cNvSpPr txBox="1"/>
          <p:nvPr/>
        </p:nvSpPr>
        <p:spPr>
          <a:xfrm>
            <a:off x="2724912" y="4937760"/>
            <a:ext cx="2944368" cy="246888"/>
          </a:xfrm>
          <a:prstGeom prst="rect">
            <a:avLst/>
          </a:prstGeom>
          <a:noFill/>
          <a:ln/>
        </p:spPr>
        <p:txBody>
          <a:bodyPr wrap="square" lIns="0" tIns="0" rIns="0" bIns="0" rtlCol="0" anchor="t">
            <a:normAutofit/>
          </a:bodyPr>
          <a:lstStyle/>
          <a:p>
            <a:pPr algn="l"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Eₜ：影响结果的外生环境与同期事件</a:t>
            </a:r>
            <a:endParaRPr lang="en-US" sz="720" dirty="0"/>
          </a:p>
        </p:txBody>
      </p:sp>
      <p:sp>
        <p:nvSpPr>
          <p:cNvPr id="38" name="Shape 36"/>
          <p:cNvSpPr/>
          <p:nvPr/>
        </p:nvSpPr>
        <p:spPr>
          <a:xfrm>
            <a:off x="566928" y="5312664"/>
            <a:ext cx="5285232" cy="374904"/>
          </a:xfrm>
          <a:prstGeom prst="roundRect">
            <a:avLst>
              <a:gd name="adj" fmla="val 4878"/>
            </a:avLst>
          </a:prstGeom>
          <a:solidFill>
            <a:srgbClr val="EDF1F0"/>
          </a:solidFill>
          <a:ln w="5715">
            <a:solidFill>
              <a:srgbClr val="D0DBD8"/>
            </a:solidFill>
            <a:prstDash val="solid"/>
          </a:ln>
        </p:spPr>
      </p:sp>
      <p:sp>
        <p:nvSpPr>
          <p:cNvPr id="39" name="Text 37"/>
          <p:cNvSpPr txBox="1"/>
          <p:nvPr/>
        </p:nvSpPr>
        <p:spPr>
          <a:xfrm>
            <a:off x="713232" y="5394960"/>
            <a:ext cx="1984248" cy="210312"/>
          </a:xfrm>
          <a:prstGeom prst="rect">
            <a:avLst/>
          </a:prstGeom>
          <a:noFill/>
          <a:ln/>
        </p:spPr>
        <p:txBody>
          <a:bodyPr wrap="square" lIns="0" tIns="0" rIns="0" bIns="0" rtlCol="0" anchor="ctr">
            <a:normAutofit/>
          </a:bodyPr>
          <a:lstStyle/>
          <a:p>
            <a:pPr algn="l" indent="0" marL="0">
              <a:lnSpc>
                <a:spcPct val="92000"/>
              </a:lnSpc>
              <a:buNone/>
            </a:pPr>
            <a:r>
              <a:rPr lang="en-US" sz="780" b="1" dirty="0">
                <a:solidFill>
                  <a:srgbClr val="0E5C59"/>
                </a:solidFill>
                <a:latin typeface="Hiragino Sans GB" pitchFamily="34" charset="0"/>
                <a:ea typeface="Hiragino Sans GB" pitchFamily="34" charset="-122"/>
                <a:cs typeface="Hiragino Sans GB" pitchFamily="34" charset="-120"/>
              </a:rPr>
              <a:t>复核 / 验收 / 后续监测</a:t>
            </a:r>
            <a:endParaRPr lang="en-US" sz="780" dirty="0"/>
          </a:p>
        </p:txBody>
      </p:sp>
      <p:sp>
        <p:nvSpPr>
          <p:cNvPr id="40" name="Text 38"/>
          <p:cNvSpPr txBox="1"/>
          <p:nvPr/>
        </p:nvSpPr>
        <p:spPr>
          <a:xfrm>
            <a:off x="2724912" y="5376672"/>
            <a:ext cx="2944368" cy="246888"/>
          </a:xfrm>
          <a:prstGeom prst="rect">
            <a:avLst/>
          </a:prstGeom>
          <a:noFill/>
          <a:ln/>
        </p:spPr>
        <p:txBody>
          <a:bodyPr wrap="square" lIns="0" tIns="0" rIns="0" bIns="0" rtlCol="0" anchor="t">
            <a:normAutofit/>
          </a:bodyPr>
          <a:lstStyle/>
          <a:p>
            <a:pPr algn="l"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Y：是否获批、是否整改、指标与滞后成效</a:t>
            </a:r>
            <a:endParaRPr lang="en-US" sz="720" dirty="0"/>
          </a:p>
        </p:txBody>
      </p:sp>
      <p:sp>
        <p:nvSpPr>
          <p:cNvPr id="41" name="Shape 39"/>
          <p:cNvSpPr/>
          <p:nvPr/>
        </p:nvSpPr>
        <p:spPr>
          <a:xfrm>
            <a:off x="6089904" y="3703320"/>
            <a:ext cx="0" cy="2039112"/>
          </a:xfrm>
          <a:prstGeom prst="line">
            <a:avLst/>
          </a:prstGeom>
          <a:noFill/>
          <a:ln w="10160">
            <a:solidFill>
              <a:srgbClr val="D0DBD8"/>
            </a:solidFill>
            <a:prstDash val="solid"/>
          </a:ln>
        </p:spPr>
      </p:sp>
      <p:sp>
        <p:nvSpPr>
          <p:cNvPr id="42" name="Text 40"/>
          <p:cNvSpPr txBox="1"/>
          <p:nvPr/>
        </p:nvSpPr>
        <p:spPr>
          <a:xfrm>
            <a:off x="6400800" y="3621024"/>
            <a:ext cx="5084064" cy="256032"/>
          </a:xfrm>
          <a:prstGeom prst="rect">
            <a:avLst/>
          </a:prstGeom>
          <a:noFill/>
          <a:ln/>
        </p:spPr>
        <p:txBody>
          <a:bodyPr wrap="square" lIns="0" tIns="0" rIns="0" bIns="0" rtlCol="0" anchor="ctr">
            <a:normAutofit/>
          </a:bodyPr>
          <a:lstStyle/>
          <a:p>
            <a:pPr algn="l" indent="0" marL="0">
              <a:lnSpc>
                <a:spcPct val="92000"/>
              </a:lnSpc>
              <a:buNone/>
            </a:pPr>
            <a:r>
              <a:rPr lang="en-US" sz="1300" b="1" dirty="0">
                <a:solidFill>
                  <a:srgbClr val="17252A"/>
                </a:solidFill>
                <a:latin typeface="Hiragino Sans GB" pitchFamily="34" charset="0"/>
                <a:ea typeface="Hiragino Sans GB" pitchFamily="34" charset="-122"/>
                <a:cs typeface="Hiragino Sans GB" pitchFamily="34" charset="-120"/>
              </a:rPr>
              <a:t>事件链数据支撑的四项能力</a:t>
            </a:r>
            <a:endParaRPr lang="en-US" sz="1300" dirty="0"/>
          </a:p>
        </p:txBody>
      </p:sp>
      <p:sp>
        <p:nvSpPr>
          <p:cNvPr id="43" name="Shape 41"/>
          <p:cNvSpPr/>
          <p:nvPr/>
        </p:nvSpPr>
        <p:spPr>
          <a:xfrm>
            <a:off x="6400800" y="4014216"/>
            <a:ext cx="2359152" cy="667512"/>
          </a:xfrm>
          <a:prstGeom prst="roundRect">
            <a:avLst>
              <a:gd name="adj" fmla="val 6849"/>
            </a:avLst>
          </a:prstGeom>
          <a:solidFill>
            <a:srgbClr val="E2F2EF"/>
          </a:solidFill>
          <a:ln w="8890">
            <a:solidFill>
              <a:srgbClr val="137F7A"/>
            </a:solidFill>
            <a:prstDash val="solid"/>
          </a:ln>
        </p:spPr>
      </p:sp>
      <p:sp>
        <p:nvSpPr>
          <p:cNvPr id="44" name="Text 42"/>
          <p:cNvSpPr txBox="1"/>
          <p:nvPr/>
        </p:nvSpPr>
        <p:spPr>
          <a:xfrm>
            <a:off x="6519672" y="4105656"/>
            <a:ext cx="356616"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0E5C59"/>
                </a:solidFill>
                <a:latin typeface="Arial" pitchFamily="34" charset="0"/>
                <a:ea typeface="Arial" pitchFamily="34" charset="-122"/>
                <a:cs typeface="Arial" pitchFamily="34" charset="-120"/>
              </a:rPr>
              <a:t>01</a:t>
            </a:r>
            <a:endParaRPr lang="en-US" sz="840" dirty="0"/>
          </a:p>
        </p:txBody>
      </p:sp>
      <p:sp>
        <p:nvSpPr>
          <p:cNvPr id="45" name="Text 43"/>
          <p:cNvSpPr txBox="1"/>
          <p:nvPr/>
        </p:nvSpPr>
        <p:spPr>
          <a:xfrm>
            <a:off x="6922008" y="4096512"/>
            <a:ext cx="1645920" cy="210312"/>
          </a:xfrm>
          <a:prstGeom prst="rect">
            <a:avLst/>
          </a:prstGeom>
          <a:noFill/>
          <a:ln/>
        </p:spPr>
        <p:txBody>
          <a:bodyPr wrap="square" lIns="0" tIns="0" rIns="0" bIns="0" rtlCol="0" anchor="ctr">
            <a:normAutofit/>
          </a:bodyPr>
          <a:lstStyle/>
          <a:p>
            <a:pPr algn="l" indent="0" marL="0">
              <a:lnSpc>
                <a:spcPct val="92000"/>
              </a:lnSpc>
              <a:buNone/>
            </a:pPr>
            <a:r>
              <a:rPr lang="en-US" sz="870" b="1" dirty="0">
                <a:solidFill>
                  <a:srgbClr val="17252A"/>
                </a:solidFill>
                <a:latin typeface="Hiragino Sans GB" pitchFamily="34" charset="0"/>
                <a:ea typeface="Hiragino Sans GB" pitchFamily="34" charset="-122"/>
                <a:cs typeface="Hiragino Sans GB" pitchFamily="34" charset="-120"/>
              </a:rPr>
              <a:t>行动敏感性</a:t>
            </a:r>
            <a:endParaRPr lang="en-US" sz="870" dirty="0"/>
          </a:p>
        </p:txBody>
      </p:sp>
      <p:sp>
        <p:nvSpPr>
          <p:cNvPr id="46" name="Text 44"/>
          <p:cNvSpPr txBox="1"/>
          <p:nvPr/>
        </p:nvSpPr>
        <p:spPr>
          <a:xfrm>
            <a:off x="6565392" y="4361688"/>
            <a:ext cx="2029968" cy="228600"/>
          </a:xfrm>
          <a:prstGeom prst="rect">
            <a:avLst/>
          </a:prstGeom>
          <a:noFill/>
          <a:ln/>
        </p:spPr>
        <p:txBody>
          <a:bodyPr wrap="square" lIns="0" tIns="0" rIns="0" bIns="0" rtlCol="0" anchor="t">
            <a:normAutofit/>
          </a:bodyPr>
          <a:lstStyle/>
          <a:p>
            <a:pPr algn="ctr" indent="0" marL="0">
              <a:lnSpc>
                <a:spcPct val="92000"/>
              </a:lnSpc>
              <a:buNone/>
            </a:pPr>
            <a:r>
              <a:rPr lang="en-US" sz="650" dirty="0">
                <a:solidFill>
                  <a:srgbClr val="32474D"/>
                </a:solidFill>
                <a:latin typeface="Hiragino Sans GB" pitchFamily="34" charset="0"/>
                <a:ea typeface="Hiragino Sans GB" pitchFamily="34" charset="-122"/>
                <a:cs typeface="Hiragino Sans GB" pitchFamily="34" charset="-120"/>
              </a:rPr>
              <a:t>区分“不行动、缩减、移位、整治”等条件下的不同转移</a:t>
            </a:r>
            <a:endParaRPr lang="en-US" sz="650" dirty="0"/>
          </a:p>
        </p:txBody>
      </p:sp>
      <p:sp>
        <p:nvSpPr>
          <p:cNvPr id="47" name="Shape 45"/>
          <p:cNvSpPr/>
          <p:nvPr/>
        </p:nvSpPr>
        <p:spPr>
          <a:xfrm>
            <a:off x="8988552" y="4014216"/>
            <a:ext cx="2359152" cy="667512"/>
          </a:xfrm>
          <a:prstGeom prst="roundRect">
            <a:avLst>
              <a:gd name="adj" fmla="val 6849"/>
            </a:avLst>
          </a:prstGeom>
          <a:solidFill>
            <a:srgbClr val="E2F2EF"/>
          </a:solidFill>
          <a:ln w="8890">
            <a:solidFill>
              <a:srgbClr val="137F7A"/>
            </a:solidFill>
            <a:prstDash val="solid"/>
          </a:ln>
        </p:spPr>
      </p:sp>
      <p:sp>
        <p:nvSpPr>
          <p:cNvPr id="48" name="Text 46"/>
          <p:cNvSpPr txBox="1"/>
          <p:nvPr/>
        </p:nvSpPr>
        <p:spPr>
          <a:xfrm>
            <a:off x="9107424" y="4105656"/>
            <a:ext cx="356616"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0E5C59"/>
                </a:solidFill>
                <a:latin typeface="Arial" pitchFamily="34" charset="0"/>
                <a:ea typeface="Arial" pitchFamily="34" charset="-122"/>
                <a:cs typeface="Arial" pitchFamily="34" charset="-120"/>
              </a:rPr>
              <a:t>02</a:t>
            </a:r>
            <a:endParaRPr lang="en-US" sz="840" dirty="0"/>
          </a:p>
        </p:txBody>
      </p:sp>
      <p:sp>
        <p:nvSpPr>
          <p:cNvPr id="49" name="Text 47"/>
          <p:cNvSpPr txBox="1"/>
          <p:nvPr/>
        </p:nvSpPr>
        <p:spPr>
          <a:xfrm>
            <a:off x="9509760" y="4096512"/>
            <a:ext cx="1645920" cy="210312"/>
          </a:xfrm>
          <a:prstGeom prst="rect">
            <a:avLst/>
          </a:prstGeom>
          <a:noFill/>
          <a:ln/>
        </p:spPr>
        <p:txBody>
          <a:bodyPr wrap="square" lIns="0" tIns="0" rIns="0" bIns="0" rtlCol="0" anchor="ctr">
            <a:normAutofit/>
          </a:bodyPr>
          <a:lstStyle/>
          <a:p>
            <a:pPr algn="l" indent="0" marL="0">
              <a:lnSpc>
                <a:spcPct val="92000"/>
              </a:lnSpc>
              <a:buNone/>
            </a:pPr>
            <a:r>
              <a:rPr lang="en-US" sz="870" b="1" dirty="0">
                <a:solidFill>
                  <a:srgbClr val="17252A"/>
                </a:solidFill>
                <a:latin typeface="Hiragino Sans GB" pitchFamily="34" charset="0"/>
                <a:ea typeface="Hiragino Sans GB" pitchFamily="34" charset="-122"/>
                <a:cs typeface="Hiragino Sans GB" pitchFamily="34" charset="-120"/>
              </a:rPr>
              <a:t>多步推演</a:t>
            </a:r>
            <a:endParaRPr lang="en-US" sz="870" dirty="0"/>
          </a:p>
        </p:txBody>
      </p:sp>
      <p:sp>
        <p:nvSpPr>
          <p:cNvPr id="50" name="Text 48"/>
          <p:cNvSpPr txBox="1"/>
          <p:nvPr/>
        </p:nvSpPr>
        <p:spPr>
          <a:xfrm>
            <a:off x="9153144" y="4361688"/>
            <a:ext cx="2029968" cy="228600"/>
          </a:xfrm>
          <a:prstGeom prst="rect">
            <a:avLst/>
          </a:prstGeom>
          <a:noFill/>
          <a:ln/>
        </p:spPr>
        <p:txBody>
          <a:bodyPr wrap="square" lIns="0" tIns="0" rIns="0" bIns="0" rtlCol="0" anchor="t">
            <a:normAutofit/>
          </a:bodyPr>
          <a:lstStyle/>
          <a:p>
            <a:pPr algn="ctr" indent="0" marL="0">
              <a:lnSpc>
                <a:spcPct val="92000"/>
              </a:lnSpc>
              <a:buNone/>
            </a:pPr>
            <a:r>
              <a:rPr lang="en-US" sz="650" dirty="0">
                <a:solidFill>
                  <a:srgbClr val="32474D"/>
                </a:solidFill>
                <a:latin typeface="Hiragino Sans GB" pitchFamily="34" charset="0"/>
                <a:ea typeface="Hiragino Sans GB" pitchFamily="34" charset="-122"/>
                <a:cs typeface="Hiragino Sans GB" pitchFamily="34" charset="-120"/>
              </a:rPr>
              <a:t>把 Sₜ₊₁ 写回，重算关系与可行动作，再预测下一步</a:t>
            </a:r>
            <a:endParaRPr lang="en-US" sz="650" dirty="0"/>
          </a:p>
        </p:txBody>
      </p:sp>
      <p:sp>
        <p:nvSpPr>
          <p:cNvPr id="51" name="Shape 49"/>
          <p:cNvSpPr/>
          <p:nvPr/>
        </p:nvSpPr>
        <p:spPr>
          <a:xfrm>
            <a:off x="6400800" y="4846320"/>
            <a:ext cx="2359152" cy="667512"/>
          </a:xfrm>
          <a:prstGeom prst="roundRect">
            <a:avLst>
              <a:gd name="adj" fmla="val 6849"/>
            </a:avLst>
          </a:prstGeom>
          <a:solidFill>
            <a:srgbClr val="E2F2EF"/>
          </a:solidFill>
          <a:ln w="8890">
            <a:solidFill>
              <a:srgbClr val="137F7A"/>
            </a:solidFill>
            <a:prstDash val="solid"/>
          </a:ln>
        </p:spPr>
      </p:sp>
      <p:sp>
        <p:nvSpPr>
          <p:cNvPr id="52" name="Text 50"/>
          <p:cNvSpPr txBox="1"/>
          <p:nvPr/>
        </p:nvSpPr>
        <p:spPr>
          <a:xfrm>
            <a:off x="6519672" y="4937760"/>
            <a:ext cx="356616"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0E5C59"/>
                </a:solidFill>
                <a:latin typeface="Arial" pitchFamily="34" charset="0"/>
                <a:ea typeface="Arial" pitchFamily="34" charset="-122"/>
                <a:cs typeface="Arial" pitchFamily="34" charset="-120"/>
              </a:rPr>
              <a:t>03</a:t>
            </a:r>
            <a:endParaRPr lang="en-US" sz="840" dirty="0"/>
          </a:p>
        </p:txBody>
      </p:sp>
      <p:sp>
        <p:nvSpPr>
          <p:cNvPr id="53" name="Text 51"/>
          <p:cNvSpPr txBox="1"/>
          <p:nvPr/>
        </p:nvSpPr>
        <p:spPr>
          <a:xfrm>
            <a:off x="6922008" y="4928616"/>
            <a:ext cx="1645920" cy="210312"/>
          </a:xfrm>
          <a:prstGeom prst="rect">
            <a:avLst/>
          </a:prstGeom>
          <a:noFill/>
          <a:ln/>
        </p:spPr>
        <p:txBody>
          <a:bodyPr wrap="square" lIns="0" tIns="0" rIns="0" bIns="0" rtlCol="0" anchor="ctr">
            <a:normAutofit/>
          </a:bodyPr>
          <a:lstStyle/>
          <a:p>
            <a:pPr algn="l" indent="0" marL="0">
              <a:lnSpc>
                <a:spcPct val="92000"/>
              </a:lnSpc>
              <a:buNone/>
            </a:pPr>
            <a:r>
              <a:rPr lang="en-US" sz="870" b="1" dirty="0">
                <a:solidFill>
                  <a:srgbClr val="17252A"/>
                </a:solidFill>
                <a:latin typeface="Hiragino Sans GB" pitchFamily="34" charset="0"/>
                <a:ea typeface="Hiragino Sans GB" pitchFamily="34" charset="-122"/>
                <a:cs typeface="Hiragino Sans GB" pitchFamily="34" charset="-120"/>
              </a:rPr>
              <a:t>方案比较</a:t>
            </a:r>
            <a:endParaRPr lang="en-US" sz="870" dirty="0"/>
          </a:p>
        </p:txBody>
      </p:sp>
      <p:sp>
        <p:nvSpPr>
          <p:cNvPr id="54" name="Text 52"/>
          <p:cNvSpPr txBox="1"/>
          <p:nvPr/>
        </p:nvSpPr>
        <p:spPr>
          <a:xfrm>
            <a:off x="6565392" y="5193792"/>
            <a:ext cx="2029968" cy="228600"/>
          </a:xfrm>
          <a:prstGeom prst="rect">
            <a:avLst/>
          </a:prstGeom>
          <a:noFill/>
          <a:ln/>
        </p:spPr>
        <p:txBody>
          <a:bodyPr wrap="square" lIns="0" tIns="0" rIns="0" bIns="0" rtlCol="0" anchor="t">
            <a:normAutofit/>
          </a:bodyPr>
          <a:lstStyle/>
          <a:p>
            <a:pPr algn="ctr" indent="0" marL="0">
              <a:lnSpc>
                <a:spcPct val="92000"/>
              </a:lnSpc>
              <a:buNone/>
            </a:pPr>
            <a:r>
              <a:rPr lang="en-US" sz="650" dirty="0">
                <a:solidFill>
                  <a:srgbClr val="32474D"/>
                </a:solidFill>
                <a:latin typeface="Hiragino Sans GB" pitchFamily="34" charset="0"/>
                <a:ea typeface="Hiragino Sans GB" pitchFamily="34" charset="-122"/>
                <a:cs typeface="Hiragino Sans GB" pitchFamily="34" charset="-120"/>
              </a:rPr>
              <a:t>在历史支持范围与硬约束内比较候选行动序列</a:t>
            </a:r>
            <a:endParaRPr lang="en-US" sz="650" dirty="0"/>
          </a:p>
        </p:txBody>
      </p:sp>
      <p:sp>
        <p:nvSpPr>
          <p:cNvPr id="55" name="Shape 53"/>
          <p:cNvSpPr/>
          <p:nvPr/>
        </p:nvSpPr>
        <p:spPr>
          <a:xfrm>
            <a:off x="8988552" y="4846320"/>
            <a:ext cx="2359152" cy="667512"/>
          </a:xfrm>
          <a:prstGeom prst="roundRect">
            <a:avLst>
              <a:gd name="adj" fmla="val 6849"/>
            </a:avLst>
          </a:prstGeom>
          <a:solidFill>
            <a:srgbClr val="E7F3EA"/>
          </a:solidFill>
          <a:ln w="8890">
            <a:solidFill>
              <a:srgbClr val="2D8A57"/>
            </a:solidFill>
            <a:prstDash val="solid"/>
          </a:ln>
        </p:spPr>
      </p:sp>
      <p:sp>
        <p:nvSpPr>
          <p:cNvPr id="56" name="Text 54"/>
          <p:cNvSpPr txBox="1"/>
          <p:nvPr/>
        </p:nvSpPr>
        <p:spPr>
          <a:xfrm>
            <a:off x="9107424" y="4937760"/>
            <a:ext cx="356616"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2D8A57"/>
                </a:solidFill>
                <a:latin typeface="Arial" pitchFamily="34" charset="0"/>
                <a:ea typeface="Arial" pitchFamily="34" charset="-122"/>
                <a:cs typeface="Arial" pitchFamily="34" charset="-120"/>
              </a:rPr>
              <a:t>04</a:t>
            </a:r>
            <a:endParaRPr lang="en-US" sz="840" dirty="0"/>
          </a:p>
        </p:txBody>
      </p:sp>
      <p:sp>
        <p:nvSpPr>
          <p:cNvPr id="57" name="Text 55"/>
          <p:cNvSpPr txBox="1"/>
          <p:nvPr/>
        </p:nvSpPr>
        <p:spPr>
          <a:xfrm>
            <a:off x="9509760" y="4928616"/>
            <a:ext cx="1645920" cy="210312"/>
          </a:xfrm>
          <a:prstGeom prst="rect">
            <a:avLst/>
          </a:prstGeom>
          <a:noFill/>
          <a:ln/>
        </p:spPr>
        <p:txBody>
          <a:bodyPr wrap="square" lIns="0" tIns="0" rIns="0" bIns="0" rtlCol="0" anchor="ctr">
            <a:normAutofit/>
          </a:bodyPr>
          <a:lstStyle/>
          <a:p>
            <a:pPr algn="l" indent="0" marL="0">
              <a:lnSpc>
                <a:spcPct val="92000"/>
              </a:lnSpc>
              <a:buNone/>
            </a:pPr>
            <a:r>
              <a:rPr lang="en-US" sz="870" b="1" dirty="0">
                <a:solidFill>
                  <a:srgbClr val="17252A"/>
                </a:solidFill>
                <a:latin typeface="Hiragino Sans GB" pitchFamily="34" charset="0"/>
                <a:ea typeface="Hiragino Sans GB" pitchFamily="34" charset="-122"/>
                <a:cs typeface="Hiragino Sans GB" pitchFamily="34" charset="-120"/>
              </a:rPr>
              <a:t>审计校准</a:t>
            </a:r>
            <a:endParaRPr lang="en-US" sz="870" dirty="0"/>
          </a:p>
        </p:txBody>
      </p:sp>
      <p:sp>
        <p:nvSpPr>
          <p:cNvPr id="58" name="Text 56"/>
          <p:cNvSpPr txBox="1"/>
          <p:nvPr/>
        </p:nvSpPr>
        <p:spPr>
          <a:xfrm>
            <a:off x="9153144" y="5193792"/>
            <a:ext cx="2029968" cy="228600"/>
          </a:xfrm>
          <a:prstGeom prst="rect">
            <a:avLst/>
          </a:prstGeom>
          <a:noFill/>
          <a:ln/>
        </p:spPr>
        <p:txBody>
          <a:bodyPr wrap="square" lIns="0" tIns="0" rIns="0" bIns="0" rtlCol="0" anchor="t">
            <a:normAutofit/>
          </a:bodyPr>
          <a:lstStyle/>
          <a:p>
            <a:pPr algn="ctr" indent="0" marL="0">
              <a:lnSpc>
                <a:spcPct val="92000"/>
              </a:lnSpc>
              <a:buNone/>
            </a:pPr>
            <a:r>
              <a:rPr lang="en-US" sz="650" dirty="0">
                <a:solidFill>
                  <a:srgbClr val="32474D"/>
                </a:solidFill>
                <a:latin typeface="Hiragino Sans GB" pitchFamily="34" charset="0"/>
                <a:ea typeface="Hiragino Sans GB" pitchFamily="34" charset="-122"/>
                <a:cs typeface="Hiragino Sans GB" pitchFamily="34" charset="-120"/>
              </a:rPr>
              <a:t>追溯数据、行动、模型和规则版本，用真实结果回灌纠偏</a:t>
            </a:r>
            <a:endParaRPr lang="en-US" sz="650" dirty="0"/>
          </a:p>
        </p:txBody>
      </p:sp>
      <p:sp>
        <p:nvSpPr>
          <p:cNvPr id="59" name="Shape 57"/>
          <p:cNvSpPr/>
          <p:nvPr/>
        </p:nvSpPr>
        <p:spPr>
          <a:xfrm>
            <a:off x="658368" y="5925312"/>
            <a:ext cx="10853928" cy="384048"/>
          </a:xfrm>
          <a:prstGeom prst="roundRect">
            <a:avLst>
              <a:gd name="adj" fmla="val 9524"/>
            </a:avLst>
          </a:prstGeom>
          <a:solidFill>
            <a:srgbClr val="FBE9EA"/>
          </a:solidFill>
          <a:ln w="8890">
            <a:solidFill>
              <a:srgbClr val="B04A50"/>
            </a:solidFill>
            <a:prstDash val="solid"/>
          </a:ln>
        </p:spPr>
      </p:sp>
      <p:sp>
        <p:nvSpPr>
          <p:cNvPr id="60" name="Text 58"/>
          <p:cNvSpPr txBox="1"/>
          <p:nvPr/>
        </p:nvSpPr>
        <p:spPr>
          <a:xfrm>
            <a:off x="850392" y="6007608"/>
            <a:ext cx="10479024" cy="210312"/>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17252A"/>
                </a:solidFill>
                <a:latin typeface="Arial" pitchFamily="34" charset="0"/>
                <a:ea typeface="Arial" pitchFamily="34" charset="-122"/>
                <a:cs typeface="Arial" pitchFamily="34" charset="-120"/>
              </a:rPr>
              <a:t>数据准入规则：行动阶段统一编码为 planned / authorized / started / executed / completed / operational。</a:t>
            </a:r>
            <a:endParaRPr lang="en-US" sz="8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权威对标</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GeoSOS-FLUS：土地利用模拟的权威对标基线</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同题实验检验当前效果，架构分析检验能力空间，两类证据共同界定 GWM 的阶段性位置。</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基线：Liu et al. 2017 FLUS；Li et al. 2011 GeoSOS；项目比较文档</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12 / 29</a:t>
            </a:r>
            <a:endParaRPr lang="en-US" sz="670" dirty="0"/>
          </a:p>
        </p:txBody>
      </p:sp>
      <p:sp>
        <p:nvSpPr>
          <p:cNvPr id="10" name="Text 8"/>
          <p:cNvSpPr txBox="1"/>
          <p:nvPr/>
        </p:nvSpPr>
        <p:spPr>
          <a:xfrm>
            <a:off x="594360" y="1536192"/>
            <a:ext cx="3072384" cy="329184"/>
          </a:xfrm>
          <a:prstGeom prst="rect">
            <a:avLst/>
          </a:prstGeom>
          <a:noFill/>
          <a:ln/>
        </p:spPr>
        <p:txBody>
          <a:bodyPr wrap="square" lIns="0" tIns="0" rIns="0" bIns="0" rtlCol="0" anchor="ctr">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GeoSOS-FLUS 的权威性</a:t>
            </a:r>
            <a:endParaRPr lang="en-US" sz="1500" dirty="0"/>
          </a:p>
        </p:txBody>
      </p:sp>
      <p:sp>
        <p:nvSpPr>
          <p:cNvPr id="11" name="Shape 9"/>
          <p:cNvSpPr/>
          <p:nvPr/>
        </p:nvSpPr>
        <p:spPr>
          <a:xfrm>
            <a:off x="658368" y="2107692"/>
            <a:ext cx="64008" cy="64008"/>
          </a:xfrm>
          <a:prstGeom prst="ellipse">
            <a:avLst/>
          </a:prstGeom>
          <a:solidFill>
            <a:srgbClr val="B17B20"/>
          </a:solidFill>
          <a:ln w="8890">
            <a:solidFill>
              <a:srgbClr val="B17B20"/>
            </a:solidFill>
            <a:prstDash val="solid"/>
          </a:ln>
        </p:spPr>
      </p:sp>
      <p:sp>
        <p:nvSpPr>
          <p:cNvPr id="12" name="Text 10"/>
          <p:cNvSpPr txBox="1"/>
          <p:nvPr/>
        </p:nvSpPr>
        <p:spPr>
          <a:xfrm>
            <a:off x="795528" y="2011680"/>
            <a:ext cx="3017520" cy="393192"/>
          </a:xfrm>
          <a:prstGeom prst="rect">
            <a:avLst/>
          </a:prstGeom>
          <a:noFill/>
          <a:ln/>
        </p:spPr>
        <p:txBody>
          <a:bodyPr wrap="square" lIns="0" tIns="0" rIns="0" bIns="0" rtlCol="0" anchor="t">
            <a:normAutofit/>
          </a:bodyPr>
          <a:lstStyle/>
          <a:p>
            <a:pPr algn="l" indent="0" marL="0">
              <a:lnSpc>
                <a:spcPct val="90000"/>
              </a:lnSpc>
              <a:buNone/>
            </a:pPr>
            <a:r>
              <a:rPr lang="en-US" sz="990" dirty="0">
                <a:solidFill>
                  <a:srgbClr val="32474D"/>
                </a:solidFill>
                <a:latin typeface="Hiragino Sans GB" pitchFamily="34" charset="0"/>
                <a:ea typeface="Hiragino Sans GB" pitchFamily="34" charset="-122"/>
                <a:cs typeface="Hiragino Sans GB" pitchFamily="34" charset="-120"/>
              </a:rPr>
              <a:t>成熟的 CA / ANN 土地利用模拟路线</a:t>
            </a:r>
            <a:endParaRPr lang="en-US" sz="990" dirty="0"/>
          </a:p>
        </p:txBody>
      </p:sp>
      <p:sp>
        <p:nvSpPr>
          <p:cNvPr id="13" name="Shape 11"/>
          <p:cNvSpPr/>
          <p:nvPr/>
        </p:nvSpPr>
        <p:spPr>
          <a:xfrm>
            <a:off x="658368" y="2665476"/>
            <a:ext cx="64008" cy="64008"/>
          </a:xfrm>
          <a:prstGeom prst="ellipse">
            <a:avLst/>
          </a:prstGeom>
          <a:solidFill>
            <a:srgbClr val="B17B20"/>
          </a:solidFill>
          <a:ln w="8890">
            <a:solidFill>
              <a:srgbClr val="B17B20"/>
            </a:solidFill>
            <a:prstDash val="solid"/>
          </a:ln>
        </p:spPr>
      </p:sp>
      <p:sp>
        <p:nvSpPr>
          <p:cNvPr id="14" name="Text 12"/>
          <p:cNvSpPr txBox="1"/>
          <p:nvPr/>
        </p:nvSpPr>
        <p:spPr>
          <a:xfrm>
            <a:off x="795528" y="2569464"/>
            <a:ext cx="3017520" cy="393192"/>
          </a:xfrm>
          <a:prstGeom prst="rect">
            <a:avLst/>
          </a:prstGeom>
          <a:noFill/>
          <a:ln/>
        </p:spPr>
        <p:txBody>
          <a:bodyPr wrap="square" lIns="0" tIns="0" rIns="0" bIns="0" rtlCol="0" anchor="t">
            <a:normAutofit/>
          </a:bodyPr>
          <a:lstStyle/>
          <a:p>
            <a:pPr algn="l" indent="0" marL="0">
              <a:lnSpc>
                <a:spcPct val="90000"/>
              </a:lnSpc>
              <a:buNone/>
            </a:pPr>
            <a:r>
              <a:rPr lang="en-US" sz="990" dirty="0">
                <a:solidFill>
                  <a:srgbClr val="32474D"/>
                </a:solidFill>
                <a:latin typeface="Hiragino Sans GB" pitchFamily="34" charset="0"/>
                <a:ea typeface="Hiragino Sans GB" pitchFamily="34" charset="-122"/>
                <a:cs typeface="Hiragino Sans GB" pitchFamily="34" charset="-120"/>
              </a:rPr>
              <a:t>自适应惯性与地类竞争机制</a:t>
            </a:r>
            <a:endParaRPr lang="en-US" sz="990" dirty="0"/>
          </a:p>
        </p:txBody>
      </p:sp>
      <p:sp>
        <p:nvSpPr>
          <p:cNvPr id="15" name="Shape 13"/>
          <p:cNvSpPr/>
          <p:nvPr/>
        </p:nvSpPr>
        <p:spPr>
          <a:xfrm>
            <a:off x="658368" y="3223260"/>
            <a:ext cx="64008" cy="64008"/>
          </a:xfrm>
          <a:prstGeom prst="ellipse">
            <a:avLst/>
          </a:prstGeom>
          <a:solidFill>
            <a:srgbClr val="B17B20"/>
          </a:solidFill>
          <a:ln w="8890">
            <a:solidFill>
              <a:srgbClr val="B17B20"/>
            </a:solidFill>
            <a:prstDash val="solid"/>
          </a:ln>
        </p:spPr>
      </p:sp>
      <p:sp>
        <p:nvSpPr>
          <p:cNvPr id="16" name="Text 14"/>
          <p:cNvSpPr txBox="1"/>
          <p:nvPr/>
        </p:nvSpPr>
        <p:spPr>
          <a:xfrm>
            <a:off x="795528" y="3127248"/>
            <a:ext cx="3017520" cy="393192"/>
          </a:xfrm>
          <a:prstGeom prst="rect">
            <a:avLst/>
          </a:prstGeom>
          <a:noFill/>
          <a:ln/>
        </p:spPr>
        <p:txBody>
          <a:bodyPr wrap="square" lIns="0" tIns="0" rIns="0" bIns="0" rtlCol="0" anchor="t">
            <a:normAutofit/>
          </a:bodyPr>
          <a:lstStyle/>
          <a:p>
            <a:pPr algn="l" indent="0" marL="0">
              <a:lnSpc>
                <a:spcPct val="90000"/>
              </a:lnSpc>
              <a:buNone/>
            </a:pPr>
            <a:r>
              <a:rPr lang="en-US" sz="990" dirty="0">
                <a:solidFill>
                  <a:srgbClr val="32474D"/>
                </a:solidFill>
                <a:latin typeface="Hiragino Sans GB" pitchFamily="34" charset="0"/>
                <a:ea typeface="Hiragino Sans GB" pitchFamily="34" charset="-122"/>
                <a:cs typeface="Hiragino Sans GB" pitchFamily="34" charset="-120"/>
              </a:rPr>
              <a:t>长期用于城市增长与情景分配</a:t>
            </a:r>
            <a:endParaRPr lang="en-US" sz="990" dirty="0"/>
          </a:p>
        </p:txBody>
      </p:sp>
      <p:sp>
        <p:nvSpPr>
          <p:cNvPr id="17" name="Shape 15"/>
          <p:cNvSpPr/>
          <p:nvPr/>
        </p:nvSpPr>
        <p:spPr>
          <a:xfrm>
            <a:off x="658368" y="3781044"/>
            <a:ext cx="64008" cy="64008"/>
          </a:xfrm>
          <a:prstGeom prst="ellipse">
            <a:avLst/>
          </a:prstGeom>
          <a:solidFill>
            <a:srgbClr val="B17B20"/>
          </a:solidFill>
          <a:ln w="8890">
            <a:solidFill>
              <a:srgbClr val="B17B20"/>
            </a:solidFill>
            <a:prstDash val="solid"/>
          </a:ln>
        </p:spPr>
      </p:sp>
      <p:sp>
        <p:nvSpPr>
          <p:cNvPr id="18" name="Text 16"/>
          <p:cNvSpPr txBox="1"/>
          <p:nvPr/>
        </p:nvSpPr>
        <p:spPr>
          <a:xfrm>
            <a:off x="795528" y="3685032"/>
            <a:ext cx="3017520" cy="393192"/>
          </a:xfrm>
          <a:prstGeom prst="rect">
            <a:avLst/>
          </a:prstGeom>
          <a:noFill/>
          <a:ln/>
        </p:spPr>
        <p:txBody>
          <a:bodyPr wrap="square" lIns="0" tIns="0" rIns="0" bIns="0" rtlCol="0" anchor="t">
            <a:normAutofit/>
          </a:bodyPr>
          <a:lstStyle/>
          <a:p>
            <a:pPr algn="l" indent="0" marL="0">
              <a:lnSpc>
                <a:spcPct val="90000"/>
              </a:lnSpc>
              <a:buNone/>
            </a:pPr>
            <a:r>
              <a:rPr lang="en-US" sz="990" dirty="0">
                <a:solidFill>
                  <a:srgbClr val="32474D"/>
                </a:solidFill>
                <a:latin typeface="Hiragino Sans GB" pitchFamily="34" charset="0"/>
                <a:ea typeface="Hiragino Sans GB" pitchFamily="34" charset="-122"/>
                <a:cs typeface="Hiragino Sans GB" pitchFamily="34" charset="-120"/>
              </a:rPr>
              <a:t>能够提供可复现的软件与论文基线</a:t>
            </a:r>
            <a:endParaRPr lang="en-US" sz="990" dirty="0"/>
          </a:p>
        </p:txBody>
      </p:sp>
      <p:sp>
        <p:nvSpPr>
          <p:cNvPr id="19" name="Shape 17"/>
          <p:cNvSpPr/>
          <p:nvPr/>
        </p:nvSpPr>
        <p:spPr>
          <a:xfrm>
            <a:off x="3986784" y="1627632"/>
            <a:ext cx="0" cy="4206240"/>
          </a:xfrm>
          <a:prstGeom prst="line">
            <a:avLst/>
          </a:prstGeom>
          <a:noFill/>
          <a:ln w="10160">
            <a:solidFill>
              <a:srgbClr val="D0DBD8"/>
            </a:solidFill>
            <a:prstDash val="solid"/>
          </a:ln>
        </p:spPr>
      </p:sp>
      <p:sp>
        <p:nvSpPr>
          <p:cNvPr id="20" name="Text 18"/>
          <p:cNvSpPr txBox="1"/>
          <p:nvPr/>
        </p:nvSpPr>
        <p:spPr>
          <a:xfrm>
            <a:off x="4325112" y="1536192"/>
            <a:ext cx="3200400" cy="329184"/>
          </a:xfrm>
          <a:prstGeom prst="rect">
            <a:avLst/>
          </a:prstGeom>
          <a:noFill/>
          <a:ln/>
        </p:spPr>
        <p:txBody>
          <a:bodyPr wrap="square" lIns="0" tIns="0" rIns="0" bIns="0" rtlCol="0" anchor="ctr">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两层对标框架</a:t>
            </a:r>
            <a:endParaRPr lang="en-US" sz="1500" dirty="0"/>
          </a:p>
        </p:txBody>
      </p:sp>
      <p:sp>
        <p:nvSpPr>
          <p:cNvPr id="21" name="Shape 19"/>
          <p:cNvSpPr/>
          <p:nvPr/>
        </p:nvSpPr>
        <p:spPr>
          <a:xfrm>
            <a:off x="4297680" y="1984248"/>
            <a:ext cx="3218688" cy="1463040"/>
          </a:xfrm>
          <a:prstGeom prst="roundRect">
            <a:avLst>
              <a:gd name="adj" fmla="val 3125"/>
            </a:avLst>
          </a:prstGeom>
          <a:solidFill>
            <a:srgbClr val="E7EFF8"/>
          </a:solidFill>
          <a:ln w="10160">
            <a:solidFill>
              <a:srgbClr val="356CA8"/>
            </a:solidFill>
            <a:prstDash val="solid"/>
          </a:ln>
        </p:spPr>
      </p:sp>
      <p:sp>
        <p:nvSpPr>
          <p:cNvPr id="22" name="Text 20"/>
          <p:cNvSpPr txBox="1"/>
          <p:nvPr/>
        </p:nvSpPr>
        <p:spPr>
          <a:xfrm>
            <a:off x="4553712" y="2185416"/>
            <a:ext cx="2706624" cy="256032"/>
          </a:xfrm>
          <a:prstGeom prst="rect">
            <a:avLst/>
          </a:prstGeom>
          <a:noFill/>
          <a:ln/>
        </p:spPr>
        <p:txBody>
          <a:bodyPr wrap="square" lIns="0" tIns="0" rIns="0" bIns="0" rtlCol="0" anchor="ctr">
            <a:normAutofit/>
          </a:bodyPr>
          <a:lstStyle/>
          <a:p>
            <a:pPr algn="ctr" indent="0" marL="0">
              <a:lnSpc>
                <a:spcPct val="92000"/>
              </a:lnSpc>
              <a:buNone/>
            </a:pPr>
            <a:r>
              <a:rPr lang="en-US" sz="1350" b="1" dirty="0">
                <a:solidFill>
                  <a:srgbClr val="356CA8"/>
                </a:solidFill>
                <a:latin typeface="Hiragino Sans GB" pitchFamily="34" charset="0"/>
                <a:ea typeface="Hiragino Sans GB" pitchFamily="34" charset="-122"/>
                <a:cs typeface="Hiragino Sans GB" pitchFamily="34" charset="-120"/>
              </a:rPr>
              <a:t>A. 同题实证</a:t>
            </a:r>
            <a:endParaRPr lang="en-US" sz="1350" dirty="0"/>
          </a:p>
        </p:txBody>
      </p:sp>
      <p:sp>
        <p:nvSpPr>
          <p:cNvPr id="23" name="Text 21"/>
          <p:cNvSpPr txBox="1"/>
          <p:nvPr/>
        </p:nvSpPr>
        <p:spPr>
          <a:xfrm>
            <a:off x="4553712" y="2551176"/>
            <a:ext cx="2706624" cy="566928"/>
          </a:xfrm>
          <a:prstGeom prst="rect">
            <a:avLst/>
          </a:prstGeom>
          <a:noFill/>
          <a:ln/>
        </p:spPr>
        <p:txBody>
          <a:bodyPr wrap="square" lIns="0" tIns="0" rIns="0" bIns="0" rtlCol="0" anchor="t">
            <a:normAutofit/>
          </a:bodyPr>
          <a:lstStyle/>
          <a:p>
            <a:pPr algn="ctr" indent="0" marL="0">
              <a:lnSpc>
                <a:spcPct val="92000"/>
              </a:lnSpc>
              <a:buNone/>
            </a:pPr>
            <a:r>
              <a:rPr lang="en-US" sz="940" dirty="0">
                <a:solidFill>
                  <a:srgbClr val="32474D"/>
                </a:solidFill>
                <a:latin typeface="Hiragino Sans GB" pitchFamily="34" charset="0"/>
                <a:ea typeface="Hiragino Sans GB" pitchFamily="34" charset="-122"/>
                <a:cs typeface="Hiragino Sans GB" pitchFamily="34" charset="-120"/>
              </a:rPr>
              <a:t>同一初始图 / 留出真值 / 评价掩膜</a:t>
            </a:r>
            <a:endParaRPr lang="en-US" sz="940" dirty="0"/>
          </a:p>
          <a:p>
            <a:pPr algn="ctr" indent="0" marL="0">
              <a:lnSpc>
                <a:spcPct val="92000"/>
              </a:lnSpc>
              <a:buNone/>
            </a:pPr>
            <a:r>
              <a:rPr lang="en-US" sz="940" dirty="0">
                <a:solidFill>
                  <a:srgbClr val="32474D"/>
                </a:solidFill>
                <a:latin typeface="Hiragino Sans GB" pitchFamily="34" charset="0"/>
                <a:ea typeface="Hiragino Sans GB" pitchFamily="34" charset="-122"/>
                <a:cs typeface="Hiragino Sans GB" pitchFamily="34" charset="-120"/>
              </a:rPr>
              <a:t>比较 FoM、F1、OA、Kappa 等指标</a:t>
            </a:r>
            <a:endParaRPr lang="en-US" sz="940" dirty="0"/>
          </a:p>
        </p:txBody>
      </p:sp>
      <p:sp>
        <p:nvSpPr>
          <p:cNvPr id="24" name="Shape 22"/>
          <p:cNvSpPr/>
          <p:nvPr/>
        </p:nvSpPr>
        <p:spPr>
          <a:xfrm>
            <a:off x="4297680" y="3675888"/>
            <a:ext cx="3218688" cy="1463040"/>
          </a:xfrm>
          <a:prstGeom prst="roundRect">
            <a:avLst>
              <a:gd name="adj" fmla="val 3125"/>
            </a:avLst>
          </a:prstGeom>
          <a:solidFill>
            <a:srgbClr val="E2F2EF"/>
          </a:solidFill>
          <a:ln w="10160">
            <a:solidFill>
              <a:srgbClr val="137F7A"/>
            </a:solidFill>
            <a:prstDash val="solid"/>
          </a:ln>
        </p:spPr>
      </p:sp>
      <p:sp>
        <p:nvSpPr>
          <p:cNvPr id="25" name="Text 23"/>
          <p:cNvSpPr txBox="1"/>
          <p:nvPr/>
        </p:nvSpPr>
        <p:spPr>
          <a:xfrm>
            <a:off x="4553712" y="3877056"/>
            <a:ext cx="2706624" cy="256032"/>
          </a:xfrm>
          <a:prstGeom prst="rect">
            <a:avLst/>
          </a:prstGeom>
          <a:noFill/>
          <a:ln/>
        </p:spPr>
        <p:txBody>
          <a:bodyPr wrap="square" lIns="0" tIns="0" rIns="0" bIns="0" rtlCol="0" anchor="ctr">
            <a:normAutofit/>
          </a:bodyPr>
          <a:lstStyle/>
          <a:p>
            <a:pPr algn="ctr" indent="0" marL="0">
              <a:lnSpc>
                <a:spcPct val="92000"/>
              </a:lnSpc>
              <a:buNone/>
            </a:pPr>
            <a:r>
              <a:rPr lang="en-US" sz="1350" b="1" dirty="0">
                <a:solidFill>
                  <a:srgbClr val="0E5C59"/>
                </a:solidFill>
                <a:latin typeface="Hiragino Sans GB" pitchFamily="34" charset="0"/>
                <a:ea typeface="Hiragino Sans GB" pitchFamily="34" charset="-122"/>
                <a:cs typeface="Hiragino Sans GB" pitchFamily="34" charset="-120"/>
              </a:rPr>
              <a:t>B. 架构上限</a:t>
            </a:r>
            <a:endParaRPr lang="en-US" sz="1350" dirty="0"/>
          </a:p>
        </p:txBody>
      </p:sp>
      <p:sp>
        <p:nvSpPr>
          <p:cNvPr id="26" name="Text 24"/>
          <p:cNvSpPr txBox="1"/>
          <p:nvPr/>
        </p:nvSpPr>
        <p:spPr>
          <a:xfrm>
            <a:off x="4553712" y="4242816"/>
            <a:ext cx="2706624" cy="566928"/>
          </a:xfrm>
          <a:prstGeom prst="rect">
            <a:avLst/>
          </a:prstGeom>
          <a:noFill/>
          <a:ln/>
        </p:spPr>
        <p:txBody>
          <a:bodyPr wrap="square" lIns="0" tIns="0" rIns="0" bIns="0" rtlCol="0" anchor="t">
            <a:normAutofit/>
          </a:bodyPr>
          <a:lstStyle/>
          <a:p>
            <a:pPr algn="ctr" indent="0" marL="0">
              <a:lnSpc>
                <a:spcPct val="92000"/>
              </a:lnSpc>
              <a:buNone/>
            </a:pPr>
            <a:r>
              <a:rPr lang="en-US" sz="940" dirty="0">
                <a:solidFill>
                  <a:srgbClr val="32474D"/>
                </a:solidFill>
                <a:latin typeface="Hiragino Sans GB" pitchFamily="34" charset="0"/>
                <a:ea typeface="Hiragino Sans GB" pitchFamily="34" charset="-122"/>
                <a:cs typeface="Hiragino Sans GB" pitchFamily="34" charset="-120"/>
              </a:rPr>
              <a:t>状态 / 行动 / 转移 / 写回 / 不确定性</a:t>
            </a:r>
            <a:endParaRPr lang="en-US" sz="940" dirty="0"/>
          </a:p>
          <a:p>
            <a:pPr algn="ctr" indent="0" marL="0">
              <a:lnSpc>
                <a:spcPct val="92000"/>
              </a:lnSpc>
              <a:buNone/>
            </a:pPr>
            <a:r>
              <a:rPr lang="en-US" sz="940" dirty="0">
                <a:solidFill>
                  <a:srgbClr val="32474D"/>
                </a:solidFill>
                <a:latin typeface="Hiragino Sans GB" pitchFamily="34" charset="0"/>
                <a:ea typeface="Hiragino Sans GB" pitchFamily="34" charset="-122"/>
                <a:cs typeface="Hiragino Sans GB" pitchFamily="34" charset="-120"/>
              </a:rPr>
              <a:t>证据门控 / 规划闭环 / 领域扩展</a:t>
            </a:r>
            <a:endParaRPr lang="en-US" sz="940" dirty="0"/>
          </a:p>
        </p:txBody>
      </p:sp>
      <p:sp>
        <p:nvSpPr>
          <p:cNvPr id="27" name="Shape 25"/>
          <p:cNvSpPr/>
          <p:nvPr/>
        </p:nvSpPr>
        <p:spPr>
          <a:xfrm>
            <a:off x="7818120" y="1627632"/>
            <a:ext cx="0" cy="4206240"/>
          </a:xfrm>
          <a:prstGeom prst="line">
            <a:avLst/>
          </a:prstGeom>
          <a:noFill/>
          <a:ln w="10160">
            <a:solidFill>
              <a:srgbClr val="D0DBD8"/>
            </a:solidFill>
            <a:prstDash val="solid"/>
          </a:ln>
        </p:spPr>
      </p:sp>
      <p:sp>
        <p:nvSpPr>
          <p:cNvPr id="28" name="Text 26"/>
          <p:cNvSpPr txBox="1"/>
          <p:nvPr/>
        </p:nvSpPr>
        <p:spPr>
          <a:xfrm>
            <a:off x="8119872" y="1536192"/>
            <a:ext cx="3438144" cy="329184"/>
          </a:xfrm>
          <a:prstGeom prst="rect">
            <a:avLst/>
          </a:prstGeom>
          <a:noFill/>
          <a:ln/>
        </p:spPr>
        <p:txBody>
          <a:bodyPr wrap="square" lIns="0" tIns="0" rIns="0" bIns="0" rtlCol="0" anchor="ctr">
            <a:normAutofit/>
          </a:bodyPr>
          <a:lstStyle/>
          <a:p>
            <a:pPr algn="l" indent="0" marL="0">
              <a:lnSpc>
                <a:spcPct val="92000"/>
              </a:lnSpc>
              <a:buNone/>
            </a:pPr>
            <a:r>
              <a:rPr lang="en-US" sz="1500" b="1" dirty="0">
                <a:solidFill>
                  <a:srgbClr val="17252A"/>
                </a:solidFill>
                <a:latin typeface="Hiragino Sans GB" pitchFamily="34" charset="0"/>
                <a:ea typeface="Hiragino Sans GB" pitchFamily="34" charset="-122"/>
                <a:cs typeface="Hiragino Sans GB" pitchFamily="34" charset="-120"/>
              </a:rPr>
              <a:t>Paper58：表征与分配的实验路径</a:t>
            </a:r>
            <a:endParaRPr lang="en-US" sz="1500" dirty="0"/>
          </a:p>
        </p:txBody>
      </p:sp>
      <p:sp>
        <p:nvSpPr>
          <p:cNvPr id="29" name="Shape 27"/>
          <p:cNvSpPr/>
          <p:nvPr/>
        </p:nvSpPr>
        <p:spPr>
          <a:xfrm>
            <a:off x="8119872" y="1993392"/>
            <a:ext cx="3410712" cy="2258568"/>
          </a:xfrm>
          <a:prstGeom prst="roundRect">
            <a:avLst>
              <a:gd name="adj" fmla="val 2024"/>
            </a:avLst>
          </a:prstGeom>
          <a:solidFill>
            <a:srgbClr val="FFFFFF"/>
          </a:solidFill>
          <a:ln w="10160">
            <a:solidFill>
              <a:srgbClr val="D0DBD8"/>
            </a:solidFill>
            <a:prstDash val="solid"/>
          </a:ln>
        </p:spPr>
      </p:sp>
      <p:sp>
        <p:nvSpPr>
          <p:cNvPr id="30" name="Text 28"/>
          <p:cNvSpPr txBox="1"/>
          <p:nvPr/>
        </p:nvSpPr>
        <p:spPr>
          <a:xfrm>
            <a:off x="8348472" y="2221992"/>
            <a:ext cx="2926080" cy="274320"/>
          </a:xfrm>
          <a:prstGeom prst="rect">
            <a:avLst/>
          </a:prstGeom>
          <a:noFill/>
          <a:ln/>
        </p:spPr>
        <p:txBody>
          <a:bodyPr wrap="square" lIns="0" tIns="0" rIns="0" bIns="0" rtlCol="0" anchor="ctr">
            <a:normAutofit/>
          </a:bodyPr>
          <a:lstStyle/>
          <a:p>
            <a:pPr algn="ctr" indent="0" marL="0">
              <a:lnSpc>
                <a:spcPct val="92000"/>
              </a:lnSpc>
              <a:buNone/>
            </a:pPr>
            <a:r>
              <a:rPr lang="en-US" sz="1150" b="1" dirty="0">
                <a:solidFill>
                  <a:srgbClr val="705FA7"/>
                </a:solidFill>
                <a:latin typeface="Hiragino Sans GB" pitchFamily="34" charset="0"/>
                <a:ea typeface="Hiragino Sans GB" pitchFamily="34" charset="-122"/>
                <a:cs typeface="Hiragino Sans GB" pitchFamily="34" charset="-120"/>
              </a:rPr>
              <a:t>GeoFM / AlphaEarth 表征</a:t>
            </a:r>
            <a:endParaRPr lang="en-US" sz="1150" dirty="0"/>
          </a:p>
        </p:txBody>
      </p:sp>
      <p:sp>
        <p:nvSpPr>
          <p:cNvPr id="31" name="Shape 29"/>
          <p:cNvSpPr/>
          <p:nvPr/>
        </p:nvSpPr>
        <p:spPr>
          <a:xfrm>
            <a:off x="9601200" y="2688336"/>
            <a:ext cx="438912" cy="0"/>
          </a:xfrm>
          <a:prstGeom prst="line">
            <a:avLst/>
          </a:prstGeom>
          <a:noFill/>
          <a:ln w="20320">
            <a:solidFill>
              <a:srgbClr val="705FA7"/>
            </a:solidFill>
            <a:prstDash val="solid"/>
            <a:tailEnd type="triangle"/>
          </a:ln>
        </p:spPr>
      </p:sp>
      <p:sp>
        <p:nvSpPr>
          <p:cNvPr id="32" name="Text 30"/>
          <p:cNvSpPr txBox="1"/>
          <p:nvPr/>
        </p:nvSpPr>
        <p:spPr>
          <a:xfrm>
            <a:off x="8348472" y="2834640"/>
            <a:ext cx="2926080" cy="274320"/>
          </a:xfrm>
          <a:prstGeom prst="rect">
            <a:avLst/>
          </a:prstGeom>
          <a:noFill/>
          <a:ln/>
        </p:spPr>
        <p:txBody>
          <a:bodyPr wrap="square" lIns="0" tIns="0" rIns="0" bIns="0" rtlCol="0" anchor="ctr">
            <a:normAutofit/>
          </a:bodyPr>
          <a:lstStyle/>
          <a:p>
            <a:pPr algn="ctr" indent="0" marL="0">
              <a:lnSpc>
                <a:spcPct val="92000"/>
              </a:lnSpc>
              <a:buNone/>
            </a:pPr>
            <a:r>
              <a:rPr lang="en-US" sz="1120" b="1" dirty="0">
                <a:solidFill>
                  <a:srgbClr val="17252A"/>
                </a:solidFill>
                <a:latin typeface="Hiragino Sans GB" pitchFamily="34" charset="0"/>
                <a:ea typeface="Hiragino Sans GB" pitchFamily="34" charset="-122"/>
                <a:cs typeface="Hiragino Sans GB" pitchFamily="34" charset="-120"/>
              </a:rPr>
              <a:t>潜在适宜性 + 历史转移先验</a:t>
            </a:r>
            <a:endParaRPr lang="en-US" sz="1120" dirty="0"/>
          </a:p>
        </p:txBody>
      </p:sp>
      <p:sp>
        <p:nvSpPr>
          <p:cNvPr id="33" name="Shape 31"/>
          <p:cNvSpPr/>
          <p:nvPr/>
        </p:nvSpPr>
        <p:spPr>
          <a:xfrm>
            <a:off x="9601200" y="3300984"/>
            <a:ext cx="438912" cy="0"/>
          </a:xfrm>
          <a:prstGeom prst="line">
            <a:avLst/>
          </a:prstGeom>
          <a:noFill/>
          <a:ln w="20320">
            <a:solidFill>
              <a:srgbClr val="705FA7"/>
            </a:solidFill>
            <a:prstDash val="solid"/>
            <a:tailEnd type="triangle"/>
          </a:ln>
        </p:spPr>
      </p:sp>
      <p:sp>
        <p:nvSpPr>
          <p:cNvPr id="34" name="Text 32"/>
          <p:cNvSpPr txBox="1"/>
          <p:nvPr/>
        </p:nvSpPr>
        <p:spPr>
          <a:xfrm>
            <a:off x="8348472" y="3456432"/>
            <a:ext cx="2926080" cy="274320"/>
          </a:xfrm>
          <a:prstGeom prst="rect">
            <a:avLst/>
          </a:prstGeom>
          <a:noFill/>
          <a:ln/>
        </p:spPr>
        <p:txBody>
          <a:bodyPr wrap="square" lIns="0" tIns="0" rIns="0" bIns="0" rtlCol="0" anchor="ctr">
            <a:normAutofit/>
          </a:bodyPr>
          <a:lstStyle/>
          <a:p>
            <a:pPr algn="ctr" indent="0" marL="0">
              <a:lnSpc>
                <a:spcPct val="92000"/>
              </a:lnSpc>
              <a:buNone/>
            </a:pPr>
            <a:r>
              <a:rPr lang="en-US" sz="1120" b="1" dirty="0">
                <a:solidFill>
                  <a:srgbClr val="17252A"/>
                </a:solidFill>
                <a:latin typeface="Hiragino Sans GB" pitchFamily="34" charset="0"/>
                <a:ea typeface="Hiragino Sans GB" pitchFamily="34" charset="-122"/>
                <a:cs typeface="Hiragino Sans GB" pitchFamily="34" charset="-120"/>
              </a:rPr>
              <a:t>需求约束的空间分配</a:t>
            </a:r>
            <a:endParaRPr lang="en-US" sz="1120" dirty="0"/>
          </a:p>
        </p:txBody>
      </p:sp>
      <p:sp>
        <p:nvSpPr>
          <p:cNvPr id="35" name="Text 33"/>
          <p:cNvSpPr txBox="1"/>
          <p:nvPr/>
        </p:nvSpPr>
        <p:spPr>
          <a:xfrm>
            <a:off x="8394192" y="3858768"/>
            <a:ext cx="2834640" cy="256032"/>
          </a:xfrm>
          <a:prstGeom prst="rect">
            <a:avLst/>
          </a:prstGeom>
          <a:noFill/>
          <a:ln/>
        </p:spPr>
        <p:txBody>
          <a:bodyPr wrap="square" lIns="0" tIns="0" rIns="0" bIns="0" rtlCol="0" anchor="ctr">
            <a:normAutofit/>
          </a:bodyPr>
          <a:lstStyle/>
          <a:p>
            <a:pPr algn="ctr" indent="0" marL="0">
              <a:lnSpc>
                <a:spcPct val="92000"/>
              </a:lnSpc>
              <a:buNone/>
            </a:pPr>
            <a:r>
              <a:rPr lang="en-US" sz="800" dirty="0">
                <a:solidFill>
                  <a:srgbClr val="6C7C80"/>
                </a:solidFill>
                <a:latin typeface="Hiragino Sans GB" pitchFamily="34" charset="0"/>
                <a:ea typeface="Hiragino Sans GB" pitchFamily="34" charset="-122"/>
                <a:cs typeface="Hiragino Sans GB" pitchFamily="34" charset="-120"/>
              </a:rPr>
              <a:t>作用：验证 latent representation + allocation 能否挑战官方 FLUS console 基线</a:t>
            </a:r>
            <a:endParaRPr lang="en-US" sz="800" dirty="0"/>
          </a:p>
        </p:txBody>
      </p:sp>
      <p:sp>
        <p:nvSpPr>
          <p:cNvPr id="36" name="Shape 34"/>
          <p:cNvSpPr/>
          <p:nvPr/>
        </p:nvSpPr>
        <p:spPr>
          <a:xfrm>
            <a:off x="621792" y="5596128"/>
            <a:ext cx="10908792" cy="502920"/>
          </a:xfrm>
          <a:prstGeom prst="roundRect">
            <a:avLst>
              <a:gd name="adj" fmla="val 9091"/>
            </a:avLst>
          </a:prstGeom>
          <a:solidFill>
            <a:srgbClr val="FFF3D9"/>
          </a:solidFill>
          <a:ln w="8890">
            <a:solidFill>
              <a:srgbClr val="B17B20"/>
            </a:solidFill>
            <a:prstDash val="solid"/>
          </a:ln>
        </p:spPr>
      </p:sp>
      <p:sp>
        <p:nvSpPr>
          <p:cNvPr id="37" name="Text 35"/>
          <p:cNvSpPr txBox="1"/>
          <p:nvPr/>
        </p:nvSpPr>
        <p:spPr>
          <a:xfrm>
            <a:off x="832104" y="5696712"/>
            <a:ext cx="10488168" cy="228600"/>
          </a:xfrm>
          <a:prstGeom prst="rect">
            <a:avLst/>
          </a:prstGeom>
          <a:noFill/>
          <a:ln/>
        </p:spPr>
        <p:txBody>
          <a:bodyPr wrap="square" lIns="0" tIns="0" rIns="0" bIns="0" rtlCol="0" anchor="ctr">
            <a:normAutofit/>
          </a:bodyPr>
          <a:lstStyle/>
          <a:p>
            <a:pPr algn="ctr" indent="0" marL="0">
              <a:lnSpc>
                <a:spcPct val="92000"/>
              </a:lnSpc>
              <a:buNone/>
            </a:pPr>
            <a:r>
              <a:rPr lang="en-US" sz="950" b="1" dirty="0">
                <a:solidFill>
                  <a:srgbClr val="17252A"/>
                </a:solidFill>
                <a:latin typeface="Hiragino Sans GB" pitchFamily="34" charset="0"/>
                <a:ea typeface="Hiragino Sans GB" pitchFamily="34" charset="-122"/>
                <a:cs typeface="Hiragino Sans GB" pitchFamily="34" charset="-120"/>
              </a:rPr>
              <a:t>协议要求：固定数据来源、时间切分与评价目标，并分别报告不同内部特征和机制的实验结果。</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阶段性实证</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阶段性实证：变化识别优势与整体一致性差距</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Paper58 与 TWM 100-case 采用不同协议，均显示变化识别潜力，同时暴露空间误报和整体地图保持问题。</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来源：twm-geosos-flus-superiority-analysis-2026-07-02；Paper58 FLUS comparison report</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13 / 29</a:t>
            </a:r>
            <a:endParaRPr lang="en-US" sz="670" dirty="0"/>
          </a:p>
        </p:txBody>
      </p:sp>
      <p:sp>
        <p:nvSpPr>
          <p:cNvPr id="10" name="Text 8"/>
          <p:cNvSpPr txBox="1"/>
          <p:nvPr/>
        </p:nvSpPr>
        <p:spPr>
          <a:xfrm>
            <a:off x="603504" y="1463040"/>
            <a:ext cx="5193792" cy="283464"/>
          </a:xfrm>
          <a:prstGeom prst="rect">
            <a:avLst/>
          </a:prstGeom>
          <a:noFill/>
          <a:ln/>
        </p:spPr>
        <p:txBody>
          <a:bodyPr wrap="square" lIns="0" tIns="0" rIns="0" bIns="0" rtlCol="0" anchor="ctr">
            <a:normAutofit/>
          </a:bodyPr>
          <a:lstStyle/>
          <a:p>
            <a:pPr algn="l" indent="0" marL="0">
              <a:lnSpc>
                <a:spcPct val="92000"/>
              </a:lnSpc>
              <a:buNone/>
            </a:pPr>
            <a:r>
              <a:rPr lang="en-US" sz="1380" b="1" dirty="0">
                <a:solidFill>
                  <a:srgbClr val="17252A"/>
                </a:solidFill>
                <a:latin typeface="Hiragino Sans GB" pitchFamily="34" charset="0"/>
                <a:ea typeface="Hiragino Sans GB" pitchFamily="34" charset="-122"/>
                <a:cs typeface="Hiragino Sans GB" pitchFamily="34" charset="-120"/>
              </a:rPr>
              <a:t>TWM vs 固定 FLUS-console：100-case strict</a:t>
            </a:r>
            <a:endParaRPr lang="en-US" sz="1380" dirty="0"/>
          </a:p>
        </p:txBody>
      </p:sp>
      <p:sp>
        <p:nvSpPr>
          <p:cNvPr id="11" name="Text 9"/>
          <p:cNvSpPr txBox="1"/>
          <p:nvPr/>
        </p:nvSpPr>
        <p:spPr>
          <a:xfrm>
            <a:off x="603504" y="1773936"/>
            <a:ext cx="5193792" cy="182880"/>
          </a:xfrm>
          <a:prstGeom prst="rect">
            <a:avLst/>
          </a:prstGeom>
          <a:noFill/>
          <a:ln/>
        </p:spPr>
        <p:txBody>
          <a:bodyPr wrap="square" lIns="0" tIns="0" rIns="0" bIns="0" rtlCol="0" anchor="ctr">
            <a:normAutofit/>
          </a:bodyPr>
          <a:lstStyle/>
          <a:p>
            <a:pPr algn="l" indent="0" marL="0">
              <a:lnSpc>
                <a:spcPct val="92000"/>
              </a:lnSpc>
              <a:buNone/>
            </a:pPr>
            <a:r>
              <a:rPr lang="en-US" sz="780" dirty="0">
                <a:solidFill>
                  <a:srgbClr val="6C7C80"/>
                </a:solidFill>
                <a:latin typeface="Hiragino Sans GB" pitchFamily="34" charset="0"/>
                <a:ea typeface="Hiragino Sans GB" pitchFamily="34" charset="-122"/>
                <a:cs typeface="Hiragino Sans GB" pitchFamily="34" charset="-120"/>
              </a:rPr>
              <a:t>横轴为 TWM - FLUS；右侧更好，左侧更差</a:t>
            </a:r>
            <a:endParaRPr lang="en-US" sz="780" dirty="0"/>
          </a:p>
        </p:txBody>
      </p:sp>
      <p:sp>
        <p:nvSpPr>
          <p:cNvPr id="12" name="Shape 10"/>
          <p:cNvSpPr/>
          <p:nvPr/>
        </p:nvSpPr>
        <p:spPr>
          <a:xfrm>
            <a:off x="3154680" y="2103120"/>
            <a:ext cx="0" cy="2404872"/>
          </a:xfrm>
          <a:prstGeom prst="line">
            <a:avLst/>
          </a:prstGeom>
          <a:noFill/>
          <a:ln w="12700">
            <a:solidFill>
              <a:srgbClr val="6C7C80"/>
            </a:solidFill>
            <a:prstDash val="dash"/>
          </a:ln>
        </p:spPr>
      </p:sp>
      <p:sp>
        <p:nvSpPr>
          <p:cNvPr id="13" name="Text 11"/>
          <p:cNvSpPr txBox="1"/>
          <p:nvPr/>
        </p:nvSpPr>
        <p:spPr>
          <a:xfrm>
            <a:off x="1773936" y="4572000"/>
            <a:ext cx="411480" cy="146304"/>
          </a:xfrm>
          <a:prstGeom prst="rect">
            <a:avLst/>
          </a:prstGeom>
          <a:noFill/>
          <a:ln/>
        </p:spPr>
        <p:txBody>
          <a:bodyPr wrap="square" lIns="0" tIns="0" rIns="0" bIns="0" rtlCol="0" anchor="ctr">
            <a:normAutofit/>
          </a:bodyPr>
          <a:lstStyle/>
          <a:p>
            <a:pPr algn="ctr" indent="0" marL="0">
              <a:lnSpc>
                <a:spcPct val="92000"/>
              </a:lnSpc>
              <a:buNone/>
            </a:pPr>
            <a:r>
              <a:rPr lang="en-US" sz="670" dirty="0">
                <a:solidFill>
                  <a:srgbClr val="6C7C80"/>
                </a:solidFill>
                <a:latin typeface="Arial" pitchFamily="34" charset="0"/>
                <a:ea typeface="Arial" pitchFamily="34" charset="-122"/>
                <a:cs typeface="Arial" pitchFamily="34" charset="-120"/>
              </a:rPr>
              <a:t>-0.08</a:t>
            </a:r>
            <a:endParaRPr lang="en-US" sz="670" dirty="0"/>
          </a:p>
        </p:txBody>
      </p:sp>
      <p:sp>
        <p:nvSpPr>
          <p:cNvPr id="14" name="Text 12"/>
          <p:cNvSpPr txBox="1"/>
          <p:nvPr/>
        </p:nvSpPr>
        <p:spPr>
          <a:xfrm>
            <a:off x="3044952" y="4572000"/>
            <a:ext cx="219456" cy="146304"/>
          </a:xfrm>
          <a:prstGeom prst="rect">
            <a:avLst/>
          </a:prstGeom>
          <a:noFill/>
          <a:ln/>
        </p:spPr>
        <p:txBody>
          <a:bodyPr wrap="square" lIns="0" tIns="0" rIns="0" bIns="0" rtlCol="0" anchor="ctr">
            <a:normAutofit/>
          </a:bodyPr>
          <a:lstStyle/>
          <a:p>
            <a:pPr algn="ctr" indent="0" marL="0">
              <a:lnSpc>
                <a:spcPct val="92000"/>
              </a:lnSpc>
              <a:buNone/>
            </a:pPr>
            <a:r>
              <a:rPr lang="en-US" sz="670" dirty="0">
                <a:solidFill>
                  <a:srgbClr val="6C7C80"/>
                </a:solidFill>
                <a:latin typeface="Arial" pitchFamily="34" charset="0"/>
                <a:ea typeface="Arial" pitchFamily="34" charset="-122"/>
                <a:cs typeface="Arial" pitchFamily="34" charset="-120"/>
              </a:rPr>
              <a:t>0</a:t>
            </a:r>
            <a:endParaRPr lang="en-US" sz="670" dirty="0"/>
          </a:p>
        </p:txBody>
      </p:sp>
      <p:sp>
        <p:nvSpPr>
          <p:cNvPr id="15" name="Text 13"/>
          <p:cNvSpPr txBox="1"/>
          <p:nvPr/>
        </p:nvSpPr>
        <p:spPr>
          <a:xfrm>
            <a:off x="4434840" y="4572000"/>
            <a:ext cx="502920" cy="146304"/>
          </a:xfrm>
          <a:prstGeom prst="rect">
            <a:avLst/>
          </a:prstGeom>
          <a:noFill/>
          <a:ln/>
        </p:spPr>
        <p:txBody>
          <a:bodyPr wrap="square" lIns="0" tIns="0" rIns="0" bIns="0" rtlCol="0" anchor="ctr">
            <a:normAutofit/>
          </a:bodyPr>
          <a:lstStyle/>
          <a:p>
            <a:pPr algn="ctr" indent="0" marL="0">
              <a:lnSpc>
                <a:spcPct val="92000"/>
              </a:lnSpc>
              <a:buNone/>
            </a:pPr>
            <a:r>
              <a:rPr lang="en-US" sz="670" dirty="0">
                <a:solidFill>
                  <a:srgbClr val="6C7C80"/>
                </a:solidFill>
                <a:latin typeface="Arial" pitchFamily="34" charset="0"/>
                <a:ea typeface="Arial" pitchFamily="34" charset="-122"/>
                <a:cs typeface="Arial" pitchFamily="34" charset="-120"/>
              </a:rPr>
              <a:t>+0.08</a:t>
            </a:r>
            <a:endParaRPr lang="en-US" sz="670" dirty="0"/>
          </a:p>
        </p:txBody>
      </p:sp>
      <p:sp>
        <p:nvSpPr>
          <p:cNvPr id="16" name="Text 14"/>
          <p:cNvSpPr txBox="1"/>
          <p:nvPr/>
        </p:nvSpPr>
        <p:spPr>
          <a:xfrm>
            <a:off x="658368" y="2157984"/>
            <a:ext cx="1325880" cy="219456"/>
          </a:xfrm>
          <a:prstGeom prst="rect">
            <a:avLst/>
          </a:prstGeom>
          <a:noFill/>
          <a:ln/>
        </p:spPr>
        <p:txBody>
          <a:bodyPr wrap="square" lIns="0" tIns="0" rIns="0" bIns="0" rtlCol="0" anchor="ctr">
            <a:normAutofit/>
          </a:bodyPr>
          <a:lstStyle/>
          <a:p>
            <a:pPr algn="l" indent="0" marL="0">
              <a:lnSpc>
                <a:spcPct val="92000"/>
              </a:lnSpc>
              <a:buNone/>
            </a:pPr>
            <a:r>
              <a:rPr lang="en-US" sz="860" b="1" dirty="0">
                <a:solidFill>
                  <a:srgbClr val="32474D"/>
                </a:solidFill>
                <a:latin typeface="Hiragino Sans GB" pitchFamily="34" charset="0"/>
                <a:ea typeface="Hiragino Sans GB" pitchFamily="34" charset="-122"/>
                <a:cs typeface="Hiragino Sans GB" pitchFamily="34" charset="-120"/>
              </a:rPr>
              <a:t>Change F1</a:t>
            </a:r>
            <a:endParaRPr lang="en-US" sz="860" dirty="0"/>
          </a:p>
        </p:txBody>
      </p:sp>
      <p:sp>
        <p:nvSpPr>
          <p:cNvPr id="17" name="Shape 15"/>
          <p:cNvSpPr/>
          <p:nvPr/>
        </p:nvSpPr>
        <p:spPr>
          <a:xfrm>
            <a:off x="3154680" y="2189988"/>
            <a:ext cx="1164123" cy="164592"/>
          </a:xfrm>
          <a:prstGeom prst="rect">
            <a:avLst/>
          </a:prstGeom>
          <a:solidFill>
            <a:srgbClr val="137F7A"/>
          </a:solidFill>
          <a:ln w="12700">
            <a:solidFill>
              <a:srgbClr val="137F7A"/>
            </a:solidFill>
            <a:prstDash val="solid"/>
          </a:ln>
        </p:spPr>
      </p:sp>
      <p:sp>
        <p:nvSpPr>
          <p:cNvPr id="18" name="Text 16"/>
          <p:cNvSpPr txBox="1"/>
          <p:nvPr/>
        </p:nvSpPr>
        <p:spPr>
          <a:xfrm>
            <a:off x="4364523" y="2157984"/>
            <a:ext cx="493776" cy="219456"/>
          </a:xfrm>
          <a:prstGeom prst="rect">
            <a:avLst/>
          </a:prstGeom>
          <a:noFill/>
          <a:ln/>
        </p:spPr>
        <p:txBody>
          <a:bodyPr wrap="square" lIns="0" tIns="0" rIns="0" bIns="0" rtlCol="0" anchor="ctr">
            <a:normAutofit/>
          </a:bodyPr>
          <a:lstStyle/>
          <a:p>
            <a:pPr algn="l" indent="0" marL="0">
              <a:lnSpc>
                <a:spcPct val="92000"/>
              </a:lnSpc>
              <a:buNone/>
            </a:pPr>
            <a:r>
              <a:rPr lang="en-US" sz="740" b="1" dirty="0">
                <a:solidFill>
                  <a:srgbClr val="0E5C59"/>
                </a:solidFill>
                <a:latin typeface="Arial" pitchFamily="34" charset="0"/>
                <a:ea typeface="Arial" pitchFamily="34" charset="-122"/>
                <a:cs typeface="Arial" pitchFamily="34" charset="-120"/>
              </a:rPr>
              <a:t>+0.070</a:t>
            </a:r>
            <a:endParaRPr lang="en-US" sz="740" dirty="0"/>
          </a:p>
        </p:txBody>
      </p:sp>
      <p:sp>
        <p:nvSpPr>
          <p:cNvPr id="19" name="Text 17"/>
          <p:cNvSpPr txBox="1"/>
          <p:nvPr/>
        </p:nvSpPr>
        <p:spPr>
          <a:xfrm>
            <a:off x="4535424" y="2157984"/>
            <a:ext cx="1161288" cy="219456"/>
          </a:xfrm>
          <a:prstGeom prst="rect">
            <a:avLst/>
          </a:prstGeom>
          <a:noFill/>
          <a:ln/>
        </p:spPr>
        <p:txBody>
          <a:bodyPr wrap="square" lIns="0" tIns="0" rIns="0" bIns="0" rtlCol="0" anchor="ctr">
            <a:normAutofit/>
          </a:bodyPr>
          <a:lstStyle/>
          <a:p>
            <a:pPr algn="r" indent="0" marL="0">
              <a:lnSpc>
                <a:spcPct val="92000"/>
              </a:lnSpc>
              <a:buNone/>
            </a:pPr>
            <a:r>
              <a:rPr lang="en-US" sz="660" dirty="0">
                <a:solidFill>
                  <a:srgbClr val="6C7C80"/>
                </a:solidFill>
                <a:latin typeface="Arial" pitchFamily="34" charset="0"/>
                <a:ea typeface="Arial" pitchFamily="34" charset="-122"/>
                <a:cs typeface="Arial" pitchFamily="34" charset="-120"/>
              </a:rPr>
              <a:t>TWM 0.325  |  FLUS 0.254</a:t>
            </a:r>
            <a:endParaRPr lang="en-US" sz="660" dirty="0"/>
          </a:p>
        </p:txBody>
      </p:sp>
      <p:sp>
        <p:nvSpPr>
          <p:cNvPr id="20" name="Text 18"/>
          <p:cNvSpPr txBox="1"/>
          <p:nvPr/>
        </p:nvSpPr>
        <p:spPr>
          <a:xfrm>
            <a:off x="658368" y="2615184"/>
            <a:ext cx="1325880" cy="219456"/>
          </a:xfrm>
          <a:prstGeom prst="rect">
            <a:avLst/>
          </a:prstGeom>
          <a:noFill/>
          <a:ln/>
        </p:spPr>
        <p:txBody>
          <a:bodyPr wrap="square" lIns="0" tIns="0" rIns="0" bIns="0" rtlCol="0" anchor="ctr">
            <a:normAutofit/>
          </a:bodyPr>
          <a:lstStyle/>
          <a:p>
            <a:pPr algn="l" indent="0" marL="0">
              <a:lnSpc>
                <a:spcPct val="92000"/>
              </a:lnSpc>
              <a:buNone/>
            </a:pPr>
            <a:r>
              <a:rPr lang="en-US" sz="860" b="1" dirty="0">
                <a:solidFill>
                  <a:srgbClr val="32474D"/>
                </a:solidFill>
                <a:latin typeface="Hiragino Sans GB" pitchFamily="34" charset="0"/>
                <a:ea typeface="Hiragino Sans GB" pitchFamily="34" charset="-122"/>
                <a:cs typeface="Hiragino Sans GB" pitchFamily="34" charset="-120"/>
              </a:rPr>
              <a:t>Change FoM</a:t>
            </a:r>
            <a:endParaRPr lang="en-US" sz="860" dirty="0"/>
          </a:p>
        </p:txBody>
      </p:sp>
      <p:sp>
        <p:nvSpPr>
          <p:cNvPr id="21" name="Shape 19"/>
          <p:cNvSpPr/>
          <p:nvPr/>
        </p:nvSpPr>
        <p:spPr>
          <a:xfrm>
            <a:off x="3154680" y="2647188"/>
            <a:ext cx="740951" cy="164592"/>
          </a:xfrm>
          <a:prstGeom prst="rect">
            <a:avLst/>
          </a:prstGeom>
          <a:solidFill>
            <a:srgbClr val="137F7A"/>
          </a:solidFill>
          <a:ln w="12700">
            <a:solidFill>
              <a:srgbClr val="137F7A"/>
            </a:solidFill>
            <a:prstDash val="solid"/>
          </a:ln>
        </p:spPr>
      </p:sp>
      <p:sp>
        <p:nvSpPr>
          <p:cNvPr id="22" name="Text 20"/>
          <p:cNvSpPr txBox="1"/>
          <p:nvPr/>
        </p:nvSpPr>
        <p:spPr>
          <a:xfrm>
            <a:off x="3941351" y="2615184"/>
            <a:ext cx="493776" cy="219456"/>
          </a:xfrm>
          <a:prstGeom prst="rect">
            <a:avLst/>
          </a:prstGeom>
          <a:noFill/>
          <a:ln/>
        </p:spPr>
        <p:txBody>
          <a:bodyPr wrap="square" lIns="0" tIns="0" rIns="0" bIns="0" rtlCol="0" anchor="ctr">
            <a:normAutofit/>
          </a:bodyPr>
          <a:lstStyle/>
          <a:p>
            <a:pPr algn="l" indent="0" marL="0">
              <a:lnSpc>
                <a:spcPct val="92000"/>
              </a:lnSpc>
              <a:buNone/>
            </a:pPr>
            <a:r>
              <a:rPr lang="en-US" sz="740" b="1" dirty="0">
                <a:solidFill>
                  <a:srgbClr val="0E5C59"/>
                </a:solidFill>
                <a:latin typeface="Arial" pitchFamily="34" charset="0"/>
                <a:ea typeface="Arial" pitchFamily="34" charset="-122"/>
                <a:cs typeface="Arial" pitchFamily="34" charset="-120"/>
              </a:rPr>
              <a:t>+0.045</a:t>
            </a:r>
            <a:endParaRPr lang="en-US" sz="740" dirty="0"/>
          </a:p>
        </p:txBody>
      </p:sp>
      <p:sp>
        <p:nvSpPr>
          <p:cNvPr id="23" name="Text 21"/>
          <p:cNvSpPr txBox="1"/>
          <p:nvPr/>
        </p:nvSpPr>
        <p:spPr>
          <a:xfrm>
            <a:off x="4535424" y="2615184"/>
            <a:ext cx="1161288" cy="219456"/>
          </a:xfrm>
          <a:prstGeom prst="rect">
            <a:avLst/>
          </a:prstGeom>
          <a:noFill/>
          <a:ln/>
        </p:spPr>
        <p:txBody>
          <a:bodyPr wrap="square" lIns="0" tIns="0" rIns="0" bIns="0" rtlCol="0" anchor="ctr">
            <a:normAutofit/>
          </a:bodyPr>
          <a:lstStyle/>
          <a:p>
            <a:pPr algn="r" indent="0" marL="0">
              <a:lnSpc>
                <a:spcPct val="92000"/>
              </a:lnSpc>
              <a:buNone/>
            </a:pPr>
            <a:r>
              <a:rPr lang="en-US" sz="660" dirty="0">
                <a:solidFill>
                  <a:srgbClr val="6C7C80"/>
                </a:solidFill>
                <a:latin typeface="Arial" pitchFamily="34" charset="0"/>
                <a:ea typeface="Arial" pitchFamily="34" charset="-122"/>
                <a:cs typeface="Arial" pitchFamily="34" charset="-120"/>
              </a:rPr>
              <a:t>TWM 0.196  |  FLUS 0.151</a:t>
            </a:r>
            <a:endParaRPr lang="en-US" sz="660" dirty="0"/>
          </a:p>
        </p:txBody>
      </p:sp>
      <p:sp>
        <p:nvSpPr>
          <p:cNvPr id="24" name="Text 22"/>
          <p:cNvSpPr txBox="1"/>
          <p:nvPr/>
        </p:nvSpPr>
        <p:spPr>
          <a:xfrm>
            <a:off x="658368" y="3072384"/>
            <a:ext cx="1325880" cy="219456"/>
          </a:xfrm>
          <a:prstGeom prst="rect">
            <a:avLst/>
          </a:prstGeom>
          <a:noFill/>
          <a:ln/>
        </p:spPr>
        <p:txBody>
          <a:bodyPr wrap="square" lIns="0" tIns="0" rIns="0" bIns="0" rtlCol="0" anchor="ctr">
            <a:normAutofit/>
          </a:bodyPr>
          <a:lstStyle/>
          <a:p>
            <a:pPr algn="l" indent="0" marL="0">
              <a:lnSpc>
                <a:spcPct val="92000"/>
              </a:lnSpc>
              <a:buNone/>
            </a:pPr>
            <a:r>
              <a:rPr lang="en-US" sz="860" b="1" dirty="0">
                <a:solidFill>
                  <a:srgbClr val="32474D"/>
                </a:solidFill>
                <a:latin typeface="Hiragino Sans GB" pitchFamily="34" charset="0"/>
                <a:ea typeface="Hiragino Sans GB" pitchFamily="34" charset="-122"/>
                <a:cs typeface="Hiragino Sans GB" pitchFamily="34" charset="-120"/>
              </a:rPr>
              <a:t>Overall Accuracy</a:t>
            </a:r>
            <a:endParaRPr lang="en-US" sz="860" dirty="0"/>
          </a:p>
        </p:txBody>
      </p:sp>
      <p:sp>
        <p:nvSpPr>
          <p:cNvPr id="25" name="Shape 23"/>
          <p:cNvSpPr/>
          <p:nvPr/>
        </p:nvSpPr>
        <p:spPr>
          <a:xfrm>
            <a:off x="2866318" y="3104388"/>
            <a:ext cx="288362" cy="164592"/>
          </a:xfrm>
          <a:prstGeom prst="rect">
            <a:avLst/>
          </a:prstGeom>
          <a:solidFill>
            <a:srgbClr val="B04A50"/>
          </a:solidFill>
          <a:ln w="12700">
            <a:solidFill>
              <a:srgbClr val="B04A50"/>
            </a:solidFill>
            <a:prstDash val="solid"/>
          </a:ln>
        </p:spPr>
      </p:sp>
      <p:sp>
        <p:nvSpPr>
          <p:cNvPr id="26" name="Text 24"/>
          <p:cNvSpPr txBox="1"/>
          <p:nvPr/>
        </p:nvSpPr>
        <p:spPr>
          <a:xfrm>
            <a:off x="2335966" y="3072384"/>
            <a:ext cx="493776" cy="219456"/>
          </a:xfrm>
          <a:prstGeom prst="rect">
            <a:avLst/>
          </a:prstGeom>
          <a:noFill/>
          <a:ln/>
        </p:spPr>
        <p:txBody>
          <a:bodyPr wrap="square" lIns="0" tIns="0" rIns="0" bIns="0" rtlCol="0" anchor="ctr">
            <a:normAutofit/>
          </a:bodyPr>
          <a:lstStyle/>
          <a:p>
            <a:pPr algn="r" indent="0" marL="0">
              <a:lnSpc>
                <a:spcPct val="92000"/>
              </a:lnSpc>
              <a:buNone/>
            </a:pPr>
            <a:r>
              <a:rPr lang="en-US" sz="740" b="1" dirty="0">
                <a:solidFill>
                  <a:srgbClr val="B04A50"/>
                </a:solidFill>
                <a:latin typeface="Arial" pitchFamily="34" charset="0"/>
                <a:ea typeface="Arial" pitchFamily="34" charset="-122"/>
                <a:cs typeface="Arial" pitchFamily="34" charset="-120"/>
              </a:rPr>
              <a:t>-0.017</a:t>
            </a:r>
            <a:endParaRPr lang="en-US" sz="740" dirty="0"/>
          </a:p>
        </p:txBody>
      </p:sp>
      <p:sp>
        <p:nvSpPr>
          <p:cNvPr id="27" name="Text 25"/>
          <p:cNvSpPr txBox="1"/>
          <p:nvPr/>
        </p:nvSpPr>
        <p:spPr>
          <a:xfrm>
            <a:off x="4535424" y="3072384"/>
            <a:ext cx="1161288" cy="219456"/>
          </a:xfrm>
          <a:prstGeom prst="rect">
            <a:avLst/>
          </a:prstGeom>
          <a:noFill/>
          <a:ln/>
        </p:spPr>
        <p:txBody>
          <a:bodyPr wrap="square" lIns="0" tIns="0" rIns="0" bIns="0" rtlCol="0" anchor="ctr">
            <a:normAutofit/>
          </a:bodyPr>
          <a:lstStyle/>
          <a:p>
            <a:pPr algn="r" indent="0" marL="0">
              <a:lnSpc>
                <a:spcPct val="92000"/>
              </a:lnSpc>
              <a:buNone/>
            </a:pPr>
            <a:r>
              <a:rPr lang="en-US" sz="660" dirty="0">
                <a:solidFill>
                  <a:srgbClr val="6C7C80"/>
                </a:solidFill>
                <a:latin typeface="Arial" pitchFamily="34" charset="0"/>
                <a:ea typeface="Arial" pitchFamily="34" charset="-122"/>
                <a:cs typeface="Arial" pitchFamily="34" charset="-120"/>
              </a:rPr>
              <a:t>TWM 0.901  |  FLUS 0.918</a:t>
            </a:r>
            <a:endParaRPr lang="en-US" sz="660" dirty="0"/>
          </a:p>
        </p:txBody>
      </p:sp>
      <p:sp>
        <p:nvSpPr>
          <p:cNvPr id="28" name="Text 26"/>
          <p:cNvSpPr txBox="1"/>
          <p:nvPr/>
        </p:nvSpPr>
        <p:spPr>
          <a:xfrm>
            <a:off x="658368" y="3529584"/>
            <a:ext cx="1325880" cy="219456"/>
          </a:xfrm>
          <a:prstGeom prst="rect">
            <a:avLst/>
          </a:prstGeom>
          <a:noFill/>
          <a:ln/>
        </p:spPr>
        <p:txBody>
          <a:bodyPr wrap="square" lIns="0" tIns="0" rIns="0" bIns="0" rtlCol="0" anchor="ctr">
            <a:normAutofit/>
          </a:bodyPr>
          <a:lstStyle/>
          <a:p>
            <a:pPr algn="l" indent="0" marL="0">
              <a:lnSpc>
                <a:spcPct val="92000"/>
              </a:lnSpc>
              <a:buNone/>
            </a:pPr>
            <a:r>
              <a:rPr lang="en-US" sz="860" b="1" dirty="0">
                <a:solidFill>
                  <a:srgbClr val="32474D"/>
                </a:solidFill>
                <a:latin typeface="Hiragino Sans GB" pitchFamily="34" charset="0"/>
                <a:ea typeface="Hiragino Sans GB" pitchFamily="34" charset="-122"/>
                <a:cs typeface="Hiragino Sans GB" pitchFamily="34" charset="-120"/>
              </a:rPr>
              <a:t>Kappa</a:t>
            </a:r>
            <a:endParaRPr lang="en-US" sz="860" dirty="0"/>
          </a:p>
        </p:txBody>
      </p:sp>
      <p:sp>
        <p:nvSpPr>
          <p:cNvPr id="29" name="Shape 27"/>
          <p:cNvSpPr/>
          <p:nvPr/>
        </p:nvSpPr>
        <p:spPr>
          <a:xfrm>
            <a:off x="2495452" y="3561588"/>
            <a:ext cx="659228" cy="164592"/>
          </a:xfrm>
          <a:prstGeom prst="rect">
            <a:avLst/>
          </a:prstGeom>
          <a:solidFill>
            <a:srgbClr val="B04A50"/>
          </a:solidFill>
          <a:ln w="12700">
            <a:solidFill>
              <a:srgbClr val="B04A50"/>
            </a:solidFill>
            <a:prstDash val="solid"/>
          </a:ln>
        </p:spPr>
      </p:sp>
      <p:sp>
        <p:nvSpPr>
          <p:cNvPr id="30" name="Text 28"/>
          <p:cNvSpPr txBox="1"/>
          <p:nvPr/>
        </p:nvSpPr>
        <p:spPr>
          <a:xfrm>
            <a:off x="1965100" y="3529584"/>
            <a:ext cx="493776" cy="219456"/>
          </a:xfrm>
          <a:prstGeom prst="rect">
            <a:avLst/>
          </a:prstGeom>
          <a:noFill/>
          <a:ln/>
        </p:spPr>
        <p:txBody>
          <a:bodyPr wrap="square" lIns="0" tIns="0" rIns="0" bIns="0" rtlCol="0" anchor="ctr">
            <a:normAutofit/>
          </a:bodyPr>
          <a:lstStyle/>
          <a:p>
            <a:pPr algn="r" indent="0" marL="0">
              <a:lnSpc>
                <a:spcPct val="92000"/>
              </a:lnSpc>
              <a:buNone/>
            </a:pPr>
            <a:r>
              <a:rPr lang="en-US" sz="740" b="1" dirty="0">
                <a:solidFill>
                  <a:srgbClr val="B04A50"/>
                </a:solidFill>
                <a:latin typeface="Arial" pitchFamily="34" charset="0"/>
                <a:ea typeface="Arial" pitchFamily="34" charset="-122"/>
                <a:cs typeface="Arial" pitchFamily="34" charset="-120"/>
              </a:rPr>
              <a:t>-0.040</a:t>
            </a:r>
            <a:endParaRPr lang="en-US" sz="740" dirty="0"/>
          </a:p>
        </p:txBody>
      </p:sp>
      <p:sp>
        <p:nvSpPr>
          <p:cNvPr id="31" name="Text 29"/>
          <p:cNvSpPr txBox="1"/>
          <p:nvPr/>
        </p:nvSpPr>
        <p:spPr>
          <a:xfrm>
            <a:off x="4535424" y="3529584"/>
            <a:ext cx="1161288" cy="219456"/>
          </a:xfrm>
          <a:prstGeom prst="rect">
            <a:avLst/>
          </a:prstGeom>
          <a:noFill/>
          <a:ln/>
        </p:spPr>
        <p:txBody>
          <a:bodyPr wrap="square" lIns="0" tIns="0" rIns="0" bIns="0" rtlCol="0" anchor="ctr">
            <a:normAutofit/>
          </a:bodyPr>
          <a:lstStyle/>
          <a:p>
            <a:pPr algn="r" indent="0" marL="0">
              <a:lnSpc>
                <a:spcPct val="92000"/>
              </a:lnSpc>
              <a:buNone/>
            </a:pPr>
            <a:r>
              <a:rPr lang="en-US" sz="660" dirty="0">
                <a:solidFill>
                  <a:srgbClr val="6C7C80"/>
                </a:solidFill>
                <a:latin typeface="Arial" pitchFamily="34" charset="0"/>
                <a:ea typeface="Arial" pitchFamily="34" charset="-122"/>
                <a:cs typeface="Arial" pitchFamily="34" charset="-120"/>
              </a:rPr>
              <a:t>TWM 0.771  |  FLUS 0.810</a:t>
            </a:r>
            <a:endParaRPr lang="en-US" sz="660" dirty="0"/>
          </a:p>
        </p:txBody>
      </p:sp>
      <p:sp>
        <p:nvSpPr>
          <p:cNvPr id="32" name="Text 30"/>
          <p:cNvSpPr txBox="1"/>
          <p:nvPr/>
        </p:nvSpPr>
        <p:spPr>
          <a:xfrm>
            <a:off x="658368" y="3986784"/>
            <a:ext cx="1325880" cy="219456"/>
          </a:xfrm>
          <a:prstGeom prst="rect">
            <a:avLst/>
          </a:prstGeom>
          <a:noFill/>
          <a:ln/>
        </p:spPr>
        <p:txBody>
          <a:bodyPr wrap="square" lIns="0" tIns="0" rIns="0" bIns="0" rtlCol="0" anchor="ctr">
            <a:normAutofit/>
          </a:bodyPr>
          <a:lstStyle/>
          <a:p>
            <a:pPr algn="l" indent="0" marL="0">
              <a:lnSpc>
                <a:spcPct val="92000"/>
              </a:lnSpc>
              <a:buNone/>
            </a:pPr>
            <a:r>
              <a:rPr lang="en-US" sz="860" b="1" dirty="0">
                <a:solidFill>
                  <a:srgbClr val="32474D"/>
                </a:solidFill>
                <a:latin typeface="Hiragino Sans GB" pitchFamily="34" charset="0"/>
                <a:ea typeface="Hiragino Sans GB" pitchFamily="34" charset="-122"/>
                <a:cs typeface="Hiragino Sans GB" pitchFamily="34" charset="-120"/>
              </a:rPr>
              <a:t>Macro-F1</a:t>
            </a:r>
            <a:endParaRPr lang="en-US" sz="860" dirty="0"/>
          </a:p>
        </p:txBody>
      </p:sp>
      <p:sp>
        <p:nvSpPr>
          <p:cNvPr id="33" name="Shape 31"/>
          <p:cNvSpPr/>
          <p:nvPr/>
        </p:nvSpPr>
        <p:spPr>
          <a:xfrm>
            <a:off x="2809106" y="4018788"/>
            <a:ext cx="345574" cy="164592"/>
          </a:xfrm>
          <a:prstGeom prst="rect">
            <a:avLst/>
          </a:prstGeom>
          <a:solidFill>
            <a:srgbClr val="B04A50"/>
          </a:solidFill>
          <a:ln w="12700">
            <a:solidFill>
              <a:srgbClr val="B04A50"/>
            </a:solidFill>
            <a:prstDash val="solid"/>
          </a:ln>
        </p:spPr>
      </p:sp>
      <p:sp>
        <p:nvSpPr>
          <p:cNvPr id="34" name="Text 32"/>
          <p:cNvSpPr txBox="1"/>
          <p:nvPr/>
        </p:nvSpPr>
        <p:spPr>
          <a:xfrm>
            <a:off x="2278754" y="3986784"/>
            <a:ext cx="493776" cy="219456"/>
          </a:xfrm>
          <a:prstGeom prst="rect">
            <a:avLst/>
          </a:prstGeom>
          <a:noFill/>
          <a:ln/>
        </p:spPr>
        <p:txBody>
          <a:bodyPr wrap="square" lIns="0" tIns="0" rIns="0" bIns="0" rtlCol="0" anchor="ctr">
            <a:normAutofit/>
          </a:bodyPr>
          <a:lstStyle/>
          <a:p>
            <a:pPr algn="r" indent="0" marL="0">
              <a:lnSpc>
                <a:spcPct val="92000"/>
              </a:lnSpc>
              <a:buNone/>
            </a:pPr>
            <a:r>
              <a:rPr lang="en-US" sz="740" b="1" dirty="0">
                <a:solidFill>
                  <a:srgbClr val="B04A50"/>
                </a:solidFill>
                <a:latin typeface="Arial" pitchFamily="34" charset="0"/>
                <a:ea typeface="Arial" pitchFamily="34" charset="-122"/>
                <a:cs typeface="Arial" pitchFamily="34" charset="-120"/>
              </a:rPr>
              <a:t>-0.021</a:t>
            </a:r>
            <a:endParaRPr lang="en-US" sz="740" dirty="0"/>
          </a:p>
        </p:txBody>
      </p:sp>
      <p:sp>
        <p:nvSpPr>
          <p:cNvPr id="35" name="Text 33"/>
          <p:cNvSpPr txBox="1"/>
          <p:nvPr/>
        </p:nvSpPr>
        <p:spPr>
          <a:xfrm>
            <a:off x="4535424" y="3986784"/>
            <a:ext cx="1161288" cy="219456"/>
          </a:xfrm>
          <a:prstGeom prst="rect">
            <a:avLst/>
          </a:prstGeom>
          <a:noFill/>
          <a:ln/>
        </p:spPr>
        <p:txBody>
          <a:bodyPr wrap="square" lIns="0" tIns="0" rIns="0" bIns="0" rtlCol="0" anchor="ctr">
            <a:normAutofit/>
          </a:bodyPr>
          <a:lstStyle/>
          <a:p>
            <a:pPr algn="r" indent="0" marL="0">
              <a:lnSpc>
                <a:spcPct val="92000"/>
              </a:lnSpc>
              <a:buNone/>
            </a:pPr>
            <a:r>
              <a:rPr lang="en-US" sz="660" dirty="0">
                <a:solidFill>
                  <a:srgbClr val="6C7C80"/>
                </a:solidFill>
                <a:latin typeface="Arial" pitchFamily="34" charset="0"/>
                <a:ea typeface="Arial" pitchFamily="34" charset="-122"/>
                <a:cs typeface="Arial" pitchFamily="34" charset="-120"/>
              </a:rPr>
              <a:t>TWM 0.485  |  FLUS 0.506</a:t>
            </a:r>
            <a:endParaRPr lang="en-US" sz="660" dirty="0"/>
          </a:p>
        </p:txBody>
      </p:sp>
      <p:sp>
        <p:nvSpPr>
          <p:cNvPr id="36" name="Shape 34"/>
          <p:cNvSpPr/>
          <p:nvPr/>
        </p:nvSpPr>
        <p:spPr>
          <a:xfrm>
            <a:off x="6016752" y="1527048"/>
            <a:ext cx="0" cy="3410712"/>
          </a:xfrm>
          <a:prstGeom prst="line">
            <a:avLst/>
          </a:prstGeom>
          <a:noFill/>
          <a:ln w="10160">
            <a:solidFill>
              <a:srgbClr val="D0DBD8"/>
            </a:solidFill>
            <a:prstDash val="solid"/>
          </a:ln>
        </p:spPr>
      </p:sp>
      <p:sp>
        <p:nvSpPr>
          <p:cNvPr id="37" name="Text 35"/>
          <p:cNvSpPr txBox="1"/>
          <p:nvPr/>
        </p:nvSpPr>
        <p:spPr>
          <a:xfrm>
            <a:off x="6327648" y="1463040"/>
            <a:ext cx="5184648" cy="283464"/>
          </a:xfrm>
          <a:prstGeom prst="rect">
            <a:avLst/>
          </a:prstGeom>
          <a:noFill/>
          <a:ln/>
        </p:spPr>
        <p:txBody>
          <a:bodyPr wrap="square" lIns="0" tIns="0" rIns="0" bIns="0" rtlCol="0" anchor="ctr">
            <a:normAutofit/>
          </a:bodyPr>
          <a:lstStyle/>
          <a:p>
            <a:pPr algn="l" indent="0" marL="0">
              <a:lnSpc>
                <a:spcPct val="92000"/>
              </a:lnSpc>
              <a:buNone/>
            </a:pPr>
            <a:r>
              <a:rPr lang="en-US" sz="1380" b="1" dirty="0">
                <a:solidFill>
                  <a:srgbClr val="17252A"/>
                </a:solidFill>
                <a:latin typeface="Hiragino Sans GB" pitchFamily="34" charset="0"/>
                <a:ea typeface="Hiragino Sans GB" pitchFamily="34" charset="-122"/>
                <a:cs typeface="Hiragino Sans GB" pitchFamily="34" charset="-120"/>
              </a:rPr>
              <a:t>Paper58-LAS：7 区域 LOAO 候选选择审计</a:t>
            </a:r>
            <a:endParaRPr lang="en-US" sz="1380" dirty="0"/>
          </a:p>
        </p:txBody>
      </p:sp>
      <p:sp>
        <p:nvSpPr>
          <p:cNvPr id="38" name="Text 36"/>
          <p:cNvSpPr txBox="1"/>
          <p:nvPr/>
        </p:nvSpPr>
        <p:spPr>
          <a:xfrm>
            <a:off x="6336792" y="2048256"/>
            <a:ext cx="2157984" cy="393192"/>
          </a:xfrm>
          <a:prstGeom prst="rect">
            <a:avLst/>
          </a:prstGeom>
          <a:noFill/>
          <a:ln/>
        </p:spPr>
        <p:txBody>
          <a:bodyPr wrap="square" lIns="0" tIns="0" rIns="0" bIns="0" rtlCol="0" anchor="ctr">
            <a:normAutofit/>
          </a:bodyPr>
          <a:lstStyle/>
          <a:p>
            <a:pPr algn="ctr" indent="0" marL="0">
              <a:lnSpc>
                <a:spcPct val="92000"/>
              </a:lnSpc>
              <a:buNone/>
            </a:pPr>
            <a:r>
              <a:rPr lang="en-US" sz="2300" b="1" dirty="0">
                <a:solidFill>
                  <a:srgbClr val="705FA7"/>
                </a:solidFill>
                <a:latin typeface="Arial" pitchFamily="34" charset="0"/>
                <a:ea typeface="Arial" pitchFamily="34" charset="-122"/>
                <a:cs typeface="Arial" pitchFamily="34" charset="-120"/>
              </a:rPr>
              <a:t>+0.1657</a:t>
            </a:r>
            <a:endParaRPr lang="en-US" sz="2300" dirty="0"/>
          </a:p>
        </p:txBody>
      </p:sp>
      <p:sp>
        <p:nvSpPr>
          <p:cNvPr id="39" name="Text 37"/>
          <p:cNvSpPr txBox="1"/>
          <p:nvPr/>
        </p:nvSpPr>
        <p:spPr>
          <a:xfrm>
            <a:off x="6336792" y="2487168"/>
            <a:ext cx="2157984" cy="256032"/>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32474D"/>
                </a:solidFill>
                <a:latin typeface="Hiragino Sans GB" pitchFamily="34" charset="0"/>
                <a:ea typeface="Hiragino Sans GB" pitchFamily="34" charset="-122"/>
                <a:cs typeface="Hiragino Sans GB" pitchFamily="34" charset="-120"/>
              </a:rPr>
              <a:t>F1 平均优势</a:t>
            </a:r>
            <a:endParaRPr lang="en-US" sz="870" dirty="0"/>
          </a:p>
        </p:txBody>
      </p:sp>
      <p:sp>
        <p:nvSpPr>
          <p:cNvPr id="40" name="Text 38"/>
          <p:cNvSpPr txBox="1"/>
          <p:nvPr/>
        </p:nvSpPr>
        <p:spPr>
          <a:xfrm>
            <a:off x="8878824" y="2048256"/>
            <a:ext cx="2157984" cy="393192"/>
          </a:xfrm>
          <a:prstGeom prst="rect">
            <a:avLst/>
          </a:prstGeom>
          <a:noFill/>
          <a:ln/>
        </p:spPr>
        <p:txBody>
          <a:bodyPr wrap="square" lIns="0" tIns="0" rIns="0" bIns="0" rtlCol="0" anchor="ctr">
            <a:normAutofit/>
          </a:bodyPr>
          <a:lstStyle/>
          <a:p>
            <a:pPr algn="ctr" indent="0" marL="0">
              <a:lnSpc>
                <a:spcPct val="92000"/>
              </a:lnSpc>
              <a:buNone/>
            </a:pPr>
            <a:r>
              <a:rPr lang="en-US" sz="2300" b="1" dirty="0">
                <a:solidFill>
                  <a:srgbClr val="705FA7"/>
                </a:solidFill>
                <a:latin typeface="Arial" pitchFamily="34" charset="0"/>
                <a:ea typeface="Arial" pitchFamily="34" charset="-122"/>
                <a:cs typeface="Arial" pitchFamily="34" charset="-120"/>
              </a:rPr>
              <a:t>+0.0744</a:t>
            </a:r>
            <a:endParaRPr lang="en-US" sz="2300" dirty="0"/>
          </a:p>
        </p:txBody>
      </p:sp>
      <p:sp>
        <p:nvSpPr>
          <p:cNvPr id="41" name="Text 39"/>
          <p:cNvSpPr txBox="1"/>
          <p:nvPr/>
        </p:nvSpPr>
        <p:spPr>
          <a:xfrm>
            <a:off x="8878824" y="2487168"/>
            <a:ext cx="2157984" cy="256032"/>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32474D"/>
                </a:solidFill>
                <a:latin typeface="Hiragino Sans GB" pitchFamily="34" charset="0"/>
                <a:ea typeface="Hiragino Sans GB" pitchFamily="34" charset="-122"/>
                <a:cs typeface="Hiragino Sans GB" pitchFamily="34" charset="-120"/>
              </a:rPr>
              <a:t>FoM 平均优势</a:t>
            </a:r>
            <a:endParaRPr lang="en-US" sz="870" dirty="0"/>
          </a:p>
        </p:txBody>
      </p:sp>
      <p:sp>
        <p:nvSpPr>
          <p:cNvPr id="42" name="Text 40"/>
          <p:cNvSpPr txBox="1"/>
          <p:nvPr/>
        </p:nvSpPr>
        <p:spPr>
          <a:xfrm>
            <a:off x="6336792" y="3127248"/>
            <a:ext cx="2157984" cy="393192"/>
          </a:xfrm>
          <a:prstGeom prst="rect">
            <a:avLst/>
          </a:prstGeom>
          <a:noFill/>
          <a:ln/>
        </p:spPr>
        <p:txBody>
          <a:bodyPr wrap="square" lIns="0" tIns="0" rIns="0" bIns="0" rtlCol="0" anchor="ctr">
            <a:normAutofit/>
          </a:bodyPr>
          <a:lstStyle/>
          <a:p>
            <a:pPr algn="ctr" indent="0" marL="0">
              <a:lnSpc>
                <a:spcPct val="92000"/>
              </a:lnSpc>
              <a:buNone/>
            </a:pPr>
            <a:r>
              <a:rPr lang="en-US" sz="2300" b="1" dirty="0">
                <a:solidFill>
                  <a:srgbClr val="705FA7"/>
                </a:solidFill>
                <a:latin typeface="Arial" pitchFamily="34" charset="0"/>
                <a:ea typeface="Arial" pitchFamily="34" charset="-122"/>
                <a:cs typeface="Arial" pitchFamily="34" charset="-120"/>
              </a:rPr>
              <a:t>6 / 7</a:t>
            </a:r>
            <a:endParaRPr lang="en-US" sz="2300" dirty="0"/>
          </a:p>
        </p:txBody>
      </p:sp>
      <p:sp>
        <p:nvSpPr>
          <p:cNvPr id="43" name="Text 41"/>
          <p:cNvSpPr txBox="1"/>
          <p:nvPr/>
        </p:nvSpPr>
        <p:spPr>
          <a:xfrm>
            <a:off x="6336792" y="3566160"/>
            <a:ext cx="2157984" cy="256032"/>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32474D"/>
                </a:solidFill>
                <a:latin typeface="Hiragino Sans GB" pitchFamily="34" charset="0"/>
                <a:ea typeface="Hiragino Sans GB" pitchFamily="34" charset="-122"/>
                <a:cs typeface="Hiragino Sans GB" pitchFamily="34" charset="-120"/>
              </a:rPr>
              <a:t>区域优于官方 FLUS console</a:t>
            </a:r>
            <a:endParaRPr lang="en-US" sz="870" dirty="0"/>
          </a:p>
        </p:txBody>
      </p:sp>
      <p:sp>
        <p:nvSpPr>
          <p:cNvPr id="44" name="Text 42"/>
          <p:cNvSpPr txBox="1"/>
          <p:nvPr/>
        </p:nvSpPr>
        <p:spPr>
          <a:xfrm>
            <a:off x="8878824" y="3127248"/>
            <a:ext cx="2157984" cy="393192"/>
          </a:xfrm>
          <a:prstGeom prst="rect">
            <a:avLst/>
          </a:prstGeom>
          <a:noFill/>
          <a:ln/>
        </p:spPr>
        <p:txBody>
          <a:bodyPr wrap="square" lIns="0" tIns="0" rIns="0" bIns="0" rtlCol="0" anchor="ctr">
            <a:normAutofit/>
          </a:bodyPr>
          <a:lstStyle/>
          <a:p>
            <a:pPr algn="ctr" indent="0" marL="0">
              <a:lnSpc>
                <a:spcPct val="92000"/>
              </a:lnSpc>
              <a:buNone/>
            </a:pPr>
            <a:r>
              <a:rPr lang="en-US" sz="2300" b="1" dirty="0">
                <a:solidFill>
                  <a:srgbClr val="B04A50"/>
                </a:solidFill>
                <a:latin typeface="Arial" pitchFamily="34" charset="0"/>
                <a:ea typeface="Arial" pitchFamily="34" charset="-122"/>
                <a:cs typeface="Arial" pitchFamily="34" charset="-120"/>
              </a:rPr>
              <a:t>仍为负</a:t>
            </a:r>
            <a:endParaRPr lang="en-US" sz="2300" dirty="0"/>
          </a:p>
        </p:txBody>
      </p:sp>
      <p:sp>
        <p:nvSpPr>
          <p:cNvPr id="45" name="Text 43"/>
          <p:cNvSpPr txBox="1"/>
          <p:nvPr/>
        </p:nvSpPr>
        <p:spPr>
          <a:xfrm>
            <a:off x="8878824" y="3566160"/>
            <a:ext cx="2157984" cy="256032"/>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32474D"/>
                </a:solidFill>
                <a:latin typeface="Hiragino Sans GB" pitchFamily="34" charset="0"/>
                <a:ea typeface="Hiragino Sans GB" pitchFamily="34" charset="-122"/>
                <a:cs typeface="Hiragino Sans GB" pitchFamily="34" charset="-120"/>
              </a:rPr>
              <a:t>allocation disagreement</a:t>
            </a:r>
            <a:endParaRPr lang="en-US" sz="870" dirty="0"/>
          </a:p>
        </p:txBody>
      </p:sp>
      <p:sp>
        <p:nvSpPr>
          <p:cNvPr id="46" name="Shape 44"/>
          <p:cNvSpPr/>
          <p:nvPr/>
        </p:nvSpPr>
        <p:spPr>
          <a:xfrm>
            <a:off x="6336792" y="4325112"/>
            <a:ext cx="4992624" cy="438912"/>
          </a:xfrm>
          <a:prstGeom prst="roundRect">
            <a:avLst>
              <a:gd name="adj" fmla="val 8333"/>
            </a:avLst>
          </a:prstGeom>
          <a:solidFill>
            <a:srgbClr val="FBE9EA"/>
          </a:solidFill>
          <a:ln w="7620">
            <a:solidFill>
              <a:srgbClr val="B04A50"/>
            </a:solidFill>
            <a:prstDash val="solid"/>
          </a:ln>
        </p:spPr>
      </p:sp>
      <p:sp>
        <p:nvSpPr>
          <p:cNvPr id="47" name="Text 45"/>
          <p:cNvSpPr txBox="1"/>
          <p:nvPr/>
        </p:nvSpPr>
        <p:spPr>
          <a:xfrm>
            <a:off x="6501384" y="4416552"/>
            <a:ext cx="4663440" cy="21031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B04A50"/>
                </a:solidFill>
                <a:latin typeface="Hiragino Sans GB" pitchFamily="34" charset="0"/>
                <a:ea typeface="Hiragino Sans GB" pitchFamily="34" charset="-122"/>
                <a:cs typeface="Hiragino Sans GB" pitchFamily="34" charset="-120"/>
              </a:rPr>
              <a:t>后续验证项：GeoSOS-FLUS 原生工作流、更稳健需求模型、zero-local-data 验证</a:t>
            </a:r>
            <a:endParaRPr lang="en-US" sz="830" dirty="0"/>
          </a:p>
        </p:txBody>
      </p:sp>
      <p:pic>
        <p:nvPicPr>
          <p:cNvPr id="48" name="Image 0" descr="/Users/zhouning/gisdataagent/docs/articles/geospatial_world_model_alphago_moment_assets/fig3_twm_flus_prediction_maps.png">    </p:cNvPr>
          <p:cNvPicPr>
            <a:picLocks noChangeAspect="1"/>
          </p:cNvPicPr>
          <p:nvPr/>
        </p:nvPicPr>
        <p:blipFill>
          <a:blip r:embed="rId1"/>
          <a:stretch>
            <a:fillRect/>
          </a:stretch>
        </p:blipFill>
        <p:spPr>
          <a:xfrm>
            <a:off x="658368" y="5029200"/>
            <a:ext cx="10863072" cy="1161288"/>
          </a:xfrm>
          <a:prstGeom prst="rect">
            <a:avLst/>
          </a:prstGeom>
        </p:spPr>
      </p:pic>
      <p:sp>
        <p:nvSpPr>
          <p:cNvPr id="49" name="Text 46"/>
          <p:cNvSpPr txBox="1"/>
          <p:nvPr/>
        </p:nvSpPr>
        <p:spPr>
          <a:xfrm>
            <a:off x="2267712" y="6236208"/>
            <a:ext cx="7726680" cy="155448"/>
          </a:xfrm>
          <a:prstGeom prst="rect">
            <a:avLst/>
          </a:prstGeom>
          <a:noFill/>
          <a:ln/>
        </p:spPr>
        <p:txBody>
          <a:bodyPr wrap="square" lIns="0" tIns="0" rIns="0" bIns="0" rtlCol="0" anchor="ctr">
            <a:normAutofit/>
          </a:bodyPr>
          <a:lstStyle/>
          <a:p>
            <a:pPr algn="ctr" indent="0" marL="0">
              <a:lnSpc>
                <a:spcPct val="92000"/>
              </a:lnSpc>
              <a:buNone/>
            </a:pPr>
            <a:r>
              <a:rPr lang="en-US" sz="630" dirty="0">
                <a:solidFill>
                  <a:srgbClr val="6C7C80"/>
                </a:solidFill>
                <a:latin typeface="Hiragino Sans GB" pitchFamily="34" charset="0"/>
                <a:ea typeface="Hiragino Sans GB" pitchFamily="34" charset="-122"/>
                <a:cs typeface="Hiragino Sans GB" pitchFamily="34" charset="-120"/>
              </a:rPr>
              <a:t>图：单案例定性对比，仅用于说明“整体保持”与“变化命中”之间的权衡；不与上方聚合结果混算。</a:t>
            </a:r>
            <a:endParaRPr lang="en-US" sz="6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能力边界</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GWM 能力边界更宽，工程成熟度仍处于验证阶段</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GWM 扩展了状态、行动、递归推演和审计闭环；GeoSOS-FLUS 在经典土地利用模拟任务上仍具有成熟优势。</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来源：TWM vs GeoSOS-FLUS academic positioning；GWM Runtime / Kernel relationship</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14 / 29</a:t>
            </a:r>
            <a:endParaRPr lang="en-US" sz="670" dirty="0"/>
          </a:p>
        </p:txBody>
      </p:sp>
      <p:sp>
        <p:nvSpPr>
          <p:cNvPr id="10" name="Shape 8"/>
          <p:cNvSpPr/>
          <p:nvPr/>
        </p:nvSpPr>
        <p:spPr>
          <a:xfrm>
            <a:off x="502920" y="1508760"/>
            <a:ext cx="1828800" cy="420624"/>
          </a:xfrm>
          <a:prstGeom prst="roundRect">
            <a:avLst>
              <a:gd name="adj" fmla="val 4348"/>
            </a:avLst>
          </a:prstGeom>
          <a:solidFill>
            <a:srgbClr val="102F34"/>
          </a:solidFill>
          <a:ln w="12700">
            <a:solidFill>
              <a:srgbClr val="102F34"/>
            </a:solidFill>
            <a:prstDash val="solid"/>
          </a:ln>
        </p:spPr>
      </p:sp>
      <p:sp>
        <p:nvSpPr>
          <p:cNvPr id="11" name="Shape 9"/>
          <p:cNvSpPr/>
          <p:nvPr/>
        </p:nvSpPr>
        <p:spPr>
          <a:xfrm>
            <a:off x="2331720" y="1508760"/>
            <a:ext cx="3767328" cy="420624"/>
          </a:xfrm>
          <a:prstGeom prst="roundRect">
            <a:avLst>
              <a:gd name="adj" fmla="val 4348"/>
            </a:avLst>
          </a:prstGeom>
          <a:solidFill>
            <a:srgbClr val="FFF3D9"/>
          </a:solidFill>
          <a:ln w="8890">
            <a:solidFill>
              <a:srgbClr val="B17B20"/>
            </a:solidFill>
            <a:prstDash val="solid"/>
          </a:ln>
        </p:spPr>
      </p:sp>
      <p:sp>
        <p:nvSpPr>
          <p:cNvPr id="12" name="Shape 10"/>
          <p:cNvSpPr/>
          <p:nvPr/>
        </p:nvSpPr>
        <p:spPr>
          <a:xfrm>
            <a:off x="6099048" y="1508760"/>
            <a:ext cx="5614416" cy="420624"/>
          </a:xfrm>
          <a:prstGeom prst="roundRect">
            <a:avLst>
              <a:gd name="adj" fmla="val 4348"/>
            </a:avLst>
          </a:prstGeom>
          <a:solidFill>
            <a:srgbClr val="E2F2EF"/>
          </a:solidFill>
          <a:ln w="8890">
            <a:solidFill>
              <a:srgbClr val="137F7A"/>
            </a:solidFill>
            <a:prstDash val="solid"/>
          </a:ln>
        </p:spPr>
      </p:sp>
      <p:sp>
        <p:nvSpPr>
          <p:cNvPr id="13" name="Text 11"/>
          <p:cNvSpPr txBox="1"/>
          <p:nvPr/>
        </p:nvSpPr>
        <p:spPr>
          <a:xfrm>
            <a:off x="502920" y="1581912"/>
            <a:ext cx="1828800" cy="228600"/>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FFFFFF"/>
                </a:solidFill>
                <a:latin typeface="Hiragino Sans GB" pitchFamily="34" charset="0"/>
                <a:ea typeface="Hiragino Sans GB" pitchFamily="34" charset="-122"/>
                <a:cs typeface="Hiragino Sans GB" pitchFamily="34" charset="-120"/>
              </a:rPr>
              <a:t>比较维度</a:t>
            </a:r>
            <a:endParaRPr lang="en-US" sz="960" dirty="0"/>
          </a:p>
        </p:txBody>
      </p:sp>
      <p:sp>
        <p:nvSpPr>
          <p:cNvPr id="14" name="Text 12"/>
          <p:cNvSpPr txBox="1"/>
          <p:nvPr/>
        </p:nvSpPr>
        <p:spPr>
          <a:xfrm>
            <a:off x="2331720" y="1581912"/>
            <a:ext cx="3767328" cy="228600"/>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B17B20"/>
                </a:solidFill>
                <a:latin typeface="Hiragino Sans GB" pitchFamily="34" charset="0"/>
                <a:ea typeface="Hiragino Sans GB" pitchFamily="34" charset="-122"/>
                <a:cs typeface="Hiragino Sans GB" pitchFamily="34" charset="-120"/>
              </a:rPr>
              <a:t>GeoSOS-FLUS</a:t>
            </a:r>
            <a:endParaRPr lang="en-US" sz="1000" dirty="0"/>
          </a:p>
        </p:txBody>
      </p:sp>
      <p:sp>
        <p:nvSpPr>
          <p:cNvPr id="15" name="Text 13"/>
          <p:cNvSpPr txBox="1"/>
          <p:nvPr/>
        </p:nvSpPr>
        <p:spPr>
          <a:xfrm>
            <a:off x="6099048" y="1581912"/>
            <a:ext cx="5614416" cy="228600"/>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0E5C59"/>
                </a:solidFill>
                <a:latin typeface="Hiragino Sans GB" pitchFamily="34" charset="0"/>
                <a:ea typeface="Hiragino Sans GB" pitchFamily="34" charset="-122"/>
                <a:cs typeface="Hiragino Sans GB" pitchFamily="34" charset="-120"/>
              </a:rPr>
              <a:t>GWM / TWM 目标架构</a:t>
            </a:r>
            <a:endParaRPr lang="en-US" sz="1000" dirty="0"/>
          </a:p>
        </p:txBody>
      </p:sp>
      <p:sp>
        <p:nvSpPr>
          <p:cNvPr id="16" name="Shape 14"/>
          <p:cNvSpPr/>
          <p:nvPr/>
        </p:nvSpPr>
        <p:spPr>
          <a:xfrm>
            <a:off x="502920" y="1929384"/>
            <a:ext cx="1828800" cy="521208"/>
          </a:xfrm>
          <a:prstGeom prst="rect">
            <a:avLst/>
          </a:prstGeom>
          <a:solidFill>
            <a:srgbClr val="FFFFFF"/>
          </a:solidFill>
          <a:ln w="6350">
            <a:solidFill>
              <a:srgbClr val="D0DBD8"/>
            </a:solidFill>
            <a:prstDash val="solid"/>
          </a:ln>
        </p:spPr>
      </p:sp>
      <p:sp>
        <p:nvSpPr>
          <p:cNvPr id="17" name="Shape 15"/>
          <p:cNvSpPr/>
          <p:nvPr/>
        </p:nvSpPr>
        <p:spPr>
          <a:xfrm>
            <a:off x="2331720" y="1929384"/>
            <a:ext cx="3767328" cy="521208"/>
          </a:xfrm>
          <a:prstGeom prst="rect">
            <a:avLst/>
          </a:prstGeom>
          <a:solidFill>
            <a:srgbClr val="FFFFFF"/>
          </a:solidFill>
          <a:ln w="6350">
            <a:solidFill>
              <a:srgbClr val="D0DBD8"/>
            </a:solidFill>
            <a:prstDash val="solid"/>
          </a:ln>
        </p:spPr>
      </p:sp>
      <p:sp>
        <p:nvSpPr>
          <p:cNvPr id="18" name="Shape 16"/>
          <p:cNvSpPr/>
          <p:nvPr/>
        </p:nvSpPr>
        <p:spPr>
          <a:xfrm>
            <a:off x="6099048" y="1929384"/>
            <a:ext cx="5614416" cy="521208"/>
          </a:xfrm>
          <a:prstGeom prst="rect">
            <a:avLst/>
          </a:prstGeom>
          <a:solidFill>
            <a:srgbClr val="FFFFFF"/>
          </a:solidFill>
          <a:ln w="6350">
            <a:solidFill>
              <a:srgbClr val="D0DBD8"/>
            </a:solidFill>
            <a:prstDash val="solid"/>
          </a:ln>
        </p:spPr>
      </p:sp>
      <p:sp>
        <p:nvSpPr>
          <p:cNvPr id="19" name="Text 17"/>
          <p:cNvSpPr txBox="1"/>
          <p:nvPr/>
        </p:nvSpPr>
        <p:spPr>
          <a:xfrm>
            <a:off x="603504" y="2002536"/>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建模对象</a:t>
            </a:r>
            <a:endParaRPr lang="en-US" sz="880" dirty="0"/>
          </a:p>
        </p:txBody>
      </p:sp>
      <p:sp>
        <p:nvSpPr>
          <p:cNvPr id="20" name="Text 18"/>
          <p:cNvSpPr txBox="1"/>
          <p:nvPr/>
        </p:nvSpPr>
        <p:spPr>
          <a:xfrm>
            <a:off x="2468880" y="1993392"/>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土地利用类型与栅格分配</a:t>
            </a:r>
            <a:endParaRPr lang="en-US" sz="820" dirty="0"/>
          </a:p>
        </p:txBody>
      </p:sp>
      <p:sp>
        <p:nvSpPr>
          <p:cNvPr id="21" name="Text 19"/>
          <p:cNvSpPr txBox="1"/>
          <p:nvPr/>
        </p:nvSpPr>
        <p:spPr>
          <a:xfrm>
            <a:off x="6245352" y="1993392"/>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多尺度对象 / 场 / 关系 / 规则 / 证据状态</a:t>
            </a:r>
            <a:endParaRPr lang="en-US" sz="820" dirty="0"/>
          </a:p>
        </p:txBody>
      </p:sp>
      <p:sp>
        <p:nvSpPr>
          <p:cNvPr id="22" name="Shape 20"/>
          <p:cNvSpPr/>
          <p:nvPr/>
        </p:nvSpPr>
        <p:spPr>
          <a:xfrm>
            <a:off x="502920" y="2450592"/>
            <a:ext cx="1828800" cy="521208"/>
          </a:xfrm>
          <a:prstGeom prst="rect">
            <a:avLst/>
          </a:prstGeom>
          <a:solidFill>
            <a:srgbClr val="EDF1F0"/>
          </a:solidFill>
          <a:ln w="6350">
            <a:solidFill>
              <a:srgbClr val="D0DBD8"/>
            </a:solidFill>
            <a:prstDash val="solid"/>
          </a:ln>
        </p:spPr>
      </p:sp>
      <p:sp>
        <p:nvSpPr>
          <p:cNvPr id="23" name="Shape 21"/>
          <p:cNvSpPr/>
          <p:nvPr/>
        </p:nvSpPr>
        <p:spPr>
          <a:xfrm>
            <a:off x="2331720" y="2450592"/>
            <a:ext cx="3767328" cy="521208"/>
          </a:xfrm>
          <a:prstGeom prst="rect">
            <a:avLst/>
          </a:prstGeom>
          <a:solidFill>
            <a:srgbClr val="EDF1F0"/>
          </a:solidFill>
          <a:ln w="6350">
            <a:solidFill>
              <a:srgbClr val="D0DBD8"/>
            </a:solidFill>
            <a:prstDash val="solid"/>
          </a:ln>
        </p:spPr>
      </p:sp>
      <p:sp>
        <p:nvSpPr>
          <p:cNvPr id="24" name="Shape 22"/>
          <p:cNvSpPr/>
          <p:nvPr/>
        </p:nvSpPr>
        <p:spPr>
          <a:xfrm>
            <a:off x="6099048" y="2450592"/>
            <a:ext cx="5614416" cy="521208"/>
          </a:xfrm>
          <a:prstGeom prst="rect">
            <a:avLst/>
          </a:prstGeom>
          <a:solidFill>
            <a:srgbClr val="EDF1F0"/>
          </a:solidFill>
          <a:ln w="6350">
            <a:solidFill>
              <a:srgbClr val="D0DBD8"/>
            </a:solidFill>
            <a:prstDash val="solid"/>
          </a:ln>
        </p:spPr>
      </p:sp>
      <p:sp>
        <p:nvSpPr>
          <p:cNvPr id="25" name="Text 23"/>
          <p:cNvSpPr txBox="1"/>
          <p:nvPr/>
        </p:nvSpPr>
        <p:spPr>
          <a:xfrm>
            <a:off x="603504" y="2523744"/>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动作语义</a:t>
            </a:r>
            <a:endParaRPr lang="en-US" sz="880" dirty="0"/>
          </a:p>
        </p:txBody>
      </p:sp>
      <p:sp>
        <p:nvSpPr>
          <p:cNvPr id="26" name="Text 24"/>
          <p:cNvSpPr txBox="1"/>
          <p:nvPr/>
        </p:nvSpPr>
        <p:spPr>
          <a:xfrm>
            <a:off x="2468880" y="2514600"/>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需求、情景、约束进入模拟</a:t>
            </a:r>
            <a:endParaRPr lang="en-US" sz="820" dirty="0"/>
          </a:p>
        </p:txBody>
      </p:sp>
      <p:sp>
        <p:nvSpPr>
          <p:cNvPr id="27" name="Text 25"/>
          <p:cNvSpPr txBox="1"/>
          <p:nvPr/>
        </p:nvSpPr>
        <p:spPr>
          <a:xfrm>
            <a:off x="6245352" y="2514600"/>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规范化行动是状态转移的一等条件</a:t>
            </a:r>
            <a:endParaRPr lang="en-US" sz="820" dirty="0"/>
          </a:p>
        </p:txBody>
      </p:sp>
      <p:sp>
        <p:nvSpPr>
          <p:cNvPr id="28" name="Shape 26"/>
          <p:cNvSpPr/>
          <p:nvPr/>
        </p:nvSpPr>
        <p:spPr>
          <a:xfrm>
            <a:off x="502920" y="2971800"/>
            <a:ext cx="1828800" cy="521208"/>
          </a:xfrm>
          <a:prstGeom prst="rect">
            <a:avLst/>
          </a:prstGeom>
          <a:solidFill>
            <a:srgbClr val="FFFFFF"/>
          </a:solidFill>
          <a:ln w="6350">
            <a:solidFill>
              <a:srgbClr val="D0DBD8"/>
            </a:solidFill>
            <a:prstDash val="solid"/>
          </a:ln>
        </p:spPr>
      </p:sp>
      <p:sp>
        <p:nvSpPr>
          <p:cNvPr id="29" name="Shape 27"/>
          <p:cNvSpPr/>
          <p:nvPr/>
        </p:nvSpPr>
        <p:spPr>
          <a:xfrm>
            <a:off x="2331720" y="2971800"/>
            <a:ext cx="3767328" cy="521208"/>
          </a:xfrm>
          <a:prstGeom prst="rect">
            <a:avLst/>
          </a:prstGeom>
          <a:solidFill>
            <a:srgbClr val="FFFFFF"/>
          </a:solidFill>
          <a:ln w="6350">
            <a:solidFill>
              <a:srgbClr val="D0DBD8"/>
            </a:solidFill>
            <a:prstDash val="solid"/>
          </a:ln>
        </p:spPr>
      </p:sp>
      <p:sp>
        <p:nvSpPr>
          <p:cNvPr id="30" name="Shape 28"/>
          <p:cNvSpPr/>
          <p:nvPr/>
        </p:nvSpPr>
        <p:spPr>
          <a:xfrm>
            <a:off x="6099048" y="2971800"/>
            <a:ext cx="5614416" cy="521208"/>
          </a:xfrm>
          <a:prstGeom prst="rect">
            <a:avLst/>
          </a:prstGeom>
          <a:solidFill>
            <a:srgbClr val="FFFFFF"/>
          </a:solidFill>
          <a:ln w="6350">
            <a:solidFill>
              <a:srgbClr val="D0DBD8"/>
            </a:solidFill>
            <a:prstDash val="solid"/>
          </a:ln>
        </p:spPr>
      </p:sp>
      <p:sp>
        <p:nvSpPr>
          <p:cNvPr id="31" name="Text 29"/>
          <p:cNvSpPr txBox="1"/>
          <p:nvPr/>
        </p:nvSpPr>
        <p:spPr>
          <a:xfrm>
            <a:off x="603504" y="3044952"/>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空间机制</a:t>
            </a:r>
            <a:endParaRPr lang="en-US" sz="880" dirty="0"/>
          </a:p>
        </p:txBody>
      </p:sp>
      <p:sp>
        <p:nvSpPr>
          <p:cNvPr id="32" name="Text 30"/>
          <p:cNvSpPr txBox="1"/>
          <p:nvPr/>
        </p:nvSpPr>
        <p:spPr>
          <a:xfrm>
            <a:off x="2468880" y="3035808"/>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ANN 适宜性 + CA 邻域 + 竞争惯性</a:t>
            </a:r>
            <a:endParaRPr lang="en-US" sz="820" dirty="0"/>
          </a:p>
        </p:txBody>
      </p:sp>
      <p:sp>
        <p:nvSpPr>
          <p:cNvPr id="33" name="Text 31"/>
          <p:cNvSpPr txBox="1"/>
          <p:nvPr/>
        </p:nvSpPr>
        <p:spPr>
          <a:xfrm>
            <a:off x="6245352" y="3035808"/>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行动条件关系门控 + 时滞 + 动态拓扑</a:t>
            </a:r>
            <a:endParaRPr lang="en-US" sz="820" dirty="0"/>
          </a:p>
        </p:txBody>
      </p:sp>
      <p:sp>
        <p:nvSpPr>
          <p:cNvPr id="34" name="Shape 32"/>
          <p:cNvSpPr/>
          <p:nvPr/>
        </p:nvSpPr>
        <p:spPr>
          <a:xfrm>
            <a:off x="502920" y="3493008"/>
            <a:ext cx="1828800" cy="521208"/>
          </a:xfrm>
          <a:prstGeom prst="rect">
            <a:avLst/>
          </a:prstGeom>
          <a:solidFill>
            <a:srgbClr val="EDF1F0"/>
          </a:solidFill>
          <a:ln w="6350">
            <a:solidFill>
              <a:srgbClr val="D0DBD8"/>
            </a:solidFill>
            <a:prstDash val="solid"/>
          </a:ln>
        </p:spPr>
      </p:sp>
      <p:sp>
        <p:nvSpPr>
          <p:cNvPr id="35" name="Shape 33"/>
          <p:cNvSpPr/>
          <p:nvPr/>
        </p:nvSpPr>
        <p:spPr>
          <a:xfrm>
            <a:off x="2331720" y="3493008"/>
            <a:ext cx="3767328" cy="521208"/>
          </a:xfrm>
          <a:prstGeom prst="rect">
            <a:avLst/>
          </a:prstGeom>
          <a:solidFill>
            <a:srgbClr val="EDF1F0"/>
          </a:solidFill>
          <a:ln w="6350">
            <a:solidFill>
              <a:srgbClr val="D0DBD8"/>
            </a:solidFill>
            <a:prstDash val="solid"/>
          </a:ln>
        </p:spPr>
      </p:sp>
      <p:sp>
        <p:nvSpPr>
          <p:cNvPr id="36" name="Shape 34"/>
          <p:cNvSpPr/>
          <p:nvPr/>
        </p:nvSpPr>
        <p:spPr>
          <a:xfrm>
            <a:off x="6099048" y="3493008"/>
            <a:ext cx="5614416" cy="521208"/>
          </a:xfrm>
          <a:prstGeom prst="rect">
            <a:avLst/>
          </a:prstGeom>
          <a:solidFill>
            <a:srgbClr val="EDF1F0"/>
          </a:solidFill>
          <a:ln w="6350">
            <a:solidFill>
              <a:srgbClr val="D0DBD8"/>
            </a:solidFill>
            <a:prstDash val="solid"/>
          </a:ln>
        </p:spPr>
      </p:sp>
      <p:sp>
        <p:nvSpPr>
          <p:cNvPr id="37" name="Text 35"/>
          <p:cNvSpPr txBox="1"/>
          <p:nvPr/>
        </p:nvSpPr>
        <p:spPr>
          <a:xfrm>
            <a:off x="603504" y="3566160"/>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时间机制</a:t>
            </a:r>
            <a:endParaRPr lang="en-US" sz="880" dirty="0"/>
          </a:p>
        </p:txBody>
      </p:sp>
      <p:sp>
        <p:nvSpPr>
          <p:cNvPr id="38" name="Text 36"/>
          <p:cNvSpPr txBox="1"/>
          <p:nvPr/>
        </p:nvSpPr>
        <p:spPr>
          <a:xfrm>
            <a:off x="2468880" y="3557016"/>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面向目标期的格局模拟</a:t>
            </a:r>
            <a:endParaRPr lang="en-US" sz="820" dirty="0"/>
          </a:p>
        </p:txBody>
      </p:sp>
      <p:sp>
        <p:nvSpPr>
          <p:cNvPr id="39" name="Text 37"/>
          <p:cNvSpPr txBox="1"/>
          <p:nvPr/>
        </p:nvSpPr>
        <p:spPr>
          <a:xfrm>
            <a:off x="6245352" y="3557016"/>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递归写回、多步 rollout、误差与不确定性传播</a:t>
            </a:r>
            <a:endParaRPr lang="en-US" sz="820" dirty="0"/>
          </a:p>
        </p:txBody>
      </p:sp>
      <p:sp>
        <p:nvSpPr>
          <p:cNvPr id="40" name="Shape 38"/>
          <p:cNvSpPr/>
          <p:nvPr/>
        </p:nvSpPr>
        <p:spPr>
          <a:xfrm>
            <a:off x="502920" y="4014216"/>
            <a:ext cx="1828800" cy="521208"/>
          </a:xfrm>
          <a:prstGeom prst="rect">
            <a:avLst/>
          </a:prstGeom>
          <a:solidFill>
            <a:srgbClr val="FFFFFF"/>
          </a:solidFill>
          <a:ln w="6350">
            <a:solidFill>
              <a:srgbClr val="D0DBD8"/>
            </a:solidFill>
            <a:prstDash val="solid"/>
          </a:ln>
        </p:spPr>
      </p:sp>
      <p:sp>
        <p:nvSpPr>
          <p:cNvPr id="41" name="Shape 39"/>
          <p:cNvSpPr/>
          <p:nvPr/>
        </p:nvSpPr>
        <p:spPr>
          <a:xfrm>
            <a:off x="2331720" y="4014216"/>
            <a:ext cx="3767328" cy="521208"/>
          </a:xfrm>
          <a:prstGeom prst="rect">
            <a:avLst/>
          </a:prstGeom>
          <a:solidFill>
            <a:srgbClr val="FFFFFF"/>
          </a:solidFill>
          <a:ln w="6350">
            <a:solidFill>
              <a:srgbClr val="D0DBD8"/>
            </a:solidFill>
            <a:prstDash val="solid"/>
          </a:ln>
        </p:spPr>
      </p:sp>
      <p:sp>
        <p:nvSpPr>
          <p:cNvPr id="42" name="Shape 40"/>
          <p:cNvSpPr/>
          <p:nvPr/>
        </p:nvSpPr>
        <p:spPr>
          <a:xfrm>
            <a:off x="6099048" y="4014216"/>
            <a:ext cx="5614416" cy="521208"/>
          </a:xfrm>
          <a:prstGeom prst="rect">
            <a:avLst/>
          </a:prstGeom>
          <a:solidFill>
            <a:srgbClr val="FFFFFF"/>
          </a:solidFill>
          <a:ln w="6350">
            <a:solidFill>
              <a:srgbClr val="D0DBD8"/>
            </a:solidFill>
            <a:prstDash val="solid"/>
          </a:ln>
        </p:spPr>
      </p:sp>
      <p:sp>
        <p:nvSpPr>
          <p:cNvPr id="43" name="Text 41"/>
          <p:cNvSpPr txBox="1"/>
          <p:nvPr/>
        </p:nvSpPr>
        <p:spPr>
          <a:xfrm>
            <a:off x="603504" y="4087368"/>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决策闭环</a:t>
            </a:r>
            <a:endParaRPr lang="en-US" sz="880" dirty="0"/>
          </a:p>
        </p:txBody>
      </p:sp>
      <p:sp>
        <p:nvSpPr>
          <p:cNvPr id="44" name="Text 42"/>
          <p:cNvSpPr txBox="1"/>
          <p:nvPr/>
        </p:nvSpPr>
        <p:spPr>
          <a:xfrm>
            <a:off x="2468880" y="4078224"/>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模拟可与优化算法耦合</a:t>
            </a:r>
            <a:endParaRPr lang="en-US" sz="820" dirty="0"/>
          </a:p>
        </p:txBody>
      </p:sp>
      <p:sp>
        <p:nvSpPr>
          <p:cNvPr id="45" name="Text 43"/>
          <p:cNvSpPr txBox="1"/>
          <p:nvPr/>
        </p:nvSpPr>
        <p:spPr>
          <a:xfrm>
            <a:off x="6245352" y="4078224"/>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Planner 强制消费未来状态与 simulator trace</a:t>
            </a:r>
            <a:endParaRPr lang="en-US" sz="820" dirty="0"/>
          </a:p>
        </p:txBody>
      </p:sp>
      <p:sp>
        <p:nvSpPr>
          <p:cNvPr id="46" name="Shape 44"/>
          <p:cNvSpPr/>
          <p:nvPr/>
        </p:nvSpPr>
        <p:spPr>
          <a:xfrm>
            <a:off x="502920" y="4535424"/>
            <a:ext cx="1828800" cy="521208"/>
          </a:xfrm>
          <a:prstGeom prst="rect">
            <a:avLst/>
          </a:prstGeom>
          <a:solidFill>
            <a:srgbClr val="EDF1F0"/>
          </a:solidFill>
          <a:ln w="6350">
            <a:solidFill>
              <a:srgbClr val="D0DBD8"/>
            </a:solidFill>
            <a:prstDash val="solid"/>
          </a:ln>
        </p:spPr>
      </p:sp>
      <p:sp>
        <p:nvSpPr>
          <p:cNvPr id="47" name="Shape 45"/>
          <p:cNvSpPr/>
          <p:nvPr/>
        </p:nvSpPr>
        <p:spPr>
          <a:xfrm>
            <a:off x="2331720" y="4535424"/>
            <a:ext cx="3767328" cy="521208"/>
          </a:xfrm>
          <a:prstGeom prst="rect">
            <a:avLst/>
          </a:prstGeom>
          <a:solidFill>
            <a:srgbClr val="EDF1F0"/>
          </a:solidFill>
          <a:ln w="6350">
            <a:solidFill>
              <a:srgbClr val="D0DBD8"/>
            </a:solidFill>
            <a:prstDash val="solid"/>
          </a:ln>
        </p:spPr>
      </p:sp>
      <p:sp>
        <p:nvSpPr>
          <p:cNvPr id="48" name="Shape 46"/>
          <p:cNvSpPr/>
          <p:nvPr/>
        </p:nvSpPr>
        <p:spPr>
          <a:xfrm>
            <a:off x="6099048" y="4535424"/>
            <a:ext cx="5614416" cy="521208"/>
          </a:xfrm>
          <a:prstGeom prst="rect">
            <a:avLst/>
          </a:prstGeom>
          <a:solidFill>
            <a:srgbClr val="EDF1F0"/>
          </a:solidFill>
          <a:ln w="6350">
            <a:solidFill>
              <a:srgbClr val="D0DBD8"/>
            </a:solidFill>
            <a:prstDash val="solid"/>
          </a:ln>
        </p:spPr>
      </p:sp>
      <p:sp>
        <p:nvSpPr>
          <p:cNvPr id="49" name="Text 47"/>
          <p:cNvSpPr txBox="1"/>
          <p:nvPr/>
        </p:nvSpPr>
        <p:spPr>
          <a:xfrm>
            <a:off x="603504" y="4608576"/>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治理边界</a:t>
            </a:r>
            <a:endParaRPr lang="en-US" sz="880" dirty="0"/>
          </a:p>
        </p:txBody>
      </p:sp>
      <p:sp>
        <p:nvSpPr>
          <p:cNvPr id="50" name="Text 48"/>
          <p:cNvSpPr txBox="1"/>
          <p:nvPr/>
        </p:nvSpPr>
        <p:spPr>
          <a:xfrm>
            <a:off x="2468880" y="4599432"/>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主要依赖情景与模型校准</a:t>
            </a:r>
            <a:endParaRPr lang="en-US" sz="820" dirty="0"/>
          </a:p>
        </p:txBody>
      </p:sp>
      <p:sp>
        <p:nvSpPr>
          <p:cNvPr id="51" name="Text 49"/>
          <p:cNvSpPr txBox="1"/>
          <p:nvPr/>
        </p:nvSpPr>
        <p:spPr>
          <a:xfrm>
            <a:off x="6245352" y="4599432"/>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规则、因果校准、证据门控、人工复核、审计</a:t>
            </a:r>
            <a:endParaRPr lang="en-US" sz="820" dirty="0"/>
          </a:p>
        </p:txBody>
      </p:sp>
      <p:sp>
        <p:nvSpPr>
          <p:cNvPr id="52" name="Shape 50"/>
          <p:cNvSpPr/>
          <p:nvPr/>
        </p:nvSpPr>
        <p:spPr>
          <a:xfrm>
            <a:off x="502920" y="5056632"/>
            <a:ext cx="1828800" cy="521208"/>
          </a:xfrm>
          <a:prstGeom prst="rect">
            <a:avLst/>
          </a:prstGeom>
          <a:solidFill>
            <a:srgbClr val="FFFFFF"/>
          </a:solidFill>
          <a:ln w="6350">
            <a:solidFill>
              <a:srgbClr val="D0DBD8"/>
            </a:solidFill>
            <a:prstDash val="solid"/>
          </a:ln>
        </p:spPr>
      </p:sp>
      <p:sp>
        <p:nvSpPr>
          <p:cNvPr id="53" name="Shape 51"/>
          <p:cNvSpPr/>
          <p:nvPr/>
        </p:nvSpPr>
        <p:spPr>
          <a:xfrm>
            <a:off x="2331720" y="5056632"/>
            <a:ext cx="3767328" cy="521208"/>
          </a:xfrm>
          <a:prstGeom prst="rect">
            <a:avLst/>
          </a:prstGeom>
          <a:solidFill>
            <a:srgbClr val="FFFFFF"/>
          </a:solidFill>
          <a:ln w="6350">
            <a:solidFill>
              <a:srgbClr val="D0DBD8"/>
            </a:solidFill>
            <a:prstDash val="solid"/>
          </a:ln>
        </p:spPr>
      </p:sp>
      <p:sp>
        <p:nvSpPr>
          <p:cNvPr id="54" name="Shape 52"/>
          <p:cNvSpPr/>
          <p:nvPr/>
        </p:nvSpPr>
        <p:spPr>
          <a:xfrm>
            <a:off x="6099048" y="5056632"/>
            <a:ext cx="5614416" cy="521208"/>
          </a:xfrm>
          <a:prstGeom prst="rect">
            <a:avLst/>
          </a:prstGeom>
          <a:solidFill>
            <a:srgbClr val="FFFFFF"/>
          </a:solidFill>
          <a:ln w="6350">
            <a:solidFill>
              <a:srgbClr val="D0DBD8"/>
            </a:solidFill>
            <a:prstDash val="solid"/>
          </a:ln>
        </p:spPr>
      </p:sp>
      <p:sp>
        <p:nvSpPr>
          <p:cNvPr id="55" name="Text 53"/>
          <p:cNvSpPr txBox="1"/>
          <p:nvPr/>
        </p:nvSpPr>
        <p:spPr>
          <a:xfrm>
            <a:off x="603504" y="5129784"/>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领域扩展</a:t>
            </a:r>
            <a:endParaRPr lang="en-US" sz="880" dirty="0"/>
          </a:p>
        </p:txBody>
      </p:sp>
      <p:sp>
        <p:nvSpPr>
          <p:cNvPr id="56" name="Text 54"/>
          <p:cNvSpPr txBox="1"/>
          <p:nvPr/>
        </p:nvSpPr>
        <p:spPr>
          <a:xfrm>
            <a:off x="2468880" y="5120640"/>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土地利用模拟与空间优化见长</a:t>
            </a:r>
            <a:endParaRPr lang="en-US" sz="820" dirty="0"/>
          </a:p>
        </p:txBody>
      </p:sp>
      <p:sp>
        <p:nvSpPr>
          <p:cNvPr id="57" name="Text 55"/>
          <p:cNvSpPr txBox="1"/>
          <p:nvPr/>
        </p:nvSpPr>
        <p:spPr>
          <a:xfrm>
            <a:off x="6245352" y="5120640"/>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通过 Domain Adapter 扩展土地 / 城市 / 水文等领域</a:t>
            </a:r>
            <a:endParaRPr lang="en-US" sz="820" dirty="0"/>
          </a:p>
        </p:txBody>
      </p:sp>
      <p:sp>
        <p:nvSpPr>
          <p:cNvPr id="58" name="Shape 56"/>
          <p:cNvSpPr/>
          <p:nvPr/>
        </p:nvSpPr>
        <p:spPr>
          <a:xfrm>
            <a:off x="502920" y="5577840"/>
            <a:ext cx="1828800" cy="521208"/>
          </a:xfrm>
          <a:prstGeom prst="rect">
            <a:avLst/>
          </a:prstGeom>
          <a:solidFill>
            <a:srgbClr val="EDF1F0"/>
          </a:solidFill>
          <a:ln w="6350">
            <a:solidFill>
              <a:srgbClr val="D0DBD8"/>
            </a:solidFill>
            <a:prstDash val="solid"/>
          </a:ln>
        </p:spPr>
      </p:sp>
      <p:sp>
        <p:nvSpPr>
          <p:cNvPr id="59" name="Shape 57"/>
          <p:cNvSpPr/>
          <p:nvPr/>
        </p:nvSpPr>
        <p:spPr>
          <a:xfrm>
            <a:off x="2331720" y="5577840"/>
            <a:ext cx="3767328" cy="521208"/>
          </a:xfrm>
          <a:prstGeom prst="rect">
            <a:avLst/>
          </a:prstGeom>
          <a:solidFill>
            <a:srgbClr val="EDF1F0"/>
          </a:solidFill>
          <a:ln w="6350">
            <a:solidFill>
              <a:srgbClr val="D0DBD8"/>
            </a:solidFill>
            <a:prstDash val="solid"/>
          </a:ln>
        </p:spPr>
      </p:sp>
      <p:sp>
        <p:nvSpPr>
          <p:cNvPr id="60" name="Shape 58"/>
          <p:cNvSpPr/>
          <p:nvPr/>
        </p:nvSpPr>
        <p:spPr>
          <a:xfrm>
            <a:off x="6099048" y="5577840"/>
            <a:ext cx="5614416" cy="521208"/>
          </a:xfrm>
          <a:prstGeom prst="rect">
            <a:avLst/>
          </a:prstGeom>
          <a:solidFill>
            <a:srgbClr val="EDF1F0"/>
          </a:solidFill>
          <a:ln w="6350">
            <a:solidFill>
              <a:srgbClr val="D0DBD8"/>
            </a:solidFill>
            <a:prstDash val="solid"/>
          </a:ln>
        </p:spPr>
      </p:sp>
      <p:sp>
        <p:nvSpPr>
          <p:cNvPr id="61" name="Text 59"/>
          <p:cNvSpPr txBox="1"/>
          <p:nvPr/>
        </p:nvSpPr>
        <p:spPr>
          <a:xfrm>
            <a:off x="603504" y="5650992"/>
            <a:ext cx="1627632" cy="31089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当前成熟度</a:t>
            </a:r>
            <a:endParaRPr lang="en-US" sz="880" dirty="0"/>
          </a:p>
        </p:txBody>
      </p:sp>
      <p:sp>
        <p:nvSpPr>
          <p:cNvPr id="62" name="Text 60"/>
          <p:cNvSpPr txBox="1"/>
          <p:nvPr/>
        </p:nvSpPr>
        <p:spPr>
          <a:xfrm>
            <a:off x="2468880" y="5641848"/>
            <a:ext cx="34930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成熟经典模型与软件</a:t>
            </a:r>
            <a:endParaRPr lang="en-US" sz="820" dirty="0"/>
          </a:p>
        </p:txBody>
      </p:sp>
      <p:sp>
        <p:nvSpPr>
          <p:cNvPr id="63" name="Text 61"/>
          <p:cNvSpPr txBox="1"/>
          <p:nvPr/>
        </p:nvSpPr>
        <p:spPr>
          <a:xfrm>
            <a:off x="6245352" y="5641848"/>
            <a:ext cx="5321808" cy="356616"/>
          </a:xfrm>
          <a:prstGeom prst="rect">
            <a:avLst/>
          </a:prstGeom>
          <a:noFill/>
          <a:ln/>
        </p:spPr>
        <p:txBody>
          <a:bodyPr wrap="square" lIns="0" tIns="0" rIns="0" bIns="0" rtlCol="0" anchor="ctr">
            <a:normAutofit/>
          </a:bodyPr>
          <a:lstStyle/>
          <a:p>
            <a:pPr algn="ctr" indent="0" marL="0">
              <a:lnSpc>
                <a:spcPct val="92000"/>
              </a:lnSpc>
              <a:buNone/>
            </a:pPr>
            <a:r>
              <a:rPr lang="en-US" sz="820" dirty="0">
                <a:solidFill>
                  <a:srgbClr val="32474D"/>
                </a:solidFill>
                <a:latin typeface="Hiragino Sans GB" pitchFamily="34" charset="0"/>
                <a:ea typeface="Hiragino Sans GB" pitchFamily="34" charset="-122"/>
                <a:cs typeface="Hiragino Sans GB" pitchFamily="34" charset="-120"/>
              </a:rPr>
              <a:t>研究原型；共享 Runtime 未完全抽取，核心假设仍待验证</a:t>
            </a:r>
            <a:endParaRPr lang="en-US" sz="820" dirty="0"/>
          </a:p>
        </p:txBody>
      </p:sp>
      <p:sp>
        <p:nvSpPr>
          <p:cNvPr id="64" name="Shape 62"/>
          <p:cNvSpPr/>
          <p:nvPr/>
        </p:nvSpPr>
        <p:spPr>
          <a:xfrm>
            <a:off x="658368" y="6016752"/>
            <a:ext cx="10872216" cy="310896"/>
          </a:xfrm>
          <a:prstGeom prst="roundRect">
            <a:avLst>
              <a:gd name="adj" fmla="val 11765"/>
            </a:avLst>
          </a:prstGeom>
          <a:solidFill>
            <a:srgbClr val="102F34"/>
          </a:solidFill>
          <a:ln w="12700">
            <a:solidFill>
              <a:srgbClr val="102F34"/>
            </a:solidFill>
            <a:prstDash val="solid"/>
          </a:ln>
        </p:spPr>
      </p:sp>
      <p:sp>
        <p:nvSpPr>
          <p:cNvPr id="65" name="Text 63"/>
          <p:cNvSpPr txBox="1"/>
          <p:nvPr/>
        </p:nvSpPr>
        <p:spPr>
          <a:xfrm>
            <a:off x="850392" y="6089904"/>
            <a:ext cx="10488168" cy="155448"/>
          </a:xfrm>
          <a:prstGeom prst="rect">
            <a:avLst/>
          </a:prstGeom>
          <a:noFill/>
          <a:ln/>
        </p:spPr>
        <p:txBody>
          <a:bodyPr wrap="square" lIns="0" tIns="0" rIns="0" bIns="0" rtlCol="0" anchor="ctr">
            <a:normAutofit/>
          </a:bodyPr>
          <a:lstStyle/>
          <a:p>
            <a:pPr algn="ctr" indent="0" marL="0">
              <a:lnSpc>
                <a:spcPct val="92000"/>
              </a:lnSpc>
              <a:buNone/>
            </a:pPr>
            <a:r>
              <a:rPr lang="en-US" sz="920" b="1" dirty="0">
                <a:solidFill>
                  <a:srgbClr val="FFFFFF"/>
                </a:solidFill>
                <a:latin typeface="Hiragino Sans GB" pitchFamily="34" charset="0"/>
                <a:ea typeface="Hiragino Sans GB" pitchFamily="34" charset="-122"/>
                <a:cs typeface="Hiragino Sans GB" pitchFamily="34" charset="-120"/>
              </a:rPr>
              <a:t>目标架构：以 FLUS 作为土地利用模拟强基线，构建跨任务的“状态-行动-转移-规划-证据”公共内核。</a:t>
            </a:r>
            <a:endParaRPr lang="en-US" sz="9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GWM 总体架构</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GWM 总体架构：运行内核、空间动力学内核与领域实例</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可信状态、转移计算、递归运行、证据边界和领域适配共同构成 GWM 的研究与运行体系。</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 Runtime / Geospatial Kernel Relationship；Geospatial Kernel core architecture report</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15 / 29</a:t>
            </a:r>
            <a:endParaRPr lang="en-US" sz="670" dirty="0"/>
          </a:p>
        </p:txBody>
      </p:sp>
      <p:sp>
        <p:nvSpPr>
          <p:cNvPr id="10" name="Shape 8"/>
          <p:cNvSpPr/>
          <p:nvPr/>
        </p:nvSpPr>
        <p:spPr>
          <a:xfrm>
            <a:off x="658368" y="1481328"/>
            <a:ext cx="2011680" cy="658368"/>
          </a:xfrm>
          <a:prstGeom prst="roundRect">
            <a:avLst>
              <a:gd name="adj" fmla="val 6944"/>
            </a:avLst>
          </a:prstGeom>
          <a:solidFill>
            <a:srgbClr val="32474D"/>
          </a:solidFill>
          <a:ln w="12700">
            <a:solidFill>
              <a:srgbClr val="32474D"/>
            </a:solidFill>
            <a:prstDash val="solid"/>
          </a:ln>
        </p:spPr>
      </p:sp>
      <p:sp>
        <p:nvSpPr>
          <p:cNvPr id="11" name="Text 9"/>
          <p:cNvSpPr txBox="1"/>
          <p:nvPr/>
        </p:nvSpPr>
        <p:spPr>
          <a:xfrm>
            <a:off x="777240" y="1645920"/>
            <a:ext cx="1773936" cy="310896"/>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FFFFFF"/>
                </a:solidFill>
                <a:latin typeface="Hiragino Sans GB" pitchFamily="34" charset="0"/>
                <a:ea typeface="Hiragino Sans GB" pitchFamily="34" charset="-122"/>
                <a:cs typeface="Hiragino Sans GB" pitchFamily="34" charset="-120"/>
              </a:rPr>
              <a:t>权威数据与 GIS 底座</a:t>
            </a:r>
            <a:endParaRPr lang="en-US" sz="1080" dirty="0"/>
          </a:p>
        </p:txBody>
      </p:sp>
      <p:sp>
        <p:nvSpPr>
          <p:cNvPr id="12" name="Shape 10"/>
          <p:cNvSpPr/>
          <p:nvPr/>
        </p:nvSpPr>
        <p:spPr>
          <a:xfrm>
            <a:off x="2926080" y="1481328"/>
            <a:ext cx="2496312" cy="658368"/>
          </a:xfrm>
          <a:prstGeom prst="roundRect">
            <a:avLst>
              <a:gd name="adj" fmla="val 6944"/>
            </a:avLst>
          </a:prstGeom>
          <a:solidFill>
            <a:srgbClr val="EDF1F0"/>
          </a:solidFill>
          <a:ln w="8890">
            <a:solidFill>
              <a:srgbClr val="32474D"/>
            </a:solidFill>
            <a:prstDash val="solid"/>
          </a:ln>
        </p:spPr>
      </p:sp>
      <p:sp>
        <p:nvSpPr>
          <p:cNvPr id="13" name="Text 11"/>
          <p:cNvSpPr txBox="1"/>
          <p:nvPr/>
        </p:nvSpPr>
        <p:spPr>
          <a:xfrm>
            <a:off x="3054096" y="1600200"/>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17252A"/>
                </a:solidFill>
                <a:latin typeface="Hiragino Sans GB" pitchFamily="34" charset="0"/>
                <a:ea typeface="Hiragino Sans GB" pitchFamily="34" charset="-122"/>
                <a:cs typeface="Hiragino Sans GB" pitchFamily="34" charset="-120"/>
              </a:rPr>
              <a:t>一张图 / 调查监测</a:t>
            </a:r>
            <a:endParaRPr lang="en-US" sz="900" dirty="0"/>
          </a:p>
        </p:txBody>
      </p:sp>
      <p:sp>
        <p:nvSpPr>
          <p:cNvPr id="14" name="Shape 12"/>
          <p:cNvSpPr/>
          <p:nvPr/>
        </p:nvSpPr>
        <p:spPr>
          <a:xfrm>
            <a:off x="5715000" y="1481328"/>
            <a:ext cx="2496312" cy="658368"/>
          </a:xfrm>
          <a:prstGeom prst="roundRect">
            <a:avLst>
              <a:gd name="adj" fmla="val 6944"/>
            </a:avLst>
          </a:prstGeom>
          <a:solidFill>
            <a:srgbClr val="EDF1F0"/>
          </a:solidFill>
          <a:ln w="8890">
            <a:solidFill>
              <a:srgbClr val="32474D"/>
            </a:solidFill>
            <a:prstDash val="solid"/>
          </a:ln>
        </p:spPr>
      </p:sp>
      <p:sp>
        <p:nvSpPr>
          <p:cNvPr id="15" name="Text 13"/>
          <p:cNvSpPr txBox="1"/>
          <p:nvPr/>
        </p:nvSpPr>
        <p:spPr>
          <a:xfrm>
            <a:off x="5843016" y="1600200"/>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遥感 / IoT / 文书</a:t>
            </a:r>
            <a:endParaRPr lang="en-US" sz="900" dirty="0"/>
          </a:p>
        </p:txBody>
      </p:sp>
      <p:sp>
        <p:nvSpPr>
          <p:cNvPr id="16" name="Shape 14"/>
          <p:cNvSpPr/>
          <p:nvPr/>
        </p:nvSpPr>
        <p:spPr>
          <a:xfrm>
            <a:off x="8503920" y="1481328"/>
            <a:ext cx="2496312" cy="658368"/>
          </a:xfrm>
          <a:prstGeom prst="roundRect">
            <a:avLst>
              <a:gd name="adj" fmla="val 6944"/>
            </a:avLst>
          </a:prstGeom>
          <a:solidFill>
            <a:srgbClr val="EDF1F0"/>
          </a:solidFill>
          <a:ln w="8890">
            <a:solidFill>
              <a:srgbClr val="32474D"/>
            </a:solidFill>
            <a:prstDash val="solid"/>
          </a:ln>
        </p:spPr>
      </p:sp>
      <p:sp>
        <p:nvSpPr>
          <p:cNvPr id="17" name="Text 15"/>
          <p:cNvSpPr txBox="1"/>
          <p:nvPr/>
        </p:nvSpPr>
        <p:spPr>
          <a:xfrm>
            <a:off x="8631936" y="1600200"/>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CRS / 拓扑 / 版本 / 谱系</a:t>
            </a:r>
            <a:endParaRPr lang="en-US" sz="900" dirty="0"/>
          </a:p>
        </p:txBody>
      </p:sp>
      <p:sp>
        <p:nvSpPr>
          <p:cNvPr id="18" name="Shape 16"/>
          <p:cNvSpPr/>
          <p:nvPr/>
        </p:nvSpPr>
        <p:spPr>
          <a:xfrm>
            <a:off x="6080760" y="2157984"/>
            <a:ext cx="0" cy="201168"/>
          </a:xfrm>
          <a:prstGeom prst="line">
            <a:avLst/>
          </a:prstGeom>
          <a:noFill/>
          <a:ln w="16510">
            <a:solidFill>
              <a:srgbClr val="6C7C80"/>
            </a:solidFill>
            <a:prstDash val="solid"/>
            <a:tailEnd type="triangle"/>
          </a:ln>
        </p:spPr>
      </p:sp>
      <p:sp>
        <p:nvSpPr>
          <p:cNvPr id="19" name="Shape 17"/>
          <p:cNvSpPr/>
          <p:nvPr/>
        </p:nvSpPr>
        <p:spPr>
          <a:xfrm>
            <a:off x="658368" y="2377440"/>
            <a:ext cx="2011680" cy="658368"/>
          </a:xfrm>
          <a:prstGeom prst="roundRect">
            <a:avLst>
              <a:gd name="adj" fmla="val 6944"/>
            </a:avLst>
          </a:prstGeom>
          <a:solidFill>
            <a:srgbClr val="356CA8"/>
          </a:solidFill>
          <a:ln w="12700">
            <a:solidFill>
              <a:srgbClr val="356CA8"/>
            </a:solidFill>
            <a:prstDash val="solid"/>
          </a:ln>
        </p:spPr>
      </p:sp>
      <p:sp>
        <p:nvSpPr>
          <p:cNvPr id="20" name="Text 18"/>
          <p:cNvSpPr txBox="1"/>
          <p:nvPr/>
        </p:nvSpPr>
        <p:spPr>
          <a:xfrm>
            <a:off x="777240" y="2542032"/>
            <a:ext cx="1773936" cy="310896"/>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FFFFFF"/>
                </a:solidFill>
                <a:latin typeface="Hiragino Sans GB" pitchFamily="34" charset="0"/>
                <a:ea typeface="Hiragino Sans GB" pitchFamily="34" charset="-122"/>
                <a:cs typeface="Hiragino Sans GB" pitchFamily="34" charset="-120"/>
              </a:rPr>
              <a:t>GWM Runtime Kernel</a:t>
            </a:r>
            <a:endParaRPr lang="en-US" sz="1080" dirty="0"/>
          </a:p>
        </p:txBody>
      </p:sp>
      <p:sp>
        <p:nvSpPr>
          <p:cNvPr id="21" name="Shape 19"/>
          <p:cNvSpPr/>
          <p:nvPr/>
        </p:nvSpPr>
        <p:spPr>
          <a:xfrm>
            <a:off x="2926080" y="2377440"/>
            <a:ext cx="2496312" cy="658368"/>
          </a:xfrm>
          <a:prstGeom prst="roundRect">
            <a:avLst>
              <a:gd name="adj" fmla="val 6944"/>
            </a:avLst>
          </a:prstGeom>
          <a:solidFill>
            <a:srgbClr val="E7EFF8"/>
          </a:solidFill>
          <a:ln w="8890">
            <a:solidFill>
              <a:srgbClr val="356CA8"/>
            </a:solidFill>
            <a:prstDash val="solid"/>
          </a:ln>
        </p:spPr>
      </p:sp>
      <p:sp>
        <p:nvSpPr>
          <p:cNvPr id="22" name="Text 20"/>
          <p:cNvSpPr txBox="1"/>
          <p:nvPr/>
        </p:nvSpPr>
        <p:spPr>
          <a:xfrm>
            <a:off x="3054096" y="2496312"/>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17252A"/>
                </a:solidFill>
                <a:latin typeface="Hiragino Sans GB" pitchFamily="34" charset="0"/>
                <a:ea typeface="Hiragino Sans GB" pitchFamily="34" charset="-122"/>
                <a:cs typeface="Hiragino Sans GB" pitchFamily="34" charset="-120"/>
              </a:rPr>
              <a:t>StateSnapshot</a:t>
            </a:r>
            <a:endParaRPr lang="en-US" sz="900" dirty="0"/>
          </a:p>
        </p:txBody>
      </p:sp>
      <p:sp>
        <p:nvSpPr>
          <p:cNvPr id="23" name="Shape 21"/>
          <p:cNvSpPr/>
          <p:nvPr/>
        </p:nvSpPr>
        <p:spPr>
          <a:xfrm>
            <a:off x="5715000" y="2377440"/>
            <a:ext cx="2496312" cy="658368"/>
          </a:xfrm>
          <a:prstGeom prst="roundRect">
            <a:avLst>
              <a:gd name="adj" fmla="val 6944"/>
            </a:avLst>
          </a:prstGeom>
          <a:solidFill>
            <a:srgbClr val="E7EFF8"/>
          </a:solidFill>
          <a:ln w="8890">
            <a:solidFill>
              <a:srgbClr val="356CA8"/>
            </a:solidFill>
            <a:prstDash val="solid"/>
          </a:ln>
        </p:spPr>
      </p:sp>
      <p:sp>
        <p:nvSpPr>
          <p:cNvPr id="24" name="Text 22"/>
          <p:cNvSpPr txBox="1"/>
          <p:nvPr/>
        </p:nvSpPr>
        <p:spPr>
          <a:xfrm>
            <a:off x="5843016" y="2496312"/>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CanonicalAction / Transition</a:t>
            </a:r>
            <a:endParaRPr lang="en-US" sz="900" dirty="0"/>
          </a:p>
        </p:txBody>
      </p:sp>
      <p:sp>
        <p:nvSpPr>
          <p:cNvPr id="25" name="Shape 23"/>
          <p:cNvSpPr/>
          <p:nvPr/>
        </p:nvSpPr>
        <p:spPr>
          <a:xfrm>
            <a:off x="8503920" y="2377440"/>
            <a:ext cx="2496312" cy="658368"/>
          </a:xfrm>
          <a:prstGeom prst="roundRect">
            <a:avLst>
              <a:gd name="adj" fmla="val 6944"/>
            </a:avLst>
          </a:prstGeom>
          <a:solidFill>
            <a:srgbClr val="E7EFF8"/>
          </a:solidFill>
          <a:ln w="8890">
            <a:solidFill>
              <a:srgbClr val="356CA8"/>
            </a:solidFill>
            <a:prstDash val="solid"/>
          </a:ln>
        </p:spPr>
      </p:sp>
      <p:sp>
        <p:nvSpPr>
          <p:cNvPr id="26" name="Text 24"/>
          <p:cNvSpPr txBox="1"/>
          <p:nvPr/>
        </p:nvSpPr>
        <p:spPr>
          <a:xfrm>
            <a:off x="8631936" y="2496312"/>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写回 / Rollout / UQ / Evidence Ledger</a:t>
            </a:r>
            <a:endParaRPr lang="en-US" sz="900" dirty="0"/>
          </a:p>
        </p:txBody>
      </p:sp>
      <p:sp>
        <p:nvSpPr>
          <p:cNvPr id="27" name="Shape 25"/>
          <p:cNvSpPr/>
          <p:nvPr/>
        </p:nvSpPr>
        <p:spPr>
          <a:xfrm>
            <a:off x="6080760" y="3054096"/>
            <a:ext cx="0" cy="201168"/>
          </a:xfrm>
          <a:prstGeom prst="line">
            <a:avLst/>
          </a:prstGeom>
          <a:noFill/>
          <a:ln w="16510">
            <a:solidFill>
              <a:srgbClr val="6C7C80"/>
            </a:solidFill>
            <a:prstDash val="solid"/>
            <a:tailEnd type="triangle"/>
          </a:ln>
        </p:spPr>
      </p:sp>
      <p:sp>
        <p:nvSpPr>
          <p:cNvPr id="28" name="Shape 26"/>
          <p:cNvSpPr/>
          <p:nvPr/>
        </p:nvSpPr>
        <p:spPr>
          <a:xfrm>
            <a:off x="658368" y="3273552"/>
            <a:ext cx="2011680" cy="658368"/>
          </a:xfrm>
          <a:prstGeom prst="roundRect">
            <a:avLst>
              <a:gd name="adj" fmla="val 6944"/>
            </a:avLst>
          </a:prstGeom>
          <a:solidFill>
            <a:srgbClr val="0E5C59"/>
          </a:solidFill>
          <a:ln w="12700">
            <a:solidFill>
              <a:srgbClr val="0E5C59"/>
            </a:solidFill>
            <a:prstDash val="solid"/>
          </a:ln>
        </p:spPr>
      </p:sp>
      <p:sp>
        <p:nvSpPr>
          <p:cNvPr id="29" name="Text 27"/>
          <p:cNvSpPr txBox="1"/>
          <p:nvPr/>
        </p:nvSpPr>
        <p:spPr>
          <a:xfrm>
            <a:off x="777240" y="3438144"/>
            <a:ext cx="1773936" cy="310896"/>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FFFFFF"/>
                </a:solidFill>
                <a:latin typeface="Hiragino Sans GB" pitchFamily="34" charset="0"/>
                <a:ea typeface="Hiragino Sans GB" pitchFamily="34" charset="-122"/>
                <a:cs typeface="Hiragino Sans GB" pitchFamily="34" charset="-120"/>
              </a:rPr>
              <a:t>Geospatial Kernel</a:t>
            </a:r>
            <a:endParaRPr lang="en-US" sz="1080" dirty="0"/>
          </a:p>
        </p:txBody>
      </p:sp>
      <p:sp>
        <p:nvSpPr>
          <p:cNvPr id="30" name="Shape 28"/>
          <p:cNvSpPr/>
          <p:nvPr/>
        </p:nvSpPr>
        <p:spPr>
          <a:xfrm>
            <a:off x="2926080" y="3273552"/>
            <a:ext cx="2496312" cy="658368"/>
          </a:xfrm>
          <a:prstGeom prst="roundRect">
            <a:avLst>
              <a:gd name="adj" fmla="val 6944"/>
            </a:avLst>
          </a:prstGeom>
          <a:solidFill>
            <a:srgbClr val="E2F2EF"/>
          </a:solidFill>
          <a:ln w="8890">
            <a:solidFill>
              <a:srgbClr val="0E5C59"/>
            </a:solidFill>
            <a:prstDash val="solid"/>
          </a:ln>
        </p:spPr>
      </p:sp>
      <p:sp>
        <p:nvSpPr>
          <p:cNvPr id="31" name="Text 29"/>
          <p:cNvSpPr txBox="1"/>
          <p:nvPr/>
        </p:nvSpPr>
        <p:spPr>
          <a:xfrm>
            <a:off x="3054096" y="3392424"/>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17252A"/>
                </a:solidFill>
                <a:latin typeface="Hiragino Sans GB" pitchFamily="34" charset="0"/>
                <a:ea typeface="Hiragino Sans GB" pitchFamily="34" charset="-122"/>
                <a:cs typeface="Hiragino Sans GB" pitchFamily="34" charset="-120"/>
              </a:rPr>
              <a:t>DAM-GK</a:t>
            </a:r>
            <a:endParaRPr lang="en-US" sz="900" dirty="0"/>
          </a:p>
        </p:txBody>
      </p:sp>
      <p:sp>
        <p:nvSpPr>
          <p:cNvPr id="32" name="Shape 30"/>
          <p:cNvSpPr/>
          <p:nvPr/>
        </p:nvSpPr>
        <p:spPr>
          <a:xfrm>
            <a:off x="5715000" y="3273552"/>
            <a:ext cx="2496312" cy="658368"/>
          </a:xfrm>
          <a:prstGeom prst="roundRect">
            <a:avLst>
              <a:gd name="adj" fmla="val 6944"/>
            </a:avLst>
          </a:prstGeom>
          <a:solidFill>
            <a:srgbClr val="E2F2EF"/>
          </a:solidFill>
          <a:ln w="8890">
            <a:solidFill>
              <a:srgbClr val="0E5C59"/>
            </a:solidFill>
            <a:prstDash val="solid"/>
          </a:ln>
        </p:spPr>
      </p:sp>
      <p:sp>
        <p:nvSpPr>
          <p:cNvPr id="33" name="Text 31"/>
          <p:cNvSpPr txBox="1"/>
          <p:nvPr/>
        </p:nvSpPr>
        <p:spPr>
          <a:xfrm>
            <a:off x="5843016" y="3392424"/>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关系门控 / 时滞 / 软拓扑</a:t>
            </a:r>
            <a:endParaRPr lang="en-US" sz="900" dirty="0"/>
          </a:p>
        </p:txBody>
      </p:sp>
      <p:sp>
        <p:nvSpPr>
          <p:cNvPr id="34" name="Shape 32"/>
          <p:cNvSpPr/>
          <p:nvPr/>
        </p:nvSpPr>
        <p:spPr>
          <a:xfrm>
            <a:off x="8503920" y="3273552"/>
            <a:ext cx="2496312" cy="658368"/>
          </a:xfrm>
          <a:prstGeom prst="roundRect">
            <a:avLst>
              <a:gd name="adj" fmla="val 6944"/>
            </a:avLst>
          </a:prstGeom>
          <a:solidFill>
            <a:srgbClr val="E2F2EF"/>
          </a:solidFill>
          <a:ln w="8890">
            <a:solidFill>
              <a:srgbClr val="0E5C59"/>
            </a:solidFill>
            <a:prstDash val="solid"/>
          </a:ln>
        </p:spPr>
      </p:sp>
      <p:sp>
        <p:nvSpPr>
          <p:cNvPr id="35" name="Text 33"/>
          <p:cNvSpPr txBox="1"/>
          <p:nvPr/>
        </p:nvSpPr>
        <p:spPr>
          <a:xfrm>
            <a:off x="8631936" y="3392424"/>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概率转移 / 多尺度一致性</a:t>
            </a:r>
            <a:endParaRPr lang="en-US" sz="900" dirty="0"/>
          </a:p>
        </p:txBody>
      </p:sp>
      <p:sp>
        <p:nvSpPr>
          <p:cNvPr id="36" name="Shape 34"/>
          <p:cNvSpPr/>
          <p:nvPr/>
        </p:nvSpPr>
        <p:spPr>
          <a:xfrm>
            <a:off x="6080760" y="3950208"/>
            <a:ext cx="0" cy="201168"/>
          </a:xfrm>
          <a:prstGeom prst="line">
            <a:avLst/>
          </a:prstGeom>
          <a:noFill/>
          <a:ln w="16510">
            <a:solidFill>
              <a:srgbClr val="6C7C80"/>
            </a:solidFill>
            <a:prstDash val="solid"/>
            <a:tailEnd type="triangle"/>
          </a:ln>
        </p:spPr>
      </p:sp>
      <p:sp>
        <p:nvSpPr>
          <p:cNvPr id="37" name="Shape 35"/>
          <p:cNvSpPr/>
          <p:nvPr/>
        </p:nvSpPr>
        <p:spPr>
          <a:xfrm>
            <a:off x="658368" y="4169664"/>
            <a:ext cx="2011680" cy="658368"/>
          </a:xfrm>
          <a:prstGeom prst="roundRect">
            <a:avLst>
              <a:gd name="adj" fmla="val 6944"/>
            </a:avLst>
          </a:prstGeom>
          <a:solidFill>
            <a:srgbClr val="2D8A57"/>
          </a:solidFill>
          <a:ln w="12700">
            <a:solidFill>
              <a:srgbClr val="2D8A57"/>
            </a:solidFill>
            <a:prstDash val="solid"/>
          </a:ln>
        </p:spPr>
      </p:sp>
      <p:sp>
        <p:nvSpPr>
          <p:cNvPr id="38" name="Text 36"/>
          <p:cNvSpPr txBox="1"/>
          <p:nvPr/>
        </p:nvSpPr>
        <p:spPr>
          <a:xfrm>
            <a:off x="777240" y="4334256"/>
            <a:ext cx="1773936" cy="310896"/>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FFFFFF"/>
                </a:solidFill>
                <a:latin typeface="Hiragino Sans GB" pitchFamily="34" charset="0"/>
                <a:ea typeface="Hiragino Sans GB" pitchFamily="34" charset="-122"/>
                <a:cs typeface="Hiragino Sans GB" pitchFamily="34" charset="-120"/>
              </a:rPr>
              <a:t>领域适配与任务</a:t>
            </a:r>
            <a:endParaRPr lang="en-US" sz="1080" dirty="0"/>
          </a:p>
        </p:txBody>
      </p:sp>
      <p:sp>
        <p:nvSpPr>
          <p:cNvPr id="39" name="Shape 37"/>
          <p:cNvSpPr/>
          <p:nvPr/>
        </p:nvSpPr>
        <p:spPr>
          <a:xfrm>
            <a:off x="2926080" y="4169664"/>
            <a:ext cx="2496312" cy="658368"/>
          </a:xfrm>
          <a:prstGeom prst="roundRect">
            <a:avLst>
              <a:gd name="adj" fmla="val 6944"/>
            </a:avLst>
          </a:prstGeom>
          <a:solidFill>
            <a:srgbClr val="E7F3EA"/>
          </a:solidFill>
          <a:ln w="8890">
            <a:solidFill>
              <a:srgbClr val="2D8A57"/>
            </a:solidFill>
            <a:prstDash val="solid"/>
          </a:ln>
        </p:spPr>
      </p:sp>
      <p:sp>
        <p:nvSpPr>
          <p:cNvPr id="40" name="Text 38"/>
          <p:cNvSpPr txBox="1"/>
          <p:nvPr/>
        </p:nvSpPr>
        <p:spPr>
          <a:xfrm>
            <a:off x="3054096" y="4288536"/>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17252A"/>
                </a:solidFill>
                <a:latin typeface="Hiragino Sans GB" pitchFamily="34" charset="0"/>
                <a:ea typeface="Hiragino Sans GB" pitchFamily="34" charset="-122"/>
                <a:cs typeface="Hiragino Sans GB" pitchFamily="34" charset="-120"/>
              </a:rPr>
              <a:t>TWM 自然资源</a:t>
            </a:r>
            <a:endParaRPr lang="en-US" sz="900" dirty="0"/>
          </a:p>
        </p:txBody>
      </p:sp>
      <p:sp>
        <p:nvSpPr>
          <p:cNvPr id="41" name="Shape 39"/>
          <p:cNvSpPr/>
          <p:nvPr/>
        </p:nvSpPr>
        <p:spPr>
          <a:xfrm>
            <a:off x="5715000" y="4169664"/>
            <a:ext cx="2496312" cy="658368"/>
          </a:xfrm>
          <a:prstGeom prst="roundRect">
            <a:avLst>
              <a:gd name="adj" fmla="val 6944"/>
            </a:avLst>
          </a:prstGeom>
          <a:solidFill>
            <a:srgbClr val="E7F3EA"/>
          </a:solidFill>
          <a:ln w="8890">
            <a:solidFill>
              <a:srgbClr val="2D8A57"/>
            </a:solidFill>
            <a:prstDash val="solid"/>
          </a:ln>
        </p:spPr>
      </p:sp>
      <p:sp>
        <p:nvSpPr>
          <p:cNvPr id="42" name="Text 40"/>
          <p:cNvSpPr txBox="1"/>
          <p:nvPr/>
        </p:nvSpPr>
        <p:spPr>
          <a:xfrm>
            <a:off x="5843016" y="4288536"/>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UWM 城市系统</a:t>
            </a:r>
            <a:endParaRPr lang="en-US" sz="900" dirty="0"/>
          </a:p>
        </p:txBody>
      </p:sp>
      <p:sp>
        <p:nvSpPr>
          <p:cNvPr id="43" name="Shape 41"/>
          <p:cNvSpPr/>
          <p:nvPr/>
        </p:nvSpPr>
        <p:spPr>
          <a:xfrm>
            <a:off x="8503920" y="4169664"/>
            <a:ext cx="2496312" cy="658368"/>
          </a:xfrm>
          <a:prstGeom prst="roundRect">
            <a:avLst>
              <a:gd name="adj" fmla="val 6944"/>
            </a:avLst>
          </a:prstGeom>
          <a:solidFill>
            <a:srgbClr val="E7F3EA"/>
          </a:solidFill>
          <a:ln w="8890">
            <a:solidFill>
              <a:srgbClr val="2D8A57"/>
            </a:solidFill>
            <a:prstDash val="solid"/>
          </a:ln>
        </p:spPr>
      </p:sp>
      <p:sp>
        <p:nvSpPr>
          <p:cNvPr id="44" name="Text 42"/>
          <p:cNvSpPr txBox="1"/>
          <p:nvPr/>
        </p:nvSpPr>
        <p:spPr>
          <a:xfrm>
            <a:off x="8631936" y="4288536"/>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HydroControl 水文验证</a:t>
            </a:r>
            <a:endParaRPr lang="en-US" sz="900" dirty="0"/>
          </a:p>
        </p:txBody>
      </p:sp>
      <p:sp>
        <p:nvSpPr>
          <p:cNvPr id="45" name="Shape 43"/>
          <p:cNvSpPr/>
          <p:nvPr/>
        </p:nvSpPr>
        <p:spPr>
          <a:xfrm>
            <a:off x="6080760" y="4846320"/>
            <a:ext cx="0" cy="201168"/>
          </a:xfrm>
          <a:prstGeom prst="line">
            <a:avLst/>
          </a:prstGeom>
          <a:noFill/>
          <a:ln w="16510">
            <a:solidFill>
              <a:srgbClr val="6C7C80"/>
            </a:solidFill>
            <a:prstDash val="solid"/>
            <a:tailEnd type="triangle"/>
          </a:ln>
        </p:spPr>
      </p:sp>
      <p:sp>
        <p:nvSpPr>
          <p:cNvPr id="46" name="Shape 44"/>
          <p:cNvSpPr/>
          <p:nvPr/>
        </p:nvSpPr>
        <p:spPr>
          <a:xfrm>
            <a:off x="658368" y="5065776"/>
            <a:ext cx="2011680" cy="658368"/>
          </a:xfrm>
          <a:prstGeom prst="roundRect">
            <a:avLst>
              <a:gd name="adj" fmla="val 6944"/>
            </a:avLst>
          </a:prstGeom>
          <a:solidFill>
            <a:srgbClr val="B17B20"/>
          </a:solidFill>
          <a:ln w="12700">
            <a:solidFill>
              <a:srgbClr val="B17B20"/>
            </a:solidFill>
            <a:prstDash val="solid"/>
          </a:ln>
        </p:spPr>
      </p:sp>
      <p:sp>
        <p:nvSpPr>
          <p:cNvPr id="47" name="Text 45"/>
          <p:cNvSpPr txBox="1"/>
          <p:nvPr/>
        </p:nvSpPr>
        <p:spPr>
          <a:xfrm>
            <a:off x="777240" y="5230368"/>
            <a:ext cx="1773936" cy="310896"/>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FFFFFF"/>
                </a:solidFill>
                <a:latin typeface="Hiragino Sans GB" pitchFamily="34" charset="0"/>
                <a:ea typeface="Hiragino Sans GB" pitchFamily="34" charset="-122"/>
                <a:cs typeface="Hiragino Sans GB" pitchFamily="34" charset="-120"/>
              </a:rPr>
              <a:t>业务消费</a:t>
            </a:r>
            <a:endParaRPr lang="en-US" sz="1080" dirty="0"/>
          </a:p>
        </p:txBody>
      </p:sp>
      <p:sp>
        <p:nvSpPr>
          <p:cNvPr id="48" name="Shape 46"/>
          <p:cNvSpPr/>
          <p:nvPr/>
        </p:nvSpPr>
        <p:spPr>
          <a:xfrm>
            <a:off x="2926080" y="5065776"/>
            <a:ext cx="2496312" cy="658368"/>
          </a:xfrm>
          <a:prstGeom prst="roundRect">
            <a:avLst>
              <a:gd name="adj" fmla="val 6944"/>
            </a:avLst>
          </a:prstGeom>
          <a:solidFill>
            <a:srgbClr val="FFF3D9"/>
          </a:solidFill>
          <a:ln w="8890">
            <a:solidFill>
              <a:srgbClr val="B17B20"/>
            </a:solidFill>
            <a:prstDash val="solid"/>
          </a:ln>
        </p:spPr>
      </p:sp>
      <p:sp>
        <p:nvSpPr>
          <p:cNvPr id="49" name="Text 47"/>
          <p:cNvSpPr txBox="1"/>
          <p:nvPr/>
        </p:nvSpPr>
        <p:spPr>
          <a:xfrm>
            <a:off x="3054096" y="5184648"/>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b="1" dirty="0">
                <a:solidFill>
                  <a:srgbClr val="17252A"/>
                </a:solidFill>
                <a:latin typeface="Hiragino Sans GB" pitchFamily="34" charset="0"/>
                <a:ea typeface="Hiragino Sans GB" pitchFamily="34" charset="-122"/>
                <a:cs typeface="Hiragino Sans GB" pitchFamily="34" charset="-120"/>
              </a:rPr>
              <a:t>Simulator / Planner</a:t>
            </a:r>
            <a:endParaRPr lang="en-US" sz="900" dirty="0"/>
          </a:p>
        </p:txBody>
      </p:sp>
      <p:sp>
        <p:nvSpPr>
          <p:cNvPr id="50" name="Shape 48"/>
          <p:cNvSpPr/>
          <p:nvPr/>
        </p:nvSpPr>
        <p:spPr>
          <a:xfrm>
            <a:off x="5715000" y="5065776"/>
            <a:ext cx="2496312" cy="658368"/>
          </a:xfrm>
          <a:prstGeom prst="roundRect">
            <a:avLst>
              <a:gd name="adj" fmla="val 6944"/>
            </a:avLst>
          </a:prstGeom>
          <a:solidFill>
            <a:srgbClr val="FFF3D9"/>
          </a:solidFill>
          <a:ln w="8890">
            <a:solidFill>
              <a:srgbClr val="B17B20"/>
            </a:solidFill>
            <a:prstDash val="solid"/>
          </a:ln>
        </p:spPr>
      </p:sp>
      <p:sp>
        <p:nvSpPr>
          <p:cNvPr id="51" name="Text 49"/>
          <p:cNvSpPr txBox="1"/>
          <p:nvPr/>
        </p:nvSpPr>
        <p:spPr>
          <a:xfrm>
            <a:off x="5843016" y="5184648"/>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风险预警 / 方案比选</a:t>
            </a:r>
            <a:endParaRPr lang="en-US" sz="900" dirty="0"/>
          </a:p>
        </p:txBody>
      </p:sp>
      <p:sp>
        <p:nvSpPr>
          <p:cNvPr id="52" name="Shape 50"/>
          <p:cNvSpPr/>
          <p:nvPr/>
        </p:nvSpPr>
        <p:spPr>
          <a:xfrm>
            <a:off x="8503920" y="5065776"/>
            <a:ext cx="2496312" cy="658368"/>
          </a:xfrm>
          <a:prstGeom prst="roundRect">
            <a:avLst>
              <a:gd name="adj" fmla="val 6944"/>
            </a:avLst>
          </a:prstGeom>
          <a:solidFill>
            <a:srgbClr val="FFF3D9"/>
          </a:solidFill>
          <a:ln w="8890">
            <a:solidFill>
              <a:srgbClr val="B17B20"/>
            </a:solidFill>
            <a:prstDash val="solid"/>
          </a:ln>
        </p:spPr>
      </p:sp>
      <p:sp>
        <p:nvSpPr>
          <p:cNvPr id="53" name="Text 51"/>
          <p:cNvSpPr txBox="1"/>
          <p:nvPr/>
        </p:nvSpPr>
        <p:spPr>
          <a:xfrm>
            <a:off x="8631936" y="5184648"/>
            <a:ext cx="2240280" cy="384048"/>
          </a:xfrm>
          <a:prstGeom prst="rect">
            <a:avLst/>
          </a:prstGeom>
          <a:noFill/>
          <a:ln/>
        </p:spPr>
        <p:txBody>
          <a:bodyPr wrap="square" lIns="0" tIns="0" rIns="0" bIns="0" rtlCol="0" anchor="ctr">
            <a:normAutofit/>
          </a:bodyPr>
          <a:lstStyle/>
          <a:p>
            <a:pPr algn="ctr" indent="0" marL="0">
              <a:lnSpc>
                <a:spcPct val="92000"/>
              </a:lnSpc>
              <a:buNone/>
            </a:pPr>
            <a:r>
              <a:rPr lang="en-US" sz="900" dirty="0">
                <a:solidFill>
                  <a:srgbClr val="17252A"/>
                </a:solidFill>
                <a:latin typeface="Hiragino Sans GB" pitchFamily="34" charset="0"/>
                <a:ea typeface="Hiragino Sans GB" pitchFamily="34" charset="-122"/>
                <a:cs typeface="Hiragino Sans GB" pitchFamily="34" charset="-120"/>
              </a:rPr>
              <a:t>人工复核 / GIS 回写 / 审计</a:t>
            </a:r>
            <a:endParaRPr lang="en-US" sz="900" dirty="0"/>
          </a:p>
        </p:txBody>
      </p:sp>
      <p:sp>
        <p:nvSpPr>
          <p:cNvPr id="54" name="Text 52"/>
          <p:cNvSpPr txBox="1"/>
          <p:nvPr/>
        </p:nvSpPr>
        <p:spPr>
          <a:xfrm>
            <a:off x="9802368" y="2157984"/>
            <a:ext cx="1572768" cy="201168"/>
          </a:xfrm>
          <a:prstGeom prst="rect">
            <a:avLst/>
          </a:prstGeom>
          <a:noFill/>
          <a:ln/>
        </p:spPr>
        <p:txBody>
          <a:bodyPr wrap="square" lIns="0" tIns="0" rIns="0" bIns="0" rtlCol="0" anchor="ctr">
            <a:normAutofit/>
          </a:bodyPr>
          <a:lstStyle/>
          <a:p>
            <a:pPr algn="ctr" indent="0" marL="0">
              <a:lnSpc>
                <a:spcPct val="92000"/>
              </a:lnSpc>
              <a:buNone/>
            </a:pPr>
            <a:r>
              <a:rPr lang="en-US" sz="740" b="1" dirty="0">
                <a:solidFill>
                  <a:srgbClr val="B04A50"/>
                </a:solidFill>
                <a:latin typeface="Hiragino Sans GB" pitchFamily="34" charset="0"/>
                <a:ea typeface="Hiragino Sans GB" pitchFamily="34" charset="-122"/>
                <a:cs typeface="Hiragino Sans GB" pitchFamily="34" charset="-120"/>
              </a:rPr>
              <a:t>架构关系</a:t>
            </a:r>
            <a:endParaRPr lang="en-US" sz="740" dirty="0"/>
          </a:p>
        </p:txBody>
      </p:sp>
      <p:sp>
        <p:nvSpPr>
          <p:cNvPr id="55" name="Shape 53"/>
          <p:cNvSpPr/>
          <p:nvPr/>
        </p:nvSpPr>
        <p:spPr>
          <a:xfrm>
            <a:off x="10579608" y="2414016"/>
            <a:ext cx="0" cy="1335024"/>
          </a:xfrm>
          <a:prstGeom prst="line">
            <a:avLst/>
          </a:prstGeom>
          <a:noFill/>
          <a:ln w="17780">
            <a:solidFill>
              <a:srgbClr val="B04A50"/>
            </a:solidFill>
            <a:prstDash val="dash"/>
            <a:tailEnd type="triangle"/>
          </a:ln>
        </p:spPr>
      </p:sp>
      <p:sp>
        <p:nvSpPr>
          <p:cNvPr id="56" name="Text 54"/>
          <p:cNvSpPr txBox="1"/>
          <p:nvPr/>
        </p:nvSpPr>
        <p:spPr>
          <a:xfrm>
            <a:off x="9582912" y="3895344"/>
            <a:ext cx="1993392" cy="457200"/>
          </a:xfrm>
          <a:prstGeom prst="rect">
            <a:avLst/>
          </a:prstGeom>
          <a:noFill/>
          <a:ln/>
        </p:spPr>
        <p:txBody>
          <a:bodyPr wrap="square" lIns="0" tIns="0" rIns="0" bIns="0" rtlCol="0" anchor="t">
            <a:normAutofit/>
          </a:bodyPr>
          <a:lstStyle/>
          <a:p>
            <a:pPr algn="ctr" indent="0" marL="0">
              <a:lnSpc>
                <a:spcPct val="92000"/>
              </a:lnSpc>
              <a:buNone/>
            </a:pPr>
            <a:r>
              <a:rPr lang="en-US" sz="860" b="1" dirty="0">
                <a:solidFill>
                  <a:srgbClr val="B04A50"/>
                </a:solidFill>
                <a:latin typeface="Hiragino Sans GB" pitchFamily="34" charset="0"/>
                <a:ea typeface="Hiragino Sans GB" pitchFamily="34" charset="-122"/>
                <a:cs typeface="Hiragino Sans GB" pitchFamily="34" charset="-120"/>
              </a:rPr>
              <a:t>Runtime：可靠运行与审计</a:t>
            </a:r>
            <a:endParaRPr lang="en-US" sz="860" dirty="0"/>
          </a:p>
          <a:p>
            <a:pPr algn="ctr" indent="0" marL="0">
              <a:lnSpc>
                <a:spcPct val="92000"/>
              </a:lnSpc>
              <a:buNone/>
            </a:pPr>
            <a:r>
              <a:rPr lang="en-US" sz="860" b="1" dirty="0">
                <a:solidFill>
                  <a:srgbClr val="B04A50"/>
                </a:solidFill>
                <a:latin typeface="Hiragino Sans GB" pitchFamily="34" charset="0"/>
                <a:ea typeface="Hiragino Sans GB" pitchFamily="34" charset="-122"/>
                <a:cs typeface="Hiragino Sans GB" pitchFamily="34" charset="-120"/>
              </a:rPr>
              <a:t>Kernel：空间状态转移</a:t>
            </a:r>
            <a:endParaRPr lang="en-US" sz="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DAM Geospatial Kernel</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DAM-GK：行动条件、多尺度、动态空间转移内核</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Dynamic Action-conditioned Multi-scale 在动态空间图上建模行动、时滞、传播和拓扑变化。</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正式定义：docs/research/DAM_GK_RESEARCH_SPEC.md</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16 / 29</a:t>
            </a:r>
            <a:endParaRPr lang="en-US" sz="670" dirty="0"/>
          </a:p>
        </p:txBody>
      </p:sp>
      <p:sp>
        <p:nvSpPr>
          <p:cNvPr id="10" name="Shape 8"/>
          <p:cNvSpPr/>
          <p:nvPr/>
        </p:nvSpPr>
        <p:spPr>
          <a:xfrm>
            <a:off x="603504" y="1572768"/>
            <a:ext cx="2779776" cy="3063240"/>
          </a:xfrm>
          <a:prstGeom prst="roundRect">
            <a:avLst>
              <a:gd name="adj" fmla="val 1974"/>
            </a:avLst>
          </a:prstGeom>
          <a:solidFill>
            <a:srgbClr val="FFFFFF"/>
          </a:solidFill>
          <a:ln w="10160">
            <a:solidFill>
              <a:srgbClr val="D0DBD8"/>
            </a:solidFill>
            <a:prstDash val="solid"/>
          </a:ln>
        </p:spPr>
      </p:sp>
      <p:sp>
        <p:nvSpPr>
          <p:cNvPr id="11" name="Text 9"/>
          <p:cNvSpPr txBox="1"/>
          <p:nvPr/>
        </p:nvSpPr>
        <p:spPr>
          <a:xfrm>
            <a:off x="850392" y="1810512"/>
            <a:ext cx="2286000" cy="274320"/>
          </a:xfrm>
          <a:prstGeom prst="rect">
            <a:avLst/>
          </a:prstGeom>
          <a:noFill/>
          <a:ln/>
        </p:spPr>
        <p:txBody>
          <a:bodyPr wrap="square" lIns="0" tIns="0" rIns="0" bIns="0" rtlCol="0" anchor="ctr">
            <a:normAutofit/>
          </a:bodyPr>
          <a:lstStyle/>
          <a:p>
            <a:pPr algn="ctr" indent="0" marL="0">
              <a:lnSpc>
                <a:spcPct val="92000"/>
              </a:lnSpc>
              <a:buNone/>
            </a:pPr>
            <a:r>
              <a:rPr lang="en-US" sz="1350" b="1" dirty="0">
                <a:solidFill>
                  <a:srgbClr val="17252A"/>
                </a:solidFill>
                <a:latin typeface="Hiragino Sans GB" pitchFamily="34" charset="0"/>
                <a:ea typeface="Hiragino Sans GB" pitchFamily="34" charset="-122"/>
                <a:cs typeface="Hiragino Sans GB" pitchFamily="34" charset="-120"/>
              </a:rPr>
              <a:t>输入世界状态</a:t>
            </a:r>
            <a:endParaRPr lang="en-US" sz="1350" dirty="0"/>
          </a:p>
        </p:txBody>
      </p:sp>
      <p:sp>
        <p:nvSpPr>
          <p:cNvPr id="12" name="Text 10"/>
          <p:cNvSpPr txBox="1"/>
          <p:nvPr/>
        </p:nvSpPr>
        <p:spPr>
          <a:xfrm>
            <a:off x="896112" y="2286000"/>
            <a:ext cx="493776" cy="228600"/>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356CA8"/>
                </a:solidFill>
                <a:latin typeface="Arial" pitchFamily="34" charset="0"/>
                <a:ea typeface="Arial" pitchFamily="34" charset="-122"/>
                <a:cs typeface="Arial" pitchFamily="34" charset="-120"/>
              </a:rPr>
              <a:t>Gₜ</a:t>
            </a:r>
            <a:endParaRPr lang="en-US" sz="1200" dirty="0"/>
          </a:p>
        </p:txBody>
      </p:sp>
      <p:sp>
        <p:nvSpPr>
          <p:cNvPr id="13" name="Text 11"/>
          <p:cNvSpPr txBox="1"/>
          <p:nvPr/>
        </p:nvSpPr>
        <p:spPr>
          <a:xfrm>
            <a:off x="1490472" y="2286000"/>
            <a:ext cx="1554480" cy="228600"/>
          </a:xfrm>
          <a:prstGeom prst="rect">
            <a:avLst/>
          </a:prstGeom>
          <a:noFill/>
          <a:ln/>
        </p:spPr>
        <p:txBody>
          <a:bodyPr wrap="square" lIns="0" tIns="0" rIns="0" bIns="0" rtlCol="0" anchor="ctr">
            <a:normAutofit/>
          </a:bodyPr>
          <a:lstStyle/>
          <a:p>
            <a:pPr algn="l"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多关系空间图</a:t>
            </a:r>
            <a:endParaRPr lang="en-US" sz="880" dirty="0"/>
          </a:p>
        </p:txBody>
      </p:sp>
      <p:sp>
        <p:nvSpPr>
          <p:cNvPr id="14" name="Text 12"/>
          <p:cNvSpPr txBox="1"/>
          <p:nvPr/>
        </p:nvSpPr>
        <p:spPr>
          <a:xfrm>
            <a:off x="896112" y="2715768"/>
            <a:ext cx="493776" cy="228600"/>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356CA8"/>
                </a:solidFill>
                <a:latin typeface="Arial" pitchFamily="34" charset="0"/>
                <a:ea typeface="Arial" pitchFamily="34" charset="-122"/>
                <a:cs typeface="Arial" pitchFamily="34" charset="-120"/>
              </a:rPr>
              <a:t>Sₜ</a:t>
            </a:r>
            <a:endParaRPr lang="en-US" sz="1200" dirty="0"/>
          </a:p>
        </p:txBody>
      </p:sp>
      <p:sp>
        <p:nvSpPr>
          <p:cNvPr id="15" name="Text 13"/>
          <p:cNvSpPr txBox="1"/>
          <p:nvPr/>
        </p:nvSpPr>
        <p:spPr>
          <a:xfrm>
            <a:off x="1490472" y="2715768"/>
            <a:ext cx="1554480" cy="228600"/>
          </a:xfrm>
          <a:prstGeom prst="rect">
            <a:avLst/>
          </a:prstGeom>
          <a:noFill/>
          <a:ln/>
        </p:spPr>
        <p:txBody>
          <a:bodyPr wrap="square" lIns="0" tIns="0" rIns="0" bIns="0" rtlCol="0" anchor="ctr">
            <a:normAutofit/>
          </a:bodyPr>
          <a:lstStyle/>
          <a:p>
            <a:pPr algn="l"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节点 / 场当前状态</a:t>
            </a:r>
            <a:endParaRPr lang="en-US" sz="880" dirty="0"/>
          </a:p>
        </p:txBody>
      </p:sp>
      <p:sp>
        <p:nvSpPr>
          <p:cNvPr id="16" name="Text 14"/>
          <p:cNvSpPr txBox="1"/>
          <p:nvPr/>
        </p:nvSpPr>
        <p:spPr>
          <a:xfrm>
            <a:off x="896112" y="3145536"/>
            <a:ext cx="493776" cy="228600"/>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356CA8"/>
                </a:solidFill>
                <a:latin typeface="Arial" pitchFamily="34" charset="0"/>
                <a:ea typeface="Arial" pitchFamily="34" charset="-122"/>
                <a:cs typeface="Arial" pitchFamily="34" charset="-120"/>
              </a:rPr>
              <a:t>Aₜ</a:t>
            </a:r>
            <a:endParaRPr lang="en-US" sz="1200" dirty="0"/>
          </a:p>
        </p:txBody>
      </p:sp>
      <p:sp>
        <p:nvSpPr>
          <p:cNvPr id="17" name="Text 15"/>
          <p:cNvSpPr txBox="1"/>
          <p:nvPr/>
        </p:nvSpPr>
        <p:spPr>
          <a:xfrm>
            <a:off x="1490472" y="3145536"/>
            <a:ext cx="1554480" cy="228600"/>
          </a:xfrm>
          <a:prstGeom prst="rect">
            <a:avLst/>
          </a:prstGeom>
          <a:noFill/>
          <a:ln/>
        </p:spPr>
        <p:txBody>
          <a:bodyPr wrap="square" lIns="0" tIns="0" rIns="0" bIns="0" rtlCol="0" anchor="ctr">
            <a:normAutofit/>
          </a:bodyPr>
          <a:lstStyle/>
          <a:p>
            <a:pPr algn="l"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行动类型 / 目标 / 强度</a:t>
            </a:r>
            <a:endParaRPr lang="en-US" sz="880" dirty="0"/>
          </a:p>
        </p:txBody>
      </p:sp>
      <p:sp>
        <p:nvSpPr>
          <p:cNvPr id="18" name="Text 16"/>
          <p:cNvSpPr txBox="1"/>
          <p:nvPr/>
        </p:nvSpPr>
        <p:spPr>
          <a:xfrm>
            <a:off x="896112" y="3575304"/>
            <a:ext cx="493776" cy="228600"/>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356CA8"/>
                </a:solidFill>
                <a:latin typeface="Arial" pitchFamily="34" charset="0"/>
                <a:ea typeface="Arial" pitchFamily="34" charset="-122"/>
                <a:cs typeface="Arial" pitchFamily="34" charset="-120"/>
              </a:rPr>
              <a:t>Cₜ</a:t>
            </a:r>
            <a:endParaRPr lang="en-US" sz="1200" dirty="0"/>
          </a:p>
        </p:txBody>
      </p:sp>
      <p:sp>
        <p:nvSpPr>
          <p:cNvPr id="19" name="Text 17"/>
          <p:cNvSpPr txBox="1"/>
          <p:nvPr/>
        </p:nvSpPr>
        <p:spPr>
          <a:xfrm>
            <a:off x="1490472" y="3575304"/>
            <a:ext cx="1554480" cy="228600"/>
          </a:xfrm>
          <a:prstGeom prst="rect">
            <a:avLst/>
          </a:prstGeom>
          <a:noFill/>
          <a:ln/>
        </p:spPr>
        <p:txBody>
          <a:bodyPr wrap="square" lIns="0" tIns="0" rIns="0" bIns="0" rtlCol="0" anchor="ctr">
            <a:normAutofit/>
          </a:bodyPr>
          <a:lstStyle/>
          <a:p>
            <a:pPr algn="l"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时间 / forcing / 区域上下文</a:t>
            </a:r>
            <a:endParaRPr lang="en-US" sz="880" dirty="0"/>
          </a:p>
        </p:txBody>
      </p:sp>
      <p:sp>
        <p:nvSpPr>
          <p:cNvPr id="20" name="Text 18"/>
          <p:cNvSpPr txBox="1"/>
          <p:nvPr/>
        </p:nvSpPr>
        <p:spPr>
          <a:xfrm>
            <a:off x="896112" y="4005072"/>
            <a:ext cx="493776" cy="228600"/>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356CA8"/>
                </a:solidFill>
                <a:latin typeface="Arial" pitchFamily="34" charset="0"/>
                <a:ea typeface="Arial" pitchFamily="34" charset="-122"/>
                <a:cs typeface="Arial" pitchFamily="34" charset="-120"/>
              </a:rPr>
              <a:t>Eₜ</a:t>
            </a:r>
            <a:endParaRPr lang="en-US" sz="1200" dirty="0"/>
          </a:p>
        </p:txBody>
      </p:sp>
      <p:sp>
        <p:nvSpPr>
          <p:cNvPr id="21" name="Text 19"/>
          <p:cNvSpPr txBox="1"/>
          <p:nvPr/>
        </p:nvSpPr>
        <p:spPr>
          <a:xfrm>
            <a:off x="1490472" y="4005072"/>
            <a:ext cx="1554480" cy="228600"/>
          </a:xfrm>
          <a:prstGeom prst="rect">
            <a:avLst/>
          </a:prstGeom>
          <a:noFill/>
          <a:ln/>
        </p:spPr>
        <p:txBody>
          <a:bodyPr wrap="square" lIns="0" tIns="0" rIns="0" bIns="0" rtlCol="0" anchor="ctr">
            <a:normAutofit/>
          </a:bodyPr>
          <a:lstStyle/>
          <a:p>
            <a:pPr algn="l" indent="0" marL="0">
              <a:lnSpc>
                <a:spcPct val="92000"/>
              </a:lnSpc>
              <a:buNone/>
            </a:pPr>
            <a:r>
              <a:rPr lang="en-US" sz="880" dirty="0">
                <a:solidFill>
                  <a:srgbClr val="32474D"/>
                </a:solidFill>
                <a:latin typeface="Hiragino Sans GB" pitchFamily="34" charset="0"/>
                <a:ea typeface="Hiragino Sans GB" pitchFamily="34" charset="-122"/>
                <a:cs typeface="Hiragino Sans GB" pitchFamily="34" charset="-120"/>
              </a:rPr>
              <a:t>Gₜ 内边属性：距离 / 方向 / 地形 / 尺度</a:t>
            </a:r>
            <a:endParaRPr lang="en-US" sz="880" dirty="0"/>
          </a:p>
        </p:txBody>
      </p:sp>
      <p:sp>
        <p:nvSpPr>
          <p:cNvPr id="22" name="Shape 20"/>
          <p:cNvSpPr/>
          <p:nvPr/>
        </p:nvSpPr>
        <p:spPr>
          <a:xfrm>
            <a:off x="3593592" y="3008376"/>
            <a:ext cx="658368" cy="0"/>
          </a:xfrm>
          <a:prstGeom prst="line">
            <a:avLst/>
          </a:prstGeom>
          <a:noFill/>
          <a:ln w="20320">
            <a:solidFill>
              <a:srgbClr val="137F7A"/>
            </a:solidFill>
            <a:prstDash val="solid"/>
            <a:tailEnd type="triangle"/>
          </a:ln>
        </p:spPr>
      </p:sp>
      <p:sp>
        <p:nvSpPr>
          <p:cNvPr id="23" name="Shape 21"/>
          <p:cNvSpPr/>
          <p:nvPr/>
        </p:nvSpPr>
        <p:spPr>
          <a:xfrm>
            <a:off x="4498848" y="1572768"/>
            <a:ext cx="3246120" cy="3063240"/>
          </a:xfrm>
          <a:prstGeom prst="roundRect">
            <a:avLst>
              <a:gd name="adj" fmla="val 1791"/>
            </a:avLst>
          </a:prstGeom>
          <a:solidFill>
            <a:srgbClr val="E2F2EF"/>
          </a:solidFill>
          <a:ln w="15240">
            <a:solidFill>
              <a:srgbClr val="137F7A"/>
            </a:solidFill>
            <a:prstDash val="solid"/>
          </a:ln>
        </p:spPr>
      </p:sp>
      <p:sp>
        <p:nvSpPr>
          <p:cNvPr id="24" name="Text 22"/>
          <p:cNvSpPr txBox="1"/>
          <p:nvPr/>
        </p:nvSpPr>
        <p:spPr>
          <a:xfrm>
            <a:off x="5038344" y="1810512"/>
            <a:ext cx="2176272" cy="365760"/>
          </a:xfrm>
          <a:prstGeom prst="rect">
            <a:avLst/>
          </a:prstGeom>
          <a:noFill/>
          <a:ln/>
        </p:spPr>
        <p:txBody>
          <a:bodyPr wrap="square" lIns="0" tIns="0" rIns="0" bIns="0" rtlCol="0" anchor="ctr">
            <a:normAutofit/>
          </a:bodyPr>
          <a:lstStyle/>
          <a:p>
            <a:pPr algn="ctr" indent="0" marL="0">
              <a:lnSpc>
                <a:spcPct val="92000"/>
              </a:lnSpc>
              <a:buNone/>
            </a:pPr>
            <a:r>
              <a:rPr lang="en-US" sz="2400" b="1" dirty="0">
                <a:solidFill>
                  <a:srgbClr val="0E5C59"/>
                </a:solidFill>
                <a:latin typeface="Arial" pitchFamily="34" charset="0"/>
                <a:ea typeface="Arial" pitchFamily="34" charset="-122"/>
                <a:cs typeface="Arial" pitchFamily="34" charset="-120"/>
              </a:rPr>
              <a:t>DAM-GK</a:t>
            </a:r>
            <a:endParaRPr lang="en-US" sz="2400" dirty="0"/>
          </a:p>
        </p:txBody>
      </p:sp>
      <p:sp>
        <p:nvSpPr>
          <p:cNvPr id="25" name="Shape 23"/>
          <p:cNvSpPr/>
          <p:nvPr/>
        </p:nvSpPr>
        <p:spPr>
          <a:xfrm>
            <a:off x="4754880" y="2395728"/>
            <a:ext cx="1252728" cy="256032"/>
          </a:xfrm>
          <a:prstGeom prst="roundRect">
            <a:avLst>
              <a:gd name="adj" fmla="val 50000"/>
            </a:avLst>
          </a:prstGeom>
          <a:solidFill>
            <a:srgbClr val="FFFFFF"/>
          </a:solidFill>
          <a:ln w="6350">
            <a:solidFill>
              <a:srgbClr val="137F7A"/>
            </a:solidFill>
            <a:prstDash val="solid"/>
          </a:ln>
        </p:spPr>
      </p:sp>
      <p:sp>
        <p:nvSpPr>
          <p:cNvPr id="26" name="Text 24"/>
          <p:cNvSpPr txBox="1"/>
          <p:nvPr/>
        </p:nvSpPr>
        <p:spPr>
          <a:xfrm>
            <a:off x="4809744" y="2418588"/>
            <a:ext cx="1143000" cy="182880"/>
          </a:xfrm>
          <a:prstGeom prst="rect">
            <a:avLst/>
          </a:prstGeom>
          <a:noFill/>
          <a:ln/>
        </p:spPr>
        <p:txBody>
          <a:bodyPr wrap="square" lIns="0" tIns="0" rIns="0" bIns="0" rtlCol="0" anchor="ctr">
            <a:normAutofit/>
          </a:bodyPr>
          <a:lstStyle/>
          <a:p>
            <a:pPr algn="ctr" indent="0" marL="0">
              <a:lnSpc>
                <a:spcPct val="92000"/>
              </a:lnSpc>
              <a:buNone/>
            </a:pPr>
            <a:r>
              <a:rPr lang="en-US" sz="700" b="1" dirty="0">
                <a:solidFill>
                  <a:srgbClr val="17252A"/>
                </a:solidFill>
                <a:latin typeface="Hiragino Sans GB" pitchFamily="34" charset="0"/>
                <a:ea typeface="Hiragino Sans GB" pitchFamily="34" charset="-122"/>
                <a:cs typeface="Hiragino Sans GB" pitchFamily="34" charset="-120"/>
              </a:rPr>
              <a:t>行动条件关系门控</a:t>
            </a:r>
            <a:endParaRPr lang="en-US" sz="700" dirty="0"/>
          </a:p>
        </p:txBody>
      </p:sp>
      <p:sp>
        <p:nvSpPr>
          <p:cNvPr id="27" name="Shape 25"/>
          <p:cNvSpPr/>
          <p:nvPr/>
        </p:nvSpPr>
        <p:spPr>
          <a:xfrm>
            <a:off x="6153912" y="2395728"/>
            <a:ext cx="1252728" cy="256032"/>
          </a:xfrm>
          <a:prstGeom prst="roundRect">
            <a:avLst>
              <a:gd name="adj" fmla="val 50000"/>
            </a:avLst>
          </a:prstGeom>
          <a:solidFill>
            <a:srgbClr val="E7F3EA"/>
          </a:solidFill>
          <a:ln w="6350">
            <a:solidFill>
              <a:srgbClr val="2D8A57"/>
            </a:solidFill>
            <a:prstDash val="solid"/>
          </a:ln>
        </p:spPr>
      </p:sp>
      <p:sp>
        <p:nvSpPr>
          <p:cNvPr id="28" name="Text 26"/>
          <p:cNvSpPr txBox="1"/>
          <p:nvPr/>
        </p:nvSpPr>
        <p:spPr>
          <a:xfrm>
            <a:off x="6208776" y="2418588"/>
            <a:ext cx="1143000" cy="182880"/>
          </a:xfrm>
          <a:prstGeom prst="rect">
            <a:avLst/>
          </a:prstGeom>
          <a:noFill/>
          <a:ln/>
        </p:spPr>
        <p:txBody>
          <a:bodyPr wrap="square" lIns="0" tIns="0" rIns="0" bIns="0" rtlCol="0" anchor="ctr">
            <a:normAutofit/>
          </a:bodyPr>
          <a:lstStyle/>
          <a:p>
            <a:pPr algn="ctr" indent="0" marL="0">
              <a:lnSpc>
                <a:spcPct val="92000"/>
              </a:lnSpc>
              <a:buNone/>
            </a:pPr>
            <a:r>
              <a:rPr lang="en-US" sz="700" b="1" dirty="0">
                <a:solidFill>
                  <a:srgbClr val="17252A"/>
                </a:solidFill>
                <a:latin typeface="Hiragino Sans GB" pitchFamily="34" charset="0"/>
                <a:ea typeface="Hiragino Sans GB" pitchFamily="34" charset="-122"/>
                <a:cs typeface="Hiragino Sans GB" pitchFamily="34" charset="-120"/>
              </a:rPr>
              <a:t>多关系消息传播</a:t>
            </a:r>
            <a:endParaRPr lang="en-US" sz="700" dirty="0"/>
          </a:p>
        </p:txBody>
      </p:sp>
      <p:sp>
        <p:nvSpPr>
          <p:cNvPr id="29" name="Shape 27"/>
          <p:cNvSpPr/>
          <p:nvPr/>
        </p:nvSpPr>
        <p:spPr>
          <a:xfrm>
            <a:off x="4754880" y="2944368"/>
            <a:ext cx="1252728" cy="256032"/>
          </a:xfrm>
          <a:prstGeom prst="roundRect">
            <a:avLst>
              <a:gd name="adj" fmla="val 50000"/>
            </a:avLst>
          </a:prstGeom>
          <a:solidFill>
            <a:srgbClr val="FFFFFF"/>
          </a:solidFill>
          <a:ln w="6350">
            <a:solidFill>
              <a:srgbClr val="137F7A"/>
            </a:solidFill>
            <a:prstDash val="solid"/>
          </a:ln>
        </p:spPr>
      </p:sp>
      <p:sp>
        <p:nvSpPr>
          <p:cNvPr id="30" name="Text 28"/>
          <p:cNvSpPr txBox="1"/>
          <p:nvPr/>
        </p:nvSpPr>
        <p:spPr>
          <a:xfrm>
            <a:off x="4809744" y="2967228"/>
            <a:ext cx="1143000" cy="182880"/>
          </a:xfrm>
          <a:prstGeom prst="rect">
            <a:avLst/>
          </a:prstGeom>
          <a:noFill/>
          <a:ln/>
        </p:spPr>
        <p:txBody>
          <a:bodyPr wrap="square" lIns="0" tIns="0" rIns="0" bIns="0" rtlCol="0" anchor="ctr">
            <a:normAutofit/>
          </a:bodyPr>
          <a:lstStyle/>
          <a:p>
            <a:pPr algn="ctr" indent="0" marL="0">
              <a:lnSpc>
                <a:spcPct val="92000"/>
              </a:lnSpc>
              <a:buNone/>
            </a:pPr>
            <a:r>
              <a:rPr lang="en-US" sz="700" b="1" dirty="0">
                <a:solidFill>
                  <a:srgbClr val="17252A"/>
                </a:solidFill>
                <a:latin typeface="Hiragino Sans GB" pitchFamily="34" charset="0"/>
                <a:ea typeface="Hiragino Sans GB" pitchFamily="34" charset="-122"/>
                <a:cs typeface="Hiragino Sans GB" pitchFamily="34" charset="-120"/>
              </a:rPr>
              <a:t>可学习的时间滞后</a:t>
            </a:r>
            <a:endParaRPr lang="en-US" sz="700" dirty="0"/>
          </a:p>
        </p:txBody>
      </p:sp>
      <p:sp>
        <p:nvSpPr>
          <p:cNvPr id="31" name="Shape 29"/>
          <p:cNvSpPr/>
          <p:nvPr/>
        </p:nvSpPr>
        <p:spPr>
          <a:xfrm>
            <a:off x="6153912" y="2944368"/>
            <a:ext cx="1252728" cy="256032"/>
          </a:xfrm>
          <a:prstGeom prst="roundRect">
            <a:avLst>
              <a:gd name="adj" fmla="val 50000"/>
            </a:avLst>
          </a:prstGeom>
          <a:solidFill>
            <a:srgbClr val="E7F3EA"/>
          </a:solidFill>
          <a:ln w="6350">
            <a:solidFill>
              <a:srgbClr val="2D8A57"/>
            </a:solidFill>
            <a:prstDash val="solid"/>
          </a:ln>
        </p:spPr>
      </p:sp>
      <p:sp>
        <p:nvSpPr>
          <p:cNvPr id="32" name="Text 30"/>
          <p:cNvSpPr txBox="1"/>
          <p:nvPr/>
        </p:nvSpPr>
        <p:spPr>
          <a:xfrm>
            <a:off x="6208776" y="2967228"/>
            <a:ext cx="1143000" cy="182880"/>
          </a:xfrm>
          <a:prstGeom prst="rect">
            <a:avLst/>
          </a:prstGeom>
          <a:noFill/>
          <a:ln/>
        </p:spPr>
        <p:txBody>
          <a:bodyPr wrap="square" lIns="0" tIns="0" rIns="0" bIns="0" rtlCol="0" anchor="ctr">
            <a:normAutofit/>
          </a:bodyPr>
          <a:lstStyle/>
          <a:p>
            <a:pPr algn="ctr" indent="0" marL="0">
              <a:lnSpc>
                <a:spcPct val="92000"/>
              </a:lnSpc>
              <a:buNone/>
            </a:pPr>
            <a:r>
              <a:rPr lang="en-US" sz="700" b="1" dirty="0">
                <a:solidFill>
                  <a:srgbClr val="17252A"/>
                </a:solidFill>
                <a:latin typeface="Hiragino Sans GB" pitchFamily="34" charset="0"/>
                <a:ea typeface="Hiragino Sans GB" pitchFamily="34" charset="-122"/>
                <a:cs typeface="Hiragino Sans GB" pitchFamily="34" charset="-120"/>
              </a:rPr>
              <a:t>状态条件软拓扑重写</a:t>
            </a:r>
            <a:endParaRPr lang="en-US" sz="700" dirty="0"/>
          </a:p>
        </p:txBody>
      </p:sp>
      <p:sp>
        <p:nvSpPr>
          <p:cNvPr id="33" name="Shape 31"/>
          <p:cNvSpPr/>
          <p:nvPr/>
        </p:nvSpPr>
        <p:spPr>
          <a:xfrm>
            <a:off x="4754880" y="3493008"/>
            <a:ext cx="1252728" cy="256032"/>
          </a:xfrm>
          <a:prstGeom prst="roundRect">
            <a:avLst>
              <a:gd name="adj" fmla="val 50000"/>
            </a:avLst>
          </a:prstGeom>
          <a:solidFill>
            <a:srgbClr val="FFFFFF"/>
          </a:solidFill>
          <a:ln w="6350">
            <a:solidFill>
              <a:srgbClr val="137F7A"/>
            </a:solidFill>
            <a:prstDash val="solid"/>
          </a:ln>
        </p:spPr>
      </p:sp>
      <p:sp>
        <p:nvSpPr>
          <p:cNvPr id="34" name="Text 32"/>
          <p:cNvSpPr txBox="1"/>
          <p:nvPr/>
        </p:nvSpPr>
        <p:spPr>
          <a:xfrm>
            <a:off x="4809744" y="3515868"/>
            <a:ext cx="1143000" cy="182880"/>
          </a:xfrm>
          <a:prstGeom prst="rect">
            <a:avLst/>
          </a:prstGeom>
          <a:noFill/>
          <a:ln/>
        </p:spPr>
        <p:txBody>
          <a:bodyPr wrap="square" lIns="0" tIns="0" rIns="0" bIns="0" rtlCol="0" anchor="ctr">
            <a:normAutofit/>
          </a:bodyPr>
          <a:lstStyle/>
          <a:p>
            <a:pPr algn="ctr" indent="0" marL="0">
              <a:lnSpc>
                <a:spcPct val="92000"/>
              </a:lnSpc>
              <a:buNone/>
            </a:pPr>
            <a:r>
              <a:rPr lang="en-US" sz="700" b="1" dirty="0">
                <a:solidFill>
                  <a:srgbClr val="17252A"/>
                </a:solidFill>
                <a:latin typeface="Hiragino Sans GB" pitchFamily="34" charset="0"/>
                <a:ea typeface="Hiragino Sans GB" pitchFamily="34" charset="-122"/>
                <a:cs typeface="Hiragino Sans GB" pitchFamily="34" charset="-120"/>
              </a:rPr>
              <a:t>概率状态转移与异方差 UQ</a:t>
            </a:r>
            <a:endParaRPr lang="en-US" sz="700" dirty="0"/>
          </a:p>
        </p:txBody>
      </p:sp>
      <p:sp>
        <p:nvSpPr>
          <p:cNvPr id="35" name="Shape 33"/>
          <p:cNvSpPr/>
          <p:nvPr/>
        </p:nvSpPr>
        <p:spPr>
          <a:xfrm>
            <a:off x="6153912" y="3493008"/>
            <a:ext cx="1252728" cy="256032"/>
          </a:xfrm>
          <a:prstGeom prst="roundRect">
            <a:avLst>
              <a:gd name="adj" fmla="val 50000"/>
            </a:avLst>
          </a:prstGeom>
          <a:solidFill>
            <a:srgbClr val="E7F3EA"/>
          </a:solidFill>
          <a:ln w="6350">
            <a:solidFill>
              <a:srgbClr val="2D8A57"/>
            </a:solidFill>
            <a:prstDash val="solid"/>
          </a:ln>
        </p:spPr>
      </p:sp>
      <p:sp>
        <p:nvSpPr>
          <p:cNvPr id="36" name="Text 34"/>
          <p:cNvSpPr txBox="1"/>
          <p:nvPr/>
        </p:nvSpPr>
        <p:spPr>
          <a:xfrm>
            <a:off x="6208776" y="3515868"/>
            <a:ext cx="1143000" cy="182880"/>
          </a:xfrm>
          <a:prstGeom prst="rect">
            <a:avLst/>
          </a:prstGeom>
          <a:noFill/>
          <a:ln/>
        </p:spPr>
        <p:txBody>
          <a:bodyPr wrap="square" lIns="0" tIns="0" rIns="0" bIns="0" rtlCol="0" anchor="ctr">
            <a:normAutofit/>
          </a:bodyPr>
          <a:lstStyle/>
          <a:p>
            <a:pPr algn="ctr" indent="0" marL="0">
              <a:lnSpc>
                <a:spcPct val="92000"/>
              </a:lnSpc>
              <a:buNone/>
            </a:pPr>
            <a:r>
              <a:rPr lang="en-US" sz="700" b="1" dirty="0">
                <a:solidFill>
                  <a:srgbClr val="17252A"/>
                </a:solidFill>
                <a:latin typeface="Hiragino Sans GB" pitchFamily="34" charset="0"/>
                <a:ea typeface="Hiragino Sans GB" pitchFamily="34" charset="-122"/>
                <a:cs typeface="Hiragino Sans GB" pitchFamily="34" charset="-120"/>
              </a:rPr>
              <a:t>细-粗尺度一致性约束</a:t>
            </a:r>
            <a:endParaRPr lang="en-US" sz="700" dirty="0"/>
          </a:p>
        </p:txBody>
      </p:sp>
      <p:sp>
        <p:nvSpPr>
          <p:cNvPr id="37" name="Text 35"/>
          <p:cNvSpPr txBox="1"/>
          <p:nvPr/>
        </p:nvSpPr>
        <p:spPr>
          <a:xfrm>
            <a:off x="4608576" y="4160520"/>
            <a:ext cx="3017520" cy="246888"/>
          </a:xfrm>
          <a:prstGeom prst="rect">
            <a:avLst/>
          </a:prstGeom>
          <a:noFill/>
          <a:ln/>
        </p:spPr>
        <p:txBody>
          <a:bodyPr wrap="square" lIns="0" tIns="0" rIns="0" bIns="0" rtlCol="0" anchor="ctr">
            <a:normAutofit/>
          </a:bodyPr>
          <a:lstStyle/>
          <a:p>
            <a:pPr algn="ctr" indent="0" marL="0">
              <a:lnSpc>
                <a:spcPct val="92000"/>
              </a:lnSpc>
              <a:buNone/>
            </a:pPr>
            <a:r>
              <a:rPr lang="en-US" sz="950" b="1" dirty="0">
                <a:solidFill>
                  <a:srgbClr val="0E5C59"/>
                </a:solidFill>
                <a:latin typeface="Arial" pitchFamily="34" charset="0"/>
                <a:ea typeface="Arial" pitchFamily="34" charset="-122"/>
                <a:cs typeface="Arial" pitchFamily="34" charset="-120"/>
              </a:rPr>
              <a:t>Kθ(Gₜ,Sₜ,Aₜ,Cₜ) → (Φₜ:ₜ₊H, ΔGₜ:ₜ₊H, Uₜ:ₜ₊H)</a:t>
            </a:r>
            <a:endParaRPr lang="en-US" sz="950" dirty="0"/>
          </a:p>
        </p:txBody>
      </p:sp>
      <p:sp>
        <p:nvSpPr>
          <p:cNvPr id="38" name="Shape 36"/>
          <p:cNvSpPr/>
          <p:nvPr/>
        </p:nvSpPr>
        <p:spPr>
          <a:xfrm>
            <a:off x="7964424" y="3008376"/>
            <a:ext cx="658368" cy="0"/>
          </a:xfrm>
          <a:prstGeom prst="line">
            <a:avLst/>
          </a:prstGeom>
          <a:noFill/>
          <a:ln w="20320">
            <a:solidFill>
              <a:srgbClr val="137F7A"/>
            </a:solidFill>
            <a:prstDash val="solid"/>
            <a:tailEnd type="triangle"/>
          </a:ln>
        </p:spPr>
      </p:sp>
      <p:sp>
        <p:nvSpPr>
          <p:cNvPr id="39" name="Shape 37"/>
          <p:cNvSpPr/>
          <p:nvPr/>
        </p:nvSpPr>
        <p:spPr>
          <a:xfrm>
            <a:off x="8869680" y="1572768"/>
            <a:ext cx="2715768" cy="3063240"/>
          </a:xfrm>
          <a:prstGeom prst="roundRect">
            <a:avLst>
              <a:gd name="adj" fmla="val 2020"/>
            </a:avLst>
          </a:prstGeom>
          <a:solidFill>
            <a:srgbClr val="FFFFFF"/>
          </a:solidFill>
          <a:ln w="10160">
            <a:solidFill>
              <a:srgbClr val="D0DBD8"/>
            </a:solidFill>
            <a:prstDash val="solid"/>
          </a:ln>
        </p:spPr>
      </p:sp>
      <p:sp>
        <p:nvSpPr>
          <p:cNvPr id="40" name="Text 38"/>
          <p:cNvSpPr txBox="1"/>
          <p:nvPr/>
        </p:nvSpPr>
        <p:spPr>
          <a:xfrm>
            <a:off x="9144000" y="1810512"/>
            <a:ext cx="2157984" cy="274320"/>
          </a:xfrm>
          <a:prstGeom prst="rect">
            <a:avLst/>
          </a:prstGeom>
          <a:noFill/>
          <a:ln/>
        </p:spPr>
        <p:txBody>
          <a:bodyPr wrap="square" lIns="0" tIns="0" rIns="0" bIns="0" rtlCol="0" anchor="ctr">
            <a:normAutofit/>
          </a:bodyPr>
          <a:lstStyle/>
          <a:p>
            <a:pPr algn="ctr" indent="0" marL="0">
              <a:lnSpc>
                <a:spcPct val="92000"/>
              </a:lnSpc>
              <a:buNone/>
            </a:pPr>
            <a:r>
              <a:rPr lang="en-US" sz="1350" b="1" dirty="0">
                <a:solidFill>
                  <a:srgbClr val="17252A"/>
                </a:solidFill>
                <a:latin typeface="Hiragino Sans GB" pitchFamily="34" charset="0"/>
                <a:ea typeface="Hiragino Sans GB" pitchFamily="34" charset="-122"/>
                <a:cs typeface="Hiragino Sans GB" pitchFamily="34" charset="-120"/>
              </a:rPr>
              <a:t>输出与递归</a:t>
            </a:r>
            <a:endParaRPr lang="en-US" sz="1350" dirty="0"/>
          </a:p>
        </p:txBody>
      </p:sp>
      <p:sp>
        <p:nvSpPr>
          <p:cNvPr id="41" name="Text 39"/>
          <p:cNvSpPr txBox="1"/>
          <p:nvPr/>
        </p:nvSpPr>
        <p:spPr>
          <a:xfrm>
            <a:off x="9144000" y="2331720"/>
            <a:ext cx="566928"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2D8A57"/>
                </a:solidFill>
                <a:latin typeface="Arial" pitchFamily="34" charset="0"/>
                <a:ea typeface="Arial" pitchFamily="34" charset="-122"/>
                <a:cs typeface="Arial" pitchFamily="34" charset="-120"/>
              </a:rPr>
              <a:t>Φ</a:t>
            </a:r>
            <a:endParaRPr lang="en-US" sz="1300" dirty="0"/>
          </a:p>
        </p:txBody>
      </p:sp>
      <p:sp>
        <p:nvSpPr>
          <p:cNvPr id="42" name="Text 40"/>
          <p:cNvSpPr txBox="1"/>
          <p:nvPr/>
        </p:nvSpPr>
        <p:spPr>
          <a:xfrm>
            <a:off x="9820656" y="2331720"/>
            <a:ext cx="1353312" cy="246888"/>
          </a:xfrm>
          <a:prstGeom prst="rect">
            <a:avLst/>
          </a:prstGeom>
          <a:noFill/>
          <a:ln/>
        </p:spPr>
        <p:txBody>
          <a:bodyPr wrap="square" lIns="0" tIns="0" rIns="0" bIns="0" rtlCol="0" anchor="ctr">
            <a:normAutofit/>
          </a:bodyPr>
          <a:lstStyle/>
          <a:p>
            <a:pPr algn="l" indent="0" marL="0">
              <a:lnSpc>
                <a:spcPct val="92000"/>
              </a:lnSpc>
              <a:buNone/>
            </a:pPr>
            <a:r>
              <a:rPr lang="en-US" sz="870" dirty="0">
                <a:solidFill>
                  <a:srgbClr val="32474D"/>
                </a:solidFill>
                <a:latin typeface="Hiragino Sans GB" pitchFamily="34" charset="0"/>
                <a:ea typeface="Hiragino Sans GB" pitchFamily="34" charset="-122"/>
                <a:cs typeface="Hiragino Sans GB" pitchFamily="34" charset="-120"/>
              </a:rPr>
              <a:t>有效关系 / 延迟传播</a:t>
            </a:r>
            <a:endParaRPr lang="en-US" sz="870" dirty="0"/>
          </a:p>
        </p:txBody>
      </p:sp>
      <p:sp>
        <p:nvSpPr>
          <p:cNvPr id="43" name="Text 41"/>
          <p:cNvSpPr txBox="1"/>
          <p:nvPr/>
        </p:nvSpPr>
        <p:spPr>
          <a:xfrm>
            <a:off x="9144000" y="2834640"/>
            <a:ext cx="566928"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2D8A57"/>
                </a:solidFill>
                <a:latin typeface="Arial" pitchFamily="34" charset="0"/>
                <a:ea typeface="Arial" pitchFamily="34" charset="-122"/>
                <a:cs typeface="Arial" pitchFamily="34" charset="-120"/>
              </a:rPr>
              <a:t>ΔG</a:t>
            </a:r>
            <a:endParaRPr lang="en-US" sz="1300" dirty="0"/>
          </a:p>
        </p:txBody>
      </p:sp>
      <p:sp>
        <p:nvSpPr>
          <p:cNvPr id="44" name="Text 42"/>
          <p:cNvSpPr txBox="1"/>
          <p:nvPr/>
        </p:nvSpPr>
        <p:spPr>
          <a:xfrm>
            <a:off x="9820656" y="2834640"/>
            <a:ext cx="1353312" cy="246888"/>
          </a:xfrm>
          <a:prstGeom prst="rect">
            <a:avLst/>
          </a:prstGeom>
          <a:noFill/>
          <a:ln/>
        </p:spPr>
        <p:txBody>
          <a:bodyPr wrap="square" lIns="0" tIns="0" rIns="0" bIns="0" rtlCol="0" anchor="ctr">
            <a:normAutofit/>
          </a:bodyPr>
          <a:lstStyle/>
          <a:p>
            <a:pPr algn="l" indent="0" marL="0">
              <a:lnSpc>
                <a:spcPct val="92000"/>
              </a:lnSpc>
              <a:buNone/>
            </a:pPr>
            <a:r>
              <a:rPr lang="en-US" sz="870" dirty="0">
                <a:solidFill>
                  <a:srgbClr val="32474D"/>
                </a:solidFill>
                <a:latin typeface="Hiragino Sans GB" pitchFamily="34" charset="0"/>
                <a:ea typeface="Hiragino Sans GB" pitchFamily="34" charset="-122"/>
                <a:cs typeface="Hiragino Sans GB" pitchFamily="34" charset="-120"/>
              </a:rPr>
              <a:t>关系 / 拓扑变化</a:t>
            </a:r>
            <a:endParaRPr lang="en-US" sz="870" dirty="0"/>
          </a:p>
        </p:txBody>
      </p:sp>
      <p:sp>
        <p:nvSpPr>
          <p:cNvPr id="45" name="Text 43"/>
          <p:cNvSpPr txBox="1"/>
          <p:nvPr/>
        </p:nvSpPr>
        <p:spPr>
          <a:xfrm>
            <a:off x="9144000" y="3337560"/>
            <a:ext cx="566928"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2D8A57"/>
                </a:solidFill>
                <a:latin typeface="Arial" pitchFamily="34" charset="0"/>
                <a:ea typeface="Arial" pitchFamily="34" charset="-122"/>
                <a:cs typeface="Arial" pitchFamily="34" charset="-120"/>
              </a:rPr>
              <a:t>U</a:t>
            </a:r>
            <a:endParaRPr lang="en-US" sz="1300" dirty="0"/>
          </a:p>
        </p:txBody>
      </p:sp>
      <p:sp>
        <p:nvSpPr>
          <p:cNvPr id="46" name="Text 44"/>
          <p:cNvSpPr txBox="1"/>
          <p:nvPr/>
        </p:nvSpPr>
        <p:spPr>
          <a:xfrm>
            <a:off x="9820656" y="3337560"/>
            <a:ext cx="1353312" cy="246888"/>
          </a:xfrm>
          <a:prstGeom prst="rect">
            <a:avLst/>
          </a:prstGeom>
          <a:noFill/>
          <a:ln/>
        </p:spPr>
        <p:txBody>
          <a:bodyPr wrap="square" lIns="0" tIns="0" rIns="0" bIns="0" rtlCol="0" anchor="ctr">
            <a:normAutofit/>
          </a:bodyPr>
          <a:lstStyle/>
          <a:p>
            <a:pPr algn="l" indent="0" marL="0">
              <a:lnSpc>
                <a:spcPct val="92000"/>
              </a:lnSpc>
              <a:buNone/>
            </a:pPr>
            <a:r>
              <a:rPr lang="en-US" sz="870" dirty="0">
                <a:solidFill>
                  <a:srgbClr val="32474D"/>
                </a:solidFill>
                <a:latin typeface="Hiragino Sans GB" pitchFamily="34" charset="0"/>
                <a:ea typeface="Hiragino Sans GB" pitchFamily="34" charset="-122"/>
                <a:cs typeface="Hiragino Sans GB" pitchFamily="34" charset="-120"/>
              </a:rPr>
              <a:t>预测不确定性</a:t>
            </a:r>
            <a:endParaRPr lang="en-US" sz="870" dirty="0"/>
          </a:p>
        </p:txBody>
      </p:sp>
      <p:sp>
        <p:nvSpPr>
          <p:cNvPr id="47" name="Text 45"/>
          <p:cNvSpPr txBox="1"/>
          <p:nvPr/>
        </p:nvSpPr>
        <p:spPr>
          <a:xfrm>
            <a:off x="9144000" y="3840480"/>
            <a:ext cx="566928" cy="246888"/>
          </a:xfrm>
          <a:prstGeom prst="rect">
            <a:avLst/>
          </a:prstGeom>
          <a:noFill/>
          <a:ln/>
        </p:spPr>
        <p:txBody>
          <a:bodyPr wrap="square" lIns="0" tIns="0" rIns="0" bIns="0" rtlCol="0" anchor="ctr">
            <a:normAutofit/>
          </a:bodyPr>
          <a:lstStyle/>
          <a:p>
            <a:pPr algn="ctr" indent="0" marL="0">
              <a:lnSpc>
                <a:spcPct val="92000"/>
              </a:lnSpc>
              <a:buNone/>
            </a:pPr>
            <a:r>
              <a:rPr lang="en-US" sz="1300" b="1" dirty="0">
                <a:solidFill>
                  <a:srgbClr val="2D8A57"/>
                </a:solidFill>
                <a:latin typeface="Arial" pitchFamily="34" charset="0"/>
                <a:ea typeface="Arial" pitchFamily="34" charset="-122"/>
                <a:cs typeface="Arial" pitchFamily="34" charset="-120"/>
              </a:rPr>
              <a:t>Sₜ₊₁</a:t>
            </a:r>
            <a:endParaRPr lang="en-US" sz="1300" dirty="0"/>
          </a:p>
        </p:txBody>
      </p:sp>
      <p:sp>
        <p:nvSpPr>
          <p:cNvPr id="48" name="Text 46"/>
          <p:cNvSpPr txBox="1"/>
          <p:nvPr/>
        </p:nvSpPr>
        <p:spPr>
          <a:xfrm>
            <a:off x="9820656" y="3840480"/>
            <a:ext cx="1353312" cy="246888"/>
          </a:xfrm>
          <a:prstGeom prst="rect">
            <a:avLst/>
          </a:prstGeom>
          <a:noFill/>
          <a:ln/>
        </p:spPr>
        <p:txBody>
          <a:bodyPr wrap="square" lIns="0" tIns="0" rIns="0" bIns="0" rtlCol="0" anchor="ctr">
            <a:normAutofit/>
          </a:bodyPr>
          <a:lstStyle/>
          <a:p>
            <a:pPr algn="l" indent="0" marL="0">
              <a:lnSpc>
                <a:spcPct val="92000"/>
              </a:lnSpc>
              <a:buNone/>
            </a:pPr>
            <a:r>
              <a:rPr lang="en-US" sz="870" dirty="0">
                <a:solidFill>
                  <a:srgbClr val="32474D"/>
                </a:solidFill>
                <a:latin typeface="Hiragino Sans GB" pitchFamily="34" charset="0"/>
                <a:ea typeface="Hiragino Sans GB" pitchFamily="34" charset="-122"/>
                <a:cs typeface="Hiragino Sans GB" pitchFamily="34" charset="-120"/>
              </a:rPr>
              <a:t>由 Runtime 转移头形成</a:t>
            </a:r>
            <a:endParaRPr lang="en-US" sz="870" dirty="0"/>
          </a:p>
        </p:txBody>
      </p:sp>
      <p:sp>
        <p:nvSpPr>
          <p:cNvPr id="49" name="Shape 47"/>
          <p:cNvSpPr/>
          <p:nvPr/>
        </p:nvSpPr>
        <p:spPr>
          <a:xfrm>
            <a:off x="9180576" y="4187952"/>
            <a:ext cx="2103120" cy="283464"/>
          </a:xfrm>
          <a:prstGeom prst="roundRect">
            <a:avLst>
              <a:gd name="adj" fmla="val 12903"/>
            </a:avLst>
          </a:prstGeom>
          <a:solidFill>
            <a:srgbClr val="E7F3EA"/>
          </a:solidFill>
          <a:ln w="7620">
            <a:solidFill>
              <a:srgbClr val="2D8A57"/>
            </a:solidFill>
            <a:prstDash val="solid"/>
          </a:ln>
        </p:spPr>
      </p:sp>
      <p:sp>
        <p:nvSpPr>
          <p:cNvPr id="50" name="Text 48"/>
          <p:cNvSpPr txBox="1"/>
          <p:nvPr/>
        </p:nvSpPr>
        <p:spPr>
          <a:xfrm>
            <a:off x="9253728" y="4242816"/>
            <a:ext cx="1956816" cy="146304"/>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2D8A57"/>
                </a:solidFill>
                <a:latin typeface="Hiragino Sans GB" pitchFamily="34" charset="0"/>
                <a:ea typeface="Hiragino Sans GB" pitchFamily="34" charset="-122"/>
                <a:cs typeface="Hiragino Sans GB" pitchFamily="34" charset="-120"/>
              </a:rPr>
              <a:t>写回 → 重算关系 → 下一步</a:t>
            </a:r>
            <a:endParaRPr lang="en-US" sz="780" dirty="0"/>
          </a:p>
        </p:txBody>
      </p:sp>
      <p:sp>
        <p:nvSpPr>
          <p:cNvPr id="51" name="Text 49"/>
          <p:cNvSpPr txBox="1"/>
          <p:nvPr/>
        </p:nvSpPr>
        <p:spPr>
          <a:xfrm>
            <a:off x="713232" y="5010912"/>
            <a:ext cx="2066544" cy="256032"/>
          </a:xfrm>
          <a:prstGeom prst="rect">
            <a:avLst/>
          </a:prstGeom>
          <a:noFill/>
          <a:ln/>
        </p:spPr>
        <p:txBody>
          <a:bodyPr wrap="square" lIns="0" tIns="0" rIns="0" bIns="0" rtlCol="0" anchor="ctr">
            <a:normAutofit/>
          </a:bodyPr>
          <a:lstStyle/>
          <a:p>
            <a:pPr algn="l" indent="0" marL="0">
              <a:lnSpc>
                <a:spcPct val="92000"/>
              </a:lnSpc>
              <a:buNone/>
            </a:pPr>
            <a:r>
              <a:rPr lang="en-US" sz="1270" b="1" dirty="0">
                <a:solidFill>
                  <a:srgbClr val="17252A"/>
                </a:solidFill>
                <a:latin typeface="Hiragino Sans GB" pitchFamily="34" charset="0"/>
                <a:ea typeface="Hiragino Sans GB" pitchFamily="34" charset="-122"/>
                <a:cs typeface="Hiragino Sans GB" pitchFamily="34" charset="-120"/>
              </a:rPr>
              <a:t>机制有效性验证</a:t>
            </a:r>
            <a:endParaRPr lang="en-US" sz="1270" dirty="0"/>
          </a:p>
        </p:txBody>
      </p:sp>
      <p:sp>
        <p:nvSpPr>
          <p:cNvPr id="52" name="Shape 50"/>
          <p:cNvSpPr/>
          <p:nvPr/>
        </p:nvSpPr>
        <p:spPr>
          <a:xfrm>
            <a:off x="2889504" y="4965192"/>
            <a:ext cx="1152144" cy="256032"/>
          </a:xfrm>
          <a:prstGeom prst="roundRect">
            <a:avLst>
              <a:gd name="adj" fmla="val 50000"/>
            </a:avLst>
          </a:prstGeom>
          <a:solidFill>
            <a:srgbClr val="FBE9EA"/>
          </a:solidFill>
          <a:ln w="6350">
            <a:solidFill>
              <a:srgbClr val="FBE9EA"/>
            </a:solidFill>
            <a:prstDash val="solid"/>
          </a:ln>
        </p:spPr>
      </p:sp>
      <p:sp>
        <p:nvSpPr>
          <p:cNvPr id="53" name="Text 51"/>
          <p:cNvSpPr txBox="1"/>
          <p:nvPr/>
        </p:nvSpPr>
        <p:spPr>
          <a:xfrm>
            <a:off x="2944368" y="4988052"/>
            <a:ext cx="1042416"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B04A50"/>
                </a:solidFill>
                <a:latin typeface="Hiragino Sans GB" pitchFamily="34" charset="0"/>
                <a:ea typeface="Hiragino Sans GB" pitchFamily="34" charset="-122"/>
                <a:cs typeface="Hiragino Sans GB" pitchFamily="34" charset="-120"/>
              </a:rPr>
              <a:t>动作打乱</a:t>
            </a:r>
            <a:endParaRPr lang="en-US" sz="750" dirty="0"/>
          </a:p>
        </p:txBody>
      </p:sp>
      <p:sp>
        <p:nvSpPr>
          <p:cNvPr id="54" name="Shape 52"/>
          <p:cNvSpPr/>
          <p:nvPr/>
        </p:nvSpPr>
        <p:spPr>
          <a:xfrm>
            <a:off x="4251960" y="4965192"/>
            <a:ext cx="1152144" cy="256032"/>
          </a:xfrm>
          <a:prstGeom prst="roundRect">
            <a:avLst>
              <a:gd name="adj" fmla="val 50000"/>
            </a:avLst>
          </a:prstGeom>
          <a:solidFill>
            <a:srgbClr val="FBE9EA"/>
          </a:solidFill>
          <a:ln w="6350">
            <a:solidFill>
              <a:srgbClr val="FBE9EA"/>
            </a:solidFill>
            <a:prstDash val="solid"/>
          </a:ln>
        </p:spPr>
      </p:sp>
      <p:sp>
        <p:nvSpPr>
          <p:cNvPr id="55" name="Text 53"/>
          <p:cNvSpPr txBox="1"/>
          <p:nvPr/>
        </p:nvSpPr>
        <p:spPr>
          <a:xfrm>
            <a:off x="4306824" y="4988052"/>
            <a:ext cx="1042416"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B04A50"/>
                </a:solidFill>
                <a:latin typeface="Hiragino Sans GB" pitchFamily="34" charset="0"/>
                <a:ea typeface="Hiragino Sans GB" pitchFamily="34" charset="-122"/>
                <a:cs typeface="Hiragino Sans GB" pitchFamily="34" charset="-120"/>
              </a:rPr>
              <a:t>时间打乱</a:t>
            </a:r>
            <a:endParaRPr lang="en-US" sz="750" dirty="0"/>
          </a:p>
        </p:txBody>
      </p:sp>
      <p:sp>
        <p:nvSpPr>
          <p:cNvPr id="56" name="Shape 54"/>
          <p:cNvSpPr/>
          <p:nvPr/>
        </p:nvSpPr>
        <p:spPr>
          <a:xfrm>
            <a:off x="5614416" y="4965192"/>
            <a:ext cx="1152144" cy="256032"/>
          </a:xfrm>
          <a:prstGeom prst="roundRect">
            <a:avLst>
              <a:gd name="adj" fmla="val 50000"/>
            </a:avLst>
          </a:prstGeom>
          <a:solidFill>
            <a:srgbClr val="FBE9EA"/>
          </a:solidFill>
          <a:ln w="6350">
            <a:solidFill>
              <a:srgbClr val="FBE9EA"/>
            </a:solidFill>
            <a:prstDash val="solid"/>
          </a:ln>
        </p:spPr>
      </p:sp>
      <p:sp>
        <p:nvSpPr>
          <p:cNvPr id="57" name="Text 55"/>
          <p:cNvSpPr txBox="1"/>
          <p:nvPr/>
        </p:nvSpPr>
        <p:spPr>
          <a:xfrm>
            <a:off x="5669280" y="4988052"/>
            <a:ext cx="1042416"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B04A50"/>
                </a:solidFill>
                <a:latin typeface="Hiragino Sans GB" pitchFamily="34" charset="0"/>
                <a:ea typeface="Hiragino Sans GB" pitchFamily="34" charset="-122"/>
                <a:cs typeface="Hiragino Sans GB" pitchFamily="34" charset="-120"/>
              </a:rPr>
              <a:t>关系类型打乱</a:t>
            </a:r>
            <a:endParaRPr lang="en-US" sz="750" dirty="0"/>
          </a:p>
        </p:txBody>
      </p:sp>
      <p:sp>
        <p:nvSpPr>
          <p:cNvPr id="58" name="Shape 56"/>
          <p:cNvSpPr/>
          <p:nvPr/>
        </p:nvSpPr>
        <p:spPr>
          <a:xfrm>
            <a:off x="6976872" y="4965192"/>
            <a:ext cx="1152144" cy="256032"/>
          </a:xfrm>
          <a:prstGeom prst="roundRect">
            <a:avLst>
              <a:gd name="adj" fmla="val 50000"/>
            </a:avLst>
          </a:prstGeom>
          <a:solidFill>
            <a:srgbClr val="FBE9EA"/>
          </a:solidFill>
          <a:ln w="6350">
            <a:solidFill>
              <a:srgbClr val="FBE9EA"/>
            </a:solidFill>
            <a:prstDash val="solid"/>
          </a:ln>
        </p:spPr>
      </p:sp>
      <p:sp>
        <p:nvSpPr>
          <p:cNvPr id="59" name="Text 57"/>
          <p:cNvSpPr txBox="1"/>
          <p:nvPr/>
        </p:nvSpPr>
        <p:spPr>
          <a:xfrm>
            <a:off x="7031736" y="4988052"/>
            <a:ext cx="1042416"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B04A50"/>
                </a:solidFill>
                <a:latin typeface="Hiragino Sans GB" pitchFamily="34" charset="0"/>
                <a:ea typeface="Hiragino Sans GB" pitchFamily="34" charset="-122"/>
                <a:cs typeface="Hiragino Sans GB" pitchFamily="34" charset="-120"/>
              </a:rPr>
              <a:t>空间重连</a:t>
            </a:r>
            <a:endParaRPr lang="en-US" sz="750" dirty="0"/>
          </a:p>
        </p:txBody>
      </p:sp>
      <p:sp>
        <p:nvSpPr>
          <p:cNvPr id="60" name="Shape 58"/>
          <p:cNvSpPr/>
          <p:nvPr/>
        </p:nvSpPr>
        <p:spPr>
          <a:xfrm>
            <a:off x="8339328" y="4965192"/>
            <a:ext cx="1152144" cy="256032"/>
          </a:xfrm>
          <a:prstGeom prst="roundRect">
            <a:avLst>
              <a:gd name="adj" fmla="val 50000"/>
            </a:avLst>
          </a:prstGeom>
          <a:solidFill>
            <a:srgbClr val="FBE9EA"/>
          </a:solidFill>
          <a:ln w="6350">
            <a:solidFill>
              <a:srgbClr val="FBE9EA"/>
            </a:solidFill>
            <a:prstDash val="solid"/>
          </a:ln>
        </p:spPr>
      </p:sp>
      <p:sp>
        <p:nvSpPr>
          <p:cNvPr id="61" name="Text 59"/>
          <p:cNvSpPr txBox="1"/>
          <p:nvPr/>
        </p:nvSpPr>
        <p:spPr>
          <a:xfrm>
            <a:off x="8394192" y="4988052"/>
            <a:ext cx="1042416"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B04A50"/>
                </a:solidFill>
                <a:latin typeface="Hiragino Sans GB" pitchFamily="34" charset="0"/>
                <a:ea typeface="Hiragino Sans GB" pitchFamily="34" charset="-122"/>
                <a:cs typeface="Hiragino Sans GB" pitchFamily="34" charset="-120"/>
              </a:rPr>
              <a:t>固定拓扑</a:t>
            </a:r>
            <a:endParaRPr lang="en-US" sz="750" dirty="0"/>
          </a:p>
        </p:txBody>
      </p:sp>
      <p:sp>
        <p:nvSpPr>
          <p:cNvPr id="62" name="Shape 60"/>
          <p:cNvSpPr/>
          <p:nvPr/>
        </p:nvSpPr>
        <p:spPr>
          <a:xfrm>
            <a:off x="9701784" y="4965192"/>
            <a:ext cx="1152144" cy="256032"/>
          </a:xfrm>
          <a:prstGeom prst="roundRect">
            <a:avLst>
              <a:gd name="adj" fmla="val 50000"/>
            </a:avLst>
          </a:prstGeom>
          <a:solidFill>
            <a:srgbClr val="FBE9EA"/>
          </a:solidFill>
          <a:ln w="6350">
            <a:solidFill>
              <a:srgbClr val="FBE9EA"/>
            </a:solidFill>
            <a:prstDash val="solid"/>
          </a:ln>
        </p:spPr>
      </p:sp>
      <p:sp>
        <p:nvSpPr>
          <p:cNvPr id="63" name="Text 61"/>
          <p:cNvSpPr txBox="1"/>
          <p:nvPr/>
        </p:nvSpPr>
        <p:spPr>
          <a:xfrm>
            <a:off x="9756648" y="4988052"/>
            <a:ext cx="1042416" cy="182880"/>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B04A50"/>
                </a:solidFill>
                <a:latin typeface="Hiragino Sans GB" pitchFamily="34" charset="0"/>
                <a:ea typeface="Hiragino Sans GB" pitchFamily="34" charset="-122"/>
                <a:cs typeface="Hiragino Sans GB" pitchFamily="34" charset="-120"/>
              </a:rPr>
              <a:t>禁止写回</a:t>
            </a:r>
            <a:endParaRPr lang="en-US" sz="750" dirty="0"/>
          </a:p>
        </p:txBody>
      </p:sp>
      <p:sp>
        <p:nvSpPr>
          <p:cNvPr id="64" name="Text 62"/>
          <p:cNvSpPr txBox="1"/>
          <p:nvPr/>
        </p:nvSpPr>
        <p:spPr>
          <a:xfrm>
            <a:off x="1490472" y="5687568"/>
            <a:ext cx="9326880" cy="310896"/>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B04A50"/>
                </a:solidFill>
                <a:latin typeface="Hiragino Sans GB" pitchFamily="34" charset="0"/>
                <a:ea typeface="Hiragino Sans GB" pitchFamily="34" charset="-122"/>
                <a:cs typeface="Hiragino Sans GB" pitchFamily="34" charset="-120"/>
              </a:rPr>
              <a:t>验证标准：关键机制消融后，应观察到稳定、可复现的性能或校准退化。</a:t>
            </a:r>
            <a:endParaRPr lang="en-US" sz="10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GWM Runtime Kernel</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GWM Runtime：统一世界模型运行与审计生命周期</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Runtime 统一状态、行动、转移来源、状态写回、不确定性、证据和复演语义。</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来源：GWM_RUNTIME_KERNEL_AND_GEOSPATIAL_KERNEL_RELATIONSHIP.md</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17 / 29</a:t>
            </a:r>
            <a:endParaRPr lang="en-US" sz="670" dirty="0"/>
          </a:p>
        </p:txBody>
      </p:sp>
      <p:sp>
        <p:nvSpPr>
          <p:cNvPr id="10" name="Text 8"/>
          <p:cNvSpPr txBox="1"/>
          <p:nvPr/>
        </p:nvSpPr>
        <p:spPr>
          <a:xfrm>
            <a:off x="1280160" y="1481328"/>
            <a:ext cx="438912" cy="237744"/>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137F7A"/>
                </a:solidFill>
                <a:latin typeface="Arial" pitchFamily="34" charset="0"/>
                <a:ea typeface="Arial" pitchFamily="34" charset="-122"/>
                <a:cs typeface="Arial" pitchFamily="34" charset="-120"/>
              </a:rPr>
              <a:t>01</a:t>
            </a:r>
            <a:endParaRPr lang="en-US" sz="1000" dirty="0"/>
          </a:p>
        </p:txBody>
      </p:sp>
      <p:sp>
        <p:nvSpPr>
          <p:cNvPr id="11" name="Shape 9"/>
          <p:cNvSpPr/>
          <p:nvPr/>
        </p:nvSpPr>
        <p:spPr>
          <a:xfrm>
            <a:off x="1353312" y="1810512"/>
            <a:ext cx="310896" cy="310896"/>
          </a:xfrm>
          <a:prstGeom prst="ellipse">
            <a:avLst/>
          </a:prstGeom>
          <a:solidFill>
            <a:srgbClr val="137F7A"/>
          </a:solidFill>
          <a:ln w="12700">
            <a:solidFill>
              <a:srgbClr val="137F7A"/>
            </a:solidFill>
            <a:prstDash val="solid"/>
          </a:ln>
        </p:spPr>
      </p:sp>
      <p:sp>
        <p:nvSpPr>
          <p:cNvPr id="12" name="Shape 10"/>
          <p:cNvSpPr/>
          <p:nvPr/>
        </p:nvSpPr>
        <p:spPr>
          <a:xfrm>
            <a:off x="1645920" y="1965960"/>
            <a:ext cx="1993392" cy="0"/>
          </a:xfrm>
          <a:prstGeom prst="line">
            <a:avLst/>
          </a:prstGeom>
          <a:noFill/>
          <a:ln w="19050">
            <a:solidFill>
              <a:srgbClr val="137F7A"/>
            </a:solidFill>
            <a:prstDash val="solid"/>
            <a:tailEnd type="triangle"/>
          </a:ln>
        </p:spPr>
      </p:sp>
      <p:sp>
        <p:nvSpPr>
          <p:cNvPr id="13" name="Shape 11"/>
          <p:cNvSpPr/>
          <p:nvPr/>
        </p:nvSpPr>
        <p:spPr>
          <a:xfrm>
            <a:off x="548640" y="2340864"/>
            <a:ext cx="1993392" cy="1417320"/>
          </a:xfrm>
          <a:prstGeom prst="roundRect">
            <a:avLst>
              <a:gd name="adj" fmla="val 3226"/>
            </a:avLst>
          </a:prstGeom>
          <a:solidFill>
            <a:srgbClr val="FFFFFF"/>
          </a:solidFill>
          <a:ln w="8890">
            <a:solidFill>
              <a:srgbClr val="D0DBD8"/>
            </a:solidFill>
            <a:prstDash val="solid"/>
          </a:ln>
        </p:spPr>
      </p:sp>
      <p:sp>
        <p:nvSpPr>
          <p:cNvPr id="14" name="Text 12"/>
          <p:cNvSpPr txBox="1"/>
          <p:nvPr/>
        </p:nvSpPr>
        <p:spPr>
          <a:xfrm>
            <a:off x="667512" y="2542032"/>
            <a:ext cx="1755648" cy="274320"/>
          </a:xfrm>
          <a:prstGeom prst="rect">
            <a:avLst/>
          </a:prstGeom>
          <a:noFill/>
          <a:ln/>
        </p:spPr>
        <p:txBody>
          <a:bodyPr wrap="square" lIns="0" tIns="0" rIns="0" bIns="0" rtlCol="0" anchor="ctr">
            <a:normAutofit/>
          </a:bodyPr>
          <a:lstStyle/>
          <a:p>
            <a:pPr algn="ctr" indent="0" marL="0">
              <a:lnSpc>
                <a:spcPct val="92000"/>
              </a:lnSpc>
              <a:buNone/>
            </a:pPr>
            <a:r>
              <a:rPr lang="en-US" sz="1100" b="1" dirty="0">
                <a:solidFill>
                  <a:srgbClr val="17252A"/>
                </a:solidFill>
                <a:latin typeface="Arial" pitchFamily="34" charset="0"/>
                <a:ea typeface="Arial" pitchFamily="34" charset="-122"/>
                <a:cs typeface="Arial" pitchFamily="34" charset="-120"/>
              </a:rPr>
              <a:t>StateSnapshot</a:t>
            </a:r>
            <a:endParaRPr lang="en-US" sz="1100" dirty="0"/>
          </a:p>
        </p:txBody>
      </p:sp>
      <p:sp>
        <p:nvSpPr>
          <p:cNvPr id="15" name="Text 13"/>
          <p:cNvSpPr txBox="1"/>
          <p:nvPr/>
        </p:nvSpPr>
        <p:spPr>
          <a:xfrm>
            <a:off x="704088" y="2944368"/>
            <a:ext cx="1682496" cy="566928"/>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版本化多尺度状态</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对象 / 场 / 图 / 质量</a:t>
            </a:r>
            <a:endParaRPr lang="en-US" sz="850" dirty="0"/>
          </a:p>
        </p:txBody>
      </p:sp>
      <p:sp>
        <p:nvSpPr>
          <p:cNvPr id="16" name="Text 14"/>
          <p:cNvSpPr txBox="1"/>
          <p:nvPr/>
        </p:nvSpPr>
        <p:spPr>
          <a:xfrm>
            <a:off x="3602736" y="1481328"/>
            <a:ext cx="438912" cy="237744"/>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137F7A"/>
                </a:solidFill>
                <a:latin typeface="Arial" pitchFamily="34" charset="0"/>
                <a:ea typeface="Arial" pitchFamily="34" charset="-122"/>
                <a:cs typeface="Arial" pitchFamily="34" charset="-120"/>
              </a:rPr>
              <a:t>02</a:t>
            </a:r>
            <a:endParaRPr lang="en-US" sz="1000" dirty="0"/>
          </a:p>
        </p:txBody>
      </p:sp>
      <p:sp>
        <p:nvSpPr>
          <p:cNvPr id="17" name="Shape 15"/>
          <p:cNvSpPr/>
          <p:nvPr/>
        </p:nvSpPr>
        <p:spPr>
          <a:xfrm>
            <a:off x="3675888" y="1810512"/>
            <a:ext cx="310896" cy="310896"/>
          </a:xfrm>
          <a:prstGeom prst="ellipse">
            <a:avLst/>
          </a:prstGeom>
          <a:solidFill>
            <a:srgbClr val="137F7A"/>
          </a:solidFill>
          <a:ln w="12700">
            <a:solidFill>
              <a:srgbClr val="137F7A"/>
            </a:solidFill>
            <a:prstDash val="solid"/>
          </a:ln>
        </p:spPr>
      </p:sp>
      <p:sp>
        <p:nvSpPr>
          <p:cNvPr id="18" name="Shape 16"/>
          <p:cNvSpPr/>
          <p:nvPr/>
        </p:nvSpPr>
        <p:spPr>
          <a:xfrm>
            <a:off x="3968496" y="1965960"/>
            <a:ext cx="1993392" cy="0"/>
          </a:xfrm>
          <a:prstGeom prst="line">
            <a:avLst/>
          </a:prstGeom>
          <a:noFill/>
          <a:ln w="19050">
            <a:solidFill>
              <a:srgbClr val="137F7A"/>
            </a:solidFill>
            <a:prstDash val="solid"/>
            <a:tailEnd type="triangle"/>
          </a:ln>
        </p:spPr>
      </p:sp>
      <p:sp>
        <p:nvSpPr>
          <p:cNvPr id="19" name="Shape 17"/>
          <p:cNvSpPr/>
          <p:nvPr/>
        </p:nvSpPr>
        <p:spPr>
          <a:xfrm>
            <a:off x="2871216" y="2340864"/>
            <a:ext cx="1993392" cy="1417320"/>
          </a:xfrm>
          <a:prstGeom prst="roundRect">
            <a:avLst>
              <a:gd name="adj" fmla="val 3226"/>
            </a:avLst>
          </a:prstGeom>
          <a:solidFill>
            <a:srgbClr val="FFFFFF"/>
          </a:solidFill>
          <a:ln w="8890">
            <a:solidFill>
              <a:srgbClr val="D0DBD8"/>
            </a:solidFill>
            <a:prstDash val="solid"/>
          </a:ln>
        </p:spPr>
      </p:sp>
      <p:sp>
        <p:nvSpPr>
          <p:cNvPr id="20" name="Text 18"/>
          <p:cNvSpPr txBox="1"/>
          <p:nvPr/>
        </p:nvSpPr>
        <p:spPr>
          <a:xfrm>
            <a:off x="2990088" y="2542032"/>
            <a:ext cx="1755648" cy="274320"/>
          </a:xfrm>
          <a:prstGeom prst="rect">
            <a:avLst/>
          </a:prstGeom>
          <a:noFill/>
          <a:ln/>
        </p:spPr>
        <p:txBody>
          <a:bodyPr wrap="square" lIns="0" tIns="0" rIns="0" bIns="0" rtlCol="0" anchor="ctr">
            <a:normAutofit/>
          </a:bodyPr>
          <a:lstStyle/>
          <a:p>
            <a:pPr algn="ctr" indent="0" marL="0">
              <a:lnSpc>
                <a:spcPct val="92000"/>
              </a:lnSpc>
              <a:buNone/>
            </a:pPr>
            <a:r>
              <a:rPr lang="en-US" sz="1100" b="1" dirty="0">
                <a:solidFill>
                  <a:srgbClr val="17252A"/>
                </a:solidFill>
                <a:latin typeface="Arial" pitchFamily="34" charset="0"/>
                <a:ea typeface="Arial" pitchFamily="34" charset="-122"/>
                <a:cs typeface="Arial" pitchFamily="34" charset="-120"/>
              </a:rPr>
              <a:t>CanonicalAction</a:t>
            </a:r>
            <a:endParaRPr lang="en-US" sz="1100" dirty="0"/>
          </a:p>
        </p:txBody>
      </p:sp>
      <p:sp>
        <p:nvSpPr>
          <p:cNvPr id="21" name="Text 19"/>
          <p:cNvSpPr txBox="1"/>
          <p:nvPr/>
        </p:nvSpPr>
        <p:spPr>
          <a:xfrm>
            <a:off x="3026664" y="2944368"/>
            <a:ext cx="1682496" cy="566928"/>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动作类型 / 目标 / 强度</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可行域 / 业务语义</a:t>
            </a:r>
            <a:endParaRPr lang="en-US" sz="850" dirty="0"/>
          </a:p>
        </p:txBody>
      </p:sp>
      <p:sp>
        <p:nvSpPr>
          <p:cNvPr id="22" name="Text 20"/>
          <p:cNvSpPr txBox="1"/>
          <p:nvPr/>
        </p:nvSpPr>
        <p:spPr>
          <a:xfrm>
            <a:off x="5925312" y="1481328"/>
            <a:ext cx="438912" cy="237744"/>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137F7A"/>
                </a:solidFill>
                <a:latin typeface="Arial" pitchFamily="34" charset="0"/>
                <a:ea typeface="Arial" pitchFamily="34" charset="-122"/>
                <a:cs typeface="Arial" pitchFamily="34" charset="-120"/>
              </a:rPr>
              <a:t>03</a:t>
            </a:r>
            <a:endParaRPr lang="en-US" sz="1000" dirty="0"/>
          </a:p>
        </p:txBody>
      </p:sp>
      <p:sp>
        <p:nvSpPr>
          <p:cNvPr id="23" name="Shape 21"/>
          <p:cNvSpPr/>
          <p:nvPr/>
        </p:nvSpPr>
        <p:spPr>
          <a:xfrm>
            <a:off x="5998464" y="1810512"/>
            <a:ext cx="310896" cy="310896"/>
          </a:xfrm>
          <a:prstGeom prst="ellipse">
            <a:avLst/>
          </a:prstGeom>
          <a:solidFill>
            <a:srgbClr val="137F7A"/>
          </a:solidFill>
          <a:ln w="12700">
            <a:solidFill>
              <a:srgbClr val="137F7A"/>
            </a:solidFill>
            <a:prstDash val="solid"/>
          </a:ln>
        </p:spPr>
      </p:sp>
      <p:sp>
        <p:nvSpPr>
          <p:cNvPr id="24" name="Shape 22"/>
          <p:cNvSpPr/>
          <p:nvPr/>
        </p:nvSpPr>
        <p:spPr>
          <a:xfrm>
            <a:off x="6291072" y="1965960"/>
            <a:ext cx="1993392" cy="0"/>
          </a:xfrm>
          <a:prstGeom prst="line">
            <a:avLst/>
          </a:prstGeom>
          <a:noFill/>
          <a:ln w="19050">
            <a:solidFill>
              <a:srgbClr val="137F7A"/>
            </a:solidFill>
            <a:prstDash val="solid"/>
            <a:tailEnd type="triangle"/>
          </a:ln>
        </p:spPr>
      </p:sp>
      <p:sp>
        <p:nvSpPr>
          <p:cNvPr id="25" name="Shape 23"/>
          <p:cNvSpPr/>
          <p:nvPr/>
        </p:nvSpPr>
        <p:spPr>
          <a:xfrm>
            <a:off x="5193792" y="2340864"/>
            <a:ext cx="1993392" cy="1417320"/>
          </a:xfrm>
          <a:prstGeom prst="roundRect">
            <a:avLst>
              <a:gd name="adj" fmla="val 3226"/>
            </a:avLst>
          </a:prstGeom>
          <a:solidFill>
            <a:srgbClr val="E2F2EF"/>
          </a:solidFill>
          <a:ln w="15240">
            <a:solidFill>
              <a:srgbClr val="137F7A"/>
            </a:solidFill>
            <a:prstDash val="solid"/>
          </a:ln>
        </p:spPr>
      </p:sp>
      <p:sp>
        <p:nvSpPr>
          <p:cNvPr id="26" name="Text 24"/>
          <p:cNvSpPr txBox="1"/>
          <p:nvPr/>
        </p:nvSpPr>
        <p:spPr>
          <a:xfrm>
            <a:off x="5312664" y="2542032"/>
            <a:ext cx="1755648" cy="274320"/>
          </a:xfrm>
          <a:prstGeom prst="rect">
            <a:avLst/>
          </a:prstGeom>
          <a:noFill/>
          <a:ln/>
        </p:spPr>
        <p:txBody>
          <a:bodyPr wrap="square" lIns="0" tIns="0" rIns="0" bIns="0" rtlCol="0" anchor="ctr">
            <a:normAutofit/>
          </a:bodyPr>
          <a:lstStyle/>
          <a:p>
            <a:pPr algn="ctr" indent="0" marL="0">
              <a:lnSpc>
                <a:spcPct val="92000"/>
              </a:lnSpc>
              <a:buNone/>
            </a:pPr>
            <a:r>
              <a:rPr lang="en-US" sz="1100" b="1" dirty="0">
                <a:solidFill>
                  <a:srgbClr val="0E5C59"/>
                </a:solidFill>
                <a:latin typeface="Arial" pitchFamily="34" charset="0"/>
                <a:ea typeface="Arial" pitchFamily="34" charset="-122"/>
                <a:cs typeface="Arial" pitchFamily="34" charset="-120"/>
              </a:rPr>
              <a:t>Transition Source</a:t>
            </a:r>
            <a:endParaRPr lang="en-US" sz="1100" dirty="0"/>
          </a:p>
        </p:txBody>
      </p:sp>
      <p:sp>
        <p:nvSpPr>
          <p:cNvPr id="27" name="Text 25"/>
          <p:cNvSpPr txBox="1"/>
          <p:nvPr/>
        </p:nvSpPr>
        <p:spPr>
          <a:xfrm>
            <a:off x="5349240" y="2944368"/>
            <a:ext cx="1682496" cy="566928"/>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DAM-GK / 规则 / 物理</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模型版本 / 数据谱系</a:t>
            </a:r>
            <a:endParaRPr lang="en-US" sz="850" dirty="0"/>
          </a:p>
        </p:txBody>
      </p:sp>
      <p:sp>
        <p:nvSpPr>
          <p:cNvPr id="28" name="Text 26"/>
          <p:cNvSpPr txBox="1"/>
          <p:nvPr/>
        </p:nvSpPr>
        <p:spPr>
          <a:xfrm>
            <a:off x="8247888" y="1481328"/>
            <a:ext cx="438912" cy="237744"/>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137F7A"/>
                </a:solidFill>
                <a:latin typeface="Arial" pitchFamily="34" charset="0"/>
                <a:ea typeface="Arial" pitchFamily="34" charset="-122"/>
                <a:cs typeface="Arial" pitchFamily="34" charset="-120"/>
              </a:rPr>
              <a:t>04</a:t>
            </a:r>
            <a:endParaRPr lang="en-US" sz="1000" dirty="0"/>
          </a:p>
        </p:txBody>
      </p:sp>
      <p:sp>
        <p:nvSpPr>
          <p:cNvPr id="29" name="Shape 27"/>
          <p:cNvSpPr/>
          <p:nvPr/>
        </p:nvSpPr>
        <p:spPr>
          <a:xfrm>
            <a:off x="8321040" y="1810512"/>
            <a:ext cx="310896" cy="310896"/>
          </a:xfrm>
          <a:prstGeom prst="ellipse">
            <a:avLst/>
          </a:prstGeom>
          <a:solidFill>
            <a:srgbClr val="137F7A"/>
          </a:solidFill>
          <a:ln w="12700">
            <a:solidFill>
              <a:srgbClr val="137F7A"/>
            </a:solidFill>
            <a:prstDash val="solid"/>
          </a:ln>
        </p:spPr>
      </p:sp>
      <p:sp>
        <p:nvSpPr>
          <p:cNvPr id="30" name="Shape 28"/>
          <p:cNvSpPr/>
          <p:nvPr/>
        </p:nvSpPr>
        <p:spPr>
          <a:xfrm>
            <a:off x="8613648" y="1965960"/>
            <a:ext cx="1993392" cy="0"/>
          </a:xfrm>
          <a:prstGeom prst="line">
            <a:avLst/>
          </a:prstGeom>
          <a:noFill/>
          <a:ln w="19050">
            <a:solidFill>
              <a:srgbClr val="137F7A"/>
            </a:solidFill>
            <a:prstDash val="solid"/>
            <a:tailEnd type="triangle"/>
          </a:ln>
        </p:spPr>
      </p:sp>
      <p:sp>
        <p:nvSpPr>
          <p:cNvPr id="31" name="Shape 29"/>
          <p:cNvSpPr/>
          <p:nvPr/>
        </p:nvSpPr>
        <p:spPr>
          <a:xfrm>
            <a:off x="7516368" y="2340864"/>
            <a:ext cx="1993392" cy="1417320"/>
          </a:xfrm>
          <a:prstGeom prst="roundRect">
            <a:avLst>
              <a:gd name="adj" fmla="val 3226"/>
            </a:avLst>
          </a:prstGeom>
          <a:solidFill>
            <a:srgbClr val="FFFFFF"/>
          </a:solidFill>
          <a:ln w="8890">
            <a:solidFill>
              <a:srgbClr val="D0DBD8"/>
            </a:solidFill>
            <a:prstDash val="solid"/>
          </a:ln>
        </p:spPr>
      </p:sp>
      <p:sp>
        <p:nvSpPr>
          <p:cNvPr id="32" name="Text 30"/>
          <p:cNvSpPr txBox="1"/>
          <p:nvPr/>
        </p:nvSpPr>
        <p:spPr>
          <a:xfrm>
            <a:off x="7635240" y="2542032"/>
            <a:ext cx="1755648" cy="274320"/>
          </a:xfrm>
          <a:prstGeom prst="rect">
            <a:avLst/>
          </a:prstGeom>
          <a:noFill/>
          <a:ln/>
        </p:spPr>
        <p:txBody>
          <a:bodyPr wrap="square" lIns="0" tIns="0" rIns="0" bIns="0" rtlCol="0" anchor="ctr">
            <a:normAutofit/>
          </a:bodyPr>
          <a:lstStyle/>
          <a:p>
            <a:pPr algn="ctr" indent="0" marL="0">
              <a:lnSpc>
                <a:spcPct val="92000"/>
              </a:lnSpc>
              <a:buNone/>
            </a:pPr>
            <a:r>
              <a:rPr lang="en-US" sz="1100" b="1" dirty="0">
                <a:solidFill>
                  <a:srgbClr val="17252A"/>
                </a:solidFill>
                <a:latin typeface="Arial" pitchFamily="34" charset="0"/>
                <a:ea typeface="Arial" pitchFamily="34" charset="-122"/>
                <a:cs typeface="Arial" pitchFamily="34" charset="-120"/>
              </a:rPr>
              <a:t>Write-back &amp; Rollout</a:t>
            </a:r>
            <a:endParaRPr lang="en-US" sz="1100" dirty="0"/>
          </a:p>
        </p:txBody>
      </p:sp>
      <p:sp>
        <p:nvSpPr>
          <p:cNvPr id="33" name="Text 31"/>
          <p:cNvSpPr txBox="1"/>
          <p:nvPr/>
        </p:nvSpPr>
        <p:spPr>
          <a:xfrm>
            <a:off x="7671816" y="2944368"/>
            <a:ext cx="1682496" cy="566928"/>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状态写回 / 关系重算</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多步误差与 UQ 传播</a:t>
            </a:r>
            <a:endParaRPr lang="en-US" sz="850" dirty="0"/>
          </a:p>
        </p:txBody>
      </p:sp>
      <p:sp>
        <p:nvSpPr>
          <p:cNvPr id="34" name="Text 32"/>
          <p:cNvSpPr txBox="1"/>
          <p:nvPr/>
        </p:nvSpPr>
        <p:spPr>
          <a:xfrm>
            <a:off x="10570464" y="1481328"/>
            <a:ext cx="438912" cy="237744"/>
          </a:xfrm>
          <a:prstGeom prst="rect">
            <a:avLst/>
          </a:prstGeom>
          <a:noFill/>
          <a:ln/>
        </p:spPr>
        <p:txBody>
          <a:bodyPr wrap="square" lIns="0" tIns="0" rIns="0" bIns="0" rtlCol="0" anchor="ctr">
            <a:normAutofit/>
          </a:bodyPr>
          <a:lstStyle/>
          <a:p>
            <a:pPr algn="ctr" indent="0" marL="0">
              <a:lnSpc>
                <a:spcPct val="92000"/>
              </a:lnSpc>
              <a:buNone/>
            </a:pPr>
            <a:r>
              <a:rPr lang="en-US" sz="1000" b="1" dirty="0">
                <a:solidFill>
                  <a:srgbClr val="137F7A"/>
                </a:solidFill>
                <a:latin typeface="Arial" pitchFamily="34" charset="0"/>
                <a:ea typeface="Arial" pitchFamily="34" charset="-122"/>
                <a:cs typeface="Arial" pitchFamily="34" charset="-120"/>
              </a:rPr>
              <a:t>05</a:t>
            </a:r>
            <a:endParaRPr lang="en-US" sz="1000" dirty="0"/>
          </a:p>
        </p:txBody>
      </p:sp>
      <p:sp>
        <p:nvSpPr>
          <p:cNvPr id="35" name="Shape 33"/>
          <p:cNvSpPr/>
          <p:nvPr/>
        </p:nvSpPr>
        <p:spPr>
          <a:xfrm>
            <a:off x="10643616" y="1810512"/>
            <a:ext cx="310896" cy="310896"/>
          </a:xfrm>
          <a:prstGeom prst="ellipse">
            <a:avLst/>
          </a:prstGeom>
          <a:solidFill>
            <a:srgbClr val="137F7A"/>
          </a:solidFill>
          <a:ln w="12700">
            <a:solidFill>
              <a:srgbClr val="137F7A"/>
            </a:solidFill>
            <a:prstDash val="solid"/>
          </a:ln>
        </p:spPr>
      </p:sp>
      <p:sp>
        <p:nvSpPr>
          <p:cNvPr id="36" name="Shape 34"/>
          <p:cNvSpPr/>
          <p:nvPr/>
        </p:nvSpPr>
        <p:spPr>
          <a:xfrm>
            <a:off x="9838944" y="2340864"/>
            <a:ext cx="1993392" cy="1417320"/>
          </a:xfrm>
          <a:prstGeom prst="roundRect">
            <a:avLst>
              <a:gd name="adj" fmla="val 3226"/>
            </a:avLst>
          </a:prstGeom>
          <a:solidFill>
            <a:srgbClr val="FFFFFF"/>
          </a:solidFill>
          <a:ln w="8890">
            <a:solidFill>
              <a:srgbClr val="D0DBD8"/>
            </a:solidFill>
            <a:prstDash val="solid"/>
          </a:ln>
        </p:spPr>
      </p:sp>
      <p:sp>
        <p:nvSpPr>
          <p:cNvPr id="37" name="Text 35"/>
          <p:cNvSpPr txBox="1"/>
          <p:nvPr/>
        </p:nvSpPr>
        <p:spPr>
          <a:xfrm>
            <a:off x="9957816" y="2542032"/>
            <a:ext cx="1755648" cy="274320"/>
          </a:xfrm>
          <a:prstGeom prst="rect">
            <a:avLst/>
          </a:prstGeom>
          <a:noFill/>
          <a:ln/>
        </p:spPr>
        <p:txBody>
          <a:bodyPr wrap="square" lIns="0" tIns="0" rIns="0" bIns="0" rtlCol="0" anchor="ctr">
            <a:normAutofit/>
          </a:bodyPr>
          <a:lstStyle/>
          <a:p>
            <a:pPr algn="ctr" indent="0" marL="0">
              <a:lnSpc>
                <a:spcPct val="92000"/>
              </a:lnSpc>
              <a:buNone/>
            </a:pPr>
            <a:r>
              <a:rPr lang="en-US" sz="1100" b="1" dirty="0">
                <a:solidFill>
                  <a:srgbClr val="17252A"/>
                </a:solidFill>
                <a:latin typeface="Arial" pitchFamily="34" charset="0"/>
                <a:ea typeface="Arial" pitchFamily="34" charset="-122"/>
                <a:cs typeface="Arial" pitchFamily="34" charset="-120"/>
              </a:rPr>
              <a:t>EvidenceClaimLedger</a:t>
            </a:r>
            <a:endParaRPr lang="en-US" sz="1100" dirty="0"/>
          </a:p>
        </p:txBody>
      </p:sp>
      <p:sp>
        <p:nvSpPr>
          <p:cNvPr id="38" name="Text 36"/>
          <p:cNvSpPr txBox="1"/>
          <p:nvPr/>
        </p:nvSpPr>
        <p:spPr>
          <a:xfrm>
            <a:off x="9994392" y="2944368"/>
            <a:ext cx="1682496" cy="566928"/>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证据等级 / 主张降级</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审计 / 回滚 / 复演</a:t>
            </a:r>
            <a:endParaRPr lang="en-US" sz="850" dirty="0"/>
          </a:p>
        </p:txBody>
      </p:sp>
      <p:sp>
        <p:nvSpPr>
          <p:cNvPr id="39" name="Text 37"/>
          <p:cNvSpPr txBox="1"/>
          <p:nvPr/>
        </p:nvSpPr>
        <p:spPr>
          <a:xfrm>
            <a:off x="630936" y="4270248"/>
            <a:ext cx="1965960" cy="274320"/>
          </a:xfrm>
          <a:prstGeom prst="rect">
            <a:avLst/>
          </a:prstGeom>
          <a:noFill/>
          <a:ln/>
        </p:spPr>
        <p:txBody>
          <a:bodyPr wrap="square" lIns="0" tIns="0" rIns="0" bIns="0" rtlCol="0" anchor="ctr">
            <a:normAutofit/>
          </a:bodyPr>
          <a:lstStyle/>
          <a:p>
            <a:pPr algn="l" indent="0" marL="0">
              <a:lnSpc>
                <a:spcPct val="92000"/>
              </a:lnSpc>
              <a:buNone/>
            </a:pPr>
            <a:r>
              <a:rPr lang="en-US" sz="1340" b="1" dirty="0">
                <a:solidFill>
                  <a:srgbClr val="17252A"/>
                </a:solidFill>
                <a:latin typeface="Hiragino Sans GB" pitchFamily="34" charset="0"/>
                <a:ea typeface="Hiragino Sans GB" pitchFamily="34" charset="-122"/>
                <a:cs typeface="Hiragino Sans GB" pitchFamily="34" charset="-120"/>
              </a:rPr>
              <a:t>平台级共享边界</a:t>
            </a:r>
            <a:endParaRPr lang="en-US" sz="1340" dirty="0"/>
          </a:p>
        </p:txBody>
      </p:sp>
      <p:sp>
        <p:nvSpPr>
          <p:cNvPr id="40" name="Shape 38"/>
          <p:cNvSpPr/>
          <p:nvPr/>
        </p:nvSpPr>
        <p:spPr>
          <a:xfrm>
            <a:off x="2761488" y="4224528"/>
            <a:ext cx="1901952" cy="256032"/>
          </a:xfrm>
          <a:prstGeom prst="roundRect">
            <a:avLst>
              <a:gd name="adj" fmla="val 50000"/>
            </a:avLst>
          </a:prstGeom>
          <a:solidFill>
            <a:srgbClr val="E7EFF8"/>
          </a:solidFill>
          <a:ln w="6350">
            <a:solidFill>
              <a:srgbClr val="E7EFF8"/>
            </a:solidFill>
            <a:prstDash val="solid"/>
          </a:ln>
        </p:spPr>
      </p:sp>
      <p:sp>
        <p:nvSpPr>
          <p:cNvPr id="41" name="Text 39"/>
          <p:cNvSpPr txBox="1"/>
          <p:nvPr/>
        </p:nvSpPr>
        <p:spPr>
          <a:xfrm>
            <a:off x="2816352" y="4247388"/>
            <a:ext cx="1792224" cy="182880"/>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356CA8"/>
                </a:solidFill>
                <a:latin typeface="Hiragino Sans GB" pitchFamily="34" charset="0"/>
                <a:ea typeface="Hiragino Sans GB" pitchFamily="34" charset="-122"/>
                <a:cs typeface="Hiragino Sans GB" pitchFamily="34" charset="-120"/>
              </a:rPr>
              <a:t>统一状态 / 动作 / 转移契约</a:t>
            </a:r>
            <a:endParaRPr lang="en-US" sz="780" dirty="0"/>
          </a:p>
        </p:txBody>
      </p:sp>
      <p:sp>
        <p:nvSpPr>
          <p:cNvPr id="42" name="Shape 40"/>
          <p:cNvSpPr/>
          <p:nvPr/>
        </p:nvSpPr>
        <p:spPr>
          <a:xfrm>
            <a:off x="4873752" y="4224528"/>
            <a:ext cx="1901952" cy="256032"/>
          </a:xfrm>
          <a:prstGeom prst="roundRect">
            <a:avLst>
              <a:gd name="adj" fmla="val 50000"/>
            </a:avLst>
          </a:prstGeom>
          <a:solidFill>
            <a:srgbClr val="E7F3EA"/>
          </a:solidFill>
          <a:ln w="6350">
            <a:solidFill>
              <a:srgbClr val="E7F3EA"/>
            </a:solidFill>
            <a:prstDash val="solid"/>
          </a:ln>
        </p:spPr>
      </p:sp>
      <p:sp>
        <p:nvSpPr>
          <p:cNvPr id="43" name="Text 41"/>
          <p:cNvSpPr txBox="1"/>
          <p:nvPr/>
        </p:nvSpPr>
        <p:spPr>
          <a:xfrm>
            <a:off x="4928616" y="4247388"/>
            <a:ext cx="1792224" cy="182880"/>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2D8A57"/>
                </a:solidFill>
                <a:latin typeface="Hiragino Sans GB" pitchFamily="34" charset="0"/>
                <a:ea typeface="Hiragino Sans GB" pitchFamily="34" charset="-122"/>
                <a:cs typeface="Hiragino Sans GB" pitchFamily="34" charset="-120"/>
              </a:rPr>
              <a:t>不确定性与证据边界</a:t>
            </a:r>
            <a:endParaRPr lang="en-US" sz="780" dirty="0"/>
          </a:p>
        </p:txBody>
      </p:sp>
      <p:sp>
        <p:nvSpPr>
          <p:cNvPr id="44" name="Shape 42"/>
          <p:cNvSpPr/>
          <p:nvPr/>
        </p:nvSpPr>
        <p:spPr>
          <a:xfrm>
            <a:off x="6986016" y="4224528"/>
            <a:ext cx="1901952" cy="256032"/>
          </a:xfrm>
          <a:prstGeom prst="roundRect">
            <a:avLst>
              <a:gd name="adj" fmla="val 50000"/>
            </a:avLst>
          </a:prstGeom>
          <a:solidFill>
            <a:srgbClr val="E7EFF8"/>
          </a:solidFill>
          <a:ln w="6350">
            <a:solidFill>
              <a:srgbClr val="E7EFF8"/>
            </a:solidFill>
            <a:prstDash val="solid"/>
          </a:ln>
        </p:spPr>
      </p:sp>
      <p:sp>
        <p:nvSpPr>
          <p:cNvPr id="45" name="Text 43"/>
          <p:cNvSpPr txBox="1"/>
          <p:nvPr/>
        </p:nvSpPr>
        <p:spPr>
          <a:xfrm>
            <a:off x="7040880" y="4247388"/>
            <a:ext cx="1792224" cy="182880"/>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356CA8"/>
                </a:solidFill>
                <a:latin typeface="Hiragino Sans GB" pitchFamily="34" charset="0"/>
                <a:ea typeface="Hiragino Sans GB" pitchFamily="34" charset="-122"/>
                <a:cs typeface="Hiragino Sans GB" pitchFamily="34" charset="-120"/>
              </a:rPr>
              <a:t>TWM / UWM adapters</a:t>
            </a:r>
            <a:endParaRPr lang="en-US" sz="780" dirty="0"/>
          </a:p>
        </p:txBody>
      </p:sp>
      <p:sp>
        <p:nvSpPr>
          <p:cNvPr id="46" name="Shape 44"/>
          <p:cNvSpPr/>
          <p:nvPr/>
        </p:nvSpPr>
        <p:spPr>
          <a:xfrm>
            <a:off x="9098280" y="4224528"/>
            <a:ext cx="1901952" cy="256032"/>
          </a:xfrm>
          <a:prstGeom prst="roundRect">
            <a:avLst>
              <a:gd name="adj" fmla="val 50000"/>
            </a:avLst>
          </a:prstGeom>
          <a:solidFill>
            <a:srgbClr val="E7F3EA"/>
          </a:solidFill>
          <a:ln w="6350">
            <a:solidFill>
              <a:srgbClr val="E7F3EA"/>
            </a:solidFill>
            <a:prstDash val="solid"/>
          </a:ln>
        </p:spPr>
      </p:sp>
      <p:sp>
        <p:nvSpPr>
          <p:cNvPr id="47" name="Text 45"/>
          <p:cNvSpPr txBox="1"/>
          <p:nvPr/>
        </p:nvSpPr>
        <p:spPr>
          <a:xfrm>
            <a:off x="9153144" y="4247388"/>
            <a:ext cx="1792224" cy="182880"/>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2D8A57"/>
                </a:solidFill>
                <a:latin typeface="Hiragino Sans GB" pitchFamily="34" charset="0"/>
                <a:ea typeface="Hiragino Sans GB" pitchFamily="34" charset="-122"/>
                <a:cs typeface="Hiragino Sans GB" pitchFamily="34" charset="-120"/>
              </a:rPr>
              <a:t>Simulator / Planner 接口</a:t>
            </a:r>
            <a:endParaRPr lang="en-US" sz="780" dirty="0"/>
          </a:p>
        </p:txBody>
      </p:sp>
      <p:sp>
        <p:nvSpPr>
          <p:cNvPr id="48" name="Shape 46"/>
          <p:cNvSpPr/>
          <p:nvPr/>
        </p:nvSpPr>
        <p:spPr>
          <a:xfrm>
            <a:off x="630936" y="5129784"/>
            <a:ext cx="10908792" cy="758952"/>
          </a:xfrm>
          <a:prstGeom prst="roundRect">
            <a:avLst>
              <a:gd name="adj" fmla="val 6024"/>
            </a:avLst>
          </a:prstGeom>
          <a:solidFill>
            <a:srgbClr val="FFF3D9"/>
          </a:solidFill>
          <a:ln w="8890">
            <a:solidFill>
              <a:srgbClr val="B17B20"/>
            </a:solidFill>
            <a:prstDash val="solid"/>
          </a:ln>
        </p:spPr>
      </p:sp>
      <p:sp>
        <p:nvSpPr>
          <p:cNvPr id="49" name="Text 47"/>
          <p:cNvSpPr txBox="1"/>
          <p:nvPr/>
        </p:nvSpPr>
        <p:spPr>
          <a:xfrm>
            <a:off x="850392" y="5340096"/>
            <a:ext cx="1298448" cy="237744"/>
          </a:xfrm>
          <a:prstGeom prst="rect">
            <a:avLst/>
          </a:prstGeom>
          <a:noFill/>
          <a:ln/>
        </p:spPr>
        <p:txBody>
          <a:bodyPr wrap="square" lIns="0" tIns="0" rIns="0" bIns="0" rtlCol="0" anchor="ctr">
            <a:normAutofit/>
          </a:bodyPr>
          <a:lstStyle/>
          <a:p>
            <a:pPr algn="l" indent="0" marL="0">
              <a:lnSpc>
                <a:spcPct val="92000"/>
              </a:lnSpc>
              <a:buNone/>
            </a:pPr>
            <a:r>
              <a:rPr lang="en-US" sz="1140" b="1" dirty="0">
                <a:solidFill>
                  <a:srgbClr val="B17B20"/>
                </a:solidFill>
                <a:latin typeface="Hiragino Sans GB" pitchFamily="34" charset="0"/>
                <a:ea typeface="Hiragino Sans GB" pitchFamily="34" charset="-122"/>
                <a:cs typeface="Hiragino Sans GB" pitchFamily="34" charset="-120"/>
              </a:rPr>
              <a:t>当前工程状态</a:t>
            </a:r>
            <a:endParaRPr lang="en-US" sz="1140" dirty="0"/>
          </a:p>
        </p:txBody>
      </p:sp>
      <p:sp>
        <p:nvSpPr>
          <p:cNvPr id="50" name="Text 48"/>
          <p:cNvSpPr txBox="1"/>
          <p:nvPr/>
        </p:nvSpPr>
        <p:spPr>
          <a:xfrm>
            <a:off x="2286000" y="5285232"/>
            <a:ext cx="8933688" cy="347472"/>
          </a:xfrm>
          <a:prstGeom prst="rect">
            <a:avLst/>
          </a:prstGeom>
          <a:noFill/>
          <a:ln/>
        </p:spPr>
        <p:txBody>
          <a:bodyPr wrap="square" lIns="0" tIns="0" rIns="0" bIns="0" rtlCol="0" anchor="ctr">
            <a:normAutofit/>
          </a:bodyPr>
          <a:lstStyle/>
          <a:p>
            <a:pPr algn="ctr" indent="0" marL="0">
              <a:lnSpc>
                <a:spcPct val="92000"/>
              </a:lnSpc>
              <a:buNone/>
            </a:pPr>
            <a:r>
              <a:rPr lang="en-US" sz="1020" b="1" dirty="0">
                <a:solidFill>
                  <a:srgbClr val="17252A"/>
                </a:solidFill>
                <a:latin typeface="Hiragino Sans GB" pitchFamily="34" charset="0"/>
                <a:ea typeface="Hiragino Sans GB" pitchFamily="34" charset="-122"/>
                <a:cs typeface="Hiragino Sans GB" pitchFamily="34" charset="-120"/>
              </a:rPr>
              <a:t>GWM 研究范式、领域实例和局部 Kernel 证据已存在；共享 GWM Runtime Kernel 尚未完成平台级抽取。</a:t>
            </a:r>
            <a:endParaRPr lang="en-US" sz="10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计算世界</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GWM Simulator：组合转移、状态写回与递归推演</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任务相关世界被表达为有限状态，Transition Router 组合确定性、规则型和可学习转移，并持续写回状态。</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来源：twm_computational_world_state_simulation_mechanism_2026-07-21.md；GWM Runtime / Geospatial Kernel relationship</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18 / 29</a:t>
            </a:r>
            <a:endParaRPr lang="en-US" sz="670" dirty="0"/>
          </a:p>
        </p:txBody>
      </p:sp>
      <p:sp>
        <p:nvSpPr>
          <p:cNvPr id="10" name="Shape 8"/>
          <p:cNvSpPr/>
          <p:nvPr/>
        </p:nvSpPr>
        <p:spPr>
          <a:xfrm>
            <a:off x="502920" y="1874520"/>
            <a:ext cx="1883664" cy="1298448"/>
          </a:xfrm>
          <a:prstGeom prst="roundRect">
            <a:avLst>
              <a:gd name="adj" fmla="val 4225"/>
            </a:avLst>
          </a:prstGeom>
          <a:solidFill>
            <a:srgbClr val="EDF1F0"/>
          </a:solidFill>
          <a:ln w="10160">
            <a:solidFill>
              <a:srgbClr val="32474D"/>
            </a:solidFill>
            <a:prstDash val="solid"/>
          </a:ln>
        </p:spPr>
      </p:sp>
      <p:sp>
        <p:nvSpPr>
          <p:cNvPr id="11" name="Text 9"/>
          <p:cNvSpPr txBox="1"/>
          <p:nvPr/>
        </p:nvSpPr>
        <p:spPr>
          <a:xfrm>
            <a:off x="630936" y="2075688"/>
            <a:ext cx="1627632" cy="292608"/>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32474D"/>
                </a:solidFill>
                <a:latin typeface="Hiragino Sans GB" pitchFamily="34" charset="0"/>
                <a:ea typeface="Hiragino Sans GB" pitchFamily="34" charset="-122"/>
                <a:cs typeface="Hiragino Sans GB" pitchFamily="34" charset="-120"/>
              </a:rPr>
              <a:t>现实世界</a:t>
            </a:r>
            <a:endParaRPr lang="en-US" sz="1250" dirty="0"/>
          </a:p>
        </p:txBody>
      </p:sp>
      <p:sp>
        <p:nvSpPr>
          <p:cNvPr id="12" name="Text 10"/>
          <p:cNvSpPr txBox="1"/>
          <p:nvPr/>
        </p:nvSpPr>
        <p:spPr>
          <a:xfrm>
            <a:off x="649224" y="2532888"/>
            <a:ext cx="1591056" cy="457200"/>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图层 / 业务表 / 文书</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遥感 / 规则 / 人工证据</a:t>
            </a:r>
            <a:endParaRPr lang="en-US" sz="850" dirty="0"/>
          </a:p>
        </p:txBody>
      </p:sp>
      <p:sp>
        <p:nvSpPr>
          <p:cNvPr id="13" name="Shape 11"/>
          <p:cNvSpPr/>
          <p:nvPr/>
        </p:nvSpPr>
        <p:spPr>
          <a:xfrm>
            <a:off x="2441448" y="2523744"/>
            <a:ext cx="292608" cy="0"/>
          </a:xfrm>
          <a:prstGeom prst="line">
            <a:avLst/>
          </a:prstGeom>
          <a:noFill/>
          <a:ln w="20320">
            <a:solidFill>
              <a:srgbClr val="137F7A"/>
            </a:solidFill>
            <a:prstDash val="solid"/>
            <a:tailEnd type="triangle"/>
          </a:ln>
        </p:spPr>
      </p:sp>
      <p:sp>
        <p:nvSpPr>
          <p:cNvPr id="14" name="Shape 12"/>
          <p:cNvSpPr/>
          <p:nvPr/>
        </p:nvSpPr>
        <p:spPr>
          <a:xfrm>
            <a:off x="2834640" y="1874520"/>
            <a:ext cx="1883664" cy="1298448"/>
          </a:xfrm>
          <a:prstGeom prst="roundRect">
            <a:avLst>
              <a:gd name="adj" fmla="val 4225"/>
            </a:avLst>
          </a:prstGeom>
          <a:solidFill>
            <a:srgbClr val="E7EFF8"/>
          </a:solidFill>
          <a:ln w="10160">
            <a:solidFill>
              <a:srgbClr val="356CA8"/>
            </a:solidFill>
            <a:prstDash val="solid"/>
          </a:ln>
        </p:spPr>
      </p:sp>
      <p:sp>
        <p:nvSpPr>
          <p:cNvPr id="15" name="Text 13"/>
          <p:cNvSpPr txBox="1"/>
          <p:nvPr/>
        </p:nvSpPr>
        <p:spPr>
          <a:xfrm>
            <a:off x="2962656" y="2075688"/>
            <a:ext cx="1627632" cy="292608"/>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356CA8"/>
                </a:solidFill>
                <a:latin typeface="Hiragino Sans GB" pitchFamily="34" charset="0"/>
                <a:ea typeface="Hiragino Sans GB" pitchFamily="34" charset="-122"/>
                <a:cs typeface="Hiragino Sans GB" pitchFamily="34" charset="-120"/>
              </a:rPr>
              <a:t>状态 Sₜ</a:t>
            </a:r>
            <a:endParaRPr lang="en-US" sz="1250" dirty="0"/>
          </a:p>
        </p:txBody>
      </p:sp>
      <p:sp>
        <p:nvSpPr>
          <p:cNvPr id="16" name="Text 14"/>
          <p:cNvSpPr txBox="1"/>
          <p:nvPr/>
        </p:nvSpPr>
        <p:spPr>
          <a:xfrm>
            <a:off x="2980944" y="2532888"/>
            <a:ext cx="1591056" cy="457200"/>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对象 + 关系 + 规则</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证据 + 质量 + 版本</a:t>
            </a:r>
            <a:endParaRPr lang="en-US" sz="850" dirty="0"/>
          </a:p>
        </p:txBody>
      </p:sp>
      <p:sp>
        <p:nvSpPr>
          <p:cNvPr id="17" name="Shape 15"/>
          <p:cNvSpPr/>
          <p:nvPr/>
        </p:nvSpPr>
        <p:spPr>
          <a:xfrm>
            <a:off x="4773168" y="2523744"/>
            <a:ext cx="292608" cy="0"/>
          </a:xfrm>
          <a:prstGeom prst="line">
            <a:avLst/>
          </a:prstGeom>
          <a:noFill/>
          <a:ln w="20320">
            <a:solidFill>
              <a:srgbClr val="137F7A"/>
            </a:solidFill>
            <a:prstDash val="solid"/>
            <a:tailEnd type="triangle"/>
          </a:ln>
        </p:spPr>
      </p:sp>
      <p:sp>
        <p:nvSpPr>
          <p:cNvPr id="18" name="Shape 16"/>
          <p:cNvSpPr/>
          <p:nvPr/>
        </p:nvSpPr>
        <p:spPr>
          <a:xfrm>
            <a:off x="5166360" y="1874520"/>
            <a:ext cx="1883664" cy="1298448"/>
          </a:xfrm>
          <a:prstGeom prst="roundRect">
            <a:avLst>
              <a:gd name="adj" fmla="val 4225"/>
            </a:avLst>
          </a:prstGeom>
          <a:solidFill>
            <a:srgbClr val="FFF3D9"/>
          </a:solidFill>
          <a:ln w="10160">
            <a:solidFill>
              <a:srgbClr val="B17B20"/>
            </a:solidFill>
            <a:prstDash val="solid"/>
          </a:ln>
        </p:spPr>
      </p:sp>
      <p:sp>
        <p:nvSpPr>
          <p:cNvPr id="19" name="Text 17"/>
          <p:cNvSpPr txBox="1"/>
          <p:nvPr/>
        </p:nvSpPr>
        <p:spPr>
          <a:xfrm>
            <a:off x="5294376" y="2075688"/>
            <a:ext cx="1627632" cy="292608"/>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B17B20"/>
                </a:solidFill>
                <a:latin typeface="Hiragino Sans GB" pitchFamily="34" charset="0"/>
                <a:ea typeface="Hiragino Sans GB" pitchFamily="34" charset="-122"/>
                <a:cs typeface="Hiragino Sans GB" pitchFamily="34" charset="-120"/>
              </a:rPr>
              <a:t>动作 Aₜ</a:t>
            </a:r>
            <a:endParaRPr lang="en-US" sz="1250" dirty="0"/>
          </a:p>
        </p:txBody>
      </p:sp>
      <p:sp>
        <p:nvSpPr>
          <p:cNvPr id="20" name="Text 18"/>
          <p:cNvSpPr txBox="1"/>
          <p:nvPr/>
        </p:nvSpPr>
        <p:spPr>
          <a:xfrm>
            <a:off x="5312664" y="2532888"/>
            <a:ext cx="1591056" cy="457200"/>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保护 / 调整 / 审批</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补正 / 修复 / 管控</a:t>
            </a:r>
            <a:endParaRPr lang="en-US" sz="850" dirty="0"/>
          </a:p>
        </p:txBody>
      </p:sp>
      <p:sp>
        <p:nvSpPr>
          <p:cNvPr id="21" name="Shape 19"/>
          <p:cNvSpPr/>
          <p:nvPr/>
        </p:nvSpPr>
        <p:spPr>
          <a:xfrm>
            <a:off x="7104888" y="2523744"/>
            <a:ext cx="292608" cy="0"/>
          </a:xfrm>
          <a:prstGeom prst="line">
            <a:avLst/>
          </a:prstGeom>
          <a:noFill/>
          <a:ln w="20320">
            <a:solidFill>
              <a:srgbClr val="137F7A"/>
            </a:solidFill>
            <a:prstDash val="solid"/>
            <a:tailEnd type="triangle"/>
          </a:ln>
        </p:spPr>
      </p:sp>
      <p:sp>
        <p:nvSpPr>
          <p:cNvPr id="22" name="Shape 20"/>
          <p:cNvSpPr/>
          <p:nvPr/>
        </p:nvSpPr>
        <p:spPr>
          <a:xfrm>
            <a:off x="7498080" y="1874520"/>
            <a:ext cx="1883664" cy="1298448"/>
          </a:xfrm>
          <a:prstGeom prst="roundRect">
            <a:avLst>
              <a:gd name="adj" fmla="val 4225"/>
            </a:avLst>
          </a:prstGeom>
          <a:solidFill>
            <a:srgbClr val="E2F2EF"/>
          </a:solidFill>
          <a:ln w="10160">
            <a:solidFill>
              <a:srgbClr val="0E5C59"/>
            </a:solidFill>
            <a:prstDash val="solid"/>
          </a:ln>
        </p:spPr>
      </p:sp>
      <p:sp>
        <p:nvSpPr>
          <p:cNvPr id="23" name="Text 21"/>
          <p:cNvSpPr txBox="1"/>
          <p:nvPr/>
        </p:nvSpPr>
        <p:spPr>
          <a:xfrm>
            <a:off x="7626096" y="2075688"/>
            <a:ext cx="1627632" cy="292608"/>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0E5C59"/>
                </a:solidFill>
                <a:latin typeface="Hiragino Sans GB" pitchFamily="34" charset="0"/>
                <a:ea typeface="Hiragino Sans GB" pitchFamily="34" charset="-122"/>
                <a:cs typeface="Hiragino Sans GB" pitchFamily="34" charset="-120"/>
              </a:rPr>
              <a:t>组合转移 F</a:t>
            </a:r>
            <a:endParaRPr lang="en-US" sz="1250" dirty="0"/>
          </a:p>
        </p:txBody>
      </p:sp>
      <p:sp>
        <p:nvSpPr>
          <p:cNvPr id="24" name="Text 22"/>
          <p:cNvSpPr txBox="1"/>
          <p:nvPr/>
        </p:nvSpPr>
        <p:spPr>
          <a:xfrm>
            <a:off x="7644384" y="2532888"/>
            <a:ext cx="1591056" cy="457200"/>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GIS / 规则 / 机理</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Kernel / 残差 / UQ</a:t>
            </a:r>
            <a:endParaRPr lang="en-US" sz="850" dirty="0"/>
          </a:p>
        </p:txBody>
      </p:sp>
      <p:sp>
        <p:nvSpPr>
          <p:cNvPr id="25" name="Shape 23"/>
          <p:cNvSpPr/>
          <p:nvPr/>
        </p:nvSpPr>
        <p:spPr>
          <a:xfrm>
            <a:off x="9436608" y="2523744"/>
            <a:ext cx="292608" cy="0"/>
          </a:xfrm>
          <a:prstGeom prst="line">
            <a:avLst/>
          </a:prstGeom>
          <a:noFill/>
          <a:ln w="20320">
            <a:solidFill>
              <a:srgbClr val="137F7A"/>
            </a:solidFill>
            <a:prstDash val="solid"/>
            <a:tailEnd type="triangle"/>
          </a:ln>
        </p:spPr>
      </p:sp>
      <p:sp>
        <p:nvSpPr>
          <p:cNvPr id="26" name="Shape 24"/>
          <p:cNvSpPr/>
          <p:nvPr/>
        </p:nvSpPr>
        <p:spPr>
          <a:xfrm>
            <a:off x="9829800" y="1874520"/>
            <a:ext cx="1883664" cy="1298448"/>
          </a:xfrm>
          <a:prstGeom prst="roundRect">
            <a:avLst>
              <a:gd name="adj" fmla="val 4225"/>
            </a:avLst>
          </a:prstGeom>
          <a:solidFill>
            <a:srgbClr val="E7F3EA"/>
          </a:solidFill>
          <a:ln w="10160">
            <a:solidFill>
              <a:srgbClr val="2D8A57"/>
            </a:solidFill>
            <a:prstDash val="solid"/>
          </a:ln>
        </p:spPr>
      </p:sp>
      <p:sp>
        <p:nvSpPr>
          <p:cNvPr id="27" name="Text 25"/>
          <p:cNvSpPr txBox="1"/>
          <p:nvPr/>
        </p:nvSpPr>
        <p:spPr>
          <a:xfrm>
            <a:off x="9957816" y="2075688"/>
            <a:ext cx="1627632" cy="292608"/>
          </a:xfrm>
          <a:prstGeom prst="rect">
            <a:avLst/>
          </a:prstGeom>
          <a:noFill/>
          <a:ln/>
        </p:spPr>
        <p:txBody>
          <a:bodyPr wrap="square" lIns="0" tIns="0" rIns="0" bIns="0" rtlCol="0" anchor="ctr">
            <a:normAutofit/>
          </a:bodyPr>
          <a:lstStyle/>
          <a:p>
            <a:pPr algn="ctr" indent="0" marL="0">
              <a:lnSpc>
                <a:spcPct val="92000"/>
              </a:lnSpc>
              <a:buNone/>
            </a:pPr>
            <a:r>
              <a:rPr lang="en-US" sz="1250" b="1" dirty="0">
                <a:solidFill>
                  <a:srgbClr val="2D8A57"/>
                </a:solidFill>
                <a:latin typeface="Hiragino Sans GB" pitchFamily="34" charset="0"/>
                <a:ea typeface="Hiragino Sans GB" pitchFamily="34" charset="-122"/>
                <a:cs typeface="Hiragino Sans GB" pitchFamily="34" charset="-120"/>
              </a:rPr>
              <a:t>未来 Sₜ₊₁</a:t>
            </a:r>
            <a:endParaRPr lang="en-US" sz="1250" dirty="0"/>
          </a:p>
        </p:txBody>
      </p:sp>
      <p:sp>
        <p:nvSpPr>
          <p:cNvPr id="28" name="Text 26"/>
          <p:cNvSpPr txBox="1"/>
          <p:nvPr/>
        </p:nvSpPr>
        <p:spPr>
          <a:xfrm>
            <a:off x="9976104" y="2532888"/>
            <a:ext cx="1591056" cy="457200"/>
          </a:xfrm>
          <a:prstGeom prst="rect">
            <a:avLst/>
          </a:prstGeom>
          <a:noFill/>
          <a:ln/>
        </p:spPr>
        <p:txBody>
          <a:bodyPr wrap="square" lIns="0" tIns="0" rIns="0" bIns="0" rtlCol="0" anchor="t">
            <a:normAutofit/>
          </a:bodyPr>
          <a:lstStyle/>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状态写回 / 关系重算</a:t>
            </a:r>
            <a:endParaRPr lang="en-US" sz="850" dirty="0"/>
          </a:p>
          <a:p>
            <a:pPr algn="ctr" indent="0" marL="0">
              <a:lnSpc>
                <a:spcPct val="92000"/>
              </a:lnSpc>
              <a:buNone/>
            </a:pPr>
            <a:r>
              <a:rPr lang="en-US" sz="850" dirty="0">
                <a:solidFill>
                  <a:srgbClr val="32474D"/>
                </a:solidFill>
                <a:latin typeface="Hiragino Sans GB" pitchFamily="34" charset="0"/>
                <a:ea typeface="Hiragino Sans GB" pitchFamily="34" charset="-122"/>
                <a:cs typeface="Hiragino Sans GB" pitchFamily="34" charset="-120"/>
              </a:rPr>
              <a:t>风险 + 效用 + 证据门</a:t>
            </a:r>
            <a:endParaRPr lang="en-US" sz="850" dirty="0"/>
          </a:p>
        </p:txBody>
      </p:sp>
      <p:sp>
        <p:nvSpPr>
          <p:cNvPr id="29" name="Text 27"/>
          <p:cNvSpPr txBox="1"/>
          <p:nvPr/>
        </p:nvSpPr>
        <p:spPr>
          <a:xfrm>
            <a:off x="649224" y="3703320"/>
            <a:ext cx="1490472" cy="274320"/>
          </a:xfrm>
          <a:prstGeom prst="rect">
            <a:avLst/>
          </a:prstGeom>
          <a:noFill/>
          <a:ln/>
        </p:spPr>
        <p:txBody>
          <a:bodyPr wrap="square" lIns="0" tIns="0" rIns="0" bIns="0" rtlCol="0" anchor="ctr">
            <a:normAutofit/>
          </a:bodyPr>
          <a:lstStyle/>
          <a:p>
            <a:pPr algn="l" indent="0" marL="0">
              <a:lnSpc>
                <a:spcPct val="92000"/>
              </a:lnSpc>
              <a:buNone/>
            </a:pPr>
            <a:r>
              <a:rPr lang="en-US" sz="1320" b="1" dirty="0">
                <a:solidFill>
                  <a:srgbClr val="17252A"/>
                </a:solidFill>
                <a:latin typeface="Hiragino Sans GB" pitchFamily="34" charset="0"/>
                <a:ea typeface="Hiragino Sans GB" pitchFamily="34" charset="-122"/>
                <a:cs typeface="Hiragino Sans GB" pitchFamily="34" charset="-120"/>
              </a:rPr>
              <a:t>递归推演</a:t>
            </a:r>
            <a:endParaRPr lang="en-US" sz="1320" dirty="0"/>
          </a:p>
        </p:txBody>
      </p:sp>
      <p:sp>
        <p:nvSpPr>
          <p:cNvPr id="30" name="Text 28"/>
          <p:cNvSpPr txBox="1"/>
          <p:nvPr/>
        </p:nvSpPr>
        <p:spPr>
          <a:xfrm>
            <a:off x="2377440" y="3694176"/>
            <a:ext cx="493776" cy="283464"/>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356CA8"/>
                </a:solidFill>
                <a:latin typeface="Arial" pitchFamily="34" charset="0"/>
                <a:ea typeface="Arial" pitchFamily="34" charset="-122"/>
                <a:cs typeface="Arial" pitchFamily="34" charset="-120"/>
              </a:rPr>
              <a:t>Sₜ</a:t>
            </a:r>
            <a:endParaRPr lang="en-US" sz="1700" dirty="0"/>
          </a:p>
        </p:txBody>
      </p:sp>
      <p:sp>
        <p:nvSpPr>
          <p:cNvPr id="31" name="Shape 29"/>
          <p:cNvSpPr/>
          <p:nvPr/>
        </p:nvSpPr>
        <p:spPr>
          <a:xfrm>
            <a:off x="2944368" y="3822192"/>
            <a:ext cx="658368" cy="0"/>
          </a:xfrm>
          <a:prstGeom prst="line">
            <a:avLst/>
          </a:prstGeom>
          <a:noFill/>
          <a:ln w="20320">
            <a:solidFill>
              <a:srgbClr val="137F7A"/>
            </a:solidFill>
            <a:prstDash val="solid"/>
            <a:tailEnd type="triangle"/>
          </a:ln>
        </p:spPr>
      </p:sp>
      <p:sp>
        <p:nvSpPr>
          <p:cNvPr id="32" name="Shape 30"/>
          <p:cNvSpPr/>
          <p:nvPr/>
        </p:nvSpPr>
        <p:spPr>
          <a:xfrm>
            <a:off x="3712464" y="3694176"/>
            <a:ext cx="694944" cy="256032"/>
          </a:xfrm>
          <a:prstGeom prst="roundRect">
            <a:avLst>
              <a:gd name="adj" fmla="val 50000"/>
            </a:avLst>
          </a:prstGeom>
          <a:solidFill>
            <a:srgbClr val="FFF3D9"/>
          </a:solidFill>
          <a:ln w="6350">
            <a:solidFill>
              <a:srgbClr val="B17B20"/>
            </a:solidFill>
            <a:prstDash val="solid"/>
          </a:ln>
        </p:spPr>
      </p:sp>
      <p:sp>
        <p:nvSpPr>
          <p:cNvPr id="33" name="Text 31"/>
          <p:cNvSpPr txBox="1"/>
          <p:nvPr/>
        </p:nvSpPr>
        <p:spPr>
          <a:xfrm>
            <a:off x="3767328" y="3717036"/>
            <a:ext cx="585216" cy="182880"/>
          </a:xfrm>
          <a:prstGeom prst="rect">
            <a:avLst/>
          </a:prstGeom>
          <a:noFill/>
          <a:ln/>
        </p:spPr>
        <p:txBody>
          <a:bodyPr wrap="square" lIns="0" tIns="0" rIns="0" bIns="0" rtlCol="0" anchor="ctr">
            <a:normAutofit/>
          </a:bodyPr>
          <a:lstStyle/>
          <a:p>
            <a:pPr algn="ctr" indent="0" marL="0">
              <a:lnSpc>
                <a:spcPct val="92000"/>
              </a:lnSpc>
              <a:buNone/>
            </a:pPr>
            <a:r>
              <a:rPr lang="en-US" sz="930" b="1" dirty="0">
                <a:solidFill>
                  <a:srgbClr val="B17B20"/>
                </a:solidFill>
                <a:latin typeface="Hiragino Sans GB" pitchFamily="34" charset="0"/>
                <a:ea typeface="Hiragino Sans GB" pitchFamily="34" charset="-122"/>
                <a:cs typeface="Hiragino Sans GB" pitchFamily="34" charset="-120"/>
              </a:rPr>
              <a:t>Aₜ</a:t>
            </a:r>
            <a:endParaRPr lang="en-US" sz="930" dirty="0"/>
          </a:p>
        </p:txBody>
      </p:sp>
      <p:sp>
        <p:nvSpPr>
          <p:cNvPr id="34" name="Shape 32"/>
          <p:cNvSpPr/>
          <p:nvPr/>
        </p:nvSpPr>
        <p:spPr>
          <a:xfrm>
            <a:off x="4544568" y="3822192"/>
            <a:ext cx="658368" cy="0"/>
          </a:xfrm>
          <a:prstGeom prst="line">
            <a:avLst/>
          </a:prstGeom>
          <a:noFill/>
          <a:ln w="20320">
            <a:solidFill>
              <a:srgbClr val="137F7A"/>
            </a:solidFill>
            <a:prstDash val="solid"/>
            <a:tailEnd type="triangle"/>
          </a:ln>
        </p:spPr>
      </p:sp>
      <p:sp>
        <p:nvSpPr>
          <p:cNvPr id="35" name="Text 33"/>
          <p:cNvSpPr txBox="1"/>
          <p:nvPr/>
        </p:nvSpPr>
        <p:spPr>
          <a:xfrm>
            <a:off x="5294376" y="3694176"/>
            <a:ext cx="713232" cy="283464"/>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2D8A57"/>
                </a:solidFill>
                <a:latin typeface="Arial" pitchFamily="34" charset="0"/>
                <a:ea typeface="Arial" pitchFamily="34" charset="-122"/>
                <a:cs typeface="Arial" pitchFamily="34" charset="-120"/>
              </a:rPr>
              <a:t>Ŝₜ₊₁</a:t>
            </a:r>
            <a:endParaRPr lang="en-US" sz="1700" dirty="0"/>
          </a:p>
        </p:txBody>
      </p:sp>
      <p:sp>
        <p:nvSpPr>
          <p:cNvPr id="36" name="Shape 34"/>
          <p:cNvSpPr/>
          <p:nvPr/>
        </p:nvSpPr>
        <p:spPr>
          <a:xfrm>
            <a:off x="6144768" y="3822192"/>
            <a:ext cx="658368" cy="0"/>
          </a:xfrm>
          <a:prstGeom prst="line">
            <a:avLst/>
          </a:prstGeom>
          <a:noFill/>
          <a:ln w="20320">
            <a:solidFill>
              <a:srgbClr val="137F7A"/>
            </a:solidFill>
            <a:prstDash val="solid"/>
            <a:tailEnd type="triangle"/>
          </a:ln>
        </p:spPr>
      </p:sp>
      <p:sp>
        <p:nvSpPr>
          <p:cNvPr id="37" name="Shape 35"/>
          <p:cNvSpPr/>
          <p:nvPr/>
        </p:nvSpPr>
        <p:spPr>
          <a:xfrm>
            <a:off x="6912864" y="3694176"/>
            <a:ext cx="822960" cy="256032"/>
          </a:xfrm>
          <a:prstGeom prst="roundRect">
            <a:avLst>
              <a:gd name="adj" fmla="val 50000"/>
            </a:avLst>
          </a:prstGeom>
          <a:solidFill>
            <a:srgbClr val="FFF3D9"/>
          </a:solidFill>
          <a:ln w="6350">
            <a:solidFill>
              <a:srgbClr val="B17B20"/>
            </a:solidFill>
            <a:prstDash val="solid"/>
          </a:ln>
        </p:spPr>
      </p:sp>
      <p:sp>
        <p:nvSpPr>
          <p:cNvPr id="38" name="Text 36"/>
          <p:cNvSpPr txBox="1"/>
          <p:nvPr/>
        </p:nvSpPr>
        <p:spPr>
          <a:xfrm>
            <a:off x="6967728" y="3717036"/>
            <a:ext cx="713232" cy="182880"/>
          </a:xfrm>
          <a:prstGeom prst="rect">
            <a:avLst/>
          </a:prstGeom>
          <a:noFill/>
          <a:ln/>
        </p:spPr>
        <p:txBody>
          <a:bodyPr wrap="square" lIns="0" tIns="0" rIns="0" bIns="0" rtlCol="0" anchor="ctr">
            <a:normAutofit/>
          </a:bodyPr>
          <a:lstStyle/>
          <a:p>
            <a:pPr algn="ctr" indent="0" marL="0">
              <a:lnSpc>
                <a:spcPct val="92000"/>
              </a:lnSpc>
              <a:buNone/>
            </a:pPr>
            <a:r>
              <a:rPr lang="en-US" sz="930" b="1" dirty="0">
                <a:solidFill>
                  <a:srgbClr val="B17B20"/>
                </a:solidFill>
                <a:latin typeface="Hiragino Sans GB" pitchFamily="34" charset="0"/>
                <a:ea typeface="Hiragino Sans GB" pitchFamily="34" charset="-122"/>
                <a:cs typeface="Hiragino Sans GB" pitchFamily="34" charset="-120"/>
              </a:rPr>
              <a:t>Aₜ₊₁</a:t>
            </a:r>
            <a:endParaRPr lang="en-US" sz="930" dirty="0"/>
          </a:p>
        </p:txBody>
      </p:sp>
      <p:sp>
        <p:nvSpPr>
          <p:cNvPr id="39" name="Shape 37"/>
          <p:cNvSpPr/>
          <p:nvPr/>
        </p:nvSpPr>
        <p:spPr>
          <a:xfrm>
            <a:off x="7882128" y="3822192"/>
            <a:ext cx="658368" cy="0"/>
          </a:xfrm>
          <a:prstGeom prst="line">
            <a:avLst/>
          </a:prstGeom>
          <a:noFill/>
          <a:ln w="20320">
            <a:solidFill>
              <a:srgbClr val="137F7A"/>
            </a:solidFill>
            <a:prstDash val="solid"/>
            <a:tailEnd type="triangle"/>
          </a:ln>
        </p:spPr>
      </p:sp>
      <p:sp>
        <p:nvSpPr>
          <p:cNvPr id="40" name="Text 38"/>
          <p:cNvSpPr txBox="1"/>
          <p:nvPr/>
        </p:nvSpPr>
        <p:spPr>
          <a:xfrm>
            <a:off x="8650224" y="3694176"/>
            <a:ext cx="1426464" cy="283464"/>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2D8A57"/>
                </a:solidFill>
                <a:latin typeface="Arial" pitchFamily="34" charset="0"/>
                <a:ea typeface="Arial" pitchFamily="34" charset="-122"/>
                <a:cs typeface="Arial" pitchFamily="34" charset="-120"/>
              </a:rPr>
              <a:t>Ŝₜ₊₂ … Ŝₜ₊H</a:t>
            </a:r>
            <a:endParaRPr lang="en-US" sz="1700" dirty="0"/>
          </a:p>
        </p:txBody>
      </p:sp>
      <p:sp>
        <p:nvSpPr>
          <p:cNvPr id="41" name="Shape 39"/>
          <p:cNvSpPr/>
          <p:nvPr/>
        </p:nvSpPr>
        <p:spPr>
          <a:xfrm>
            <a:off x="9966960" y="4114800"/>
            <a:ext cx="-7333488" cy="722376"/>
          </a:xfrm>
          <a:prstGeom prst="line">
            <a:avLst/>
          </a:prstGeom>
          <a:noFill/>
          <a:ln w="15240">
            <a:solidFill>
              <a:srgbClr val="705FA7"/>
            </a:solidFill>
            <a:prstDash val="dash"/>
            <a:tailEnd type="triangle"/>
          </a:ln>
        </p:spPr>
      </p:sp>
      <p:sp>
        <p:nvSpPr>
          <p:cNvPr id="42" name="Text 40"/>
          <p:cNvSpPr txBox="1"/>
          <p:nvPr/>
        </p:nvSpPr>
        <p:spPr>
          <a:xfrm>
            <a:off x="4462272" y="4727448"/>
            <a:ext cx="3200400" cy="219456"/>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705FA7"/>
                </a:solidFill>
                <a:latin typeface="Hiragino Sans GB" pitchFamily="34" charset="0"/>
                <a:ea typeface="Hiragino Sans GB" pitchFamily="34" charset="-122"/>
                <a:cs typeface="Hiragino Sans GB" pitchFamily="34" charset="-120"/>
              </a:rPr>
              <a:t>状态写回并重新计算关系</a:t>
            </a:r>
            <a:endParaRPr lang="en-US" sz="850" dirty="0"/>
          </a:p>
        </p:txBody>
      </p:sp>
      <p:sp>
        <p:nvSpPr>
          <p:cNvPr id="43" name="Shape 41"/>
          <p:cNvSpPr/>
          <p:nvPr/>
        </p:nvSpPr>
        <p:spPr>
          <a:xfrm>
            <a:off x="640080" y="5193792"/>
            <a:ext cx="5230368" cy="758952"/>
          </a:xfrm>
          <a:prstGeom prst="roundRect">
            <a:avLst>
              <a:gd name="adj" fmla="val 6024"/>
            </a:avLst>
          </a:prstGeom>
          <a:solidFill>
            <a:srgbClr val="FFFFFF"/>
          </a:solidFill>
          <a:ln w="8890">
            <a:solidFill>
              <a:srgbClr val="D0DBD8"/>
            </a:solidFill>
            <a:prstDash val="solid"/>
          </a:ln>
        </p:spPr>
      </p:sp>
      <p:sp>
        <p:nvSpPr>
          <p:cNvPr id="44" name="Text 42"/>
          <p:cNvSpPr txBox="1"/>
          <p:nvPr/>
        </p:nvSpPr>
        <p:spPr>
          <a:xfrm>
            <a:off x="868680" y="5376672"/>
            <a:ext cx="1069848" cy="228600"/>
          </a:xfrm>
          <a:prstGeom prst="rect">
            <a:avLst/>
          </a:prstGeom>
          <a:noFill/>
          <a:ln/>
        </p:spPr>
        <p:txBody>
          <a:bodyPr wrap="square" lIns="0" tIns="0" rIns="0" bIns="0" rtlCol="0" anchor="ctr">
            <a:normAutofit/>
          </a:bodyPr>
          <a:lstStyle/>
          <a:p>
            <a:pPr algn="l" indent="0" marL="0">
              <a:lnSpc>
                <a:spcPct val="92000"/>
              </a:lnSpc>
              <a:buNone/>
            </a:pPr>
            <a:r>
              <a:rPr lang="en-US" sz="1120" b="1" dirty="0">
                <a:solidFill>
                  <a:srgbClr val="6C7C80"/>
                </a:solidFill>
                <a:latin typeface="Hiragino Sans GB" pitchFamily="34" charset="0"/>
                <a:ea typeface="Hiragino Sans GB" pitchFamily="34" charset="-122"/>
                <a:cs typeface="Hiragino Sans GB" pitchFamily="34" charset="-120"/>
              </a:rPr>
              <a:t>基准轨迹</a:t>
            </a:r>
            <a:endParaRPr lang="en-US" sz="1120" dirty="0"/>
          </a:p>
        </p:txBody>
      </p:sp>
      <p:sp>
        <p:nvSpPr>
          <p:cNvPr id="45" name="Text 43"/>
          <p:cNvSpPr txBox="1"/>
          <p:nvPr/>
        </p:nvSpPr>
        <p:spPr>
          <a:xfrm>
            <a:off x="1975104" y="5358384"/>
            <a:ext cx="3547872" cy="256032"/>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32474D"/>
                </a:solidFill>
                <a:latin typeface="Arial" pitchFamily="34" charset="0"/>
                <a:ea typeface="Arial" pitchFamily="34" charset="-122"/>
                <a:cs typeface="Arial" pitchFamily="34" charset="-120"/>
              </a:rPr>
              <a:t>不干预 → S₁ → S₂ → S₃</a:t>
            </a:r>
            <a:endParaRPr lang="en-US" sz="1200" dirty="0"/>
          </a:p>
        </p:txBody>
      </p:sp>
      <p:sp>
        <p:nvSpPr>
          <p:cNvPr id="46" name="Shape 44"/>
          <p:cNvSpPr/>
          <p:nvPr/>
        </p:nvSpPr>
        <p:spPr>
          <a:xfrm>
            <a:off x="6080760" y="5193792"/>
            <a:ext cx="5468112" cy="758952"/>
          </a:xfrm>
          <a:prstGeom prst="roundRect">
            <a:avLst>
              <a:gd name="adj" fmla="val 6024"/>
            </a:avLst>
          </a:prstGeom>
          <a:solidFill>
            <a:srgbClr val="E2F2EF"/>
          </a:solidFill>
          <a:ln w="8890">
            <a:solidFill>
              <a:srgbClr val="137F7A"/>
            </a:solidFill>
            <a:prstDash val="solid"/>
          </a:ln>
        </p:spPr>
      </p:sp>
      <p:sp>
        <p:nvSpPr>
          <p:cNvPr id="47" name="Text 45"/>
          <p:cNvSpPr txBox="1"/>
          <p:nvPr/>
        </p:nvSpPr>
        <p:spPr>
          <a:xfrm>
            <a:off x="6327648" y="5376672"/>
            <a:ext cx="1069848" cy="228600"/>
          </a:xfrm>
          <a:prstGeom prst="rect">
            <a:avLst/>
          </a:prstGeom>
          <a:noFill/>
          <a:ln/>
        </p:spPr>
        <p:txBody>
          <a:bodyPr wrap="square" lIns="0" tIns="0" rIns="0" bIns="0" rtlCol="0" anchor="ctr">
            <a:normAutofit/>
          </a:bodyPr>
          <a:lstStyle/>
          <a:p>
            <a:pPr algn="l" indent="0" marL="0">
              <a:lnSpc>
                <a:spcPct val="92000"/>
              </a:lnSpc>
              <a:buNone/>
            </a:pPr>
            <a:r>
              <a:rPr lang="en-US" sz="1120" b="1" dirty="0">
                <a:solidFill>
                  <a:srgbClr val="0E5C59"/>
                </a:solidFill>
                <a:latin typeface="Hiragino Sans GB" pitchFamily="34" charset="0"/>
                <a:ea typeface="Hiragino Sans GB" pitchFamily="34" charset="-122"/>
                <a:cs typeface="Hiragino Sans GB" pitchFamily="34" charset="-120"/>
              </a:rPr>
              <a:t>干预轨迹</a:t>
            </a:r>
            <a:endParaRPr lang="en-US" sz="1120" dirty="0"/>
          </a:p>
        </p:txBody>
      </p:sp>
      <p:sp>
        <p:nvSpPr>
          <p:cNvPr id="48" name="Text 46"/>
          <p:cNvSpPr txBox="1"/>
          <p:nvPr/>
        </p:nvSpPr>
        <p:spPr>
          <a:xfrm>
            <a:off x="7406640" y="5358384"/>
            <a:ext cx="3822192" cy="256032"/>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E5C59"/>
                </a:solidFill>
                <a:latin typeface="Arial" pitchFamily="34" charset="0"/>
                <a:ea typeface="Arial" pitchFamily="34" charset="-122"/>
                <a:cs typeface="Arial" pitchFamily="34" charset="-120"/>
              </a:rPr>
              <a:t>保护 / 调整 → S₁′ → S₂′ → S₃′</a:t>
            </a:r>
            <a:endParaRPr lang="en-US" sz="1200" dirty="0"/>
          </a:p>
        </p:txBody>
      </p:sp>
      <p:sp>
        <p:nvSpPr>
          <p:cNvPr id="49" name="Text 47"/>
          <p:cNvSpPr txBox="1"/>
          <p:nvPr/>
        </p:nvSpPr>
        <p:spPr>
          <a:xfrm>
            <a:off x="2761488" y="6117336"/>
            <a:ext cx="6675120" cy="182880"/>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17252A"/>
                </a:solidFill>
                <a:latin typeface="Hiragino Sans GB" pitchFamily="34" charset="0"/>
                <a:ea typeface="Hiragino Sans GB" pitchFamily="34" charset="-122"/>
                <a:cs typeface="Hiragino Sans GB" pitchFamily="34" charset="-120"/>
              </a:rPr>
              <a:t>比较累计风险、效用、可行性、证据完整性与不确定性</a:t>
            </a:r>
            <a:endParaRPr lang="en-US" sz="87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Simulator 对比</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GWM Simulator：组合式状态转移与可追溯写回</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其差异体现在状态对象、行动接口、空间关系重算、递归消费和证据审计五个方面。</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 Runtime / Geospatial Kernel relationship；TWM simulator technical core；world-model landscape references</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19 / 29</a:t>
            </a:r>
            <a:endParaRPr lang="en-US" sz="670" dirty="0"/>
          </a:p>
        </p:txBody>
      </p:sp>
      <p:sp>
        <p:nvSpPr>
          <p:cNvPr id="10" name="Shape 8"/>
          <p:cNvSpPr/>
          <p:nvPr/>
        </p:nvSpPr>
        <p:spPr>
          <a:xfrm>
            <a:off x="502920" y="1472184"/>
            <a:ext cx="1929384" cy="1289304"/>
          </a:xfrm>
          <a:prstGeom prst="roundRect">
            <a:avLst>
              <a:gd name="adj" fmla="val 3546"/>
            </a:avLst>
          </a:prstGeom>
          <a:solidFill>
            <a:srgbClr val="E7EFF8"/>
          </a:solidFill>
          <a:ln w="10160">
            <a:solidFill>
              <a:srgbClr val="356CA8"/>
            </a:solidFill>
            <a:prstDash val="solid"/>
          </a:ln>
        </p:spPr>
      </p:sp>
      <p:sp>
        <p:nvSpPr>
          <p:cNvPr id="11" name="Text 9"/>
          <p:cNvSpPr txBox="1"/>
          <p:nvPr/>
        </p:nvSpPr>
        <p:spPr>
          <a:xfrm>
            <a:off x="694944" y="1664208"/>
            <a:ext cx="1545336" cy="256032"/>
          </a:xfrm>
          <a:prstGeom prst="rect">
            <a:avLst/>
          </a:prstGeom>
          <a:noFill/>
          <a:ln/>
        </p:spPr>
        <p:txBody>
          <a:bodyPr wrap="square" lIns="0" tIns="0" rIns="0" bIns="0" rtlCol="0" anchor="ctr">
            <a:normAutofit/>
          </a:bodyPr>
          <a:lstStyle/>
          <a:p>
            <a:pPr algn="ctr" indent="0" marL="0">
              <a:lnSpc>
                <a:spcPct val="92000"/>
              </a:lnSpc>
              <a:buNone/>
            </a:pPr>
            <a:r>
              <a:rPr lang="en-US" sz="1240" b="1" dirty="0">
                <a:solidFill>
                  <a:srgbClr val="356CA8"/>
                </a:solidFill>
                <a:latin typeface="Hiragino Sans GB" pitchFamily="34" charset="0"/>
                <a:ea typeface="Hiragino Sans GB" pitchFamily="34" charset="-122"/>
                <a:cs typeface="Hiragino Sans GB" pitchFamily="34" charset="-120"/>
              </a:rPr>
              <a:t>输入契约</a:t>
            </a:r>
            <a:endParaRPr lang="en-US" sz="1240" dirty="0"/>
          </a:p>
        </p:txBody>
      </p:sp>
      <p:sp>
        <p:nvSpPr>
          <p:cNvPr id="12" name="Text 10"/>
          <p:cNvSpPr txBox="1"/>
          <p:nvPr/>
        </p:nvSpPr>
        <p:spPr>
          <a:xfrm>
            <a:off x="713232" y="2011680"/>
            <a:ext cx="1508760" cy="530352"/>
          </a:xfrm>
          <a:prstGeom prst="rect">
            <a:avLst/>
          </a:prstGeom>
          <a:noFill/>
          <a:ln/>
        </p:spPr>
        <p:txBody>
          <a:bodyPr wrap="square" lIns="0" tIns="0" rIns="0" bIns="0" rtlCol="0" anchor="t">
            <a:normAutofit/>
          </a:bodyPr>
          <a:lstStyle/>
          <a:p>
            <a:pPr algn="ctr" indent="0" marL="0">
              <a:lnSpc>
                <a:spcPct val="92000"/>
              </a:lnSpc>
              <a:buNone/>
            </a:pPr>
            <a:r>
              <a:rPr lang="en-US" sz="790" dirty="0">
                <a:solidFill>
                  <a:srgbClr val="32474D"/>
                </a:solidFill>
                <a:latin typeface="Arial" pitchFamily="34" charset="0"/>
                <a:ea typeface="Arial" pitchFamily="34" charset="-122"/>
                <a:cs typeface="Arial" pitchFamily="34" charset="-120"/>
              </a:rPr>
              <a:t>StateSnapshot + Action</a:t>
            </a:r>
            <a:endParaRPr lang="en-US" sz="790" dirty="0"/>
          </a:p>
          <a:p>
            <a:pPr algn="ctr" indent="0" marL="0">
              <a:lnSpc>
                <a:spcPct val="92000"/>
              </a:lnSpc>
              <a:buNone/>
            </a:pPr>
            <a:r>
              <a:rPr lang="en-US" sz="790" dirty="0">
                <a:solidFill>
                  <a:srgbClr val="32474D"/>
                </a:solidFill>
                <a:latin typeface="Arial" pitchFamily="34" charset="0"/>
                <a:ea typeface="Arial" pitchFamily="34" charset="-122"/>
                <a:cs typeface="Arial" pitchFamily="34" charset="-120"/>
              </a:rPr>
              <a:t>Context + Spatial Graph</a:t>
            </a:r>
            <a:endParaRPr lang="en-US" sz="790" dirty="0"/>
          </a:p>
          <a:p>
            <a:pPr algn="ctr" indent="0" marL="0">
              <a:lnSpc>
                <a:spcPct val="92000"/>
              </a:lnSpc>
              <a:buNone/>
            </a:pPr>
            <a:r>
              <a:rPr lang="en-US" sz="790" dirty="0">
                <a:solidFill>
                  <a:srgbClr val="32474D"/>
                </a:solidFill>
                <a:latin typeface="Arial" pitchFamily="34" charset="0"/>
                <a:ea typeface="Arial" pitchFamily="34" charset="-122"/>
                <a:cs typeface="Arial" pitchFamily="34" charset="-120"/>
              </a:rPr>
              <a:t>规则版本 + 证据等级</a:t>
            </a:r>
            <a:endParaRPr lang="en-US" sz="790" dirty="0"/>
          </a:p>
        </p:txBody>
      </p:sp>
      <p:sp>
        <p:nvSpPr>
          <p:cNvPr id="13" name="Shape 11"/>
          <p:cNvSpPr/>
          <p:nvPr/>
        </p:nvSpPr>
        <p:spPr>
          <a:xfrm>
            <a:off x="2523744" y="2121408"/>
            <a:ext cx="256032" cy="0"/>
          </a:xfrm>
          <a:prstGeom prst="line">
            <a:avLst/>
          </a:prstGeom>
          <a:noFill/>
          <a:ln w="20320">
            <a:solidFill>
              <a:srgbClr val="137F7A"/>
            </a:solidFill>
            <a:prstDash val="solid"/>
            <a:tailEnd type="triangle"/>
          </a:ln>
        </p:spPr>
      </p:sp>
      <p:sp>
        <p:nvSpPr>
          <p:cNvPr id="14" name="Shape 12"/>
          <p:cNvSpPr/>
          <p:nvPr/>
        </p:nvSpPr>
        <p:spPr>
          <a:xfrm>
            <a:off x="2889504" y="1472184"/>
            <a:ext cx="1901952" cy="1289304"/>
          </a:xfrm>
          <a:prstGeom prst="roundRect">
            <a:avLst>
              <a:gd name="adj" fmla="val 3546"/>
            </a:avLst>
          </a:prstGeom>
          <a:solidFill>
            <a:srgbClr val="E2F2EF"/>
          </a:solidFill>
          <a:ln w="11430">
            <a:solidFill>
              <a:srgbClr val="137F7A"/>
            </a:solidFill>
            <a:prstDash val="solid"/>
          </a:ln>
        </p:spPr>
      </p:sp>
      <p:sp>
        <p:nvSpPr>
          <p:cNvPr id="15" name="Text 13"/>
          <p:cNvSpPr txBox="1"/>
          <p:nvPr/>
        </p:nvSpPr>
        <p:spPr>
          <a:xfrm>
            <a:off x="3081528" y="1664208"/>
            <a:ext cx="1517904" cy="256032"/>
          </a:xfrm>
          <a:prstGeom prst="rect">
            <a:avLst/>
          </a:prstGeom>
          <a:noFill/>
          <a:ln/>
        </p:spPr>
        <p:txBody>
          <a:bodyPr wrap="square" lIns="0" tIns="0" rIns="0" bIns="0" rtlCol="0" anchor="ctr">
            <a:normAutofit/>
          </a:bodyPr>
          <a:lstStyle/>
          <a:p>
            <a:pPr algn="ctr" indent="0" marL="0">
              <a:lnSpc>
                <a:spcPct val="92000"/>
              </a:lnSpc>
              <a:buNone/>
            </a:pPr>
            <a:r>
              <a:rPr lang="en-US" sz="1200" b="1" dirty="0">
                <a:solidFill>
                  <a:srgbClr val="0E5C59"/>
                </a:solidFill>
                <a:latin typeface="Arial" pitchFamily="34" charset="0"/>
                <a:ea typeface="Arial" pitchFamily="34" charset="-122"/>
                <a:cs typeface="Arial" pitchFamily="34" charset="-120"/>
              </a:rPr>
              <a:t>Transition Router</a:t>
            </a:r>
            <a:endParaRPr lang="en-US" sz="1200" dirty="0"/>
          </a:p>
        </p:txBody>
      </p:sp>
      <p:sp>
        <p:nvSpPr>
          <p:cNvPr id="16" name="Text 14"/>
          <p:cNvSpPr txBox="1"/>
          <p:nvPr/>
        </p:nvSpPr>
        <p:spPr>
          <a:xfrm>
            <a:off x="3145536" y="2029968"/>
            <a:ext cx="1380744" cy="475488"/>
          </a:xfrm>
          <a:prstGeom prst="rect">
            <a:avLst/>
          </a:prstGeom>
          <a:noFill/>
          <a:ln/>
        </p:spPr>
        <p:txBody>
          <a:bodyPr wrap="square" lIns="0" tIns="0" rIns="0" bIns="0" rtlCol="0" anchor="t">
            <a:normAutofit/>
          </a:bodyPr>
          <a:lstStyle/>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按对象、变量、证据等级</a:t>
            </a:r>
            <a:endParaRPr lang="en-US" sz="800" dirty="0"/>
          </a:p>
          <a:p>
            <a:pPr algn="ctr" indent="0" marL="0">
              <a:lnSpc>
                <a:spcPct val="92000"/>
              </a:lnSpc>
              <a:buNone/>
            </a:pPr>
            <a:r>
              <a:rPr lang="en-US" sz="800" dirty="0">
                <a:solidFill>
                  <a:srgbClr val="32474D"/>
                </a:solidFill>
                <a:latin typeface="Hiragino Sans GB" pitchFamily="34" charset="0"/>
                <a:ea typeface="Hiragino Sans GB" pitchFamily="34" charset="-122"/>
                <a:cs typeface="Hiragino Sans GB" pitchFamily="34" charset="-120"/>
              </a:rPr>
              <a:t>选择转移来源并记录 trace</a:t>
            </a:r>
            <a:endParaRPr lang="en-US" sz="800" dirty="0"/>
          </a:p>
        </p:txBody>
      </p:sp>
      <p:sp>
        <p:nvSpPr>
          <p:cNvPr id="17" name="Shape 15"/>
          <p:cNvSpPr/>
          <p:nvPr/>
        </p:nvSpPr>
        <p:spPr>
          <a:xfrm>
            <a:off x="4882896" y="2121408"/>
            <a:ext cx="256032" cy="0"/>
          </a:xfrm>
          <a:prstGeom prst="line">
            <a:avLst/>
          </a:prstGeom>
          <a:noFill/>
          <a:ln w="20320">
            <a:solidFill>
              <a:srgbClr val="137F7A"/>
            </a:solidFill>
            <a:prstDash val="solid"/>
            <a:tailEnd type="triangle"/>
          </a:ln>
        </p:spPr>
      </p:sp>
      <p:sp>
        <p:nvSpPr>
          <p:cNvPr id="18" name="Shape 16"/>
          <p:cNvSpPr/>
          <p:nvPr/>
        </p:nvSpPr>
        <p:spPr>
          <a:xfrm>
            <a:off x="5248656" y="1472184"/>
            <a:ext cx="3904488" cy="1289304"/>
          </a:xfrm>
          <a:prstGeom prst="roundRect">
            <a:avLst>
              <a:gd name="adj" fmla="val 3546"/>
            </a:avLst>
          </a:prstGeom>
          <a:solidFill>
            <a:srgbClr val="FFFFFF"/>
          </a:solidFill>
          <a:ln w="10160">
            <a:solidFill>
              <a:srgbClr val="D0DBD8"/>
            </a:solidFill>
            <a:prstDash val="solid"/>
          </a:ln>
        </p:spPr>
      </p:sp>
      <p:sp>
        <p:nvSpPr>
          <p:cNvPr id="19" name="Text 17"/>
          <p:cNvSpPr txBox="1"/>
          <p:nvPr/>
        </p:nvSpPr>
        <p:spPr>
          <a:xfrm>
            <a:off x="5468112" y="1609344"/>
            <a:ext cx="3456432" cy="228600"/>
          </a:xfrm>
          <a:prstGeom prst="rect">
            <a:avLst/>
          </a:prstGeom>
          <a:noFill/>
          <a:ln/>
        </p:spPr>
        <p:txBody>
          <a:bodyPr wrap="square" lIns="0" tIns="0" rIns="0" bIns="0" rtlCol="0" anchor="ctr">
            <a:normAutofit/>
          </a:bodyPr>
          <a:lstStyle/>
          <a:p>
            <a:pPr algn="ctr" indent="0" marL="0">
              <a:lnSpc>
                <a:spcPct val="92000"/>
              </a:lnSpc>
              <a:buNone/>
            </a:pPr>
            <a:r>
              <a:rPr lang="en-US" sz="1120" b="1" dirty="0">
                <a:solidFill>
                  <a:srgbClr val="17252A"/>
                </a:solidFill>
                <a:latin typeface="Hiragino Sans GB" pitchFamily="34" charset="0"/>
                <a:ea typeface="Hiragino Sans GB" pitchFamily="34" charset="-122"/>
                <a:cs typeface="Hiragino Sans GB" pitchFamily="34" charset="-120"/>
              </a:rPr>
              <a:t>组合转移来源</a:t>
            </a:r>
            <a:endParaRPr lang="en-US" sz="1120" dirty="0"/>
          </a:p>
        </p:txBody>
      </p:sp>
      <p:sp>
        <p:nvSpPr>
          <p:cNvPr id="20" name="Shape 18"/>
          <p:cNvSpPr/>
          <p:nvPr/>
        </p:nvSpPr>
        <p:spPr>
          <a:xfrm>
            <a:off x="5458968" y="1947672"/>
            <a:ext cx="1005840" cy="256032"/>
          </a:xfrm>
          <a:prstGeom prst="roundRect">
            <a:avLst>
              <a:gd name="adj" fmla="val 50000"/>
            </a:avLst>
          </a:prstGeom>
          <a:solidFill>
            <a:srgbClr val="E7EFF8"/>
          </a:solidFill>
          <a:ln w="6350">
            <a:solidFill>
              <a:srgbClr val="E7EFF8"/>
            </a:solidFill>
            <a:prstDash val="solid"/>
          </a:ln>
        </p:spPr>
      </p:sp>
      <p:sp>
        <p:nvSpPr>
          <p:cNvPr id="21" name="Text 19"/>
          <p:cNvSpPr txBox="1"/>
          <p:nvPr/>
        </p:nvSpPr>
        <p:spPr>
          <a:xfrm>
            <a:off x="5513832" y="1970532"/>
            <a:ext cx="896112" cy="182880"/>
          </a:xfrm>
          <a:prstGeom prst="rect">
            <a:avLst/>
          </a:prstGeom>
          <a:noFill/>
          <a:ln/>
        </p:spPr>
        <p:txBody>
          <a:bodyPr wrap="square" lIns="0" tIns="0" rIns="0" bIns="0" rtlCol="0" anchor="ctr">
            <a:normAutofit/>
          </a:bodyPr>
          <a:lstStyle/>
          <a:p>
            <a:pPr algn="ctr" indent="0" marL="0">
              <a:lnSpc>
                <a:spcPct val="92000"/>
              </a:lnSpc>
              <a:buNone/>
            </a:pPr>
            <a:r>
              <a:rPr lang="en-US" sz="630" b="1" dirty="0">
                <a:solidFill>
                  <a:srgbClr val="356CA8"/>
                </a:solidFill>
                <a:latin typeface="Hiragino Sans GB" pitchFamily="34" charset="0"/>
                <a:ea typeface="Hiragino Sans GB" pitchFamily="34" charset="-122"/>
                <a:cs typeface="Hiragino Sans GB" pitchFamily="34" charset="-120"/>
              </a:rPr>
              <a:t>GIS 确定性</a:t>
            </a:r>
            <a:endParaRPr lang="en-US" sz="630" dirty="0"/>
          </a:p>
        </p:txBody>
      </p:sp>
      <p:sp>
        <p:nvSpPr>
          <p:cNvPr id="22" name="Shape 20"/>
          <p:cNvSpPr/>
          <p:nvPr/>
        </p:nvSpPr>
        <p:spPr>
          <a:xfrm>
            <a:off x="6601968" y="1947672"/>
            <a:ext cx="1005840" cy="256032"/>
          </a:xfrm>
          <a:prstGeom prst="roundRect">
            <a:avLst>
              <a:gd name="adj" fmla="val 50000"/>
            </a:avLst>
          </a:prstGeom>
          <a:solidFill>
            <a:srgbClr val="FFF3D9"/>
          </a:solidFill>
          <a:ln w="6350">
            <a:solidFill>
              <a:srgbClr val="FFF3D9"/>
            </a:solidFill>
            <a:prstDash val="solid"/>
          </a:ln>
        </p:spPr>
      </p:sp>
      <p:sp>
        <p:nvSpPr>
          <p:cNvPr id="23" name="Text 21"/>
          <p:cNvSpPr txBox="1"/>
          <p:nvPr/>
        </p:nvSpPr>
        <p:spPr>
          <a:xfrm>
            <a:off x="6656832" y="1970532"/>
            <a:ext cx="896112" cy="182880"/>
          </a:xfrm>
          <a:prstGeom prst="rect">
            <a:avLst/>
          </a:prstGeom>
          <a:noFill/>
          <a:ln/>
        </p:spPr>
        <p:txBody>
          <a:bodyPr wrap="square" lIns="0" tIns="0" rIns="0" bIns="0" rtlCol="0" anchor="ctr">
            <a:normAutofit/>
          </a:bodyPr>
          <a:lstStyle/>
          <a:p>
            <a:pPr algn="ctr" indent="0" marL="0">
              <a:lnSpc>
                <a:spcPct val="92000"/>
              </a:lnSpc>
              <a:buNone/>
            </a:pPr>
            <a:r>
              <a:rPr lang="en-US" sz="630" b="1" dirty="0">
                <a:solidFill>
                  <a:srgbClr val="B17B20"/>
                </a:solidFill>
                <a:latin typeface="Hiragino Sans GB" pitchFamily="34" charset="0"/>
                <a:ea typeface="Hiragino Sans GB" pitchFamily="34" charset="-122"/>
                <a:cs typeface="Hiragino Sans GB" pitchFamily="34" charset="-120"/>
              </a:rPr>
              <a:t>规则 / Action Mask</a:t>
            </a:r>
            <a:endParaRPr lang="en-US" sz="630" dirty="0"/>
          </a:p>
        </p:txBody>
      </p:sp>
      <p:sp>
        <p:nvSpPr>
          <p:cNvPr id="24" name="Shape 22"/>
          <p:cNvSpPr/>
          <p:nvPr/>
        </p:nvSpPr>
        <p:spPr>
          <a:xfrm>
            <a:off x="7744968" y="1947672"/>
            <a:ext cx="1005840" cy="256032"/>
          </a:xfrm>
          <a:prstGeom prst="roundRect">
            <a:avLst>
              <a:gd name="adj" fmla="val 50000"/>
            </a:avLst>
          </a:prstGeom>
          <a:solidFill>
            <a:srgbClr val="E7F3EA"/>
          </a:solidFill>
          <a:ln w="6350">
            <a:solidFill>
              <a:srgbClr val="E7F3EA"/>
            </a:solidFill>
            <a:prstDash val="solid"/>
          </a:ln>
        </p:spPr>
      </p:sp>
      <p:sp>
        <p:nvSpPr>
          <p:cNvPr id="25" name="Text 23"/>
          <p:cNvSpPr txBox="1"/>
          <p:nvPr/>
        </p:nvSpPr>
        <p:spPr>
          <a:xfrm>
            <a:off x="7799832" y="1970532"/>
            <a:ext cx="896112" cy="182880"/>
          </a:xfrm>
          <a:prstGeom prst="rect">
            <a:avLst/>
          </a:prstGeom>
          <a:noFill/>
          <a:ln/>
        </p:spPr>
        <p:txBody>
          <a:bodyPr wrap="square" lIns="0" tIns="0" rIns="0" bIns="0" rtlCol="0" anchor="ctr">
            <a:normAutofit/>
          </a:bodyPr>
          <a:lstStyle/>
          <a:p>
            <a:pPr algn="ctr" indent="0" marL="0">
              <a:lnSpc>
                <a:spcPct val="92000"/>
              </a:lnSpc>
              <a:buNone/>
            </a:pPr>
            <a:r>
              <a:rPr lang="en-US" sz="630" b="1" dirty="0">
                <a:solidFill>
                  <a:srgbClr val="2D8A57"/>
                </a:solidFill>
                <a:latin typeface="Hiragino Sans GB" pitchFamily="34" charset="0"/>
                <a:ea typeface="Hiragino Sans GB" pitchFamily="34" charset="-122"/>
                <a:cs typeface="Hiragino Sans GB" pitchFamily="34" charset="-120"/>
              </a:rPr>
              <a:t>专业机理模型</a:t>
            </a:r>
            <a:endParaRPr lang="en-US" sz="630" dirty="0"/>
          </a:p>
        </p:txBody>
      </p:sp>
      <p:sp>
        <p:nvSpPr>
          <p:cNvPr id="26" name="Shape 24"/>
          <p:cNvSpPr/>
          <p:nvPr/>
        </p:nvSpPr>
        <p:spPr>
          <a:xfrm>
            <a:off x="6016752" y="2322576"/>
            <a:ext cx="1271016" cy="256032"/>
          </a:xfrm>
          <a:prstGeom prst="roundRect">
            <a:avLst>
              <a:gd name="adj" fmla="val 50000"/>
            </a:avLst>
          </a:prstGeom>
          <a:solidFill>
            <a:srgbClr val="E2F2EF"/>
          </a:solidFill>
          <a:ln w="6350">
            <a:solidFill>
              <a:srgbClr val="E2F2EF"/>
            </a:solidFill>
            <a:prstDash val="solid"/>
          </a:ln>
        </p:spPr>
      </p:sp>
      <p:sp>
        <p:nvSpPr>
          <p:cNvPr id="27" name="Text 25"/>
          <p:cNvSpPr txBox="1"/>
          <p:nvPr/>
        </p:nvSpPr>
        <p:spPr>
          <a:xfrm>
            <a:off x="6071616" y="2345436"/>
            <a:ext cx="1161288" cy="182880"/>
          </a:xfrm>
          <a:prstGeom prst="rect">
            <a:avLst/>
          </a:prstGeom>
          <a:noFill/>
          <a:ln/>
        </p:spPr>
        <p:txBody>
          <a:bodyPr wrap="square" lIns="0" tIns="0" rIns="0" bIns="0" rtlCol="0" anchor="ctr">
            <a:normAutofit/>
          </a:bodyPr>
          <a:lstStyle/>
          <a:p>
            <a:pPr algn="ctr" indent="0" marL="0">
              <a:lnSpc>
                <a:spcPct val="92000"/>
              </a:lnSpc>
              <a:buNone/>
            </a:pPr>
            <a:r>
              <a:rPr lang="en-US" sz="610" b="1" dirty="0">
                <a:solidFill>
                  <a:srgbClr val="0E5C59"/>
                </a:solidFill>
                <a:latin typeface="Hiragino Sans GB" pitchFamily="34" charset="0"/>
                <a:ea typeface="Hiragino Sans GB" pitchFamily="34" charset="-122"/>
                <a:cs typeface="Hiragino Sans GB" pitchFamily="34" charset="-120"/>
              </a:rPr>
              <a:t>DAM-GK / Learned</a:t>
            </a:r>
            <a:endParaRPr lang="en-US" sz="610" dirty="0"/>
          </a:p>
        </p:txBody>
      </p:sp>
      <p:sp>
        <p:nvSpPr>
          <p:cNvPr id="28" name="Shape 26"/>
          <p:cNvSpPr/>
          <p:nvPr/>
        </p:nvSpPr>
        <p:spPr>
          <a:xfrm>
            <a:off x="7415784" y="2322576"/>
            <a:ext cx="1271016" cy="256032"/>
          </a:xfrm>
          <a:prstGeom prst="roundRect">
            <a:avLst>
              <a:gd name="adj" fmla="val 50000"/>
            </a:avLst>
          </a:prstGeom>
          <a:solidFill>
            <a:srgbClr val="FBE9EA"/>
          </a:solidFill>
          <a:ln w="6350">
            <a:solidFill>
              <a:srgbClr val="FBE9EA"/>
            </a:solidFill>
            <a:prstDash val="solid"/>
          </a:ln>
        </p:spPr>
      </p:sp>
      <p:sp>
        <p:nvSpPr>
          <p:cNvPr id="29" name="Text 27"/>
          <p:cNvSpPr txBox="1"/>
          <p:nvPr/>
        </p:nvSpPr>
        <p:spPr>
          <a:xfrm>
            <a:off x="7470648" y="2345436"/>
            <a:ext cx="1161288" cy="182880"/>
          </a:xfrm>
          <a:prstGeom prst="rect">
            <a:avLst/>
          </a:prstGeom>
          <a:noFill/>
          <a:ln/>
        </p:spPr>
        <p:txBody>
          <a:bodyPr wrap="square" lIns="0" tIns="0" rIns="0" bIns="0" rtlCol="0" anchor="ctr">
            <a:normAutofit/>
          </a:bodyPr>
          <a:lstStyle/>
          <a:p>
            <a:pPr algn="ctr" indent="0" marL="0">
              <a:lnSpc>
                <a:spcPct val="92000"/>
              </a:lnSpc>
              <a:buNone/>
            </a:pPr>
            <a:r>
              <a:rPr lang="en-US" sz="610" b="1" dirty="0">
                <a:solidFill>
                  <a:srgbClr val="B04A50"/>
                </a:solidFill>
                <a:latin typeface="Hiragino Sans GB" pitchFamily="34" charset="0"/>
                <a:ea typeface="Hiragino Sans GB" pitchFamily="34" charset="-122"/>
                <a:cs typeface="Hiragino Sans GB" pitchFamily="34" charset="-120"/>
              </a:rPr>
              <a:t>残差校准 / Unknown Gate</a:t>
            </a:r>
            <a:endParaRPr lang="en-US" sz="610" dirty="0"/>
          </a:p>
        </p:txBody>
      </p:sp>
      <p:sp>
        <p:nvSpPr>
          <p:cNvPr id="30" name="Shape 28"/>
          <p:cNvSpPr/>
          <p:nvPr/>
        </p:nvSpPr>
        <p:spPr>
          <a:xfrm>
            <a:off x="9235440" y="2121408"/>
            <a:ext cx="256032" cy="0"/>
          </a:xfrm>
          <a:prstGeom prst="line">
            <a:avLst/>
          </a:prstGeom>
          <a:noFill/>
          <a:ln w="20320">
            <a:solidFill>
              <a:srgbClr val="137F7A"/>
            </a:solidFill>
            <a:prstDash val="solid"/>
            <a:tailEnd type="triangle"/>
          </a:ln>
        </p:spPr>
      </p:sp>
      <p:sp>
        <p:nvSpPr>
          <p:cNvPr id="31" name="Shape 29"/>
          <p:cNvSpPr/>
          <p:nvPr/>
        </p:nvSpPr>
        <p:spPr>
          <a:xfrm>
            <a:off x="9601200" y="1472184"/>
            <a:ext cx="2084832" cy="1289304"/>
          </a:xfrm>
          <a:prstGeom prst="roundRect">
            <a:avLst>
              <a:gd name="adj" fmla="val 3546"/>
            </a:avLst>
          </a:prstGeom>
          <a:solidFill>
            <a:srgbClr val="E7F3EA"/>
          </a:solidFill>
          <a:ln w="10160">
            <a:solidFill>
              <a:srgbClr val="2D8A57"/>
            </a:solidFill>
            <a:prstDash val="solid"/>
          </a:ln>
        </p:spPr>
      </p:sp>
      <p:sp>
        <p:nvSpPr>
          <p:cNvPr id="32" name="Text 30"/>
          <p:cNvSpPr txBox="1"/>
          <p:nvPr/>
        </p:nvSpPr>
        <p:spPr>
          <a:xfrm>
            <a:off x="9802368" y="1664208"/>
            <a:ext cx="1682496" cy="256032"/>
          </a:xfrm>
          <a:prstGeom prst="rect">
            <a:avLst/>
          </a:prstGeom>
          <a:noFill/>
          <a:ln/>
        </p:spPr>
        <p:txBody>
          <a:bodyPr wrap="square" lIns="0" tIns="0" rIns="0" bIns="0" rtlCol="0" anchor="ctr">
            <a:normAutofit/>
          </a:bodyPr>
          <a:lstStyle/>
          <a:p>
            <a:pPr algn="ctr" indent="0" marL="0">
              <a:lnSpc>
                <a:spcPct val="92000"/>
              </a:lnSpc>
              <a:buNone/>
            </a:pPr>
            <a:r>
              <a:rPr lang="en-US" sz="1240" b="1" dirty="0">
                <a:solidFill>
                  <a:srgbClr val="2D8A57"/>
                </a:solidFill>
                <a:latin typeface="Hiragino Sans GB" pitchFamily="34" charset="0"/>
                <a:ea typeface="Hiragino Sans GB" pitchFamily="34" charset="-122"/>
                <a:cs typeface="Hiragino Sans GB" pitchFamily="34" charset="-120"/>
              </a:rPr>
              <a:t>输出与写回</a:t>
            </a:r>
            <a:endParaRPr lang="en-US" sz="1240" dirty="0"/>
          </a:p>
        </p:txBody>
      </p:sp>
      <p:sp>
        <p:nvSpPr>
          <p:cNvPr id="33" name="Text 31"/>
          <p:cNvSpPr txBox="1"/>
          <p:nvPr/>
        </p:nvSpPr>
        <p:spPr>
          <a:xfrm>
            <a:off x="9848088" y="2011680"/>
            <a:ext cx="1591056" cy="530352"/>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Arial" pitchFamily="34" charset="0"/>
                <a:ea typeface="Arial" pitchFamily="34" charset="-122"/>
                <a:cs typeface="Arial" pitchFamily="34" charset="-120"/>
              </a:rPr>
              <a:t>State / Graph Delta</a:t>
            </a:r>
            <a:endParaRPr lang="en-US" sz="780" dirty="0"/>
          </a:p>
          <a:p>
            <a:pPr algn="ctr" indent="0" marL="0">
              <a:lnSpc>
                <a:spcPct val="92000"/>
              </a:lnSpc>
              <a:buNone/>
            </a:pPr>
            <a:r>
              <a:rPr lang="en-US" sz="780" dirty="0">
                <a:solidFill>
                  <a:srgbClr val="32474D"/>
                </a:solidFill>
                <a:latin typeface="Arial" pitchFamily="34" charset="0"/>
                <a:ea typeface="Arial" pitchFamily="34" charset="-122"/>
                <a:cs typeface="Arial" pitchFamily="34" charset="-120"/>
              </a:rPr>
              <a:t>Risk / Utility / UQ</a:t>
            </a:r>
            <a:endParaRPr lang="en-US" sz="780" dirty="0"/>
          </a:p>
          <a:p>
            <a:pPr algn="ctr" indent="0" marL="0">
              <a:lnSpc>
                <a:spcPct val="92000"/>
              </a:lnSpc>
              <a:buNone/>
            </a:pPr>
            <a:r>
              <a:rPr lang="en-US" sz="780" dirty="0">
                <a:solidFill>
                  <a:srgbClr val="32474D"/>
                </a:solidFill>
                <a:latin typeface="Arial" pitchFamily="34" charset="0"/>
                <a:ea typeface="Arial" pitchFamily="34" charset="-122"/>
                <a:cs typeface="Arial" pitchFamily="34" charset="-120"/>
              </a:rPr>
              <a:t>Trace → 写回 → 重算</a:t>
            </a:r>
            <a:endParaRPr lang="en-US" sz="780" dirty="0"/>
          </a:p>
        </p:txBody>
      </p:sp>
      <p:sp>
        <p:nvSpPr>
          <p:cNvPr id="34" name="Text 32"/>
          <p:cNvSpPr txBox="1"/>
          <p:nvPr/>
        </p:nvSpPr>
        <p:spPr>
          <a:xfrm>
            <a:off x="585216" y="3081528"/>
            <a:ext cx="3035808" cy="265176"/>
          </a:xfrm>
          <a:prstGeom prst="rect">
            <a:avLst/>
          </a:prstGeom>
          <a:noFill/>
          <a:ln/>
        </p:spPr>
        <p:txBody>
          <a:bodyPr wrap="square" lIns="0" tIns="0" rIns="0" bIns="0" rtlCol="0" anchor="ctr">
            <a:normAutofit/>
          </a:bodyPr>
          <a:lstStyle/>
          <a:p>
            <a:pPr algn="l" indent="0" marL="0">
              <a:lnSpc>
                <a:spcPct val="92000"/>
              </a:lnSpc>
              <a:buNone/>
            </a:pPr>
            <a:r>
              <a:rPr lang="en-US" sz="1320" b="1" dirty="0">
                <a:solidFill>
                  <a:srgbClr val="17252A"/>
                </a:solidFill>
                <a:latin typeface="Hiragino Sans GB" pitchFamily="34" charset="0"/>
                <a:ea typeface="Hiragino Sans GB" pitchFamily="34" charset="-122"/>
                <a:cs typeface="Hiragino Sans GB" pitchFamily="34" charset="-120"/>
              </a:rPr>
              <a:t>与其他 Simulator 的直接差异</a:t>
            </a:r>
            <a:endParaRPr lang="en-US" sz="1320" dirty="0"/>
          </a:p>
        </p:txBody>
      </p:sp>
      <p:sp>
        <p:nvSpPr>
          <p:cNvPr id="35" name="Shape 33"/>
          <p:cNvSpPr/>
          <p:nvPr/>
        </p:nvSpPr>
        <p:spPr>
          <a:xfrm>
            <a:off x="512064" y="3456432"/>
            <a:ext cx="2587752" cy="2157984"/>
          </a:xfrm>
          <a:prstGeom prst="roundRect">
            <a:avLst>
              <a:gd name="adj" fmla="val 2119"/>
            </a:avLst>
          </a:prstGeom>
          <a:solidFill>
            <a:srgbClr val="FFFFFF"/>
          </a:solidFill>
          <a:ln w="9525">
            <a:solidFill>
              <a:srgbClr val="705FA7"/>
            </a:solidFill>
            <a:prstDash val="solid"/>
          </a:ln>
        </p:spPr>
      </p:sp>
      <p:sp>
        <p:nvSpPr>
          <p:cNvPr id="36" name="Shape 34"/>
          <p:cNvSpPr/>
          <p:nvPr/>
        </p:nvSpPr>
        <p:spPr>
          <a:xfrm>
            <a:off x="512064" y="3456432"/>
            <a:ext cx="2587752" cy="393192"/>
          </a:xfrm>
          <a:prstGeom prst="roundRect">
            <a:avLst>
              <a:gd name="adj" fmla="val 11628"/>
            </a:avLst>
          </a:prstGeom>
          <a:solidFill>
            <a:srgbClr val="EEEAF8"/>
          </a:solidFill>
          <a:ln w="8890">
            <a:solidFill>
              <a:srgbClr val="705FA7"/>
            </a:solidFill>
            <a:prstDash val="solid"/>
          </a:ln>
        </p:spPr>
      </p:sp>
      <p:sp>
        <p:nvSpPr>
          <p:cNvPr id="37" name="Text 35"/>
          <p:cNvSpPr txBox="1"/>
          <p:nvPr/>
        </p:nvSpPr>
        <p:spPr>
          <a:xfrm>
            <a:off x="630936" y="3547872"/>
            <a:ext cx="2350008" cy="210312"/>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705FA7"/>
                </a:solidFill>
                <a:latin typeface="Hiragino Sans GB" pitchFamily="34" charset="0"/>
                <a:ea typeface="Hiragino Sans GB" pitchFamily="34" charset="-122"/>
                <a:cs typeface="Hiragino Sans GB" pitchFamily="34" charset="-120"/>
              </a:rPr>
              <a:t>视觉 / 机器人 WM</a:t>
            </a:r>
            <a:endParaRPr lang="en-US" sz="960" dirty="0"/>
          </a:p>
        </p:txBody>
      </p:sp>
      <p:sp>
        <p:nvSpPr>
          <p:cNvPr id="38" name="Text 36"/>
          <p:cNvSpPr txBox="1"/>
          <p:nvPr/>
        </p:nvSpPr>
        <p:spPr>
          <a:xfrm>
            <a:off x="649224" y="4005072"/>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705FA7"/>
                </a:solidFill>
                <a:latin typeface="Hiragino Sans GB" pitchFamily="34" charset="0"/>
                <a:ea typeface="Hiragino Sans GB" pitchFamily="34" charset="-122"/>
                <a:cs typeface="Hiragino Sans GB" pitchFamily="34" charset="-120"/>
              </a:rPr>
              <a:t>状态</a:t>
            </a:r>
            <a:endParaRPr lang="en-US" sz="700" dirty="0"/>
          </a:p>
        </p:txBody>
      </p:sp>
      <p:sp>
        <p:nvSpPr>
          <p:cNvPr id="39" name="Text 37"/>
          <p:cNvSpPr txBox="1"/>
          <p:nvPr/>
        </p:nvSpPr>
        <p:spPr>
          <a:xfrm>
            <a:off x="1115568" y="3995928"/>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Arial" pitchFamily="34" charset="0"/>
                <a:ea typeface="Arial" pitchFamily="34" charset="-122"/>
                <a:cs typeface="Arial" pitchFamily="34" charset="-120"/>
              </a:rPr>
              <a:t>像素、latent frame、局部物体或 3D 状态</a:t>
            </a:r>
            <a:endParaRPr lang="en-US" sz="680" dirty="0"/>
          </a:p>
        </p:txBody>
      </p:sp>
      <p:sp>
        <p:nvSpPr>
          <p:cNvPr id="40" name="Text 38"/>
          <p:cNvSpPr txBox="1"/>
          <p:nvPr/>
        </p:nvSpPr>
        <p:spPr>
          <a:xfrm>
            <a:off x="649224" y="4398264"/>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705FA7"/>
                </a:solidFill>
                <a:latin typeface="Hiragino Sans GB" pitchFamily="34" charset="0"/>
                <a:ea typeface="Hiragino Sans GB" pitchFamily="34" charset="-122"/>
                <a:cs typeface="Hiragino Sans GB" pitchFamily="34" charset="-120"/>
              </a:rPr>
              <a:t>行动</a:t>
            </a:r>
            <a:endParaRPr lang="en-US" sz="700" dirty="0"/>
          </a:p>
        </p:txBody>
      </p:sp>
      <p:sp>
        <p:nvSpPr>
          <p:cNvPr id="41" name="Text 39"/>
          <p:cNvSpPr txBox="1"/>
          <p:nvPr/>
        </p:nvSpPr>
        <p:spPr>
          <a:xfrm>
            <a:off x="1115568" y="4389120"/>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控制量、运动指令或弱条件</a:t>
            </a:r>
            <a:endParaRPr lang="en-US" sz="680" dirty="0"/>
          </a:p>
        </p:txBody>
      </p:sp>
      <p:sp>
        <p:nvSpPr>
          <p:cNvPr id="42" name="Text 40"/>
          <p:cNvSpPr txBox="1"/>
          <p:nvPr/>
        </p:nvSpPr>
        <p:spPr>
          <a:xfrm>
            <a:off x="649224" y="4791456"/>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705FA7"/>
                </a:solidFill>
                <a:latin typeface="Hiragino Sans GB" pitchFamily="34" charset="0"/>
                <a:ea typeface="Hiragino Sans GB" pitchFamily="34" charset="-122"/>
                <a:cs typeface="Hiragino Sans GB" pitchFamily="34" charset="-120"/>
              </a:rPr>
              <a:t>输出</a:t>
            </a:r>
            <a:endParaRPr lang="en-US" sz="700" dirty="0"/>
          </a:p>
        </p:txBody>
      </p:sp>
      <p:sp>
        <p:nvSpPr>
          <p:cNvPr id="43" name="Text 41"/>
          <p:cNvSpPr txBox="1"/>
          <p:nvPr/>
        </p:nvSpPr>
        <p:spPr>
          <a:xfrm>
            <a:off x="1115568" y="4782312"/>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下一帧、轨迹、控制价值</a:t>
            </a:r>
            <a:endParaRPr lang="en-US" sz="680" dirty="0"/>
          </a:p>
        </p:txBody>
      </p:sp>
      <p:sp>
        <p:nvSpPr>
          <p:cNvPr id="44" name="Text 42"/>
          <p:cNvSpPr txBox="1"/>
          <p:nvPr/>
        </p:nvSpPr>
        <p:spPr>
          <a:xfrm>
            <a:off x="649224" y="5184648"/>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705FA7"/>
                </a:solidFill>
                <a:latin typeface="Hiragino Sans GB" pitchFamily="34" charset="0"/>
                <a:ea typeface="Hiragino Sans GB" pitchFamily="34" charset="-122"/>
                <a:cs typeface="Hiragino Sans GB" pitchFamily="34" charset="-120"/>
              </a:rPr>
              <a:t>验证</a:t>
            </a:r>
            <a:endParaRPr lang="en-US" sz="700" dirty="0"/>
          </a:p>
        </p:txBody>
      </p:sp>
      <p:sp>
        <p:nvSpPr>
          <p:cNvPr id="45" name="Text 43"/>
          <p:cNvSpPr txBox="1"/>
          <p:nvPr/>
        </p:nvSpPr>
        <p:spPr>
          <a:xfrm>
            <a:off x="1115568" y="5175504"/>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视觉一致性、控制成功率、物理安全</a:t>
            </a:r>
            <a:endParaRPr lang="en-US" sz="680" dirty="0"/>
          </a:p>
        </p:txBody>
      </p:sp>
      <p:sp>
        <p:nvSpPr>
          <p:cNvPr id="46" name="Shape 44"/>
          <p:cNvSpPr/>
          <p:nvPr/>
        </p:nvSpPr>
        <p:spPr>
          <a:xfrm>
            <a:off x="3374136" y="3456432"/>
            <a:ext cx="2587752" cy="2157984"/>
          </a:xfrm>
          <a:prstGeom prst="roundRect">
            <a:avLst>
              <a:gd name="adj" fmla="val 2119"/>
            </a:avLst>
          </a:prstGeom>
          <a:solidFill>
            <a:srgbClr val="FFFFFF"/>
          </a:solidFill>
          <a:ln w="9525">
            <a:solidFill>
              <a:srgbClr val="356CA8"/>
            </a:solidFill>
            <a:prstDash val="solid"/>
          </a:ln>
        </p:spPr>
      </p:sp>
      <p:sp>
        <p:nvSpPr>
          <p:cNvPr id="47" name="Shape 45"/>
          <p:cNvSpPr/>
          <p:nvPr/>
        </p:nvSpPr>
        <p:spPr>
          <a:xfrm>
            <a:off x="3374136" y="3456432"/>
            <a:ext cx="2587752" cy="393192"/>
          </a:xfrm>
          <a:prstGeom prst="roundRect">
            <a:avLst>
              <a:gd name="adj" fmla="val 11628"/>
            </a:avLst>
          </a:prstGeom>
          <a:solidFill>
            <a:srgbClr val="E7EFF8"/>
          </a:solidFill>
          <a:ln w="8890">
            <a:solidFill>
              <a:srgbClr val="356CA8"/>
            </a:solidFill>
            <a:prstDash val="solid"/>
          </a:ln>
        </p:spPr>
      </p:sp>
      <p:sp>
        <p:nvSpPr>
          <p:cNvPr id="48" name="Text 46"/>
          <p:cNvSpPr txBox="1"/>
          <p:nvPr/>
        </p:nvSpPr>
        <p:spPr>
          <a:xfrm>
            <a:off x="3493008" y="3547872"/>
            <a:ext cx="2350008" cy="210312"/>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356CA8"/>
                </a:solidFill>
                <a:latin typeface="Hiragino Sans GB" pitchFamily="34" charset="0"/>
                <a:ea typeface="Hiragino Sans GB" pitchFamily="34" charset="-122"/>
                <a:cs typeface="Hiragino Sans GB" pitchFamily="34" charset="-120"/>
              </a:rPr>
              <a:t>科学模拟 / 数字孪生</a:t>
            </a:r>
            <a:endParaRPr lang="en-US" sz="960" dirty="0"/>
          </a:p>
        </p:txBody>
      </p:sp>
      <p:sp>
        <p:nvSpPr>
          <p:cNvPr id="49" name="Text 47"/>
          <p:cNvSpPr txBox="1"/>
          <p:nvPr/>
        </p:nvSpPr>
        <p:spPr>
          <a:xfrm>
            <a:off x="3511296" y="4005072"/>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356CA8"/>
                </a:solidFill>
                <a:latin typeface="Hiragino Sans GB" pitchFamily="34" charset="0"/>
                <a:ea typeface="Hiragino Sans GB" pitchFamily="34" charset="-122"/>
                <a:cs typeface="Hiragino Sans GB" pitchFamily="34" charset="-120"/>
              </a:rPr>
              <a:t>状态</a:t>
            </a:r>
            <a:endParaRPr lang="en-US" sz="700" dirty="0"/>
          </a:p>
        </p:txBody>
      </p:sp>
      <p:sp>
        <p:nvSpPr>
          <p:cNvPr id="50" name="Text 48"/>
          <p:cNvSpPr txBox="1"/>
          <p:nvPr/>
        </p:nvSpPr>
        <p:spPr>
          <a:xfrm>
            <a:off x="3977640" y="3995928"/>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Arial" pitchFamily="34" charset="0"/>
                <a:ea typeface="Arial" pitchFamily="34" charset="-122"/>
                <a:cs typeface="Arial" pitchFamily="34" charset="-120"/>
              </a:rPr>
              <a:t>连续物理场、设备状态、方程域</a:t>
            </a:r>
            <a:endParaRPr lang="en-US" sz="680" dirty="0"/>
          </a:p>
        </p:txBody>
      </p:sp>
      <p:sp>
        <p:nvSpPr>
          <p:cNvPr id="51" name="Text 49"/>
          <p:cNvSpPr txBox="1"/>
          <p:nvPr/>
        </p:nvSpPr>
        <p:spPr>
          <a:xfrm>
            <a:off x="3511296" y="4398264"/>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356CA8"/>
                </a:solidFill>
                <a:latin typeface="Hiragino Sans GB" pitchFamily="34" charset="0"/>
                <a:ea typeface="Hiragino Sans GB" pitchFamily="34" charset="-122"/>
                <a:cs typeface="Hiragino Sans GB" pitchFamily="34" charset="-120"/>
              </a:rPr>
              <a:t>行动</a:t>
            </a:r>
            <a:endParaRPr lang="en-US" sz="700" dirty="0"/>
          </a:p>
        </p:txBody>
      </p:sp>
      <p:sp>
        <p:nvSpPr>
          <p:cNvPr id="52" name="Text 50"/>
          <p:cNvSpPr txBox="1"/>
          <p:nvPr/>
        </p:nvSpPr>
        <p:spPr>
          <a:xfrm>
            <a:off x="3977640" y="4389120"/>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forcing、边界条件或操作参数</a:t>
            </a:r>
            <a:endParaRPr lang="en-US" sz="680" dirty="0"/>
          </a:p>
        </p:txBody>
      </p:sp>
      <p:sp>
        <p:nvSpPr>
          <p:cNvPr id="53" name="Text 51"/>
          <p:cNvSpPr txBox="1"/>
          <p:nvPr/>
        </p:nvSpPr>
        <p:spPr>
          <a:xfrm>
            <a:off x="3511296" y="4791456"/>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356CA8"/>
                </a:solidFill>
                <a:latin typeface="Hiragino Sans GB" pitchFamily="34" charset="0"/>
                <a:ea typeface="Hiragino Sans GB" pitchFamily="34" charset="-122"/>
                <a:cs typeface="Hiragino Sans GB" pitchFamily="34" charset="-120"/>
              </a:rPr>
              <a:t>输出</a:t>
            </a:r>
            <a:endParaRPr lang="en-US" sz="700" dirty="0"/>
          </a:p>
        </p:txBody>
      </p:sp>
      <p:sp>
        <p:nvSpPr>
          <p:cNvPr id="54" name="Text 52"/>
          <p:cNvSpPr txBox="1"/>
          <p:nvPr/>
        </p:nvSpPr>
        <p:spPr>
          <a:xfrm>
            <a:off x="3977640" y="4782312"/>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未来场、风险场、设备响应</a:t>
            </a:r>
            <a:endParaRPr lang="en-US" sz="680" dirty="0"/>
          </a:p>
        </p:txBody>
      </p:sp>
      <p:sp>
        <p:nvSpPr>
          <p:cNvPr id="55" name="Text 53"/>
          <p:cNvSpPr txBox="1"/>
          <p:nvPr/>
        </p:nvSpPr>
        <p:spPr>
          <a:xfrm>
            <a:off x="3511296" y="5184648"/>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356CA8"/>
                </a:solidFill>
                <a:latin typeface="Hiragino Sans GB" pitchFamily="34" charset="0"/>
                <a:ea typeface="Hiragino Sans GB" pitchFamily="34" charset="-122"/>
                <a:cs typeface="Hiragino Sans GB" pitchFamily="34" charset="-120"/>
              </a:rPr>
              <a:t>验证</a:t>
            </a:r>
            <a:endParaRPr lang="en-US" sz="700" dirty="0"/>
          </a:p>
        </p:txBody>
      </p:sp>
      <p:sp>
        <p:nvSpPr>
          <p:cNvPr id="56" name="Text 54"/>
          <p:cNvSpPr txBox="1"/>
          <p:nvPr/>
        </p:nvSpPr>
        <p:spPr>
          <a:xfrm>
            <a:off x="3977640" y="5175504"/>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守恒、方程误差、传感器回放</a:t>
            </a:r>
            <a:endParaRPr lang="en-US" sz="680" dirty="0"/>
          </a:p>
        </p:txBody>
      </p:sp>
      <p:sp>
        <p:nvSpPr>
          <p:cNvPr id="57" name="Shape 55"/>
          <p:cNvSpPr/>
          <p:nvPr/>
        </p:nvSpPr>
        <p:spPr>
          <a:xfrm>
            <a:off x="6236208" y="3456432"/>
            <a:ext cx="2587752" cy="2157984"/>
          </a:xfrm>
          <a:prstGeom prst="roundRect">
            <a:avLst>
              <a:gd name="adj" fmla="val 2119"/>
            </a:avLst>
          </a:prstGeom>
          <a:solidFill>
            <a:srgbClr val="FFFFFF"/>
          </a:solidFill>
          <a:ln w="9525">
            <a:solidFill>
              <a:srgbClr val="B17B20"/>
            </a:solidFill>
            <a:prstDash val="solid"/>
          </a:ln>
        </p:spPr>
      </p:sp>
      <p:sp>
        <p:nvSpPr>
          <p:cNvPr id="58" name="Shape 56"/>
          <p:cNvSpPr/>
          <p:nvPr/>
        </p:nvSpPr>
        <p:spPr>
          <a:xfrm>
            <a:off x="6236208" y="3456432"/>
            <a:ext cx="2587752" cy="393192"/>
          </a:xfrm>
          <a:prstGeom prst="roundRect">
            <a:avLst>
              <a:gd name="adj" fmla="val 11628"/>
            </a:avLst>
          </a:prstGeom>
          <a:solidFill>
            <a:srgbClr val="FFF3D9"/>
          </a:solidFill>
          <a:ln w="8890">
            <a:solidFill>
              <a:srgbClr val="B17B20"/>
            </a:solidFill>
            <a:prstDash val="solid"/>
          </a:ln>
        </p:spPr>
      </p:sp>
      <p:sp>
        <p:nvSpPr>
          <p:cNvPr id="59" name="Text 57"/>
          <p:cNvSpPr txBox="1"/>
          <p:nvPr/>
        </p:nvSpPr>
        <p:spPr>
          <a:xfrm>
            <a:off x="6355080" y="3547872"/>
            <a:ext cx="2350008" cy="210312"/>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B17B20"/>
                </a:solidFill>
                <a:latin typeface="Hiragino Sans GB" pitchFamily="34" charset="0"/>
                <a:ea typeface="Hiragino Sans GB" pitchFamily="34" charset="-122"/>
                <a:cs typeface="Hiragino Sans GB" pitchFamily="34" charset="-120"/>
              </a:rPr>
              <a:t>GeoSOS-FLUS</a:t>
            </a:r>
            <a:endParaRPr lang="en-US" sz="960" dirty="0"/>
          </a:p>
        </p:txBody>
      </p:sp>
      <p:sp>
        <p:nvSpPr>
          <p:cNvPr id="60" name="Text 58"/>
          <p:cNvSpPr txBox="1"/>
          <p:nvPr/>
        </p:nvSpPr>
        <p:spPr>
          <a:xfrm>
            <a:off x="6373368" y="4005072"/>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B17B20"/>
                </a:solidFill>
                <a:latin typeface="Hiragino Sans GB" pitchFamily="34" charset="0"/>
                <a:ea typeface="Hiragino Sans GB" pitchFamily="34" charset="-122"/>
                <a:cs typeface="Hiragino Sans GB" pitchFamily="34" charset="-120"/>
              </a:rPr>
              <a:t>状态</a:t>
            </a:r>
            <a:endParaRPr lang="en-US" sz="700" dirty="0"/>
          </a:p>
        </p:txBody>
      </p:sp>
      <p:sp>
        <p:nvSpPr>
          <p:cNvPr id="61" name="Text 59"/>
          <p:cNvSpPr txBox="1"/>
          <p:nvPr/>
        </p:nvSpPr>
        <p:spPr>
          <a:xfrm>
            <a:off x="6839712" y="3995928"/>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土地利用栅格与驱动因子</a:t>
            </a:r>
            <a:endParaRPr lang="en-US" sz="680" dirty="0"/>
          </a:p>
        </p:txBody>
      </p:sp>
      <p:sp>
        <p:nvSpPr>
          <p:cNvPr id="62" name="Text 60"/>
          <p:cNvSpPr txBox="1"/>
          <p:nvPr/>
        </p:nvSpPr>
        <p:spPr>
          <a:xfrm>
            <a:off x="6373368" y="4398264"/>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B17B20"/>
                </a:solidFill>
                <a:latin typeface="Hiragino Sans GB" pitchFamily="34" charset="0"/>
                <a:ea typeface="Hiragino Sans GB" pitchFamily="34" charset="-122"/>
                <a:cs typeface="Hiragino Sans GB" pitchFamily="34" charset="-120"/>
              </a:rPr>
              <a:t>行动</a:t>
            </a:r>
            <a:endParaRPr lang="en-US" sz="700" dirty="0"/>
          </a:p>
        </p:txBody>
      </p:sp>
      <p:sp>
        <p:nvSpPr>
          <p:cNvPr id="63" name="Text 61"/>
          <p:cNvSpPr txBox="1"/>
          <p:nvPr/>
        </p:nvSpPr>
        <p:spPr>
          <a:xfrm>
            <a:off x="6839712" y="4389120"/>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情景需求、转换规则和数量约束</a:t>
            </a:r>
            <a:endParaRPr lang="en-US" sz="680" dirty="0"/>
          </a:p>
        </p:txBody>
      </p:sp>
      <p:sp>
        <p:nvSpPr>
          <p:cNvPr id="64" name="Text 62"/>
          <p:cNvSpPr txBox="1"/>
          <p:nvPr/>
        </p:nvSpPr>
        <p:spPr>
          <a:xfrm>
            <a:off x="6373368" y="4791456"/>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B17B20"/>
                </a:solidFill>
                <a:latin typeface="Hiragino Sans GB" pitchFamily="34" charset="0"/>
                <a:ea typeface="Hiragino Sans GB" pitchFamily="34" charset="-122"/>
                <a:cs typeface="Hiragino Sans GB" pitchFamily="34" charset="-120"/>
              </a:rPr>
              <a:t>输出</a:t>
            </a:r>
            <a:endParaRPr lang="en-US" sz="700" dirty="0"/>
          </a:p>
        </p:txBody>
      </p:sp>
      <p:sp>
        <p:nvSpPr>
          <p:cNvPr id="65" name="Text 63"/>
          <p:cNvSpPr txBox="1"/>
          <p:nvPr/>
        </p:nvSpPr>
        <p:spPr>
          <a:xfrm>
            <a:off x="6839712" y="4782312"/>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未来土地利用格局</a:t>
            </a:r>
            <a:endParaRPr lang="en-US" sz="680" dirty="0"/>
          </a:p>
        </p:txBody>
      </p:sp>
      <p:sp>
        <p:nvSpPr>
          <p:cNvPr id="66" name="Text 64"/>
          <p:cNvSpPr txBox="1"/>
          <p:nvPr/>
        </p:nvSpPr>
        <p:spPr>
          <a:xfrm>
            <a:off x="6373368" y="5184648"/>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B17B20"/>
                </a:solidFill>
                <a:latin typeface="Hiragino Sans GB" pitchFamily="34" charset="0"/>
                <a:ea typeface="Hiragino Sans GB" pitchFamily="34" charset="-122"/>
                <a:cs typeface="Hiragino Sans GB" pitchFamily="34" charset="-120"/>
              </a:rPr>
              <a:t>验证</a:t>
            </a:r>
            <a:endParaRPr lang="en-US" sz="700" dirty="0"/>
          </a:p>
        </p:txBody>
      </p:sp>
      <p:sp>
        <p:nvSpPr>
          <p:cNvPr id="67" name="Text 65"/>
          <p:cNvSpPr txBox="1"/>
          <p:nvPr/>
        </p:nvSpPr>
        <p:spPr>
          <a:xfrm>
            <a:off x="6839712" y="5175504"/>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OA、Kappa、FoM、变化识别</a:t>
            </a:r>
            <a:endParaRPr lang="en-US" sz="680" dirty="0"/>
          </a:p>
        </p:txBody>
      </p:sp>
      <p:sp>
        <p:nvSpPr>
          <p:cNvPr id="68" name="Shape 66"/>
          <p:cNvSpPr/>
          <p:nvPr/>
        </p:nvSpPr>
        <p:spPr>
          <a:xfrm>
            <a:off x="9098280" y="3456432"/>
            <a:ext cx="2587752" cy="2157984"/>
          </a:xfrm>
          <a:prstGeom prst="roundRect">
            <a:avLst>
              <a:gd name="adj" fmla="val 2119"/>
            </a:avLst>
          </a:prstGeom>
          <a:solidFill>
            <a:srgbClr val="FFFFFF"/>
          </a:solidFill>
          <a:ln w="13970">
            <a:solidFill>
              <a:srgbClr val="137F7A"/>
            </a:solidFill>
            <a:prstDash val="solid"/>
          </a:ln>
        </p:spPr>
      </p:sp>
      <p:sp>
        <p:nvSpPr>
          <p:cNvPr id="69" name="Shape 67"/>
          <p:cNvSpPr/>
          <p:nvPr/>
        </p:nvSpPr>
        <p:spPr>
          <a:xfrm>
            <a:off x="9098280" y="3456432"/>
            <a:ext cx="2587752" cy="393192"/>
          </a:xfrm>
          <a:prstGeom prst="roundRect">
            <a:avLst>
              <a:gd name="adj" fmla="val 11628"/>
            </a:avLst>
          </a:prstGeom>
          <a:solidFill>
            <a:srgbClr val="E2F2EF"/>
          </a:solidFill>
          <a:ln w="8890">
            <a:solidFill>
              <a:srgbClr val="137F7A"/>
            </a:solidFill>
            <a:prstDash val="solid"/>
          </a:ln>
        </p:spPr>
      </p:sp>
      <p:sp>
        <p:nvSpPr>
          <p:cNvPr id="70" name="Text 68"/>
          <p:cNvSpPr txBox="1"/>
          <p:nvPr/>
        </p:nvSpPr>
        <p:spPr>
          <a:xfrm>
            <a:off x="9217152" y="3547872"/>
            <a:ext cx="2350008" cy="210312"/>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137F7A"/>
                </a:solidFill>
                <a:latin typeface="Hiragino Sans GB" pitchFamily="34" charset="0"/>
                <a:ea typeface="Hiragino Sans GB" pitchFamily="34" charset="-122"/>
                <a:cs typeface="Hiragino Sans GB" pitchFamily="34" charset="-120"/>
              </a:rPr>
              <a:t>GWM Simulator</a:t>
            </a:r>
            <a:endParaRPr lang="en-US" sz="960" dirty="0"/>
          </a:p>
        </p:txBody>
      </p:sp>
      <p:sp>
        <p:nvSpPr>
          <p:cNvPr id="71" name="Text 69"/>
          <p:cNvSpPr txBox="1"/>
          <p:nvPr/>
        </p:nvSpPr>
        <p:spPr>
          <a:xfrm>
            <a:off x="9235440" y="4005072"/>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137F7A"/>
                </a:solidFill>
                <a:latin typeface="Hiragino Sans GB" pitchFamily="34" charset="0"/>
                <a:ea typeface="Hiragino Sans GB" pitchFamily="34" charset="-122"/>
                <a:cs typeface="Hiragino Sans GB" pitchFamily="34" charset="-120"/>
              </a:rPr>
              <a:t>状态</a:t>
            </a:r>
            <a:endParaRPr lang="en-US" sz="700" dirty="0"/>
          </a:p>
        </p:txBody>
      </p:sp>
      <p:sp>
        <p:nvSpPr>
          <p:cNvPr id="72" name="Text 70"/>
          <p:cNvSpPr txBox="1"/>
          <p:nvPr/>
        </p:nvSpPr>
        <p:spPr>
          <a:xfrm>
            <a:off x="9701784" y="3995928"/>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对象 + 场 + 关系 + 规则 + 证据</a:t>
            </a:r>
            <a:endParaRPr lang="en-US" sz="680" dirty="0"/>
          </a:p>
        </p:txBody>
      </p:sp>
      <p:sp>
        <p:nvSpPr>
          <p:cNvPr id="73" name="Text 71"/>
          <p:cNvSpPr txBox="1"/>
          <p:nvPr/>
        </p:nvSpPr>
        <p:spPr>
          <a:xfrm>
            <a:off x="9235440" y="4398264"/>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137F7A"/>
                </a:solidFill>
                <a:latin typeface="Hiragino Sans GB" pitchFamily="34" charset="0"/>
                <a:ea typeface="Hiragino Sans GB" pitchFamily="34" charset="-122"/>
                <a:cs typeface="Hiragino Sans GB" pitchFamily="34" charset="-120"/>
              </a:rPr>
              <a:t>行动</a:t>
            </a:r>
            <a:endParaRPr lang="en-US" sz="700" dirty="0"/>
          </a:p>
        </p:txBody>
      </p:sp>
      <p:sp>
        <p:nvSpPr>
          <p:cNvPr id="74" name="Text 72"/>
          <p:cNvSpPr txBox="1"/>
          <p:nvPr/>
        </p:nvSpPr>
        <p:spPr>
          <a:xfrm>
            <a:off x="9701784" y="4389120"/>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指向具体对象的治理行动与可行域</a:t>
            </a:r>
            <a:endParaRPr lang="en-US" sz="680" dirty="0"/>
          </a:p>
        </p:txBody>
      </p:sp>
      <p:sp>
        <p:nvSpPr>
          <p:cNvPr id="75" name="Text 73"/>
          <p:cNvSpPr txBox="1"/>
          <p:nvPr/>
        </p:nvSpPr>
        <p:spPr>
          <a:xfrm>
            <a:off x="9235440" y="4791456"/>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137F7A"/>
                </a:solidFill>
                <a:latin typeface="Hiragino Sans GB" pitchFamily="34" charset="0"/>
                <a:ea typeface="Hiragino Sans GB" pitchFamily="34" charset="-122"/>
                <a:cs typeface="Hiragino Sans GB" pitchFamily="34" charset="-120"/>
              </a:rPr>
              <a:t>输出</a:t>
            </a:r>
            <a:endParaRPr lang="en-US" sz="700" dirty="0"/>
          </a:p>
        </p:txBody>
      </p:sp>
      <p:sp>
        <p:nvSpPr>
          <p:cNvPr id="76" name="Text 74"/>
          <p:cNvSpPr txBox="1"/>
          <p:nvPr/>
        </p:nvSpPr>
        <p:spPr>
          <a:xfrm>
            <a:off x="9701784" y="4782312"/>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GIS 状态、风险、效用、UQ 与 trace</a:t>
            </a:r>
            <a:endParaRPr lang="en-US" sz="680" dirty="0"/>
          </a:p>
        </p:txBody>
      </p:sp>
      <p:sp>
        <p:nvSpPr>
          <p:cNvPr id="77" name="Text 75"/>
          <p:cNvSpPr txBox="1"/>
          <p:nvPr/>
        </p:nvSpPr>
        <p:spPr>
          <a:xfrm>
            <a:off x="9235440" y="5184648"/>
            <a:ext cx="411480" cy="201168"/>
          </a:xfrm>
          <a:prstGeom prst="rect">
            <a:avLst/>
          </a:prstGeom>
          <a:noFill/>
          <a:ln/>
        </p:spPr>
        <p:txBody>
          <a:bodyPr wrap="square" lIns="0" tIns="0" rIns="0" bIns="0" rtlCol="0" anchor="ctr">
            <a:normAutofit/>
          </a:bodyPr>
          <a:lstStyle/>
          <a:p>
            <a:pPr algn="l" indent="0" marL="0">
              <a:lnSpc>
                <a:spcPct val="92000"/>
              </a:lnSpc>
              <a:buNone/>
            </a:pPr>
            <a:r>
              <a:rPr lang="en-US" sz="700" b="1" dirty="0">
                <a:solidFill>
                  <a:srgbClr val="137F7A"/>
                </a:solidFill>
                <a:latin typeface="Hiragino Sans GB" pitchFamily="34" charset="0"/>
                <a:ea typeface="Hiragino Sans GB" pitchFamily="34" charset="-122"/>
                <a:cs typeface="Hiragino Sans GB" pitchFamily="34" charset="-120"/>
              </a:rPr>
              <a:t>验证</a:t>
            </a:r>
            <a:endParaRPr lang="en-US" sz="700" dirty="0"/>
          </a:p>
        </p:txBody>
      </p:sp>
      <p:sp>
        <p:nvSpPr>
          <p:cNvPr id="78" name="Text 76"/>
          <p:cNvSpPr txBox="1"/>
          <p:nvPr/>
        </p:nvSpPr>
        <p:spPr>
          <a:xfrm>
            <a:off x="9701784" y="5175504"/>
            <a:ext cx="1837944" cy="256032"/>
          </a:xfrm>
          <a:prstGeom prst="rect">
            <a:avLst/>
          </a:prstGeom>
          <a:noFill/>
          <a:ln/>
        </p:spPr>
        <p:txBody>
          <a:bodyPr wrap="square" lIns="0" tIns="0" rIns="0" bIns="0" rtlCol="0" anchor="t">
            <a:normAutofit/>
          </a:bodyPr>
          <a:lstStyle/>
          <a:p>
            <a:pPr algn="l" indent="0" marL="0">
              <a:lnSpc>
                <a:spcPct val="92000"/>
              </a:lnSpc>
              <a:buNone/>
            </a:pPr>
            <a:r>
              <a:rPr lang="en-US" sz="680" dirty="0">
                <a:solidFill>
                  <a:srgbClr val="32474D"/>
                </a:solidFill>
                <a:latin typeface="Hiragino Sans GB" pitchFamily="34" charset="0"/>
                <a:ea typeface="Hiragino Sans GB" pitchFamily="34" charset="-122"/>
                <a:cs typeface="Hiragino Sans GB" pitchFamily="34" charset="-120"/>
              </a:rPr>
              <a:t>留出 + 消融 + 负对照 + 证据主张门</a:t>
            </a:r>
            <a:endParaRPr lang="en-US" sz="680" dirty="0"/>
          </a:p>
        </p:txBody>
      </p:sp>
      <p:sp>
        <p:nvSpPr>
          <p:cNvPr id="79" name="Shape 77"/>
          <p:cNvSpPr/>
          <p:nvPr/>
        </p:nvSpPr>
        <p:spPr>
          <a:xfrm>
            <a:off x="658368" y="5870448"/>
            <a:ext cx="10863072" cy="429768"/>
          </a:xfrm>
          <a:prstGeom prst="roundRect">
            <a:avLst>
              <a:gd name="adj" fmla="val 8511"/>
            </a:avLst>
          </a:prstGeom>
          <a:solidFill>
            <a:srgbClr val="FFF3D9"/>
          </a:solidFill>
          <a:ln w="8890">
            <a:solidFill>
              <a:srgbClr val="B17B20"/>
            </a:solidFill>
            <a:prstDash val="solid"/>
          </a:ln>
        </p:spPr>
      </p:sp>
      <p:sp>
        <p:nvSpPr>
          <p:cNvPr id="80" name="Text 78"/>
          <p:cNvSpPr txBox="1"/>
          <p:nvPr/>
        </p:nvSpPr>
        <p:spPr>
          <a:xfrm>
            <a:off x="859536" y="5952744"/>
            <a:ext cx="10460736" cy="237744"/>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17252A"/>
                </a:solidFill>
                <a:latin typeface="Hiragino Sans GB" pitchFamily="34" charset="0"/>
                <a:ea typeface="Hiragino Sans GB" pitchFamily="34" charset="-122"/>
                <a:cs typeface="Hiragino Sans GB" pitchFamily="34" charset="-120"/>
              </a:rPr>
              <a:t>因果适用边界：rollout 提供行动条件预测；因果效应主张需通过专门识别设计与负对照验证。</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理论与方法</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GWM / TWM 的理论基础与方法映射</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状态、空间关系、行动、约束和证据分别对应成熟理论，并在地理治理任务中形成统一机制。</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理论来源：state-space / MDP / model-based RL / graph learning / GIScience / uncertainty / causal inference</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20 / 29</a:t>
            </a:r>
            <a:endParaRPr lang="en-US" sz="670" dirty="0"/>
          </a:p>
        </p:txBody>
      </p:sp>
      <p:sp>
        <p:nvSpPr>
          <p:cNvPr id="10" name="Shape 8"/>
          <p:cNvSpPr/>
          <p:nvPr/>
        </p:nvSpPr>
        <p:spPr>
          <a:xfrm>
            <a:off x="512064" y="1481328"/>
            <a:ext cx="2514600" cy="438912"/>
          </a:xfrm>
          <a:prstGeom prst="roundRect">
            <a:avLst>
              <a:gd name="adj" fmla="val 4167"/>
            </a:avLst>
          </a:prstGeom>
          <a:solidFill>
            <a:srgbClr val="102F34"/>
          </a:solidFill>
          <a:ln w="7620">
            <a:solidFill>
              <a:srgbClr val="102F34"/>
            </a:solidFill>
            <a:prstDash val="solid"/>
          </a:ln>
        </p:spPr>
      </p:sp>
      <p:sp>
        <p:nvSpPr>
          <p:cNvPr id="11" name="Text 9"/>
          <p:cNvSpPr txBox="1"/>
          <p:nvPr/>
        </p:nvSpPr>
        <p:spPr>
          <a:xfrm>
            <a:off x="603504" y="1563624"/>
            <a:ext cx="2331720" cy="228600"/>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FFFFFF"/>
                </a:solidFill>
                <a:latin typeface="Hiragino Sans GB" pitchFamily="34" charset="0"/>
                <a:ea typeface="Hiragino Sans GB" pitchFamily="34" charset="-122"/>
                <a:cs typeface="Hiragino Sans GB" pitchFamily="34" charset="-120"/>
              </a:rPr>
              <a:t>理论来源</a:t>
            </a:r>
            <a:endParaRPr lang="en-US" sz="960" dirty="0"/>
          </a:p>
        </p:txBody>
      </p:sp>
      <p:sp>
        <p:nvSpPr>
          <p:cNvPr id="12" name="Shape 10"/>
          <p:cNvSpPr/>
          <p:nvPr/>
        </p:nvSpPr>
        <p:spPr>
          <a:xfrm>
            <a:off x="3026664" y="1481328"/>
            <a:ext cx="3657600" cy="438912"/>
          </a:xfrm>
          <a:prstGeom prst="roundRect">
            <a:avLst>
              <a:gd name="adj" fmla="val 4167"/>
            </a:avLst>
          </a:prstGeom>
          <a:solidFill>
            <a:srgbClr val="E7EFF8"/>
          </a:solidFill>
          <a:ln w="7620">
            <a:solidFill>
              <a:srgbClr val="356CA8"/>
            </a:solidFill>
            <a:prstDash val="solid"/>
          </a:ln>
        </p:spPr>
      </p:sp>
      <p:sp>
        <p:nvSpPr>
          <p:cNvPr id="13" name="Text 11"/>
          <p:cNvSpPr txBox="1"/>
          <p:nvPr/>
        </p:nvSpPr>
        <p:spPr>
          <a:xfrm>
            <a:off x="3118104" y="1563624"/>
            <a:ext cx="3474720" cy="228600"/>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356CA8"/>
                </a:solidFill>
                <a:latin typeface="Hiragino Sans GB" pitchFamily="34" charset="0"/>
                <a:ea typeface="Hiragino Sans GB" pitchFamily="34" charset="-122"/>
                <a:cs typeface="Hiragino Sans GB" pitchFamily="34" charset="-120"/>
              </a:rPr>
              <a:t>形式化抓手</a:t>
            </a:r>
            <a:endParaRPr lang="en-US" sz="960" dirty="0"/>
          </a:p>
        </p:txBody>
      </p:sp>
      <p:sp>
        <p:nvSpPr>
          <p:cNvPr id="14" name="Shape 12"/>
          <p:cNvSpPr/>
          <p:nvPr/>
        </p:nvSpPr>
        <p:spPr>
          <a:xfrm>
            <a:off x="6684264" y="1481328"/>
            <a:ext cx="4992624" cy="438912"/>
          </a:xfrm>
          <a:prstGeom prst="roundRect">
            <a:avLst>
              <a:gd name="adj" fmla="val 4167"/>
            </a:avLst>
          </a:prstGeom>
          <a:solidFill>
            <a:srgbClr val="E2F2EF"/>
          </a:solidFill>
          <a:ln w="7620">
            <a:solidFill>
              <a:srgbClr val="137F7A"/>
            </a:solidFill>
            <a:prstDash val="solid"/>
          </a:ln>
        </p:spPr>
      </p:sp>
      <p:sp>
        <p:nvSpPr>
          <p:cNvPr id="15" name="Text 13"/>
          <p:cNvSpPr txBox="1"/>
          <p:nvPr/>
        </p:nvSpPr>
        <p:spPr>
          <a:xfrm>
            <a:off x="6775704" y="1563624"/>
            <a:ext cx="4809744" cy="228600"/>
          </a:xfrm>
          <a:prstGeom prst="rect">
            <a:avLst/>
          </a:prstGeom>
          <a:noFill/>
          <a:ln/>
        </p:spPr>
        <p:txBody>
          <a:bodyPr wrap="square" lIns="0" tIns="0" rIns="0" bIns="0" rtlCol="0" anchor="ctr">
            <a:normAutofit/>
          </a:bodyPr>
          <a:lstStyle/>
          <a:p>
            <a:pPr algn="ctr" indent="0" marL="0">
              <a:lnSpc>
                <a:spcPct val="92000"/>
              </a:lnSpc>
              <a:buNone/>
            </a:pPr>
            <a:r>
              <a:rPr lang="en-US" sz="960" b="1" dirty="0">
                <a:solidFill>
                  <a:srgbClr val="0E5C59"/>
                </a:solidFill>
                <a:latin typeface="Hiragino Sans GB" pitchFamily="34" charset="0"/>
                <a:ea typeface="Hiragino Sans GB" pitchFamily="34" charset="-122"/>
                <a:cs typeface="Hiragino Sans GB" pitchFamily="34" charset="-120"/>
              </a:rPr>
              <a:t>对 GWM / TWM 的直接约束</a:t>
            </a:r>
            <a:endParaRPr lang="en-US" sz="960" dirty="0"/>
          </a:p>
        </p:txBody>
      </p:sp>
      <p:sp>
        <p:nvSpPr>
          <p:cNvPr id="16" name="Shape 14"/>
          <p:cNvSpPr/>
          <p:nvPr/>
        </p:nvSpPr>
        <p:spPr>
          <a:xfrm>
            <a:off x="512064" y="1920240"/>
            <a:ext cx="2514600" cy="594360"/>
          </a:xfrm>
          <a:prstGeom prst="rect">
            <a:avLst/>
          </a:prstGeom>
          <a:solidFill>
            <a:srgbClr val="FFFFFF"/>
          </a:solidFill>
          <a:ln w="5715">
            <a:solidFill>
              <a:srgbClr val="D0DBD8"/>
            </a:solidFill>
            <a:prstDash val="solid"/>
          </a:ln>
        </p:spPr>
      </p:sp>
      <p:sp>
        <p:nvSpPr>
          <p:cNvPr id="17" name="Text 15"/>
          <p:cNvSpPr txBox="1"/>
          <p:nvPr/>
        </p:nvSpPr>
        <p:spPr>
          <a:xfrm>
            <a:off x="630936" y="199339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受控随机动力系统</a:t>
            </a:r>
            <a:endParaRPr lang="en-US" sz="880" dirty="0"/>
          </a:p>
        </p:txBody>
      </p:sp>
      <p:sp>
        <p:nvSpPr>
          <p:cNvPr id="18" name="Shape 16"/>
          <p:cNvSpPr/>
          <p:nvPr/>
        </p:nvSpPr>
        <p:spPr>
          <a:xfrm>
            <a:off x="3026664" y="1920240"/>
            <a:ext cx="3657600" cy="594360"/>
          </a:xfrm>
          <a:prstGeom prst="rect">
            <a:avLst/>
          </a:prstGeom>
          <a:solidFill>
            <a:srgbClr val="FFFFFF"/>
          </a:solidFill>
          <a:ln w="5715">
            <a:solidFill>
              <a:srgbClr val="D0DBD8"/>
            </a:solidFill>
            <a:prstDash val="solid"/>
          </a:ln>
        </p:spPr>
      </p:sp>
      <p:sp>
        <p:nvSpPr>
          <p:cNvPr id="19" name="Text 17"/>
          <p:cNvSpPr txBox="1"/>
          <p:nvPr/>
        </p:nvSpPr>
        <p:spPr>
          <a:xfrm>
            <a:off x="3145536" y="199339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Sₜ₊₁ = Fθ(Sₜ,Aₜ,Cₜ,Gₜ) + ε</a:t>
            </a:r>
            <a:endParaRPr lang="en-US" sz="840" dirty="0"/>
          </a:p>
        </p:txBody>
      </p:sp>
      <p:sp>
        <p:nvSpPr>
          <p:cNvPr id="20" name="Shape 18"/>
          <p:cNvSpPr/>
          <p:nvPr/>
        </p:nvSpPr>
        <p:spPr>
          <a:xfrm>
            <a:off x="6684264" y="1920240"/>
            <a:ext cx="4992624" cy="594360"/>
          </a:xfrm>
          <a:prstGeom prst="rect">
            <a:avLst/>
          </a:prstGeom>
          <a:solidFill>
            <a:srgbClr val="FFFFFF"/>
          </a:solidFill>
          <a:ln w="5715">
            <a:solidFill>
              <a:srgbClr val="D0DBD8"/>
            </a:solidFill>
            <a:prstDash val="solid"/>
          </a:ln>
        </p:spPr>
      </p:sp>
      <p:sp>
        <p:nvSpPr>
          <p:cNvPr id="21" name="Text 19"/>
          <p:cNvSpPr txBox="1"/>
          <p:nvPr/>
        </p:nvSpPr>
        <p:spPr>
          <a:xfrm>
            <a:off x="6803136" y="199339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递归状态演化、外部扰动与不确定性</a:t>
            </a:r>
            <a:endParaRPr lang="en-US" sz="830" dirty="0"/>
          </a:p>
        </p:txBody>
      </p:sp>
      <p:sp>
        <p:nvSpPr>
          <p:cNvPr id="22" name="Shape 20"/>
          <p:cNvSpPr/>
          <p:nvPr/>
        </p:nvSpPr>
        <p:spPr>
          <a:xfrm>
            <a:off x="512064" y="2514600"/>
            <a:ext cx="2514600" cy="594360"/>
          </a:xfrm>
          <a:prstGeom prst="rect">
            <a:avLst/>
          </a:prstGeom>
          <a:solidFill>
            <a:srgbClr val="EDF1F0"/>
          </a:solidFill>
          <a:ln w="5715">
            <a:solidFill>
              <a:srgbClr val="D0DBD8"/>
            </a:solidFill>
            <a:prstDash val="solid"/>
          </a:ln>
        </p:spPr>
      </p:sp>
      <p:sp>
        <p:nvSpPr>
          <p:cNvPr id="23" name="Text 21"/>
          <p:cNvSpPr txBox="1"/>
          <p:nvPr/>
        </p:nvSpPr>
        <p:spPr>
          <a:xfrm>
            <a:off x="630936" y="258775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MDP / Model-based RL</a:t>
            </a:r>
            <a:endParaRPr lang="en-US" sz="880" dirty="0"/>
          </a:p>
        </p:txBody>
      </p:sp>
      <p:sp>
        <p:nvSpPr>
          <p:cNvPr id="24" name="Shape 22"/>
          <p:cNvSpPr/>
          <p:nvPr/>
        </p:nvSpPr>
        <p:spPr>
          <a:xfrm>
            <a:off x="3026664" y="2514600"/>
            <a:ext cx="3657600" cy="594360"/>
          </a:xfrm>
          <a:prstGeom prst="rect">
            <a:avLst/>
          </a:prstGeom>
          <a:solidFill>
            <a:srgbClr val="EDF1F0"/>
          </a:solidFill>
          <a:ln w="5715">
            <a:solidFill>
              <a:srgbClr val="D0DBD8"/>
            </a:solidFill>
            <a:prstDash val="solid"/>
          </a:ln>
        </p:spPr>
      </p:sp>
      <p:sp>
        <p:nvSpPr>
          <p:cNvPr id="25" name="Text 23"/>
          <p:cNvSpPr txBox="1"/>
          <p:nvPr/>
        </p:nvSpPr>
        <p:spPr>
          <a:xfrm>
            <a:off x="3145536" y="258775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状态-动作-转移-效用</a:t>
            </a:r>
            <a:endParaRPr lang="en-US" sz="840" dirty="0"/>
          </a:p>
        </p:txBody>
      </p:sp>
      <p:sp>
        <p:nvSpPr>
          <p:cNvPr id="26" name="Shape 24"/>
          <p:cNvSpPr/>
          <p:nvPr/>
        </p:nvSpPr>
        <p:spPr>
          <a:xfrm>
            <a:off x="6684264" y="2514600"/>
            <a:ext cx="4992624" cy="594360"/>
          </a:xfrm>
          <a:prstGeom prst="rect">
            <a:avLst/>
          </a:prstGeom>
          <a:solidFill>
            <a:srgbClr val="EDF1F0"/>
          </a:solidFill>
          <a:ln w="5715">
            <a:solidFill>
              <a:srgbClr val="D0DBD8"/>
            </a:solidFill>
            <a:prstDash val="solid"/>
          </a:ln>
        </p:spPr>
      </p:sp>
      <p:sp>
        <p:nvSpPr>
          <p:cNvPr id="27" name="Text 25"/>
          <p:cNvSpPr txBox="1"/>
          <p:nvPr/>
        </p:nvSpPr>
        <p:spPr>
          <a:xfrm>
            <a:off x="6803136" y="258775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Kernel 学转移，Planner 比较行动与长期收益</a:t>
            </a:r>
            <a:endParaRPr lang="en-US" sz="830" dirty="0"/>
          </a:p>
        </p:txBody>
      </p:sp>
      <p:sp>
        <p:nvSpPr>
          <p:cNvPr id="28" name="Shape 26"/>
          <p:cNvSpPr/>
          <p:nvPr/>
        </p:nvSpPr>
        <p:spPr>
          <a:xfrm>
            <a:off x="512064" y="3108960"/>
            <a:ext cx="2514600" cy="594360"/>
          </a:xfrm>
          <a:prstGeom prst="rect">
            <a:avLst/>
          </a:prstGeom>
          <a:solidFill>
            <a:srgbClr val="FFFFFF"/>
          </a:solidFill>
          <a:ln w="5715">
            <a:solidFill>
              <a:srgbClr val="D0DBD8"/>
            </a:solidFill>
            <a:prstDash val="solid"/>
          </a:ln>
        </p:spPr>
      </p:sp>
      <p:sp>
        <p:nvSpPr>
          <p:cNvPr id="29" name="Text 27"/>
          <p:cNvSpPr txBox="1"/>
          <p:nvPr/>
        </p:nvSpPr>
        <p:spPr>
          <a:xfrm>
            <a:off x="630936" y="318211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动态多关系图学习</a:t>
            </a:r>
            <a:endParaRPr lang="en-US" sz="880" dirty="0"/>
          </a:p>
        </p:txBody>
      </p:sp>
      <p:sp>
        <p:nvSpPr>
          <p:cNvPr id="30" name="Shape 28"/>
          <p:cNvSpPr/>
          <p:nvPr/>
        </p:nvSpPr>
        <p:spPr>
          <a:xfrm>
            <a:off x="3026664" y="3108960"/>
            <a:ext cx="3657600" cy="594360"/>
          </a:xfrm>
          <a:prstGeom prst="rect">
            <a:avLst/>
          </a:prstGeom>
          <a:solidFill>
            <a:srgbClr val="FFFFFF"/>
          </a:solidFill>
          <a:ln w="5715">
            <a:solidFill>
              <a:srgbClr val="D0DBD8"/>
            </a:solidFill>
            <a:prstDash val="solid"/>
          </a:ln>
        </p:spPr>
      </p:sp>
      <p:sp>
        <p:nvSpPr>
          <p:cNvPr id="31" name="Text 29"/>
          <p:cNvSpPr txBox="1"/>
          <p:nvPr/>
        </p:nvSpPr>
        <p:spPr>
          <a:xfrm>
            <a:off x="3145536" y="318211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typed edges + message passing</a:t>
            </a:r>
            <a:endParaRPr lang="en-US" sz="840" dirty="0"/>
          </a:p>
        </p:txBody>
      </p:sp>
      <p:sp>
        <p:nvSpPr>
          <p:cNvPr id="32" name="Shape 30"/>
          <p:cNvSpPr/>
          <p:nvPr/>
        </p:nvSpPr>
        <p:spPr>
          <a:xfrm>
            <a:off x="6684264" y="3108960"/>
            <a:ext cx="4992624" cy="594360"/>
          </a:xfrm>
          <a:prstGeom prst="rect">
            <a:avLst/>
          </a:prstGeom>
          <a:solidFill>
            <a:srgbClr val="FFFFFF"/>
          </a:solidFill>
          <a:ln w="5715">
            <a:solidFill>
              <a:srgbClr val="D0DBD8"/>
            </a:solidFill>
            <a:prstDash val="solid"/>
          </a:ln>
        </p:spPr>
      </p:sp>
      <p:sp>
        <p:nvSpPr>
          <p:cNvPr id="33" name="Text 31"/>
          <p:cNvSpPr txBox="1"/>
          <p:nvPr/>
        </p:nvSpPr>
        <p:spPr>
          <a:xfrm>
            <a:off x="6803136" y="318211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邻接、网络、相似、层级关系分别建模</a:t>
            </a:r>
            <a:endParaRPr lang="en-US" sz="830" dirty="0"/>
          </a:p>
        </p:txBody>
      </p:sp>
      <p:sp>
        <p:nvSpPr>
          <p:cNvPr id="34" name="Shape 32"/>
          <p:cNvSpPr/>
          <p:nvPr/>
        </p:nvSpPr>
        <p:spPr>
          <a:xfrm>
            <a:off x="512064" y="3703320"/>
            <a:ext cx="2514600" cy="594360"/>
          </a:xfrm>
          <a:prstGeom prst="rect">
            <a:avLst/>
          </a:prstGeom>
          <a:solidFill>
            <a:srgbClr val="EDF1F0"/>
          </a:solidFill>
          <a:ln w="5715">
            <a:solidFill>
              <a:srgbClr val="D0DBD8"/>
            </a:solidFill>
            <a:prstDash val="solid"/>
          </a:ln>
        </p:spPr>
      </p:sp>
      <p:sp>
        <p:nvSpPr>
          <p:cNvPr id="35" name="Text 33"/>
          <p:cNvSpPr txBox="1"/>
          <p:nvPr/>
        </p:nvSpPr>
        <p:spPr>
          <a:xfrm>
            <a:off x="630936" y="377647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分布式时滞</a:t>
            </a:r>
            <a:endParaRPr lang="en-US" sz="880" dirty="0"/>
          </a:p>
        </p:txBody>
      </p:sp>
      <p:sp>
        <p:nvSpPr>
          <p:cNvPr id="36" name="Shape 34"/>
          <p:cNvSpPr/>
          <p:nvPr/>
        </p:nvSpPr>
        <p:spPr>
          <a:xfrm>
            <a:off x="3026664" y="3703320"/>
            <a:ext cx="3657600" cy="594360"/>
          </a:xfrm>
          <a:prstGeom prst="rect">
            <a:avLst/>
          </a:prstGeom>
          <a:solidFill>
            <a:srgbClr val="EDF1F0"/>
          </a:solidFill>
          <a:ln w="5715">
            <a:solidFill>
              <a:srgbClr val="D0DBD8"/>
            </a:solidFill>
            <a:prstDash val="solid"/>
          </a:ln>
        </p:spPr>
      </p:sp>
      <p:sp>
        <p:nvSpPr>
          <p:cNvPr id="37" name="Text 35"/>
          <p:cNvSpPr txBox="1"/>
          <p:nvPr/>
        </p:nvSpPr>
        <p:spPr>
          <a:xfrm>
            <a:off x="3145536" y="377647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learnable lag distribution</a:t>
            </a:r>
            <a:endParaRPr lang="en-US" sz="840" dirty="0"/>
          </a:p>
        </p:txBody>
      </p:sp>
      <p:sp>
        <p:nvSpPr>
          <p:cNvPr id="38" name="Shape 36"/>
          <p:cNvSpPr/>
          <p:nvPr/>
        </p:nvSpPr>
        <p:spPr>
          <a:xfrm>
            <a:off x="6684264" y="3703320"/>
            <a:ext cx="4992624" cy="594360"/>
          </a:xfrm>
          <a:prstGeom prst="rect">
            <a:avLst/>
          </a:prstGeom>
          <a:solidFill>
            <a:srgbClr val="EDF1F0"/>
          </a:solidFill>
          <a:ln w="5715">
            <a:solidFill>
              <a:srgbClr val="D0DBD8"/>
            </a:solidFill>
            <a:prstDash val="solid"/>
          </a:ln>
        </p:spPr>
      </p:sp>
      <p:sp>
        <p:nvSpPr>
          <p:cNvPr id="39" name="Text 37"/>
          <p:cNvSpPr txBox="1"/>
          <p:nvPr/>
        </p:nvSpPr>
        <p:spPr>
          <a:xfrm>
            <a:off x="6803136" y="377647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影响何时到达，而非假定同步响应</a:t>
            </a:r>
            <a:endParaRPr lang="en-US" sz="830" dirty="0"/>
          </a:p>
        </p:txBody>
      </p:sp>
      <p:sp>
        <p:nvSpPr>
          <p:cNvPr id="40" name="Shape 38"/>
          <p:cNvSpPr/>
          <p:nvPr/>
        </p:nvSpPr>
        <p:spPr>
          <a:xfrm>
            <a:off x="512064" y="4297680"/>
            <a:ext cx="2514600" cy="594360"/>
          </a:xfrm>
          <a:prstGeom prst="rect">
            <a:avLst/>
          </a:prstGeom>
          <a:solidFill>
            <a:srgbClr val="FFFFFF"/>
          </a:solidFill>
          <a:ln w="5715">
            <a:solidFill>
              <a:srgbClr val="D0DBD8"/>
            </a:solidFill>
            <a:prstDash val="solid"/>
          </a:ln>
        </p:spPr>
      </p:sp>
      <p:sp>
        <p:nvSpPr>
          <p:cNvPr id="41" name="Text 39"/>
          <p:cNvSpPr txBox="1"/>
          <p:nvPr/>
        </p:nvSpPr>
        <p:spPr>
          <a:xfrm>
            <a:off x="630936" y="437083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GIScience 对象-场-拓扑-尺度</a:t>
            </a:r>
            <a:endParaRPr lang="en-US" sz="880" dirty="0"/>
          </a:p>
        </p:txBody>
      </p:sp>
      <p:sp>
        <p:nvSpPr>
          <p:cNvPr id="42" name="Shape 40"/>
          <p:cNvSpPr/>
          <p:nvPr/>
        </p:nvSpPr>
        <p:spPr>
          <a:xfrm>
            <a:off x="3026664" y="4297680"/>
            <a:ext cx="3657600" cy="594360"/>
          </a:xfrm>
          <a:prstGeom prst="rect">
            <a:avLst/>
          </a:prstGeom>
          <a:solidFill>
            <a:srgbClr val="FFFFFF"/>
          </a:solidFill>
          <a:ln w="5715">
            <a:solidFill>
              <a:srgbClr val="D0DBD8"/>
            </a:solidFill>
            <a:prstDash val="solid"/>
          </a:ln>
        </p:spPr>
      </p:sp>
      <p:sp>
        <p:nvSpPr>
          <p:cNvPr id="43" name="Text 41"/>
          <p:cNvSpPr txBox="1"/>
          <p:nvPr/>
        </p:nvSpPr>
        <p:spPr>
          <a:xfrm>
            <a:off x="3145536" y="437083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object / field / topology / hierarchy</a:t>
            </a:r>
            <a:endParaRPr lang="en-US" sz="840" dirty="0"/>
          </a:p>
        </p:txBody>
      </p:sp>
      <p:sp>
        <p:nvSpPr>
          <p:cNvPr id="44" name="Shape 42"/>
          <p:cNvSpPr/>
          <p:nvPr/>
        </p:nvSpPr>
        <p:spPr>
          <a:xfrm>
            <a:off x="6684264" y="4297680"/>
            <a:ext cx="4992624" cy="594360"/>
          </a:xfrm>
          <a:prstGeom prst="rect">
            <a:avLst/>
          </a:prstGeom>
          <a:solidFill>
            <a:srgbClr val="FFFFFF"/>
          </a:solidFill>
          <a:ln w="5715">
            <a:solidFill>
              <a:srgbClr val="D0DBD8"/>
            </a:solidFill>
            <a:prstDash val="solid"/>
          </a:ln>
        </p:spPr>
      </p:sp>
      <p:sp>
        <p:nvSpPr>
          <p:cNvPr id="45" name="Text 43"/>
          <p:cNvSpPr txBox="1"/>
          <p:nvPr/>
        </p:nvSpPr>
        <p:spPr>
          <a:xfrm>
            <a:off x="6803136" y="437083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保持地理身份、空间方向、层级与 MAUP 边界</a:t>
            </a:r>
            <a:endParaRPr lang="en-US" sz="830" dirty="0"/>
          </a:p>
        </p:txBody>
      </p:sp>
      <p:sp>
        <p:nvSpPr>
          <p:cNvPr id="46" name="Shape 44"/>
          <p:cNvSpPr/>
          <p:nvPr/>
        </p:nvSpPr>
        <p:spPr>
          <a:xfrm>
            <a:off x="512064" y="4892040"/>
            <a:ext cx="2514600" cy="594360"/>
          </a:xfrm>
          <a:prstGeom prst="rect">
            <a:avLst/>
          </a:prstGeom>
          <a:solidFill>
            <a:srgbClr val="EDF1F0"/>
          </a:solidFill>
          <a:ln w="5715">
            <a:solidFill>
              <a:srgbClr val="D0DBD8"/>
            </a:solidFill>
            <a:prstDash val="solid"/>
          </a:ln>
        </p:spPr>
      </p:sp>
      <p:sp>
        <p:nvSpPr>
          <p:cNvPr id="47" name="Text 45"/>
          <p:cNvSpPr txBox="1"/>
          <p:nvPr/>
        </p:nvSpPr>
        <p:spPr>
          <a:xfrm>
            <a:off x="630936" y="496519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概率建模与约束动力学</a:t>
            </a:r>
            <a:endParaRPr lang="en-US" sz="880" dirty="0"/>
          </a:p>
        </p:txBody>
      </p:sp>
      <p:sp>
        <p:nvSpPr>
          <p:cNvPr id="48" name="Shape 46"/>
          <p:cNvSpPr/>
          <p:nvPr/>
        </p:nvSpPr>
        <p:spPr>
          <a:xfrm>
            <a:off x="3026664" y="4892040"/>
            <a:ext cx="3657600" cy="594360"/>
          </a:xfrm>
          <a:prstGeom prst="rect">
            <a:avLst/>
          </a:prstGeom>
          <a:solidFill>
            <a:srgbClr val="EDF1F0"/>
          </a:solidFill>
          <a:ln w="5715">
            <a:solidFill>
              <a:srgbClr val="D0DBD8"/>
            </a:solidFill>
            <a:prstDash val="solid"/>
          </a:ln>
        </p:spPr>
      </p:sp>
      <p:sp>
        <p:nvSpPr>
          <p:cNvPr id="49" name="Text 47"/>
          <p:cNvSpPr txBox="1"/>
          <p:nvPr/>
        </p:nvSpPr>
        <p:spPr>
          <a:xfrm>
            <a:off x="3145536" y="496519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heteroscedastic UQ + simplex / conservation</a:t>
            </a:r>
            <a:endParaRPr lang="en-US" sz="840" dirty="0"/>
          </a:p>
        </p:txBody>
      </p:sp>
      <p:sp>
        <p:nvSpPr>
          <p:cNvPr id="50" name="Shape 48"/>
          <p:cNvSpPr/>
          <p:nvPr/>
        </p:nvSpPr>
        <p:spPr>
          <a:xfrm>
            <a:off x="6684264" y="4892040"/>
            <a:ext cx="4992624" cy="594360"/>
          </a:xfrm>
          <a:prstGeom prst="rect">
            <a:avLst/>
          </a:prstGeom>
          <a:solidFill>
            <a:srgbClr val="EDF1F0"/>
          </a:solidFill>
          <a:ln w="5715">
            <a:solidFill>
              <a:srgbClr val="D0DBD8"/>
            </a:solidFill>
            <a:prstDash val="solid"/>
          </a:ln>
        </p:spPr>
      </p:sp>
      <p:sp>
        <p:nvSpPr>
          <p:cNvPr id="51" name="Text 49"/>
          <p:cNvSpPr txBox="1"/>
          <p:nvPr/>
        </p:nvSpPr>
        <p:spPr>
          <a:xfrm>
            <a:off x="6803136" y="496519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同时评价点预测、校准、质量守恒与尺度一致性</a:t>
            </a:r>
            <a:endParaRPr lang="en-US" sz="830" dirty="0"/>
          </a:p>
        </p:txBody>
      </p:sp>
      <p:sp>
        <p:nvSpPr>
          <p:cNvPr id="52" name="Shape 50"/>
          <p:cNvSpPr/>
          <p:nvPr/>
        </p:nvSpPr>
        <p:spPr>
          <a:xfrm>
            <a:off x="512064" y="5486400"/>
            <a:ext cx="2514600" cy="594360"/>
          </a:xfrm>
          <a:prstGeom prst="rect">
            <a:avLst/>
          </a:prstGeom>
          <a:solidFill>
            <a:srgbClr val="FFFFFF"/>
          </a:solidFill>
          <a:ln w="5715">
            <a:solidFill>
              <a:srgbClr val="D0DBD8"/>
            </a:solidFill>
            <a:prstDash val="solid"/>
          </a:ln>
        </p:spPr>
      </p:sp>
      <p:sp>
        <p:nvSpPr>
          <p:cNvPr id="53" name="Text 51"/>
          <p:cNvSpPr txBox="1"/>
          <p:nvPr/>
        </p:nvSpPr>
        <p:spPr>
          <a:xfrm>
            <a:off x="630936" y="5559552"/>
            <a:ext cx="2276856" cy="411480"/>
          </a:xfrm>
          <a:prstGeom prst="rect">
            <a:avLst/>
          </a:prstGeom>
          <a:noFill/>
          <a:ln/>
        </p:spPr>
        <p:txBody>
          <a:bodyPr wrap="square" lIns="0" tIns="0" rIns="0" bIns="0" rtlCol="0" anchor="ctr">
            <a:normAutofit/>
          </a:bodyPr>
          <a:lstStyle/>
          <a:p>
            <a:pPr algn="l" indent="0" marL="0">
              <a:lnSpc>
                <a:spcPct val="92000"/>
              </a:lnSpc>
              <a:buNone/>
            </a:pPr>
            <a:r>
              <a:rPr lang="en-US" sz="880" b="1" dirty="0">
                <a:solidFill>
                  <a:srgbClr val="17252A"/>
                </a:solidFill>
                <a:latin typeface="Hiragino Sans GB" pitchFamily="34" charset="0"/>
                <a:ea typeface="Hiragino Sans GB" pitchFamily="34" charset="-122"/>
                <a:cs typeface="Hiragino Sans GB" pitchFamily="34" charset="-120"/>
              </a:rPr>
              <a:t>空间因果推断纪律</a:t>
            </a:r>
            <a:endParaRPr lang="en-US" sz="880" dirty="0"/>
          </a:p>
        </p:txBody>
      </p:sp>
      <p:sp>
        <p:nvSpPr>
          <p:cNvPr id="54" name="Shape 52"/>
          <p:cNvSpPr/>
          <p:nvPr/>
        </p:nvSpPr>
        <p:spPr>
          <a:xfrm>
            <a:off x="3026664" y="5486400"/>
            <a:ext cx="3657600" cy="594360"/>
          </a:xfrm>
          <a:prstGeom prst="rect">
            <a:avLst/>
          </a:prstGeom>
          <a:solidFill>
            <a:srgbClr val="FFFFFF"/>
          </a:solidFill>
          <a:ln w="5715">
            <a:solidFill>
              <a:srgbClr val="D0DBD8"/>
            </a:solidFill>
            <a:prstDash val="solid"/>
          </a:ln>
        </p:spPr>
      </p:sp>
      <p:sp>
        <p:nvSpPr>
          <p:cNvPr id="55" name="Text 53"/>
          <p:cNvSpPr txBox="1"/>
          <p:nvPr/>
        </p:nvSpPr>
        <p:spPr>
          <a:xfrm>
            <a:off x="3145536" y="5559552"/>
            <a:ext cx="3419856" cy="411480"/>
          </a:xfrm>
          <a:prstGeom prst="rect">
            <a:avLst/>
          </a:prstGeom>
          <a:noFill/>
          <a:ln/>
        </p:spPr>
        <p:txBody>
          <a:bodyPr wrap="square" lIns="0" tIns="0" rIns="0" bIns="0" rtlCol="0" anchor="ctr">
            <a:normAutofit/>
          </a:bodyPr>
          <a:lstStyle/>
          <a:p>
            <a:pPr algn="ctr" indent="0" marL="0">
              <a:lnSpc>
                <a:spcPct val="92000"/>
              </a:lnSpc>
              <a:buNone/>
            </a:pPr>
            <a:r>
              <a:rPr lang="en-US" sz="840" dirty="0">
                <a:solidFill>
                  <a:srgbClr val="32474D"/>
                </a:solidFill>
                <a:latin typeface="Arial" pitchFamily="34" charset="0"/>
                <a:ea typeface="Arial" pitchFamily="34" charset="-122"/>
                <a:cs typeface="Arial" pitchFamily="34" charset="-120"/>
              </a:rPr>
              <a:t>confounding / spillover / negative control</a:t>
            </a:r>
            <a:endParaRPr lang="en-US" sz="840" dirty="0"/>
          </a:p>
        </p:txBody>
      </p:sp>
      <p:sp>
        <p:nvSpPr>
          <p:cNvPr id="56" name="Shape 54"/>
          <p:cNvSpPr/>
          <p:nvPr/>
        </p:nvSpPr>
        <p:spPr>
          <a:xfrm>
            <a:off x="6684264" y="5486400"/>
            <a:ext cx="4992624" cy="594360"/>
          </a:xfrm>
          <a:prstGeom prst="rect">
            <a:avLst/>
          </a:prstGeom>
          <a:solidFill>
            <a:srgbClr val="FFFFFF"/>
          </a:solidFill>
          <a:ln w="5715">
            <a:solidFill>
              <a:srgbClr val="D0DBD8"/>
            </a:solidFill>
            <a:prstDash val="solid"/>
          </a:ln>
        </p:spPr>
      </p:sp>
      <p:sp>
        <p:nvSpPr>
          <p:cNvPr id="57" name="Text 55"/>
          <p:cNvSpPr txBox="1"/>
          <p:nvPr/>
        </p:nvSpPr>
        <p:spPr>
          <a:xfrm>
            <a:off x="6803136" y="5559552"/>
            <a:ext cx="4754880" cy="411480"/>
          </a:xfrm>
          <a:prstGeom prst="rect">
            <a:avLst/>
          </a:prstGeom>
          <a:noFill/>
          <a:ln/>
        </p:spPr>
        <p:txBody>
          <a:bodyPr wrap="square" lIns="0" tIns="0" rIns="0" bIns="0" rtlCol="0" anchor="ctr">
            <a:normAutofit/>
          </a:bodyPr>
          <a:lstStyle/>
          <a:p>
            <a:pPr algn="l" indent="0" marL="0">
              <a:lnSpc>
                <a:spcPct val="92000"/>
              </a:lnSpc>
              <a:buNone/>
            </a:pPr>
            <a:r>
              <a:rPr lang="en-US" sz="830" dirty="0">
                <a:solidFill>
                  <a:srgbClr val="32474D"/>
                </a:solidFill>
                <a:latin typeface="Hiragino Sans GB" pitchFamily="34" charset="0"/>
                <a:ea typeface="Hiragino Sans GB" pitchFamily="34" charset="-122"/>
                <a:cs typeface="Hiragino Sans GB" pitchFamily="34" charset="-120"/>
              </a:rPr>
              <a:t>不把行动相关性直接表述为政策因果效果</a:t>
            </a:r>
            <a:endParaRPr lang="en-US" sz="830" dirty="0"/>
          </a:p>
        </p:txBody>
      </p:sp>
      <p:sp>
        <p:nvSpPr>
          <p:cNvPr id="58" name="Shape 56"/>
          <p:cNvSpPr/>
          <p:nvPr/>
        </p:nvSpPr>
        <p:spPr>
          <a:xfrm>
            <a:off x="676656" y="6172200"/>
            <a:ext cx="10835640" cy="210312"/>
          </a:xfrm>
          <a:prstGeom prst="roundRect">
            <a:avLst>
              <a:gd name="adj" fmla="val 13043"/>
            </a:avLst>
          </a:prstGeom>
          <a:solidFill>
            <a:srgbClr val="102F34"/>
          </a:solidFill>
          <a:ln w="12700">
            <a:solidFill>
              <a:srgbClr val="102F34"/>
            </a:solidFill>
            <a:prstDash val="solid"/>
          </a:ln>
        </p:spPr>
      </p:sp>
      <p:sp>
        <p:nvSpPr>
          <p:cNvPr id="59" name="Text 57"/>
          <p:cNvSpPr txBox="1"/>
          <p:nvPr/>
        </p:nvSpPr>
        <p:spPr>
          <a:xfrm>
            <a:off x="841248" y="6199632"/>
            <a:ext cx="10497312" cy="128016"/>
          </a:xfrm>
          <a:prstGeom prst="rect">
            <a:avLst/>
          </a:prstGeom>
          <a:noFill/>
          <a:ln/>
        </p:spPr>
        <p:txBody>
          <a:bodyPr wrap="square" lIns="0" tIns="0" rIns="0" bIns="0" rtlCol="0" anchor="ctr">
            <a:normAutofit/>
          </a:bodyPr>
          <a:lstStyle/>
          <a:p>
            <a:pPr algn="ctr" indent="0" marL="0">
              <a:lnSpc>
                <a:spcPct val="92000"/>
              </a:lnSpc>
              <a:buNone/>
            </a:pPr>
            <a:r>
              <a:rPr lang="en-US" sz="750" b="1" dirty="0">
                <a:solidFill>
                  <a:srgbClr val="FFFFFF"/>
                </a:solidFill>
                <a:latin typeface="Hiragino Sans GB" pitchFamily="34" charset="0"/>
                <a:ea typeface="Hiragino Sans GB" pitchFamily="34" charset="-122"/>
                <a:cs typeface="Hiragino Sans GB" pitchFamily="34" charset="-120"/>
              </a:rPr>
              <a:t>研究门槛：提出可反驳命题 → 冻结协议 → 强基线 / 消融 / 负对照 → 真实或隐藏留出验证 → 再升级主张</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GWM → TWM</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TWM：GWM 在自然资源治理中的领域实例</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TWM 继承 GWM 的共享运行契约，并绑定国土空间治理对象、行动、规则、指标和证据。</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来源：GWM Research Principles；GWM Runtime relationship；TWM technical documents</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21 / 29</a:t>
            </a:r>
            <a:endParaRPr lang="en-US" sz="670" dirty="0"/>
          </a:p>
        </p:txBody>
      </p:sp>
      <p:sp>
        <p:nvSpPr>
          <p:cNvPr id="10" name="Shape 8"/>
          <p:cNvSpPr/>
          <p:nvPr/>
        </p:nvSpPr>
        <p:spPr>
          <a:xfrm>
            <a:off x="603504" y="1517904"/>
            <a:ext cx="10991088" cy="1161288"/>
          </a:xfrm>
          <a:prstGeom prst="roundRect">
            <a:avLst>
              <a:gd name="adj" fmla="val 4724"/>
            </a:avLst>
          </a:prstGeom>
          <a:solidFill>
            <a:srgbClr val="102F34"/>
          </a:solidFill>
          <a:ln w="12700">
            <a:solidFill>
              <a:srgbClr val="102F34"/>
            </a:solidFill>
            <a:prstDash val="solid"/>
          </a:ln>
        </p:spPr>
      </p:sp>
      <p:sp>
        <p:nvSpPr>
          <p:cNvPr id="11" name="Text 9"/>
          <p:cNvSpPr txBox="1"/>
          <p:nvPr/>
        </p:nvSpPr>
        <p:spPr>
          <a:xfrm>
            <a:off x="868680" y="1755648"/>
            <a:ext cx="1938528" cy="301752"/>
          </a:xfrm>
          <a:prstGeom prst="rect">
            <a:avLst/>
          </a:prstGeom>
          <a:noFill/>
          <a:ln/>
        </p:spPr>
        <p:txBody>
          <a:bodyPr wrap="square" lIns="0" tIns="0" rIns="0" bIns="0" rtlCol="0" anchor="ctr">
            <a:normAutofit/>
          </a:bodyPr>
          <a:lstStyle/>
          <a:p>
            <a:pPr algn="ctr" indent="0" marL="0">
              <a:lnSpc>
                <a:spcPct val="92000"/>
              </a:lnSpc>
              <a:buNone/>
            </a:pPr>
            <a:r>
              <a:rPr lang="en-US" sz="1500" b="1" dirty="0">
                <a:solidFill>
                  <a:srgbClr val="FFFFFF"/>
                </a:solidFill>
                <a:latin typeface="Hiragino Sans GB" pitchFamily="34" charset="0"/>
                <a:ea typeface="Hiragino Sans GB" pitchFamily="34" charset="-122"/>
                <a:cs typeface="Hiragino Sans GB" pitchFamily="34" charset="-120"/>
              </a:rPr>
              <a:t>GWM 共享契约</a:t>
            </a:r>
            <a:endParaRPr lang="en-US" sz="1500" dirty="0"/>
          </a:p>
        </p:txBody>
      </p:sp>
      <p:sp>
        <p:nvSpPr>
          <p:cNvPr id="12" name="Shape 10"/>
          <p:cNvSpPr/>
          <p:nvPr/>
        </p:nvSpPr>
        <p:spPr>
          <a:xfrm>
            <a:off x="2971800" y="1728216"/>
            <a:ext cx="1389888" cy="256032"/>
          </a:xfrm>
          <a:prstGeom prst="roundRect">
            <a:avLst>
              <a:gd name="adj" fmla="val 50000"/>
            </a:avLst>
          </a:prstGeom>
          <a:solidFill>
            <a:srgbClr val="234B50"/>
          </a:solidFill>
          <a:ln w="6350">
            <a:solidFill>
              <a:srgbClr val="4A7376"/>
            </a:solidFill>
            <a:prstDash val="solid"/>
          </a:ln>
        </p:spPr>
      </p:sp>
      <p:sp>
        <p:nvSpPr>
          <p:cNvPr id="13" name="Text 11"/>
          <p:cNvSpPr txBox="1"/>
          <p:nvPr/>
        </p:nvSpPr>
        <p:spPr>
          <a:xfrm>
            <a:off x="3026664" y="1751076"/>
            <a:ext cx="1280160"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D8E9E6"/>
                </a:solidFill>
                <a:latin typeface="Hiragino Sans GB" pitchFamily="34" charset="0"/>
                <a:ea typeface="Hiragino Sans GB" pitchFamily="34" charset="-122"/>
                <a:cs typeface="Hiragino Sans GB" pitchFamily="34" charset="-120"/>
              </a:rPr>
              <a:t>StateSnapshot</a:t>
            </a:r>
            <a:endParaRPr lang="en-US" sz="680" dirty="0"/>
          </a:p>
        </p:txBody>
      </p:sp>
      <p:sp>
        <p:nvSpPr>
          <p:cNvPr id="14" name="Shape 12"/>
          <p:cNvSpPr/>
          <p:nvPr/>
        </p:nvSpPr>
        <p:spPr>
          <a:xfrm>
            <a:off x="4562856" y="1728216"/>
            <a:ext cx="1389888" cy="256032"/>
          </a:xfrm>
          <a:prstGeom prst="roundRect">
            <a:avLst>
              <a:gd name="adj" fmla="val 50000"/>
            </a:avLst>
          </a:prstGeom>
          <a:solidFill>
            <a:srgbClr val="234B50"/>
          </a:solidFill>
          <a:ln w="6350">
            <a:solidFill>
              <a:srgbClr val="4A7376"/>
            </a:solidFill>
            <a:prstDash val="solid"/>
          </a:ln>
        </p:spPr>
      </p:sp>
      <p:sp>
        <p:nvSpPr>
          <p:cNvPr id="15" name="Text 13"/>
          <p:cNvSpPr txBox="1"/>
          <p:nvPr/>
        </p:nvSpPr>
        <p:spPr>
          <a:xfrm>
            <a:off x="4617720" y="1751076"/>
            <a:ext cx="1280160"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D8E9E6"/>
                </a:solidFill>
                <a:latin typeface="Hiragino Sans GB" pitchFamily="34" charset="0"/>
                <a:ea typeface="Hiragino Sans GB" pitchFamily="34" charset="-122"/>
                <a:cs typeface="Hiragino Sans GB" pitchFamily="34" charset="-120"/>
              </a:rPr>
              <a:t>CanonicalAction</a:t>
            </a:r>
            <a:endParaRPr lang="en-US" sz="680" dirty="0"/>
          </a:p>
        </p:txBody>
      </p:sp>
      <p:sp>
        <p:nvSpPr>
          <p:cNvPr id="16" name="Shape 14"/>
          <p:cNvSpPr/>
          <p:nvPr/>
        </p:nvSpPr>
        <p:spPr>
          <a:xfrm>
            <a:off x="6153912" y="1728216"/>
            <a:ext cx="1389888" cy="256032"/>
          </a:xfrm>
          <a:prstGeom prst="roundRect">
            <a:avLst>
              <a:gd name="adj" fmla="val 50000"/>
            </a:avLst>
          </a:prstGeom>
          <a:solidFill>
            <a:srgbClr val="234B50"/>
          </a:solidFill>
          <a:ln w="6350">
            <a:solidFill>
              <a:srgbClr val="4A7376"/>
            </a:solidFill>
            <a:prstDash val="solid"/>
          </a:ln>
        </p:spPr>
      </p:sp>
      <p:sp>
        <p:nvSpPr>
          <p:cNvPr id="17" name="Text 15"/>
          <p:cNvSpPr txBox="1"/>
          <p:nvPr/>
        </p:nvSpPr>
        <p:spPr>
          <a:xfrm>
            <a:off x="6208776" y="1751076"/>
            <a:ext cx="1280160"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D8E9E6"/>
                </a:solidFill>
                <a:latin typeface="Hiragino Sans GB" pitchFamily="34" charset="0"/>
                <a:ea typeface="Hiragino Sans GB" pitchFamily="34" charset="-122"/>
                <a:cs typeface="Hiragino Sans GB" pitchFamily="34" charset="-120"/>
              </a:rPr>
              <a:t>Transition / Kernel</a:t>
            </a:r>
            <a:endParaRPr lang="en-US" sz="680" dirty="0"/>
          </a:p>
        </p:txBody>
      </p:sp>
      <p:sp>
        <p:nvSpPr>
          <p:cNvPr id="18" name="Shape 16"/>
          <p:cNvSpPr/>
          <p:nvPr/>
        </p:nvSpPr>
        <p:spPr>
          <a:xfrm>
            <a:off x="7744968" y="1728216"/>
            <a:ext cx="1389888" cy="256032"/>
          </a:xfrm>
          <a:prstGeom prst="roundRect">
            <a:avLst>
              <a:gd name="adj" fmla="val 50000"/>
            </a:avLst>
          </a:prstGeom>
          <a:solidFill>
            <a:srgbClr val="234B50"/>
          </a:solidFill>
          <a:ln w="6350">
            <a:solidFill>
              <a:srgbClr val="4A7376"/>
            </a:solidFill>
            <a:prstDash val="solid"/>
          </a:ln>
        </p:spPr>
      </p:sp>
      <p:sp>
        <p:nvSpPr>
          <p:cNvPr id="19" name="Text 17"/>
          <p:cNvSpPr txBox="1"/>
          <p:nvPr/>
        </p:nvSpPr>
        <p:spPr>
          <a:xfrm>
            <a:off x="7799832" y="1751076"/>
            <a:ext cx="1280160"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D8E9E6"/>
                </a:solidFill>
                <a:latin typeface="Hiragino Sans GB" pitchFamily="34" charset="0"/>
                <a:ea typeface="Hiragino Sans GB" pitchFamily="34" charset="-122"/>
                <a:cs typeface="Hiragino Sans GB" pitchFamily="34" charset="-120"/>
              </a:rPr>
              <a:t>Write-back / Rollout</a:t>
            </a:r>
            <a:endParaRPr lang="en-US" sz="680" dirty="0"/>
          </a:p>
        </p:txBody>
      </p:sp>
      <p:sp>
        <p:nvSpPr>
          <p:cNvPr id="20" name="Shape 18"/>
          <p:cNvSpPr/>
          <p:nvPr/>
        </p:nvSpPr>
        <p:spPr>
          <a:xfrm>
            <a:off x="9336024" y="1728216"/>
            <a:ext cx="1389888" cy="256032"/>
          </a:xfrm>
          <a:prstGeom prst="roundRect">
            <a:avLst>
              <a:gd name="adj" fmla="val 50000"/>
            </a:avLst>
          </a:prstGeom>
          <a:solidFill>
            <a:srgbClr val="234B50"/>
          </a:solidFill>
          <a:ln w="6350">
            <a:solidFill>
              <a:srgbClr val="4A7376"/>
            </a:solidFill>
            <a:prstDash val="solid"/>
          </a:ln>
        </p:spPr>
      </p:sp>
      <p:sp>
        <p:nvSpPr>
          <p:cNvPr id="21" name="Text 19"/>
          <p:cNvSpPr txBox="1"/>
          <p:nvPr/>
        </p:nvSpPr>
        <p:spPr>
          <a:xfrm>
            <a:off x="9390888" y="1751076"/>
            <a:ext cx="1280160" cy="182880"/>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D8E9E6"/>
                </a:solidFill>
                <a:latin typeface="Hiragino Sans GB" pitchFamily="34" charset="0"/>
                <a:ea typeface="Hiragino Sans GB" pitchFamily="34" charset="-122"/>
                <a:cs typeface="Hiragino Sans GB" pitchFamily="34" charset="-120"/>
              </a:rPr>
              <a:t>UQ / Evidence Ledger</a:t>
            </a:r>
            <a:endParaRPr lang="en-US" sz="680" dirty="0"/>
          </a:p>
        </p:txBody>
      </p:sp>
      <p:sp>
        <p:nvSpPr>
          <p:cNvPr id="22" name="Text 20"/>
          <p:cNvSpPr txBox="1"/>
          <p:nvPr/>
        </p:nvSpPr>
        <p:spPr>
          <a:xfrm>
            <a:off x="2916936" y="2212848"/>
            <a:ext cx="8110728" cy="201168"/>
          </a:xfrm>
          <a:prstGeom prst="rect">
            <a:avLst/>
          </a:prstGeom>
          <a:noFill/>
          <a:ln/>
        </p:spPr>
        <p:txBody>
          <a:bodyPr wrap="square" lIns="0" tIns="0" rIns="0" bIns="0" rtlCol="0" anchor="ctr">
            <a:normAutofit/>
          </a:bodyPr>
          <a:lstStyle/>
          <a:p>
            <a:pPr algn="ctr" indent="0" marL="0">
              <a:lnSpc>
                <a:spcPct val="92000"/>
              </a:lnSpc>
              <a:buNone/>
            </a:pPr>
            <a:r>
              <a:rPr lang="en-US" sz="830" dirty="0">
                <a:solidFill>
                  <a:srgbClr val="CDE3DF"/>
                </a:solidFill>
                <a:latin typeface="Hiragino Sans GB" pitchFamily="34" charset="0"/>
                <a:ea typeface="Hiragino Sans GB" pitchFamily="34" charset="-122"/>
                <a:cs typeface="Hiragino Sans GB" pitchFamily="34" charset="-120"/>
              </a:rPr>
              <a:t>跨领域保持不变：状态可版本化、动作可执行、转移可追踪、未来可写回、主张可降级</a:t>
            </a:r>
            <a:endParaRPr lang="en-US" sz="830" dirty="0"/>
          </a:p>
        </p:txBody>
      </p:sp>
      <p:sp>
        <p:nvSpPr>
          <p:cNvPr id="23" name="Shape 21"/>
          <p:cNvSpPr/>
          <p:nvPr/>
        </p:nvSpPr>
        <p:spPr>
          <a:xfrm>
            <a:off x="6089904" y="2715768"/>
            <a:ext cx="0" cy="484632"/>
          </a:xfrm>
          <a:prstGeom prst="line">
            <a:avLst/>
          </a:prstGeom>
          <a:noFill/>
          <a:ln w="25400">
            <a:solidFill>
              <a:srgbClr val="137F7A"/>
            </a:solidFill>
            <a:prstDash val="solid"/>
            <a:tailEnd type="triangle"/>
          </a:ln>
        </p:spPr>
      </p:sp>
      <p:sp>
        <p:nvSpPr>
          <p:cNvPr id="24" name="Shape 22"/>
          <p:cNvSpPr/>
          <p:nvPr/>
        </p:nvSpPr>
        <p:spPr>
          <a:xfrm>
            <a:off x="5257800" y="2962656"/>
            <a:ext cx="1673352" cy="256032"/>
          </a:xfrm>
          <a:prstGeom prst="roundRect">
            <a:avLst>
              <a:gd name="adj" fmla="val 50000"/>
            </a:avLst>
          </a:prstGeom>
          <a:solidFill>
            <a:srgbClr val="E2F2EF"/>
          </a:solidFill>
          <a:ln w="6350">
            <a:solidFill>
              <a:srgbClr val="137F7A"/>
            </a:solidFill>
            <a:prstDash val="solid"/>
          </a:ln>
        </p:spPr>
      </p:sp>
      <p:sp>
        <p:nvSpPr>
          <p:cNvPr id="25" name="Text 23"/>
          <p:cNvSpPr txBox="1"/>
          <p:nvPr/>
        </p:nvSpPr>
        <p:spPr>
          <a:xfrm>
            <a:off x="5312664" y="2985516"/>
            <a:ext cx="1563624" cy="182880"/>
          </a:xfrm>
          <a:prstGeom prst="rect">
            <a:avLst/>
          </a:prstGeom>
          <a:noFill/>
          <a:ln/>
        </p:spPr>
        <p:txBody>
          <a:bodyPr wrap="square" lIns="0" tIns="0" rIns="0" bIns="0" rtlCol="0" anchor="ctr">
            <a:normAutofit/>
          </a:bodyPr>
          <a:lstStyle/>
          <a:p>
            <a:pPr algn="ctr" indent="0" marL="0">
              <a:lnSpc>
                <a:spcPct val="92000"/>
              </a:lnSpc>
              <a:buNone/>
            </a:pPr>
            <a:r>
              <a:rPr lang="en-US" sz="800" b="1" dirty="0">
                <a:solidFill>
                  <a:srgbClr val="0E5C59"/>
                </a:solidFill>
                <a:latin typeface="Hiragino Sans GB" pitchFamily="34" charset="0"/>
                <a:ea typeface="Hiragino Sans GB" pitchFamily="34" charset="-122"/>
                <a:cs typeface="Hiragino Sans GB" pitchFamily="34" charset="-120"/>
              </a:rPr>
              <a:t>Domain Adapter</a:t>
            </a:r>
            <a:endParaRPr lang="en-US" sz="800" dirty="0"/>
          </a:p>
        </p:txBody>
      </p:sp>
      <p:sp>
        <p:nvSpPr>
          <p:cNvPr id="26" name="Shape 24"/>
          <p:cNvSpPr/>
          <p:nvPr/>
        </p:nvSpPr>
        <p:spPr>
          <a:xfrm>
            <a:off x="6089904" y="3218688"/>
            <a:ext cx="0" cy="393192"/>
          </a:xfrm>
          <a:prstGeom prst="line">
            <a:avLst/>
          </a:prstGeom>
          <a:noFill/>
          <a:ln w="25400">
            <a:solidFill>
              <a:srgbClr val="137F7A"/>
            </a:solidFill>
            <a:prstDash val="solid"/>
            <a:tailEnd type="triangle"/>
          </a:ln>
        </p:spPr>
      </p:sp>
      <p:sp>
        <p:nvSpPr>
          <p:cNvPr id="27" name="Shape 25"/>
          <p:cNvSpPr/>
          <p:nvPr/>
        </p:nvSpPr>
        <p:spPr>
          <a:xfrm>
            <a:off x="603504" y="3685032"/>
            <a:ext cx="10991088" cy="2194560"/>
          </a:xfrm>
          <a:prstGeom prst="roundRect">
            <a:avLst>
              <a:gd name="adj" fmla="val 2500"/>
            </a:avLst>
          </a:prstGeom>
          <a:solidFill>
            <a:srgbClr val="FFFFFF"/>
          </a:solidFill>
          <a:ln w="12700">
            <a:solidFill>
              <a:srgbClr val="137F7A"/>
            </a:solidFill>
            <a:prstDash val="solid"/>
          </a:ln>
        </p:spPr>
      </p:sp>
      <p:sp>
        <p:nvSpPr>
          <p:cNvPr id="28" name="Text 26"/>
          <p:cNvSpPr txBox="1"/>
          <p:nvPr/>
        </p:nvSpPr>
        <p:spPr>
          <a:xfrm>
            <a:off x="886968" y="3913632"/>
            <a:ext cx="2761488" cy="301752"/>
          </a:xfrm>
          <a:prstGeom prst="rect">
            <a:avLst/>
          </a:prstGeom>
          <a:noFill/>
          <a:ln/>
        </p:spPr>
        <p:txBody>
          <a:bodyPr wrap="square" lIns="0" tIns="0" rIns="0" bIns="0" rtlCol="0" anchor="ctr">
            <a:normAutofit/>
          </a:bodyPr>
          <a:lstStyle/>
          <a:p>
            <a:pPr algn="l" indent="0" marL="0">
              <a:lnSpc>
                <a:spcPct val="92000"/>
              </a:lnSpc>
              <a:buNone/>
            </a:pPr>
            <a:r>
              <a:rPr lang="en-US" sz="1500" b="1" dirty="0">
                <a:solidFill>
                  <a:srgbClr val="0E5C59"/>
                </a:solidFill>
                <a:latin typeface="Hiragino Sans GB" pitchFamily="34" charset="0"/>
                <a:ea typeface="Hiragino Sans GB" pitchFamily="34" charset="-122"/>
                <a:cs typeface="Hiragino Sans GB" pitchFamily="34" charset="-120"/>
              </a:rPr>
              <a:t>TWM 自然资源领域专门化</a:t>
            </a:r>
            <a:endParaRPr lang="en-US" sz="1500" dirty="0"/>
          </a:p>
        </p:txBody>
      </p:sp>
      <p:sp>
        <p:nvSpPr>
          <p:cNvPr id="29" name="Shape 27"/>
          <p:cNvSpPr/>
          <p:nvPr/>
        </p:nvSpPr>
        <p:spPr>
          <a:xfrm>
            <a:off x="3794760" y="3950208"/>
            <a:ext cx="1627632" cy="1417320"/>
          </a:xfrm>
          <a:prstGeom prst="roundRect">
            <a:avLst>
              <a:gd name="adj" fmla="val 3226"/>
            </a:avLst>
          </a:prstGeom>
          <a:solidFill>
            <a:srgbClr val="E2F2EF"/>
          </a:solidFill>
          <a:ln w="8890">
            <a:solidFill>
              <a:srgbClr val="137F7A"/>
            </a:solidFill>
            <a:prstDash val="solid"/>
          </a:ln>
        </p:spPr>
      </p:sp>
      <p:sp>
        <p:nvSpPr>
          <p:cNvPr id="30" name="Text 28"/>
          <p:cNvSpPr txBox="1"/>
          <p:nvPr/>
        </p:nvSpPr>
        <p:spPr>
          <a:xfrm>
            <a:off x="3941064" y="4133088"/>
            <a:ext cx="1335024"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0E5C59"/>
                </a:solidFill>
                <a:latin typeface="Hiragino Sans GB" pitchFamily="34" charset="0"/>
                <a:ea typeface="Hiragino Sans GB" pitchFamily="34" charset="-122"/>
                <a:cs typeface="Hiragino Sans GB" pitchFamily="34" charset="-120"/>
              </a:rPr>
              <a:t>状态</a:t>
            </a:r>
            <a:endParaRPr lang="en-US" sz="1080" dirty="0"/>
          </a:p>
        </p:txBody>
      </p:sp>
      <p:sp>
        <p:nvSpPr>
          <p:cNvPr id="31" name="Text 29"/>
          <p:cNvSpPr txBox="1"/>
          <p:nvPr/>
        </p:nvSpPr>
        <p:spPr>
          <a:xfrm>
            <a:off x="3941064" y="4517136"/>
            <a:ext cx="1335024" cy="630936"/>
          </a:xfrm>
          <a:prstGeom prst="rect">
            <a:avLst/>
          </a:prstGeom>
          <a:noFill/>
          <a:ln/>
        </p:spPr>
        <p:txBody>
          <a:bodyPr wrap="square" lIns="0" tIns="0" rIns="0" bIns="0" rtlCol="0" anchor="t">
            <a:normAutofit/>
          </a:bodyPr>
          <a:lstStyle/>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地块 / 图斑 / 项目</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规划分区 / 控制线</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规则 / 证据 / 复核</a:t>
            </a:r>
            <a:endParaRPr lang="en-US" sz="790" dirty="0"/>
          </a:p>
        </p:txBody>
      </p:sp>
      <p:sp>
        <p:nvSpPr>
          <p:cNvPr id="32" name="Shape 30"/>
          <p:cNvSpPr/>
          <p:nvPr/>
        </p:nvSpPr>
        <p:spPr>
          <a:xfrm>
            <a:off x="5669280" y="3950208"/>
            <a:ext cx="1627632" cy="1417320"/>
          </a:xfrm>
          <a:prstGeom prst="roundRect">
            <a:avLst>
              <a:gd name="adj" fmla="val 3226"/>
            </a:avLst>
          </a:prstGeom>
          <a:solidFill>
            <a:srgbClr val="E7F3EA"/>
          </a:solidFill>
          <a:ln w="8890">
            <a:solidFill>
              <a:srgbClr val="2D8A57"/>
            </a:solidFill>
            <a:prstDash val="solid"/>
          </a:ln>
        </p:spPr>
      </p:sp>
      <p:sp>
        <p:nvSpPr>
          <p:cNvPr id="33" name="Text 31"/>
          <p:cNvSpPr txBox="1"/>
          <p:nvPr/>
        </p:nvSpPr>
        <p:spPr>
          <a:xfrm>
            <a:off x="5815584" y="4133088"/>
            <a:ext cx="1335024"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2D8A57"/>
                </a:solidFill>
                <a:latin typeface="Hiragino Sans GB" pitchFamily="34" charset="0"/>
                <a:ea typeface="Hiragino Sans GB" pitchFamily="34" charset="-122"/>
                <a:cs typeface="Hiragino Sans GB" pitchFamily="34" charset="-120"/>
              </a:rPr>
              <a:t>行动</a:t>
            </a:r>
            <a:endParaRPr lang="en-US" sz="1080" dirty="0"/>
          </a:p>
        </p:txBody>
      </p:sp>
      <p:sp>
        <p:nvSpPr>
          <p:cNvPr id="34" name="Text 32"/>
          <p:cNvSpPr txBox="1"/>
          <p:nvPr/>
        </p:nvSpPr>
        <p:spPr>
          <a:xfrm>
            <a:off x="5815584" y="4517136"/>
            <a:ext cx="1335024" cy="630936"/>
          </a:xfrm>
          <a:prstGeom prst="rect">
            <a:avLst/>
          </a:prstGeom>
          <a:noFill/>
          <a:ln/>
        </p:spPr>
        <p:txBody>
          <a:bodyPr wrap="square" lIns="0" tIns="0" rIns="0" bIns="0" rtlCol="0" anchor="t">
            <a:normAutofit/>
          </a:bodyPr>
          <a:lstStyle/>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保护 / 调整 / 转用</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审批 / 补正 / 修复</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执法 / 整治 / 监管</a:t>
            </a:r>
            <a:endParaRPr lang="en-US" sz="790" dirty="0"/>
          </a:p>
        </p:txBody>
      </p:sp>
      <p:sp>
        <p:nvSpPr>
          <p:cNvPr id="35" name="Shape 33"/>
          <p:cNvSpPr/>
          <p:nvPr/>
        </p:nvSpPr>
        <p:spPr>
          <a:xfrm>
            <a:off x="7543800" y="3950208"/>
            <a:ext cx="1627632" cy="1417320"/>
          </a:xfrm>
          <a:prstGeom prst="roundRect">
            <a:avLst>
              <a:gd name="adj" fmla="val 3226"/>
            </a:avLst>
          </a:prstGeom>
          <a:solidFill>
            <a:srgbClr val="E2F2EF"/>
          </a:solidFill>
          <a:ln w="8890">
            <a:solidFill>
              <a:srgbClr val="137F7A"/>
            </a:solidFill>
            <a:prstDash val="solid"/>
          </a:ln>
        </p:spPr>
      </p:sp>
      <p:sp>
        <p:nvSpPr>
          <p:cNvPr id="36" name="Text 34"/>
          <p:cNvSpPr txBox="1"/>
          <p:nvPr/>
        </p:nvSpPr>
        <p:spPr>
          <a:xfrm>
            <a:off x="7690104" y="4133088"/>
            <a:ext cx="1335024"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0E5C59"/>
                </a:solidFill>
                <a:latin typeface="Hiragino Sans GB" pitchFamily="34" charset="0"/>
                <a:ea typeface="Hiragino Sans GB" pitchFamily="34" charset="-122"/>
                <a:cs typeface="Hiragino Sans GB" pitchFamily="34" charset="-120"/>
              </a:rPr>
              <a:t>转移与结果</a:t>
            </a:r>
            <a:endParaRPr lang="en-US" sz="1080" dirty="0"/>
          </a:p>
        </p:txBody>
      </p:sp>
      <p:sp>
        <p:nvSpPr>
          <p:cNvPr id="37" name="Text 35"/>
          <p:cNvSpPr txBox="1"/>
          <p:nvPr/>
        </p:nvSpPr>
        <p:spPr>
          <a:xfrm>
            <a:off x="7690104" y="4517136"/>
            <a:ext cx="1335024" cy="630936"/>
          </a:xfrm>
          <a:prstGeom prst="rect">
            <a:avLst/>
          </a:prstGeom>
          <a:noFill/>
          <a:ln/>
        </p:spPr>
        <p:txBody>
          <a:bodyPr wrap="square" lIns="0" tIns="0" rIns="0" bIns="0" rtlCol="0" anchor="t">
            <a:normAutofit/>
          </a:bodyPr>
          <a:lstStyle/>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未来土地状态</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约束风险 / 规划效用</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不确定性 / 证据缺口</a:t>
            </a:r>
            <a:endParaRPr lang="en-US" sz="790" dirty="0"/>
          </a:p>
        </p:txBody>
      </p:sp>
      <p:sp>
        <p:nvSpPr>
          <p:cNvPr id="38" name="Shape 36"/>
          <p:cNvSpPr/>
          <p:nvPr/>
        </p:nvSpPr>
        <p:spPr>
          <a:xfrm>
            <a:off x="9418320" y="3950208"/>
            <a:ext cx="1627632" cy="1417320"/>
          </a:xfrm>
          <a:prstGeom prst="roundRect">
            <a:avLst>
              <a:gd name="adj" fmla="val 3226"/>
            </a:avLst>
          </a:prstGeom>
          <a:solidFill>
            <a:srgbClr val="E7F3EA"/>
          </a:solidFill>
          <a:ln w="8890">
            <a:solidFill>
              <a:srgbClr val="2D8A57"/>
            </a:solidFill>
            <a:prstDash val="solid"/>
          </a:ln>
        </p:spPr>
      </p:sp>
      <p:sp>
        <p:nvSpPr>
          <p:cNvPr id="39" name="Text 37"/>
          <p:cNvSpPr txBox="1"/>
          <p:nvPr/>
        </p:nvSpPr>
        <p:spPr>
          <a:xfrm>
            <a:off x="9564624" y="4133088"/>
            <a:ext cx="1335024"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2D8A57"/>
                </a:solidFill>
                <a:latin typeface="Hiragino Sans GB" pitchFamily="34" charset="0"/>
                <a:ea typeface="Hiragino Sans GB" pitchFamily="34" charset="-122"/>
                <a:cs typeface="Hiragino Sans GB" pitchFamily="34" charset="-120"/>
              </a:rPr>
              <a:t>规划与交付</a:t>
            </a:r>
            <a:endParaRPr lang="en-US" sz="1080" dirty="0"/>
          </a:p>
        </p:txBody>
      </p:sp>
      <p:sp>
        <p:nvSpPr>
          <p:cNvPr id="40" name="Text 38"/>
          <p:cNvSpPr txBox="1"/>
          <p:nvPr/>
        </p:nvSpPr>
        <p:spPr>
          <a:xfrm>
            <a:off x="9564624" y="4517136"/>
            <a:ext cx="1335024" cy="630936"/>
          </a:xfrm>
          <a:prstGeom prst="rect">
            <a:avLst/>
          </a:prstGeom>
          <a:noFill/>
          <a:ln/>
        </p:spPr>
        <p:txBody>
          <a:bodyPr wrap="square" lIns="0" tIns="0" rIns="0" bIns="0" rtlCol="0" anchor="t">
            <a:normAutofit/>
          </a:bodyPr>
          <a:lstStyle/>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action mask / beam plan</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方案排序 / 拒绝理由</a:t>
            </a:r>
            <a:endParaRPr lang="en-US" sz="790" dirty="0"/>
          </a:p>
          <a:p>
            <a:pPr algn="ctr" indent="0" marL="0">
              <a:lnSpc>
                <a:spcPct val="92000"/>
              </a:lnSpc>
              <a:buNone/>
            </a:pPr>
            <a:r>
              <a:rPr lang="en-US" sz="790" dirty="0">
                <a:solidFill>
                  <a:srgbClr val="32474D"/>
                </a:solidFill>
                <a:latin typeface="Hiragino Sans GB" pitchFamily="34" charset="0"/>
                <a:ea typeface="Hiragino Sans GB" pitchFamily="34" charset="-122"/>
                <a:cs typeface="Hiragino Sans GB" pitchFamily="34" charset="-120"/>
              </a:rPr>
              <a:t>GIS 图层 / 审计报告</a:t>
            </a:r>
            <a:endParaRPr lang="en-US" sz="790" dirty="0"/>
          </a:p>
        </p:txBody>
      </p:sp>
      <p:sp>
        <p:nvSpPr>
          <p:cNvPr id="41" name="Shape 39"/>
          <p:cNvSpPr/>
          <p:nvPr/>
        </p:nvSpPr>
        <p:spPr>
          <a:xfrm>
            <a:off x="804672" y="6080760"/>
            <a:ext cx="10588752" cy="265176"/>
          </a:xfrm>
          <a:prstGeom prst="roundRect">
            <a:avLst>
              <a:gd name="adj" fmla="val 13793"/>
            </a:avLst>
          </a:prstGeom>
          <a:solidFill>
            <a:srgbClr val="FFF3D9"/>
          </a:solidFill>
          <a:ln w="7620">
            <a:solidFill>
              <a:srgbClr val="B17B20"/>
            </a:solidFill>
            <a:prstDash val="solid"/>
          </a:ln>
        </p:spPr>
      </p:sp>
      <p:sp>
        <p:nvSpPr>
          <p:cNvPr id="42" name="Text 40"/>
          <p:cNvSpPr txBox="1"/>
          <p:nvPr/>
        </p:nvSpPr>
        <p:spPr>
          <a:xfrm>
            <a:off x="987552" y="6135624"/>
            <a:ext cx="10213848" cy="146304"/>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17252A"/>
                </a:solidFill>
                <a:latin typeface="Hiragino Sans GB" pitchFamily="34" charset="0"/>
                <a:ea typeface="Hiragino Sans GB" pitchFamily="34" charset="-122"/>
                <a:cs typeface="Hiragino Sans GB" pitchFamily="34" charset="-120"/>
              </a:rPr>
              <a:t>证据适用范围：单个 TWM 案例支持该领域实例；一般 GWM 主张需经跨领域 Runtime 与 Kernel 验证。</a:t>
            </a:r>
            <a:endParaRPr lang="en-US" sz="7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TWM 决策内核</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TWM 决策内核：可执行输入、在线推演、轨迹规划与证据审查</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Renderer、Simulator、Planner 与结论发布前证据审查共同形成可复演的治理决策链。</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来源：TWM renderer-simulator-planner technical core / theoretical basis；territory_world_model implementation</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22 / 29</a:t>
            </a:r>
            <a:endParaRPr lang="en-US" sz="670" dirty="0"/>
          </a:p>
        </p:txBody>
      </p:sp>
      <p:sp>
        <p:nvSpPr>
          <p:cNvPr id="10" name="Shape 8"/>
          <p:cNvSpPr/>
          <p:nvPr/>
        </p:nvSpPr>
        <p:spPr>
          <a:xfrm>
            <a:off x="521208" y="1691640"/>
            <a:ext cx="2468880" cy="2176272"/>
          </a:xfrm>
          <a:prstGeom prst="roundRect">
            <a:avLst>
              <a:gd name="adj" fmla="val 2521"/>
            </a:avLst>
          </a:prstGeom>
          <a:solidFill>
            <a:srgbClr val="E7EFF8"/>
          </a:solidFill>
          <a:ln w="11430">
            <a:solidFill>
              <a:srgbClr val="356CA8"/>
            </a:solidFill>
            <a:prstDash val="solid"/>
          </a:ln>
        </p:spPr>
      </p:sp>
      <p:sp>
        <p:nvSpPr>
          <p:cNvPr id="11" name="Text 9"/>
          <p:cNvSpPr txBox="1"/>
          <p:nvPr/>
        </p:nvSpPr>
        <p:spPr>
          <a:xfrm>
            <a:off x="694944" y="1938528"/>
            <a:ext cx="2121408" cy="347472"/>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356CA8"/>
                </a:solidFill>
                <a:latin typeface="Arial" pitchFamily="34" charset="0"/>
                <a:ea typeface="Arial" pitchFamily="34" charset="-122"/>
                <a:cs typeface="Arial" pitchFamily="34" charset="-120"/>
              </a:rPr>
              <a:t>Renderer</a:t>
            </a:r>
            <a:endParaRPr lang="en-US" sz="1700" dirty="0"/>
          </a:p>
        </p:txBody>
      </p:sp>
      <p:sp>
        <p:nvSpPr>
          <p:cNvPr id="12" name="Text 10"/>
          <p:cNvSpPr txBox="1"/>
          <p:nvPr/>
        </p:nvSpPr>
        <p:spPr>
          <a:xfrm>
            <a:off x="731520" y="2468880"/>
            <a:ext cx="2048256" cy="1005840"/>
          </a:xfrm>
          <a:prstGeom prst="rect">
            <a:avLst/>
          </a:prstGeom>
          <a:noFill/>
          <a:ln/>
        </p:spPr>
        <p:txBody>
          <a:bodyPr wrap="square" lIns="0" tIns="0" rIns="0" bIns="0" rtlCol="0" anchor="t">
            <a:normAutofit/>
          </a:bodyPr>
          <a:lstStyle/>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权威图层 + 动作成员 + 规则</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 准入审查与来源指纹</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不预生成供选优的未来状态</a:t>
            </a:r>
            <a:endParaRPr lang="en-US" sz="860" dirty="0"/>
          </a:p>
        </p:txBody>
      </p:sp>
      <p:sp>
        <p:nvSpPr>
          <p:cNvPr id="13" name="Shape 11"/>
          <p:cNvSpPr/>
          <p:nvPr/>
        </p:nvSpPr>
        <p:spPr>
          <a:xfrm>
            <a:off x="3063240" y="2770632"/>
            <a:ext cx="246888" cy="0"/>
          </a:xfrm>
          <a:prstGeom prst="line">
            <a:avLst/>
          </a:prstGeom>
          <a:noFill/>
          <a:ln w="20320">
            <a:solidFill>
              <a:srgbClr val="137F7A"/>
            </a:solidFill>
            <a:prstDash val="solid"/>
            <a:tailEnd type="triangle"/>
          </a:ln>
        </p:spPr>
      </p:sp>
      <p:sp>
        <p:nvSpPr>
          <p:cNvPr id="14" name="Shape 12"/>
          <p:cNvSpPr/>
          <p:nvPr/>
        </p:nvSpPr>
        <p:spPr>
          <a:xfrm>
            <a:off x="3429000" y="1691640"/>
            <a:ext cx="2468880" cy="2176272"/>
          </a:xfrm>
          <a:prstGeom prst="roundRect">
            <a:avLst>
              <a:gd name="adj" fmla="val 2521"/>
            </a:avLst>
          </a:prstGeom>
          <a:solidFill>
            <a:srgbClr val="E2F2EF"/>
          </a:solidFill>
          <a:ln w="11430">
            <a:solidFill>
              <a:srgbClr val="137F7A"/>
            </a:solidFill>
            <a:prstDash val="solid"/>
          </a:ln>
        </p:spPr>
      </p:sp>
      <p:sp>
        <p:nvSpPr>
          <p:cNvPr id="15" name="Text 13"/>
          <p:cNvSpPr txBox="1"/>
          <p:nvPr/>
        </p:nvSpPr>
        <p:spPr>
          <a:xfrm>
            <a:off x="3602736" y="1938528"/>
            <a:ext cx="2121408" cy="347472"/>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137F7A"/>
                </a:solidFill>
                <a:latin typeface="Arial" pitchFamily="34" charset="0"/>
                <a:ea typeface="Arial" pitchFamily="34" charset="-122"/>
                <a:cs typeface="Arial" pitchFamily="34" charset="-120"/>
              </a:rPr>
              <a:t>Simulator</a:t>
            </a:r>
            <a:endParaRPr lang="en-US" sz="1700" dirty="0"/>
          </a:p>
        </p:txBody>
      </p:sp>
      <p:sp>
        <p:nvSpPr>
          <p:cNvPr id="16" name="Text 14"/>
          <p:cNvSpPr txBox="1"/>
          <p:nvPr/>
        </p:nvSpPr>
        <p:spPr>
          <a:xfrm>
            <a:off x="3639312" y="2468880"/>
            <a:ext cx="2048256" cy="1005840"/>
          </a:xfrm>
          <a:prstGeom prst="rect">
            <a:avLst/>
          </a:prstGeom>
          <a:noFill/>
          <a:ln/>
        </p:spPr>
        <p:txBody>
          <a:bodyPr wrap="square" lIns="0" tIns="0" rIns="0" bIns="0" rtlCol="0" anchor="t">
            <a:normAutofit/>
          </a:bodyPr>
          <a:lstStyle/>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Sₜ + ΔAₜ → Sₜ₊₁</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在线递归写回并逐期重算</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GIS / rule / learned backend</a:t>
            </a:r>
            <a:endParaRPr lang="en-US" sz="860" dirty="0"/>
          </a:p>
        </p:txBody>
      </p:sp>
      <p:sp>
        <p:nvSpPr>
          <p:cNvPr id="17" name="Shape 15"/>
          <p:cNvSpPr/>
          <p:nvPr/>
        </p:nvSpPr>
        <p:spPr>
          <a:xfrm>
            <a:off x="5971032" y="2770632"/>
            <a:ext cx="246888" cy="0"/>
          </a:xfrm>
          <a:prstGeom prst="line">
            <a:avLst/>
          </a:prstGeom>
          <a:noFill/>
          <a:ln w="20320">
            <a:solidFill>
              <a:srgbClr val="137F7A"/>
            </a:solidFill>
            <a:prstDash val="solid"/>
            <a:tailEnd type="triangle"/>
          </a:ln>
        </p:spPr>
      </p:sp>
      <p:sp>
        <p:nvSpPr>
          <p:cNvPr id="18" name="Shape 16"/>
          <p:cNvSpPr/>
          <p:nvPr/>
        </p:nvSpPr>
        <p:spPr>
          <a:xfrm>
            <a:off x="6336792" y="1691640"/>
            <a:ext cx="2468880" cy="2176272"/>
          </a:xfrm>
          <a:prstGeom prst="roundRect">
            <a:avLst>
              <a:gd name="adj" fmla="val 2521"/>
            </a:avLst>
          </a:prstGeom>
          <a:solidFill>
            <a:srgbClr val="E7F3EA"/>
          </a:solidFill>
          <a:ln w="11430">
            <a:solidFill>
              <a:srgbClr val="2D8A57"/>
            </a:solidFill>
            <a:prstDash val="solid"/>
          </a:ln>
        </p:spPr>
      </p:sp>
      <p:sp>
        <p:nvSpPr>
          <p:cNvPr id="19" name="Text 17"/>
          <p:cNvSpPr txBox="1"/>
          <p:nvPr/>
        </p:nvSpPr>
        <p:spPr>
          <a:xfrm>
            <a:off x="6510528" y="1938528"/>
            <a:ext cx="2121408" cy="347472"/>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2D8A57"/>
                </a:solidFill>
                <a:latin typeface="Arial" pitchFamily="34" charset="0"/>
                <a:ea typeface="Arial" pitchFamily="34" charset="-122"/>
                <a:cs typeface="Arial" pitchFamily="34" charset="-120"/>
              </a:rPr>
              <a:t>Planner</a:t>
            </a:r>
            <a:endParaRPr lang="en-US" sz="1700" dirty="0"/>
          </a:p>
        </p:txBody>
      </p:sp>
      <p:sp>
        <p:nvSpPr>
          <p:cNvPr id="20" name="Text 18"/>
          <p:cNvSpPr txBox="1"/>
          <p:nvPr/>
        </p:nvSpPr>
        <p:spPr>
          <a:xfrm>
            <a:off x="6547104" y="2468880"/>
            <a:ext cx="2048256" cy="1005840"/>
          </a:xfrm>
          <a:prstGeom prst="rect">
            <a:avLst/>
          </a:prstGeom>
          <a:noFill/>
          <a:ln/>
        </p:spPr>
        <p:txBody>
          <a:bodyPr wrap="square" lIns="0" tIns="0" rIns="0" bIns="0" rtlCol="0" anchor="t">
            <a:normAutofit/>
          </a:bodyPr>
          <a:lstStyle/>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合法动作空间 + 完整 trace</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硬约束优先 + 跨期累计排序</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旧汇总分仅作输入审计</a:t>
            </a:r>
            <a:endParaRPr lang="en-US" sz="860" dirty="0"/>
          </a:p>
        </p:txBody>
      </p:sp>
      <p:sp>
        <p:nvSpPr>
          <p:cNvPr id="21" name="Shape 19"/>
          <p:cNvSpPr/>
          <p:nvPr/>
        </p:nvSpPr>
        <p:spPr>
          <a:xfrm>
            <a:off x="8878824" y="2770632"/>
            <a:ext cx="246888" cy="0"/>
          </a:xfrm>
          <a:prstGeom prst="line">
            <a:avLst/>
          </a:prstGeom>
          <a:noFill/>
          <a:ln w="20320">
            <a:solidFill>
              <a:srgbClr val="137F7A"/>
            </a:solidFill>
            <a:prstDash val="solid"/>
            <a:tailEnd type="triangle"/>
          </a:ln>
        </p:spPr>
      </p:sp>
      <p:sp>
        <p:nvSpPr>
          <p:cNvPr id="22" name="Shape 20"/>
          <p:cNvSpPr/>
          <p:nvPr/>
        </p:nvSpPr>
        <p:spPr>
          <a:xfrm>
            <a:off x="9244584" y="1691640"/>
            <a:ext cx="2468880" cy="2176272"/>
          </a:xfrm>
          <a:prstGeom prst="roundRect">
            <a:avLst>
              <a:gd name="adj" fmla="val 2521"/>
            </a:avLst>
          </a:prstGeom>
          <a:solidFill>
            <a:srgbClr val="FFF3D9"/>
          </a:solidFill>
          <a:ln w="11430">
            <a:solidFill>
              <a:srgbClr val="B17B20"/>
            </a:solidFill>
            <a:prstDash val="solid"/>
          </a:ln>
        </p:spPr>
      </p:sp>
      <p:sp>
        <p:nvSpPr>
          <p:cNvPr id="23" name="Text 21"/>
          <p:cNvSpPr txBox="1"/>
          <p:nvPr/>
        </p:nvSpPr>
        <p:spPr>
          <a:xfrm>
            <a:off x="9418320" y="1938528"/>
            <a:ext cx="2121408" cy="347472"/>
          </a:xfrm>
          <a:prstGeom prst="rect">
            <a:avLst/>
          </a:prstGeom>
          <a:noFill/>
          <a:ln/>
        </p:spPr>
        <p:txBody>
          <a:bodyPr wrap="square" lIns="0" tIns="0" rIns="0" bIns="0" rtlCol="0" anchor="ctr">
            <a:normAutofit/>
          </a:bodyPr>
          <a:lstStyle/>
          <a:p>
            <a:pPr algn="ctr" indent="0" marL="0">
              <a:lnSpc>
                <a:spcPct val="92000"/>
              </a:lnSpc>
              <a:buNone/>
            </a:pPr>
            <a:r>
              <a:rPr lang="en-US" sz="1700" b="1" dirty="0">
                <a:solidFill>
                  <a:srgbClr val="B17B20"/>
                </a:solidFill>
                <a:latin typeface="Arial" pitchFamily="34" charset="0"/>
                <a:ea typeface="Arial" pitchFamily="34" charset="-122"/>
                <a:cs typeface="Arial" pitchFamily="34" charset="-120"/>
              </a:rPr>
              <a:t>发布前证据审查</a:t>
            </a:r>
            <a:endParaRPr lang="en-US" sz="1700" dirty="0"/>
          </a:p>
        </p:txBody>
      </p:sp>
      <p:sp>
        <p:nvSpPr>
          <p:cNvPr id="24" name="Text 22"/>
          <p:cNvSpPr txBox="1"/>
          <p:nvPr/>
        </p:nvSpPr>
        <p:spPr>
          <a:xfrm>
            <a:off x="9454896" y="2468880"/>
            <a:ext cx="2048256" cy="1005840"/>
          </a:xfrm>
          <a:prstGeom prst="rect">
            <a:avLst/>
          </a:prstGeom>
          <a:noFill/>
          <a:ln/>
        </p:spPr>
        <p:txBody>
          <a:bodyPr wrap="square" lIns="0" tIns="0" rIns="0" bIns="0" rtlCol="0" anchor="t">
            <a:normAutofit/>
          </a:bodyPr>
          <a:lstStyle/>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来源 / 规则 / holdout / 复演</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通过 / 复核 / 阻断</a:t>
            </a:r>
            <a:endParaRPr lang="en-US" sz="860" dirty="0"/>
          </a:p>
          <a:p>
            <a:pPr algn="ctr" indent="0" marL="0">
              <a:lnSpc>
                <a:spcPct val="92000"/>
              </a:lnSpc>
              <a:buNone/>
            </a:pPr>
            <a:r>
              <a:rPr lang="en-US" sz="860" dirty="0">
                <a:solidFill>
                  <a:srgbClr val="32474D"/>
                </a:solidFill>
                <a:latin typeface="Hiragino Sans GB" pitchFamily="34" charset="0"/>
                <a:ea typeface="Hiragino Sans GB" pitchFamily="34" charset="-122"/>
                <a:cs typeface="Hiragino Sans GB" pitchFamily="34" charset="-120"/>
              </a:rPr>
              <a:t>结论降级 + 人工责任</a:t>
            </a:r>
            <a:endParaRPr lang="en-US" sz="860" dirty="0"/>
          </a:p>
        </p:txBody>
      </p:sp>
      <p:sp>
        <p:nvSpPr>
          <p:cNvPr id="25" name="Shape 23"/>
          <p:cNvSpPr/>
          <p:nvPr/>
        </p:nvSpPr>
        <p:spPr>
          <a:xfrm>
            <a:off x="10479024" y="3977640"/>
            <a:ext cx="-8577072" cy="530352"/>
          </a:xfrm>
          <a:prstGeom prst="line">
            <a:avLst/>
          </a:prstGeom>
          <a:noFill/>
          <a:ln w="15240">
            <a:solidFill>
              <a:srgbClr val="705FA7"/>
            </a:solidFill>
            <a:prstDash val="dash"/>
            <a:tailEnd type="triangle"/>
          </a:ln>
        </p:spPr>
      </p:sp>
      <p:sp>
        <p:nvSpPr>
          <p:cNvPr id="26" name="Text 24"/>
          <p:cNvSpPr txBox="1"/>
          <p:nvPr/>
        </p:nvSpPr>
        <p:spPr>
          <a:xfrm>
            <a:off x="4114800" y="4379976"/>
            <a:ext cx="4032504" cy="201168"/>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705FA7"/>
                </a:solidFill>
                <a:latin typeface="Hiragino Sans GB" pitchFamily="34" charset="0"/>
                <a:ea typeface="Hiragino Sans GB" pitchFamily="34" charset="-122"/>
                <a:cs typeface="Hiragino Sans GB" pitchFamily="34" charset="-120"/>
              </a:rPr>
              <a:t>人工决定与处置结果回到下一版本状态</a:t>
            </a:r>
            <a:endParaRPr lang="en-US" sz="840" dirty="0"/>
          </a:p>
        </p:txBody>
      </p:sp>
      <p:sp>
        <p:nvSpPr>
          <p:cNvPr id="27" name="Text 25"/>
          <p:cNvSpPr txBox="1"/>
          <p:nvPr/>
        </p:nvSpPr>
        <p:spPr>
          <a:xfrm>
            <a:off x="640080" y="4800600"/>
            <a:ext cx="2039112" cy="274320"/>
          </a:xfrm>
          <a:prstGeom prst="rect">
            <a:avLst/>
          </a:prstGeom>
          <a:noFill/>
          <a:ln/>
        </p:spPr>
        <p:txBody>
          <a:bodyPr wrap="square" lIns="0" tIns="0" rIns="0" bIns="0" rtlCol="0" anchor="ctr">
            <a:normAutofit/>
          </a:bodyPr>
          <a:lstStyle/>
          <a:p>
            <a:pPr algn="l" indent="0" marL="0">
              <a:lnSpc>
                <a:spcPct val="92000"/>
              </a:lnSpc>
              <a:buNone/>
            </a:pPr>
            <a:r>
              <a:rPr lang="en-US" sz="1320" b="1" dirty="0">
                <a:solidFill>
                  <a:srgbClr val="17252A"/>
                </a:solidFill>
                <a:latin typeface="Hiragino Sans GB" pitchFamily="34" charset="0"/>
                <a:ea typeface="Hiragino Sans GB" pitchFamily="34" charset="-122"/>
                <a:cs typeface="Hiragino Sans GB" pitchFamily="34" charset="-120"/>
              </a:rPr>
              <a:t>可支撑的核心任务</a:t>
            </a:r>
            <a:endParaRPr lang="en-US" sz="1320" dirty="0"/>
          </a:p>
        </p:txBody>
      </p:sp>
      <p:sp>
        <p:nvSpPr>
          <p:cNvPr id="28" name="Text 26"/>
          <p:cNvSpPr txBox="1"/>
          <p:nvPr/>
        </p:nvSpPr>
        <p:spPr>
          <a:xfrm>
            <a:off x="2651760" y="4754880"/>
            <a:ext cx="1938528"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0E5C59"/>
                </a:solidFill>
                <a:latin typeface="Hiragino Sans GB" pitchFamily="34" charset="0"/>
                <a:ea typeface="Hiragino Sans GB" pitchFamily="34" charset="-122"/>
                <a:cs typeface="Hiragino Sans GB" pitchFamily="34" charset="-120"/>
              </a:rPr>
              <a:t>规划体检</a:t>
            </a:r>
            <a:endParaRPr lang="en-US" sz="1080" dirty="0"/>
          </a:p>
        </p:txBody>
      </p:sp>
      <p:sp>
        <p:nvSpPr>
          <p:cNvPr id="29" name="Text 27"/>
          <p:cNvSpPr txBox="1"/>
          <p:nvPr/>
        </p:nvSpPr>
        <p:spPr>
          <a:xfrm>
            <a:off x="2724912" y="5120640"/>
            <a:ext cx="1792224" cy="429768"/>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三区三线 / 用途管制 / 审批一致性</a:t>
            </a:r>
            <a:endParaRPr lang="en-US" sz="780" dirty="0"/>
          </a:p>
        </p:txBody>
      </p:sp>
      <p:sp>
        <p:nvSpPr>
          <p:cNvPr id="30" name="Text 28"/>
          <p:cNvSpPr txBox="1"/>
          <p:nvPr/>
        </p:nvSpPr>
        <p:spPr>
          <a:xfrm>
            <a:off x="4864608" y="4754880"/>
            <a:ext cx="1938528"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2D8A57"/>
                </a:solidFill>
                <a:latin typeface="Hiragino Sans GB" pitchFamily="34" charset="0"/>
                <a:ea typeface="Hiragino Sans GB" pitchFamily="34" charset="-122"/>
                <a:cs typeface="Hiragino Sans GB" pitchFamily="34" charset="-120"/>
              </a:rPr>
              <a:t>风险预警</a:t>
            </a:r>
            <a:endParaRPr lang="en-US" sz="1080" dirty="0"/>
          </a:p>
        </p:txBody>
      </p:sp>
      <p:sp>
        <p:nvSpPr>
          <p:cNvPr id="31" name="Text 29"/>
          <p:cNvSpPr txBox="1"/>
          <p:nvPr/>
        </p:nvSpPr>
        <p:spPr>
          <a:xfrm>
            <a:off x="4937760" y="5120640"/>
            <a:ext cx="1792224" cy="429768"/>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违法占地候选 / 耕地流失 / 生态冲突</a:t>
            </a:r>
            <a:endParaRPr lang="en-US" sz="780" dirty="0"/>
          </a:p>
        </p:txBody>
      </p:sp>
      <p:sp>
        <p:nvSpPr>
          <p:cNvPr id="32" name="Text 30"/>
          <p:cNvSpPr txBox="1"/>
          <p:nvPr/>
        </p:nvSpPr>
        <p:spPr>
          <a:xfrm>
            <a:off x="7077456" y="4754880"/>
            <a:ext cx="1938528"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0E5C59"/>
                </a:solidFill>
                <a:latin typeface="Hiragino Sans GB" pitchFamily="34" charset="0"/>
                <a:ea typeface="Hiragino Sans GB" pitchFamily="34" charset="-122"/>
                <a:cs typeface="Hiragino Sans GB" pitchFamily="34" charset="-120"/>
              </a:rPr>
              <a:t>方案比选</a:t>
            </a:r>
            <a:endParaRPr lang="en-US" sz="1080" dirty="0"/>
          </a:p>
        </p:txBody>
      </p:sp>
      <p:sp>
        <p:nvSpPr>
          <p:cNvPr id="33" name="Text 31"/>
          <p:cNvSpPr txBox="1"/>
          <p:nvPr/>
        </p:nvSpPr>
        <p:spPr>
          <a:xfrm>
            <a:off x="7150608" y="5120640"/>
            <a:ext cx="1792224" cy="429768"/>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项目选址 / 保护修复 / 土地整治</a:t>
            </a:r>
            <a:endParaRPr lang="en-US" sz="780" dirty="0"/>
          </a:p>
        </p:txBody>
      </p:sp>
      <p:sp>
        <p:nvSpPr>
          <p:cNvPr id="34" name="Text 32"/>
          <p:cNvSpPr txBox="1"/>
          <p:nvPr/>
        </p:nvSpPr>
        <p:spPr>
          <a:xfrm>
            <a:off x="9290304" y="4754880"/>
            <a:ext cx="1938528" cy="256032"/>
          </a:xfrm>
          <a:prstGeom prst="rect">
            <a:avLst/>
          </a:prstGeom>
          <a:noFill/>
          <a:ln/>
        </p:spPr>
        <p:txBody>
          <a:bodyPr wrap="square" lIns="0" tIns="0" rIns="0" bIns="0" rtlCol="0" anchor="ctr">
            <a:normAutofit/>
          </a:bodyPr>
          <a:lstStyle/>
          <a:p>
            <a:pPr algn="ctr" indent="0" marL="0">
              <a:lnSpc>
                <a:spcPct val="92000"/>
              </a:lnSpc>
              <a:buNone/>
            </a:pPr>
            <a:r>
              <a:rPr lang="en-US" sz="1080" b="1" dirty="0">
                <a:solidFill>
                  <a:srgbClr val="2D8A57"/>
                </a:solidFill>
                <a:latin typeface="Hiragino Sans GB" pitchFamily="34" charset="0"/>
                <a:ea typeface="Hiragino Sans GB" pitchFamily="34" charset="-122"/>
                <a:cs typeface="Hiragino Sans GB" pitchFamily="34" charset="-120"/>
              </a:rPr>
              <a:t>滚动治理</a:t>
            </a:r>
            <a:endParaRPr lang="en-US" sz="1080" dirty="0"/>
          </a:p>
        </p:txBody>
      </p:sp>
      <p:sp>
        <p:nvSpPr>
          <p:cNvPr id="35" name="Text 33"/>
          <p:cNvSpPr txBox="1"/>
          <p:nvPr/>
        </p:nvSpPr>
        <p:spPr>
          <a:xfrm>
            <a:off x="9363456" y="5120640"/>
            <a:ext cx="1792224" cy="429768"/>
          </a:xfrm>
          <a:prstGeom prst="rect">
            <a:avLst/>
          </a:prstGeom>
          <a:noFill/>
          <a:ln/>
        </p:spPr>
        <p:txBody>
          <a:bodyPr wrap="square" lIns="0" tIns="0" rIns="0" bIns="0" rtlCol="0" anchor="t">
            <a:normAutofit/>
          </a:bodyPr>
          <a:lstStyle/>
          <a:p>
            <a:pPr algn="ctr" indent="0" marL="0">
              <a:lnSpc>
                <a:spcPct val="92000"/>
              </a:lnSpc>
              <a:buNone/>
            </a:pPr>
            <a:r>
              <a:rPr lang="en-US" sz="780" dirty="0">
                <a:solidFill>
                  <a:srgbClr val="32474D"/>
                </a:solidFill>
                <a:latin typeface="Hiragino Sans GB" pitchFamily="34" charset="0"/>
                <a:ea typeface="Hiragino Sans GB" pitchFamily="34" charset="-122"/>
                <a:cs typeface="Hiragino Sans GB" pitchFamily="34" charset="-120"/>
              </a:rPr>
              <a:t>监测 → 处置 → 复核 → 再规划</a:t>
            </a:r>
            <a:endParaRPr lang="en-US" sz="780" dirty="0"/>
          </a:p>
        </p:txBody>
      </p:sp>
      <p:sp>
        <p:nvSpPr>
          <p:cNvPr id="36" name="Shape 34"/>
          <p:cNvSpPr/>
          <p:nvPr/>
        </p:nvSpPr>
        <p:spPr>
          <a:xfrm>
            <a:off x="658368" y="5806440"/>
            <a:ext cx="10863072" cy="347472"/>
          </a:xfrm>
          <a:prstGeom prst="roundRect">
            <a:avLst>
              <a:gd name="adj" fmla="val 10526"/>
            </a:avLst>
          </a:prstGeom>
          <a:solidFill>
            <a:srgbClr val="FBE9EA"/>
          </a:solidFill>
          <a:ln w="7620">
            <a:solidFill>
              <a:srgbClr val="B04A50"/>
            </a:solidFill>
            <a:prstDash val="solid"/>
          </a:ln>
        </p:spPr>
      </p:sp>
      <p:sp>
        <p:nvSpPr>
          <p:cNvPr id="37" name="Text 35"/>
          <p:cNvSpPr txBox="1"/>
          <p:nvPr/>
        </p:nvSpPr>
        <p:spPr>
          <a:xfrm>
            <a:off x="868680" y="5879592"/>
            <a:ext cx="10460736" cy="182880"/>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B04A50"/>
                </a:solidFill>
                <a:latin typeface="Hiragino Sans GB" pitchFamily="34" charset="0"/>
                <a:ea typeface="Hiragino Sans GB" pitchFamily="34" charset="-122"/>
                <a:cs typeface="Hiragino Sans GB" pitchFamily="34" charset="-120"/>
              </a:rPr>
              <a:t>当前演示：7 个候选先准入，4 个硬阻断；3 个合法方案 × 3 期 = 9 次在线转移，缺动作几何或轨迹不完整即失败关闭。</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业务全景</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TWM 的自然资源业务价值与应用场景</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支持规划体检、用地审查、土地整治、生态修复和执法督察中的方案比较与证据组织。</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来源：TWM space-intelligence assessment；production input requirements；自然资源规划、用途管制、耕地保护与执法业务语义</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23 / 29</a:t>
            </a:r>
            <a:endParaRPr lang="en-US" sz="670" dirty="0"/>
          </a:p>
        </p:txBody>
      </p:sp>
      <p:sp>
        <p:nvSpPr>
          <p:cNvPr id="10" name="Shape 8"/>
          <p:cNvSpPr/>
          <p:nvPr/>
        </p:nvSpPr>
        <p:spPr>
          <a:xfrm>
            <a:off x="393192" y="1435608"/>
            <a:ext cx="1920240" cy="438912"/>
          </a:xfrm>
          <a:prstGeom prst="roundRect">
            <a:avLst>
              <a:gd name="adj" fmla="val 4167"/>
            </a:avLst>
          </a:prstGeom>
          <a:solidFill>
            <a:srgbClr val="102F34"/>
          </a:solidFill>
          <a:ln w="7620">
            <a:solidFill>
              <a:srgbClr val="102F34"/>
            </a:solidFill>
            <a:prstDash val="solid"/>
          </a:ln>
        </p:spPr>
      </p:sp>
      <p:sp>
        <p:nvSpPr>
          <p:cNvPr id="11" name="Text 9"/>
          <p:cNvSpPr txBox="1"/>
          <p:nvPr/>
        </p:nvSpPr>
        <p:spPr>
          <a:xfrm>
            <a:off x="438912" y="1545336"/>
            <a:ext cx="1828800" cy="21945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FFFFFF"/>
                </a:solidFill>
                <a:latin typeface="Hiragino Sans GB" pitchFamily="34" charset="0"/>
                <a:ea typeface="Hiragino Sans GB" pitchFamily="34" charset="-122"/>
                <a:cs typeface="Hiragino Sans GB" pitchFamily="34" charset="-120"/>
              </a:rPr>
              <a:t>业务闭环</a:t>
            </a:r>
            <a:endParaRPr lang="en-US" sz="880" dirty="0"/>
          </a:p>
        </p:txBody>
      </p:sp>
      <p:sp>
        <p:nvSpPr>
          <p:cNvPr id="12" name="Shape 10"/>
          <p:cNvSpPr/>
          <p:nvPr/>
        </p:nvSpPr>
        <p:spPr>
          <a:xfrm>
            <a:off x="2313432" y="1435608"/>
            <a:ext cx="2523744" cy="438912"/>
          </a:xfrm>
          <a:prstGeom prst="roundRect">
            <a:avLst>
              <a:gd name="adj" fmla="val 4167"/>
            </a:avLst>
          </a:prstGeom>
          <a:solidFill>
            <a:srgbClr val="E2F2EF"/>
          </a:solidFill>
          <a:ln w="7620">
            <a:solidFill>
              <a:srgbClr val="137F7A"/>
            </a:solidFill>
            <a:prstDash val="solid"/>
          </a:ln>
        </p:spPr>
      </p:sp>
      <p:sp>
        <p:nvSpPr>
          <p:cNvPr id="13" name="Text 11"/>
          <p:cNvSpPr txBox="1"/>
          <p:nvPr/>
        </p:nvSpPr>
        <p:spPr>
          <a:xfrm>
            <a:off x="2359152" y="1545336"/>
            <a:ext cx="2432304" cy="21945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0E5C59"/>
                </a:solidFill>
                <a:latin typeface="Hiragino Sans GB" pitchFamily="34" charset="0"/>
                <a:ea typeface="Hiragino Sans GB" pitchFamily="34" charset="-122"/>
                <a:cs typeface="Hiragino Sans GB" pitchFamily="34" charset="-120"/>
              </a:rPr>
              <a:t>权威输入</a:t>
            </a:r>
            <a:endParaRPr lang="en-US" sz="880" dirty="0"/>
          </a:p>
        </p:txBody>
      </p:sp>
      <p:sp>
        <p:nvSpPr>
          <p:cNvPr id="14" name="Shape 12"/>
          <p:cNvSpPr/>
          <p:nvPr/>
        </p:nvSpPr>
        <p:spPr>
          <a:xfrm>
            <a:off x="4837176" y="1435608"/>
            <a:ext cx="2468880" cy="438912"/>
          </a:xfrm>
          <a:prstGeom prst="roundRect">
            <a:avLst>
              <a:gd name="adj" fmla="val 4167"/>
            </a:avLst>
          </a:prstGeom>
          <a:solidFill>
            <a:srgbClr val="E2F2EF"/>
          </a:solidFill>
          <a:ln w="7620">
            <a:solidFill>
              <a:srgbClr val="137F7A"/>
            </a:solidFill>
            <a:prstDash val="solid"/>
          </a:ln>
        </p:spPr>
      </p:sp>
      <p:sp>
        <p:nvSpPr>
          <p:cNvPr id="15" name="Text 13"/>
          <p:cNvSpPr txBox="1"/>
          <p:nvPr/>
        </p:nvSpPr>
        <p:spPr>
          <a:xfrm>
            <a:off x="4882896" y="1545336"/>
            <a:ext cx="2377440" cy="21945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0E5C59"/>
                </a:solidFill>
                <a:latin typeface="Hiragino Sans GB" pitchFamily="34" charset="0"/>
                <a:ea typeface="Hiragino Sans GB" pitchFamily="34" charset="-122"/>
                <a:cs typeface="Hiragino Sans GB" pitchFamily="34" charset="-120"/>
              </a:rPr>
              <a:t>候选治理行动</a:t>
            </a:r>
            <a:endParaRPr lang="en-US" sz="880" dirty="0"/>
          </a:p>
        </p:txBody>
      </p:sp>
      <p:sp>
        <p:nvSpPr>
          <p:cNvPr id="16" name="Shape 14"/>
          <p:cNvSpPr/>
          <p:nvPr/>
        </p:nvSpPr>
        <p:spPr>
          <a:xfrm>
            <a:off x="7306056" y="1435608"/>
            <a:ext cx="2295144" cy="438912"/>
          </a:xfrm>
          <a:prstGeom prst="roundRect">
            <a:avLst>
              <a:gd name="adj" fmla="val 4167"/>
            </a:avLst>
          </a:prstGeom>
          <a:solidFill>
            <a:srgbClr val="E2F2EF"/>
          </a:solidFill>
          <a:ln w="7620">
            <a:solidFill>
              <a:srgbClr val="137F7A"/>
            </a:solidFill>
            <a:prstDash val="solid"/>
          </a:ln>
        </p:spPr>
      </p:sp>
      <p:sp>
        <p:nvSpPr>
          <p:cNvPr id="17" name="Text 15"/>
          <p:cNvSpPr txBox="1"/>
          <p:nvPr/>
        </p:nvSpPr>
        <p:spPr>
          <a:xfrm>
            <a:off x="7351776" y="1545336"/>
            <a:ext cx="2203704" cy="21945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0E5C59"/>
                </a:solidFill>
                <a:latin typeface="Hiragino Sans GB" pitchFamily="34" charset="0"/>
                <a:ea typeface="Hiragino Sans GB" pitchFamily="34" charset="-122"/>
                <a:cs typeface="Hiragino Sans GB" pitchFamily="34" charset="-120"/>
              </a:rPr>
              <a:t>TWM 输出</a:t>
            </a:r>
            <a:endParaRPr lang="en-US" sz="880" dirty="0"/>
          </a:p>
        </p:txBody>
      </p:sp>
      <p:sp>
        <p:nvSpPr>
          <p:cNvPr id="18" name="Shape 16"/>
          <p:cNvSpPr/>
          <p:nvPr/>
        </p:nvSpPr>
        <p:spPr>
          <a:xfrm>
            <a:off x="9601200" y="1435608"/>
            <a:ext cx="2185416" cy="438912"/>
          </a:xfrm>
          <a:prstGeom prst="roundRect">
            <a:avLst>
              <a:gd name="adj" fmla="val 4167"/>
            </a:avLst>
          </a:prstGeom>
          <a:solidFill>
            <a:srgbClr val="E2F2EF"/>
          </a:solidFill>
          <a:ln w="7620">
            <a:solidFill>
              <a:srgbClr val="137F7A"/>
            </a:solidFill>
            <a:prstDash val="solid"/>
          </a:ln>
        </p:spPr>
      </p:sp>
      <p:sp>
        <p:nvSpPr>
          <p:cNvPr id="19" name="Text 17"/>
          <p:cNvSpPr txBox="1"/>
          <p:nvPr/>
        </p:nvSpPr>
        <p:spPr>
          <a:xfrm>
            <a:off x="9646920" y="1545336"/>
            <a:ext cx="2093976" cy="219456"/>
          </a:xfrm>
          <a:prstGeom prst="rect">
            <a:avLst/>
          </a:prstGeom>
          <a:noFill/>
          <a:ln/>
        </p:spPr>
        <p:txBody>
          <a:bodyPr wrap="square" lIns="0" tIns="0" rIns="0" bIns="0" rtlCol="0" anchor="ctr">
            <a:normAutofit/>
          </a:bodyPr>
          <a:lstStyle/>
          <a:p>
            <a:pPr algn="ctr" indent="0" marL="0">
              <a:lnSpc>
                <a:spcPct val="92000"/>
              </a:lnSpc>
              <a:buNone/>
            </a:pPr>
            <a:r>
              <a:rPr lang="en-US" sz="880" b="1" dirty="0">
                <a:solidFill>
                  <a:srgbClr val="0E5C59"/>
                </a:solidFill>
                <a:latin typeface="Hiragino Sans GB" pitchFamily="34" charset="0"/>
                <a:ea typeface="Hiragino Sans GB" pitchFamily="34" charset="-122"/>
                <a:cs typeface="Hiragino Sans GB" pitchFamily="34" charset="-120"/>
              </a:rPr>
              <a:t>可衡量价值</a:t>
            </a:r>
            <a:endParaRPr lang="en-US" sz="880" dirty="0"/>
          </a:p>
        </p:txBody>
      </p:sp>
      <p:sp>
        <p:nvSpPr>
          <p:cNvPr id="20" name="Shape 18"/>
          <p:cNvSpPr/>
          <p:nvPr/>
        </p:nvSpPr>
        <p:spPr>
          <a:xfrm>
            <a:off x="393192" y="1874520"/>
            <a:ext cx="1920240" cy="804672"/>
          </a:xfrm>
          <a:prstGeom prst="rect">
            <a:avLst/>
          </a:prstGeom>
          <a:solidFill>
            <a:srgbClr val="FFFFFF"/>
          </a:solidFill>
          <a:ln w="5715">
            <a:solidFill>
              <a:srgbClr val="D0DBD8"/>
            </a:solidFill>
            <a:prstDash val="solid"/>
          </a:ln>
        </p:spPr>
      </p:sp>
      <p:sp>
        <p:nvSpPr>
          <p:cNvPr id="21" name="Text 19"/>
          <p:cNvSpPr txBox="1"/>
          <p:nvPr/>
        </p:nvSpPr>
        <p:spPr>
          <a:xfrm>
            <a:off x="466344" y="1993392"/>
            <a:ext cx="1773936" cy="530352"/>
          </a:xfrm>
          <a:prstGeom prst="rect">
            <a:avLst/>
          </a:prstGeom>
          <a:noFill/>
          <a:ln/>
        </p:spPr>
        <p:txBody>
          <a:bodyPr wrap="square" lIns="0" tIns="0" rIns="0" bIns="0" rtlCol="0" anchor="t">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国土空间规划体检</a:t>
            </a:r>
            <a:endParaRPr lang="en-US" sz="840" dirty="0"/>
          </a:p>
        </p:txBody>
      </p:sp>
      <p:sp>
        <p:nvSpPr>
          <p:cNvPr id="22" name="Shape 20"/>
          <p:cNvSpPr/>
          <p:nvPr/>
        </p:nvSpPr>
        <p:spPr>
          <a:xfrm>
            <a:off x="2313432" y="1874520"/>
            <a:ext cx="2523744" cy="804672"/>
          </a:xfrm>
          <a:prstGeom prst="rect">
            <a:avLst/>
          </a:prstGeom>
          <a:solidFill>
            <a:srgbClr val="FFFFFF"/>
          </a:solidFill>
          <a:ln w="5715">
            <a:solidFill>
              <a:srgbClr val="D0DBD8"/>
            </a:solidFill>
            <a:prstDash val="solid"/>
          </a:ln>
        </p:spPr>
      </p:sp>
      <p:sp>
        <p:nvSpPr>
          <p:cNvPr id="23" name="Text 21"/>
          <p:cNvSpPr txBox="1"/>
          <p:nvPr/>
        </p:nvSpPr>
        <p:spPr>
          <a:xfrm>
            <a:off x="2386584" y="1993392"/>
            <a:ext cx="23774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规划版本、现状、监测指标、三区三线</a:t>
            </a:r>
            <a:endParaRPr lang="en-US" sz="720" dirty="0"/>
          </a:p>
        </p:txBody>
      </p:sp>
      <p:sp>
        <p:nvSpPr>
          <p:cNvPr id="24" name="Shape 22"/>
          <p:cNvSpPr/>
          <p:nvPr/>
        </p:nvSpPr>
        <p:spPr>
          <a:xfrm>
            <a:off x="4837176" y="1874520"/>
            <a:ext cx="2468880" cy="804672"/>
          </a:xfrm>
          <a:prstGeom prst="rect">
            <a:avLst/>
          </a:prstGeom>
          <a:solidFill>
            <a:srgbClr val="FFFFFF"/>
          </a:solidFill>
          <a:ln w="5715">
            <a:solidFill>
              <a:srgbClr val="D0DBD8"/>
            </a:solidFill>
            <a:prstDash val="solid"/>
          </a:ln>
        </p:spPr>
      </p:sp>
      <p:sp>
        <p:nvSpPr>
          <p:cNvPr id="25" name="Text 23"/>
          <p:cNvSpPr txBox="1"/>
          <p:nvPr/>
        </p:nvSpPr>
        <p:spPr>
          <a:xfrm>
            <a:off x="4910328" y="1993392"/>
            <a:ext cx="2322576"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延续 / 调整 / 纠偏 / 重点复核</a:t>
            </a:r>
            <a:endParaRPr lang="en-US" sz="720" dirty="0"/>
          </a:p>
        </p:txBody>
      </p:sp>
      <p:sp>
        <p:nvSpPr>
          <p:cNvPr id="26" name="Shape 24"/>
          <p:cNvSpPr/>
          <p:nvPr/>
        </p:nvSpPr>
        <p:spPr>
          <a:xfrm>
            <a:off x="7306056" y="1874520"/>
            <a:ext cx="2295144" cy="804672"/>
          </a:xfrm>
          <a:prstGeom prst="rect">
            <a:avLst/>
          </a:prstGeom>
          <a:solidFill>
            <a:srgbClr val="FFFFFF"/>
          </a:solidFill>
          <a:ln w="5715">
            <a:solidFill>
              <a:srgbClr val="D0DBD8"/>
            </a:solidFill>
            <a:prstDash val="solid"/>
          </a:ln>
        </p:spPr>
      </p:sp>
      <p:sp>
        <p:nvSpPr>
          <p:cNvPr id="27" name="Text 25"/>
          <p:cNvSpPr txBox="1"/>
          <p:nvPr/>
        </p:nvSpPr>
        <p:spPr>
          <a:xfrm>
            <a:off x="7379208" y="1993392"/>
            <a:ext cx="21488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偏离趋势、约束风险、受影响单元</a:t>
            </a:r>
            <a:endParaRPr lang="en-US" sz="720" dirty="0"/>
          </a:p>
        </p:txBody>
      </p:sp>
      <p:sp>
        <p:nvSpPr>
          <p:cNvPr id="28" name="Shape 26"/>
          <p:cNvSpPr/>
          <p:nvPr/>
        </p:nvSpPr>
        <p:spPr>
          <a:xfrm>
            <a:off x="9601200" y="1874520"/>
            <a:ext cx="2185416" cy="804672"/>
          </a:xfrm>
          <a:prstGeom prst="rect">
            <a:avLst/>
          </a:prstGeom>
          <a:solidFill>
            <a:srgbClr val="E7F3EA"/>
          </a:solidFill>
          <a:ln w="8255">
            <a:solidFill>
              <a:srgbClr val="2D8A57"/>
            </a:solidFill>
            <a:prstDash val="solid"/>
          </a:ln>
        </p:spPr>
      </p:sp>
      <p:sp>
        <p:nvSpPr>
          <p:cNvPr id="29" name="Text 27"/>
          <p:cNvSpPr txBox="1"/>
          <p:nvPr/>
        </p:nvSpPr>
        <p:spPr>
          <a:xfrm>
            <a:off x="9674352" y="1993392"/>
            <a:ext cx="2039112" cy="530352"/>
          </a:xfrm>
          <a:prstGeom prst="rect">
            <a:avLst/>
          </a:prstGeom>
          <a:noFill/>
          <a:ln/>
        </p:spPr>
        <p:txBody>
          <a:bodyPr wrap="square" lIns="0" tIns="0" rIns="0" bIns="0" rtlCol="0" anchor="t">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从年度汇总走向滚动诊断</a:t>
            </a:r>
            <a:endParaRPr lang="en-US" sz="720" dirty="0"/>
          </a:p>
        </p:txBody>
      </p:sp>
      <p:sp>
        <p:nvSpPr>
          <p:cNvPr id="30" name="Shape 28"/>
          <p:cNvSpPr/>
          <p:nvPr/>
        </p:nvSpPr>
        <p:spPr>
          <a:xfrm>
            <a:off x="393192" y="2679192"/>
            <a:ext cx="1920240" cy="804672"/>
          </a:xfrm>
          <a:prstGeom prst="rect">
            <a:avLst/>
          </a:prstGeom>
          <a:solidFill>
            <a:srgbClr val="EDF1F0"/>
          </a:solidFill>
          <a:ln w="5715">
            <a:solidFill>
              <a:srgbClr val="D0DBD8"/>
            </a:solidFill>
            <a:prstDash val="solid"/>
          </a:ln>
        </p:spPr>
      </p:sp>
      <p:sp>
        <p:nvSpPr>
          <p:cNvPr id="31" name="Text 29"/>
          <p:cNvSpPr txBox="1"/>
          <p:nvPr/>
        </p:nvSpPr>
        <p:spPr>
          <a:xfrm>
            <a:off x="466344" y="2798064"/>
            <a:ext cx="1773936" cy="530352"/>
          </a:xfrm>
          <a:prstGeom prst="rect">
            <a:avLst/>
          </a:prstGeom>
          <a:noFill/>
          <a:ln/>
        </p:spPr>
        <p:txBody>
          <a:bodyPr wrap="square" lIns="0" tIns="0" rIns="0" bIns="0" rtlCol="0" anchor="t">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建设项目用地预审</a:t>
            </a:r>
            <a:endParaRPr lang="en-US" sz="840" dirty="0"/>
          </a:p>
        </p:txBody>
      </p:sp>
      <p:sp>
        <p:nvSpPr>
          <p:cNvPr id="32" name="Shape 30"/>
          <p:cNvSpPr/>
          <p:nvPr/>
        </p:nvSpPr>
        <p:spPr>
          <a:xfrm>
            <a:off x="2313432" y="2679192"/>
            <a:ext cx="2523744" cy="804672"/>
          </a:xfrm>
          <a:prstGeom prst="rect">
            <a:avLst/>
          </a:prstGeom>
          <a:solidFill>
            <a:srgbClr val="EDF1F0"/>
          </a:solidFill>
          <a:ln w="5715">
            <a:solidFill>
              <a:srgbClr val="D0DBD8"/>
            </a:solidFill>
            <a:prstDash val="solid"/>
          </a:ln>
        </p:spPr>
      </p:sp>
      <p:sp>
        <p:nvSpPr>
          <p:cNvPr id="33" name="Text 31"/>
          <p:cNvSpPr txBox="1"/>
          <p:nvPr/>
        </p:nvSpPr>
        <p:spPr>
          <a:xfrm>
            <a:off x="2386584" y="2798064"/>
            <a:ext cx="23774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项目范围、用途、控制线、权属与规则</a:t>
            </a:r>
            <a:endParaRPr lang="en-US" sz="720" dirty="0"/>
          </a:p>
        </p:txBody>
      </p:sp>
      <p:sp>
        <p:nvSpPr>
          <p:cNvPr id="34" name="Shape 32"/>
          <p:cNvSpPr/>
          <p:nvPr/>
        </p:nvSpPr>
        <p:spPr>
          <a:xfrm>
            <a:off x="4837176" y="2679192"/>
            <a:ext cx="2468880" cy="804672"/>
          </a:xfrm>
          <a:prstGeom prst="rect">
            <a:avLst/>
          </a:prstGeom>
          <a:solidFill>
            <a:srgbClr val="EDF1F0"/>
          </a:solidFill>
          <a:ln w="5715">
            <a:solidFill>
              <a:srgbClr val="D0DBD8"/>
            </a:solidFill>
            <a:prstDash val="solid"/>
          </a:ln>
        </p:spPr>
      </p:sp>
      <p:sp>
        <p:nvSpPr>
          <p:cNvPr id="35" name="Text 33"/>
          <p:cNvSpPr txBox="1"/>
          <p:nvPr/>
        </p:nvSpPr>
        <p:spPr>
          <a:xfrm>
            <a:off x="4910328" y="2798064"/>
            <a:ext cx="2322576"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原案 / 缩减 / 移位 / 补正 / 退回</a:t>
            </a:r>
            <a:endParaRPr lang="en-US" sz="720" dirty="0"/>
          </a:p>
        </p:txBody>
      </p:sp>
      <p:sp>
        <p:nvSpPr>
          <p:cNvPr id="36" name="Shape 34"/>
          <p:cNvSpPr/>
          <p:nvPr/>
        </p:nvSpPr>
        <p:spPr>
          <a:xfrm>
            <a:off x="7306056" y="2679192"/>
            <a:ext cx="2295144" cy="804672"/>
          </a:xfrm>
          <a:prstGeom prst="rect">
            <a:avLst/>
          </a:prstGeom>
          <a:solidFill>
            <a:srgbClr val="EDF1F0"/>
          </a:solidFill>
          <a:ln w="5715">
            <a:solidFill>
              <a:srgbClr val="D0DBD8"/>
            </a:solidFill>
            <a:prstDash val="solid"/>
          </a:ln>
        </p:spPr>
      </p:sp>
      <p:sp>
        <p:nvSpPr>
          <p:cNvPr id="37" name="Text 35"/>
          <p:cNvSpPr txBox="1"/>
          <p:nvPr/>
        </p:nvSpPr>
        <p:spPr>
          <a:xfrm>
            <a:off x="7379208" y="2798064"/>
            <a:ext cx="21488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硬阻断、替代方案、证据缺口</a:t>
            </a:r>
            <a:endParaRPr lang="en-US" sz="720" dirty="0"/>
          </a:p>
        </p:txBody>
      </p:sp>
      <p:sp>
        <p:nvSpPr>
          <p:cNvPr id="38" name="Shape 36"/>
          <p:cNvSpPr/>
          <p:nvPr/>
        </p:nvSpPr>
        <p:spPr>
          <a:xfrm>
            <a:off x="9601200" y="2679192"/>
            <a:ext cx="2185416" cy="804672"/>
          </a:xfrm>
          <a:prstGeom prst="rect">
            <a:avLst/>
          </a:prstGeom>
          <a:solidFill>
            <a:srgbClr val="F2F8F3"/>
          </a:solidFill>
          <a:ln w="8255">
            <a:solidFill>
              <a:srgbClr val="2D8A57"/>
            </a:solidFill>
            <a:prstDash val="solid"/>
          </a:ln>
        </p:spPr>
      </p:sp>
      <p:sp>
        <p:nvSpPr>
          <p:cNvPr id="39" name="Text 37"/>
          <p:cNvSpPr txBox="1"/>
          <p:nvPr/>
        </p:nvSpPr>
        <p:spPr>
          <a:xfrm>
            <a:off x="9674352" y="2798064"/>
            <a:ext cx="2039112" cy="530352"/>
          </a:xfrm>
          <a:prstGeom prst="rect">
            <a:avLst/>
          </a:prstGeom>
          <a:noFill/>
          <a:ln/>
        </p:spPr>
        <p:txBody>
          <a:bodyPr wrap="square" lIns="0" tIns="0" rIns="0" bIns="0" rtlCol="0" anchor="t">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减少反复叠加与无效往返</a:t>
            </a:r>
            <a:endParaRPr lang="en-US" sz="720" dirty="0"/>
          </a:p>
        </p:txBody>
      </p:sp>
      <p:sp>
        <p:nvSpPr>
          <p:cNvPr id="40" name="Shape 38"/>
          <p:cNvSpPr/>
          <p:nvPr/>
        </p:nvSpPr>
        <p:spPr>
          <a:xfrm>
            <a:off x="393192" y="3483864"/>
            <a:ext cx="1920240" cy="804672"/>
          </a:xfrm>
          <a:prstGeom prst="rect">
            <a:avLst/>
          </a:prstGeom>
          <a:solidFill>
            <a:srgbClr val="FFFFFF"/>
          </a:solidFill>
          <a:ln w="5715">
            <a:solidFill>
              <a:srgbClr val="D0DBD8"/>
            </a:solidFill>
            <a:prstDash val="solid"/>
          </a:ln>
        </p:spPr>
      </p:sp>
      <p:sp>
        <p:nvSpPr>
          <p:cNvPr id="41" name="Text 39"/>
          <p:cNvSpPr txBox="1"/>
          <p:nvPr/>
        </p:nvSpPr>
        <p:spPr>
          <a:xfrm>
            <a:off x="466344" y="3602736"/>
            <a:ext cx="1773936" cy="530352"/>
          </a:xfrm>
          <a:prstGeom prst="rect">
            <a:avLst/>
          </a:prstGeom>
          <a:noFill/>
          <a:ln/>
        </p:spPr>
        <p:txBody>
          <a:bodyPr wrap="square" lIns="0" tIns="0" rIns="0" bIns="0" rtlCol="0" anchor="t">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耕地保护与土地整治</a:t>
            </a:r>
            <a:endParaRPr lang="en-US" sz="840" dirty="0"/>
          </a:p>
        </p:txBody>
      </p:sp>
      <p:sp>
        <p:nvSpPr>
          <p:cNvPr id="42" name="Shape 40"/>
          <p:cNvSpPr/>
          <p:nvPr/>
        </p:nvSpPr>
        <p:spPr>
          <a:xfrm>
            <a:off x="2313432" y="3483864"/>
            <a:ext cx="2523744" cy="804672"/>
          </a:xfrm>
          <a:prstGeom prst="rect">
            <a:avLst/>
          </a:prstGeom>
          <a:solidFill>
            <a:srgbClr val="FFFFFF"/>
          </a:solidFill>
          <a:ln w="5715">
            <a:solidFill>
              <a:srgbClr val="D0DBD8"/>
            </a:solidFill>
            <a:prstDash val="solid"/>
          </a:ln>
        </p:spPr>
      </p:sp>
      <p:sp>
        <p:nvSpPr>
          <p:cNvPr id="43" name="Text 41"/>
          <p:cNvSpPr txBox="1"/>
          <p:nvPr/>
        </p:nvSpPr>
        <p:spPr>
          <a:xfrm>
            <a:off x="2386584" y="3602736"/>
            <a:ext cx="23774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DLTB、坡度、连片、产能、行政单元</a:t>
            </a:r>
            <a:endParaRPr lang="en-US" sz="720" dirty="0"/>
          </a:p>
        </p:txBody>
      </p:sp>
      <p:sp>
        <p:nvSpPr>
          <p:cNvPr id="44" name="Shape 42"/>
          <p:cNvSpPr/>
          <p:nvPr/>
        </p:nvSpPr>
        <p:spPr>
          <a:xfrm>
            <a:off x="4837176" y="3483864"/>
            <a:ext cx="2468880" cy="804672"/>
          </a:xfrm>
          <a:prstGeom prst="rect">
            <a:avLst/>
          </a:prstGeom>
          <a:solidFill>
            <a:srgbClr val="FFFFFF"/>
          </a:solidFill>
          <a:ln w="5715">
            <a:solidFill>
              <a:srgbClr val="D0DBD8"/>
            </a:solidFill>
            <a:prstDash val="solid"/>
          </a:ln>
        </p:spPr>
      </p:sp>
      <p:sp>
        <p:nvSpPr>
          <p:cNvPr id="45" name="Text 43"/>
          <p:cNvSpPr txBox="1"/>
          <p:nvPr/>
        </p:nvSpPr>
        <p:spPr>
          <a:xfrm>
            <a:off x="4910328" y="3602736"/>
            <a:ext cx="2322576"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置换 / 整治 / 恢复 / 保护</a:t>
            </a:r>
            <a:endParaRPr lang="en-US" sz="720" dirty="0"/>
          </a:p>
        </p:txBody>
      </p:sp>
      <p:sp>
        <p:nvSpPr>
          <p:cNvPr id="46" name="Shape 44"/>
          <p:cNvSpPr/>
          <p:nvPr/>
        </p:nvSpPr>
        <p:spPr>
          <a:xfrm>
            <a:off x="7306056" y="3483864"/>
            <a:ext cx="2295144" cy="804672"/>
          </a:xfrm>
          <a:prstGeom prst="rect">
            <a:avLst/>
          </a:prstGeom>
          <a:solidFill>
            <a:srgbClr val="FFFFFF"/>
          </a:solidFill>
          <a:ln w="5715">
            <a:solidFill>
              <a:srgbClr val="D0DBD8"/>
            </a:solidFill>
            <a:prstDash val="solid"/>
          </a:ln>
        </p:spPr>
      </p:sp>
      <p:sp>
        <p:nvSpPr>
          <p:cNvPr id="47" name="Text 45"/>
          <p:cNvSpPr txBox="1"/>
          <p:nvPr/>
        </p:nvSpPr>
        <p:spPr>
          <a:xfrm>
            <a:off x="7379208" y="3602736"/>
            <a:ext cx="21488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可行布局、指标变化、硬门槛</a:t>
            </a:r>
            <a:endParaRPr lang="en-US" sz="720" dirty="0"/>
          </a:p>
        </p:txBody>
      </p:sp>
      <p:sp>
        <p:nvSpPr>
          <p:cNvPr id="48" name="Shape 46"/>
          <p:cNvSpPr/>
          <p:nvPr/>
        </p:nvSpPr>
        <p:spPr>
          <a:xfrm>
            <a:off x="9601200" y="3483864"/>
            <a:ext cx="2185416" cy="804672"/>
          </a:xfrm>
          <a:prstGeom prst="rect">
            <a:avLst/>
          </a:prstGeom>
          <a:solidFill>
            <a:srgbClr val="E7F3EA"/>
          </a:solidFill>
          <a:ln w="8255">
            <a:solidFill>
              <a:srgbClr val="2D8A57"/>
            </a:solidFill>
            <a:prstDash val="solid"/>
          </a:ln>
        </p:spPr>
      </p:sp>
      <p:sp>
        <p:nvSpPr>
          <p:cNvPr id="49" name="Text 47"/>
          <p:cNvSpPr txBox="1"/>
          <p:nvPr/>
        </p:nvSpPr>
        <p:spPr>
          <a:xfrm>
            <a:off x="9674352" y="3602736"/>
            <a:ext cx="2039112" cy="530352"/>
          </a:xfrm>
          <a:prstGeom prst="rect">
            <a:avLst/>
          </a:prstGeom>
          <a:noFill/>
          <a:ln/>
        </p:spPr>
        <p:txBody>
          <a:bodyPr wrap="square" lIns="0" tIns="0" rIns="0" bIns="0" rtlCol="0" anchor="t">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从单目标评分走向约束方案集</a:t>
            </a:r>
            <a:endParaRPr lang="en-US" sz="720" dirty="0"/>
          </a:p>
        </p:txBody>
      </p:sp>
      <p:sp>
        <p:nvSpPr>
          <p:cNvPr id="50" name="Shape 48"/>
          <p:cNvSpPr/>
          <p:nvPr/>
        </p:nvSpPr>
        <p:spPr>
          <a:xfrm>
            <a:off x="393192" y="4288536"/>
            <a:ext cx="1920240" cy="804672"/>
          </a:xfrm>
          <a:prstGeom prst="rect">
            <a:avLst/>
          </a:prstGeom>
          <a:solidFill>
            <a:srgbClr val="EDF1F0"/>
          </a:solidFill>
          <a:ln w="5715">
            <a:solidFill>
              <a:srgbClr val="D0DBD8"/>
            </a:solidFill>
            <a:prstDash val="solid"/>
          </a:ln>
        </p:spPr>
      </p:sp>
      <p:sp>
        <p:nvSpPr>
          <p:cNvPr id="51" name="Text 49"/>
          <p:cNvSpPr txBox="1"/>
          <p:nvPr/>
        </p:nvSpPr>
        <p:spPr>
          <a:xfrm>
            <a:off x="466344" y="4407408"/>
            <a:ext cx="1773936" cy="530352"/>
          </a:xfrm>
          <a:prstGeom prst="rect">
            <a:avLst/>
          </a:prstGeom>
          <a:noFill/>
          <a:ln/>
        </p:spPr>
        <p:txBody>
          <a:bodyPr wrap="square" lIns="0" tIns="0" rIns="0" bIns="0" rtlCol="0" anchor="t">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执法督察与变化处置</a:t>
            </a:r>
            <a:endParaRPr lang="en-US" sz="840" dirty="0"/>
          </a:p>
        </p:txBody>
      </p:sp>
      <p:sp>
        <p:nvSpPr>
          <p:cNvPr id="52" name="Shape 50"/>
          <p:cNvSpPr/>
          <p:nvPr/>
        </p:nvSpPr>
        <p:spPr>
          <a:xfrm>
            <a:off x="2313432" y="4288536"/>
            <a:ext cx="2523744" cy="804672"/>
          </a:xfrm>
          <a:prstGeom prst="rect">
            <a:avLst/>
          </a:prstGeom>
          <a:solidFill>
            <a:srgbClr val="EDF1F0"/>
          </a:solidFill>
          <a:ln w="5715">
            <a:solidFill>
              <a:srgbClr val="D0DBD8"/>
            </a:solidFill>
            <a:prstDash val="solid"/>
          </a:ln>
        </p:spPr>
      </p:sp>
      <p:sp>
        <p:nvSpPr>
          <p:cNvPr id="53" name="Text 51"/>
          <p:cNvSpPr txBox="1"/>
          <p:nvPr/>
        </p:nvSpPr>
        <p:spPr>
          <a:xfrm>
            <a:off x="2386584" y="4407408"/>
            <a:ext cx="23774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遥感变化、审批、巡查、历史处置</a:t>
            </a:r>
            <a:endParaRPr lang="en-US" sz="720" dirty="0"/>
          </a:p>
        </p:txBody>
      </p:sp>
      <p:sp>
        <p:nvSpPr>
          <p:cNvPr id="54" name="Shape 52"/>
          <p:cNvSpPr/>
          <p:nvPr/>
        </p:nvSpPr>
        <p:spPr>
          <a:xfrm>
            <a:off x="4837176" y="4288536"/>
            <a:ext cx="2468880" cy="804672"/>
          </a:xfrm>
          <a:prstGeom prst="rect">
            <a:avLst/>
          </a:prstGeom>
          <a:solidFill>
            <a:srgbClr val="EDF1F0"/>
          </a:solidFill>
          <a:ln w="5715">
            <a:solidFill>
              <a:srgbClr val="D0DBD8"/>
            </a:solidFill>
            <a:prstDash val="solid"/>
          </a:ln>
        </p:spPr>
      </p:sp>
      <p:sp>
        <p:nvSpPr>
          <p:cNvPr id="55" name="Text 53"/>
          <p:cNvSpPr txBox="1"/>
          <p:nvPr/>
        </p:nvSpPr>
        <p:spPr>
          <a:xfrm>
            <a:off x="4910328" y="4407408"/>
            <a:ext cx="2322576"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核查 / 整改 / 恢复 / 持续监测</a:t>
            </a:r>
            <a:endParaRPr lang="en-US" sz="720" dirty="0"/>
          </a:p>
        </p:txBody>
      </p:sp>
      <p:sp>
        <p:nvSpPr>
          <p:cNvPr id="56" name="Shape 54"/>
          <p:cNvSpPr/>
          <p:nvPr/>
        </p:nvSpPr>
        <p:spPr>
          <a:xfrm>
            <a:off x="7306056" y="4288536"/>
            <a:ext cx="2295144" cy="804672"/>
          </a:xfrm>
          <a:prstGeom prst="rect">
            <a:avLst/>
          </a:prstGeom>
          <a:solidFill>
            <a:srgbClr val="EDF1F0"/>
          </a:solidFill>
          <a:ln w="5715">
            <a:solidFill>
              <a:srgbClr val="D0DBD8"/>
            </a:solidFill>
            <a:prstDash val="solid"/>
          </a:ln>
        </p:spPr>
      </p:sp>
      <p:sp>
        <p:nvSpPr>
          <p:cNvPr id="57" name="Text 55"/>
          <p:cNvSpPr txBox="1"/>
          <p:nvPr/>
        </p:nvSpPr>
        <p:spPr>
          <a:xfrm>
            <a:off x="7379208" y="4407408"/>
            <a:ext cx="21488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风险排序、扩散轨迹、复核任务</a:t>
            </a:r>
            <a:endParaRPr lang="en-US" sz="720" dirty="0"/>
          </a:p>
        </p:txBody>
      </p:sp>
      <p:sp>
        <p:nvSpPr>
          <p:cNvPr id="58" name="Shape 56"/>
          <p:cNvSpPr/>
          <p:nvPr/>
        </p:nvSpPr>
        <p:spPr>
          <a:xfrm>
            <a:off x="9601200" y="4288536"/>
            <a:ext cx="2185416" cy="804672"/>
          </a:xfrm>
          <a:prstGeom prst="rect">
            <a:avLst/>
          </a:prstGeom>
          <a:solidFill>
            <a:srgbClr val="F2F8F3"/>
          </a:solidFill>
          <a:ln w="8255">
            <a:solidFill>
              <a:srgbClr val="2D8A57"/>
            </a:solidFill>
            <a:prstDash val="solid"/>
          </a:ln>
        </p:spPr>
      </p:sp>
      <p:sp>
        <p:nvSpPr>
          <p:cNvPr id="59" name="Text 57"/>
          <p:cNvSpPr txBox="1"/>
          <p:nvPr/>
        </p:nvSpPr>
        <p:spPr>
          <a:xfrm>
            <a:off x="9674352" y="4407408"/>
            <a:ext cx="2039112" cy="530352"/>
          </a:xfrm>
          <a:prstGeom prst="rect">
            <a:avLst/>
          </a:prstGeom>
          <a:noFill/>
          <a:ln/>
        </p:spPr>
        <p:txBody>
          <a:bodyPr wrap="square" lIns="0" tIns="0" rIns="0" bIns="0" rtlCol="0" anchor="t">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把有限核查力量投向高风险对象</a:t>
            </a:r>
            <a:endParaRPr lang="en-US" sz="720" dirty="0"/>
          </a:p>
        </p:txBody>
      </p:sp>
      <p:sp>
        <p:nvSpPr>
          <p:cNvPr id="60" name="Shape 58"/>
          <p:cNvSpPr/>
          <p:nvPr/>
        </p:nvSpPr>
        <p:spPr>
          <a:xfrm>
            <a:off x="393192" y="5093208"/>
            <a:ext cx="1920240" cy="804672"/>
          </a:xfrm>
          <a:prstGeom prst="rect">
            <a:avLst/>
          </a:prstGeom>
          <a:solidFill>
            <a:srgbClr val="FFFFFF"/>
          </a:solidFill>
          <a:ln w="5715">
            <a:solidFill>
              <a:srgbClr val="D0DBD8"/>
            </a:solidFill>
            <a:prstDash val="solid"/>
          </a:ln>
        </p:spPr>
      </p:sp>
      <p:sp>
        <p:nvSpPr>
          <p:cNvPr id="61" name="Text 59"/>
          <p:cNvSpPr txBox="1"/>
          <p:nvPr/>
        </p:nvSpPr>
        <p:spPr>
          <a:xfrm>
            <a:off x="466344" y="5212080"/>
            <a:ext cx="1773936" cy="530352"/>
          </a:xfrm>
          <a:prstGeom prst="rect">
            <a:avLst/>
          </a:prstGeom>
          <a:noFill/>
          <a:ln/>
        </p:spPr>
        <p:txBody>
          <a:bodyPr wrap="square" lIns="0" tIns="0" rIns="0" bIns="0" rtlCol="0" anchor="t">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生态保护修复</a:t>
            </a:r>
            <a:endParaRPr lang="en-US" sz="840" dirty="0"/>
          </a:p>
        </p:txBody>
      </p:sp>
      <p:sp>
        <p:nvSpPr>
          <p:cNvPr id="62" name="Shape 60"/>
          <p:cNvSpPr/>
          <p:nvPr/>
        </p:nvSpPr>
        <p:spPr>
          <a:xfrm>
            <a:off x="2313432" y="5093208"/>
            <a:ext cx="2523744" cy="804672"/>
          </a:xfrm>
          <a:prstGeom prst="rect">
            <a:avLst/>
          </a:prstGeom>
          <a:solidFill>
            <a:srgbClr val="FFFFFF"/>
          </a:solidFill>
          <a:ln w="5715">
            <a:solidFill>
              <a:srgbClr val="D0DBD8"/>
            </a:solidFill>
            <a:prstDash val="solid"/>
          </a:ln>
        </p:spPr>
      </p:sp>
      <p:sp>
        <p:nvSpPr>
          <p:cNvPr id="63" name="Text 61"/>
          <p:cNvSpPr txBox="1"/>
          <p:nvPr/>
        </p:nvSpPr>
        <p:spPr>
          <a:xfrm>
            <a:off x="2386584" y="5212080"/>
            <a:ext cx="23774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生态红线、连通性、退化、项目与资金</a:t>
            </a:r>
            <a:endParaRPr lang="en-US" sz="720" dirty="0"/>
          </a:p>
        </p:txBody>
      </p:sp>
      <p:sp>
        <p:nvSpPr>
          <p:cNvPr id="64" name="Shape 62"/>
          <p:cNvSpPr/>
          <p:nvPr/>
        </p:nvSpPr>
        <p:spPr>
          <a:xfrm>
            <a:off x="4837176" y="5093208"/>
            <a:ext cx="2468880" cy="804672"/>
          </a:xfrm>
          <a:prstGeom prst="rect">
            <a:avLst/>
          </a:prstGeom>
          <a:solidFill>
            <a:srgbClr val="FFFFFF"/>
          </a:solidFill>
          <a:ln w="5715">
            <a:solidFill>
              <a:srgbClr val="D0DBD8"/>
            </a:solidFill>
            <a:prstDash val="solid"/>
          </a:ln>
        </p:spPr>
      </p:sp>
      <p:sp>
        <p:nvSpPr>
          <p:cNvPr id="65" name="Text 63"/>
          <p:cNvSpPr txBox="1"/>
          <p:nvPr/>
        </p:nvSpPr>
        <p:spPr>
          <a:xfrm>
            <a:off x="4910328" y="5212080"/>
            <a:ext cx="2322576"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保护 / 修复 / 开发限制 / 时序安排</a:t>
            </a:r>
            <a:endParaRPr lang="en-US" sz="720" dirty="0"/>
          </a:p>
        </p:txBody>
      </p:sp>
      <p:sp>
        <p:nvSpPr>
          <p:cNvPr id="66" name="Shape 64"/>
          <p:cNvSpPr/>
          <p:nvPr/>
        </p:nvSpPr>
        <p:spPr>
          <a:xfrm>
            <a:off x="7306056" y="5093208"/>
            <a:ext cx="2295144" cy="804672"/>
          </a:xfrm>
          <a:prstGeom prst="rect">
            <a:avLst/>
          </a:prstGeom>
          <a:solidFill>
            <a:srgbClr val="FFFFFF"/>
          </a:solidFill>
          <a:ln w="5715">
            <a:solidFill>
              <a:srgbClr val="D0DBD8"/>
            </a:solidFill>
            <a:prstDash val="solid"/>
          </a:ln>
        </p:spPr>
      </p:sp>
      <p:sp>
        <p:nvSpPr>
          <p:cNvPr id="67" name="Text 65"/>
          <p:cNvSpPr txBox="1"/>
          <p:nvPr/>
        </p:nvSpPr>
        <p:spPr>
          <a:xfrm>
            <a:off x="7379208" y="5212080"/>
            <a:ext cx="2148840" cy="530352"/>
          </a:xfrm>
          <a:prstGeom prst="rect">
            <a:avLst/>
          </a:prstGeom>
          <a:noFill/>
          <a:ln/>
        </p:spPr>
        <p:txBody>
          <a:bodyPr wrap="square" lIns="0" tIns="0" rIns="0" bIns="0" rtlCol="0" anchor="t">
            <a:normAutofit/>
          </a:bodyPr>
          <a:lstStyle/>
          <a:p>
            <a:pPr algn="ctr" indent="0" marL="0">
              <a:lnSpc>
                <a:spcPct val="92000"/>
              </a:lnSpc>
              <a:buNone/>
            </a:pPr>
            <a:r>
              <a:rPr lang="en-US" sz="720" dirty="0">
                <a:solidFill>
                  <a:srgbClr val="32474D"/>
                </a:solidFill>
                <a:latin typeface="Hiragino Sans GB" pitchFamily="34" charset="0"/>
                <a:ea typeface="Hiragino Sans GB" pitchFamily="34" charset="-122"/>
                <a:cs typeface="Hiragino Sans GB" pitchFamily="34" charset="-120"/>
              </a:rPr>
              <a:t>生态收益、冲突、外溢与不确定性</a:t>
            </a:r>
            <a:endParaRPr lang="en-US" sz="720" dirty="0"/>
          </a:p>
        </p:txBody>
      </p:sp>
      <p:sp>
        <p:nvSpPr>
          <p:cNvPr id="68" name="Shape 66"/>
          <p:cNvSpPr/>
          <p:nvPr/>
        </p:nvSpPr>
        <p:spPr>
          <a:xfrm>
            <a:off x="9601200" y="5093208"/>
            <a:ext cx="2185416" cy="804672"/>
          </a:xfrm>
          <a:prstGeom prst="rect">
            <a:avLst/>
          </a:prstGeom>
          <a:solidFill>
            <a:srgbClr val="E7F3EA"/>
          </a:solidFill>
          <a:ln w="8255">
            <a:solidFill>
              <a:srgbClr val="2D8A57"/>
            </a:solidFill>
            <a:prstDash val="solid"/>
          </a:ln>
        </p:spPr>
      </p:sp>
      <p:sp>
        <p:nvSpPr>
          <p:cNvPr id="69" name="Text 67"/>
          <p:cNvSpPr txBox="1"/>
          <p:nvPr/>
        </p:nvSpPr>
        <p:spPr>
          <a:xfrm>
            <a:off x="9674352" y="5212080"/>
            <a:ext cx="2039112" cy="530352"/>
          </a:xfrm>
          <a:prstGeom prst="rect">
            <a:avLst/>
          </a:prstGeom>
          <a:noFill/>
          <a:ln/>
        </p:spPr>
        <p:txBody>
          <a:bodyPr wrap="square" lIns="0" tIns="0" rIns="0" bIns="0" rtlCol="0" anchor="t">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比较多期组合而非只列项目库</a:t>
            </a:r>
            <a:endParaRPr lang="en-US" sz="720" dirty="0"/>
          </a:p>
        </p:txBody>
      </p:sp>
      <p:sp>
        <p:nvSpPr>
          <p:cNvPr id="70" name="Shape 68"/>
          <p:cNvSpPr/>
          <p:nvPr/>
        </p:nvSpPr>
        <p:spPr>
          <a:xfrm>
            <a:off x="658368" y="5998464"/>
            <a:ext cx="10853928" cy="301752"/>
          </a:xfrm>
          <a:prstGeom prst="roundRect">
            <a:avLst>
              <a:gd name="adj" fmla="val 12121"/>
            </a:avLst>
          </a:prstGeom>
          <a:solidFill>
            <a:srgbClr val="FFF3D9"/>
          </a:solidFill>
          <a:ln w="8890">
            <a:solidFill>
              <a:srgbClr val="B17B20"/>
            </a:solidFill>
            <a:prstDash val="solid"/>
          </a:ln>
        </p:spPr>
      </p:sp>
      <p:sp>
        <p:nvSpPr>
          <p:cNvPr id="71" name="Text 69"/>
          <p:cNvSpPr txBox="1"/>
          <p:nvPr/>
        </p:nvSpPr>
        <p:spPr>
          <a:xfrm>
            <a:off x="877824" y="6062472"/>
            <a:ext cx="10415016" cy="164592"/>
          </a:xfrm>
          <a:prstGeom prst="rect">
            <a:avLst/>
          </a:prstGeom>
          <a:noFill/>
          <a:ln/>
        </p:spPr>
        <p:txBody>
          <a:bodyPr wrap="square" lIns="0" tIns="0" rIns="0" bIns="0" rtlCol="0" anchor="ctr">
            <a:normAutofit/>
          </a:bodyPr>
          <a:lstStyle/>
          <a:p>
            <a:pPr algn="ctr" indent="0" marL="0">
              <a:lnSpc>
                <a:spcPct val="92000"/>
              </a:lnSpc>
              <a:buNone/>
            </a:pPr>
            <a:r>
              <a:rPr lang="en-US" sz="840" b="1" dirty="0">
                <a:solidFill>
                  <a:srgbClr val="17252A"/>
                </a:solidFill>
                <a:latin typeface="Hiragino Sans GB" pitchFamily="34" charset="0"/>
                <a:ea typeface="Hiragino Sans GB" pitchFamily="34" charset="-122"/>
                <a:cs typeface="Hiragino Sans GB" pitchFamily="34" charset="-120"/>
              </a:rPr>
              <a:t>责任边界：模型生成候选与证据任务，业务人员确认规则解释、材料真实性、裁量事项和最终行政决定。</a:t>
            </a:r>
            <a:endParaRPr lang="en-US" sz="8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场景一</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建设项目用地预审：可审查替代方案生成与比选</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在统一界面比较原方案、调整方案、风险变化、证据缺口和人工复核任务，最终行政决定仍由业务人员作出。</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场景设计依据：TWM object-relation-rule-evidence state；action-conditioned rollout；evidence gate；用途管制与三区三线业务语义</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24 / 29</a:t>
            </a:r>
            <a:endParaRPr lang="en-US" sz="670" dirty="0"/>
          </a:p>
        </p:txBody>
      </p:sp>
      <p:sp>
        <p:nvSpPr>
          <p:cNvPr id="10" name="Text 8"/>
          <p:cNvSpPr txBox="1"/>
          <p:nvPr/>
        </p:nvSpPr>
        <p:spPr>
          <a:xfrm>
            <a:off x="585216" y="1481328"/>
            <a:ext cx="2212848" cy="274320"/>
          </a:xfrm>
          <a:prstGeom prst="rect">
            <a:avLst/>
          </a:prstGeom>
          <a:noFill/>
          <a:ln/>
        </p:spPr>
        <p:txBody>
          <a:bodyPr wrap="square" lIns="0" tIns="0" rIns="0" bIns="0" rtlCol="0" anchor="ctr">
            <a:normAutofit/>
          </a:bodyPr>
          <a:lstStyle/>
          <a:p>
            <a:pPr algn="l" indent="0" marL="0">
              <a:lnSpc>
                <a:spcPct val="92000"/>
              </a:lnSpc>
              <a:buNone/>
            </a:pPr>
            <a:r>
              <a:rPr lang="en-US" sz="1330" b="1" dirty="0">
                <a:solidFill>
                  <a:srgbClr val="17252A"/>
                </a:solidFill>
                <a:latin typeface="Hiragino Sans GB" pitchFamily="34" charset="0"/>
                <a:ea typeface="Hiragino Sans GB" pitchFamily="34" charset="-122"/>
                <a:cs typeface="Hiragino Sans GB" pitchFamily="34" charset="-120"/>
              </a:rPr>
              <a:t>当前常见工作方式</a:t>
            </a:r>
            <a:endParaRPr lang="en-US" sz="1330" dirty="0"/>
          </a:p>
        </p:txBody>
      </p:sp>
      <p:sp>
        <p:nvSpPr>
          <p:cNvPr id="11" name="Shape 9"/>
          <p:cNvSpPr/>
          <p:nvPr/>
        </p:nvSpPr>
        <p:spPr>
          <a:xfrm>
            <a:off x="585216" y="1865376"/>
            <a:ext cx="2542032" cy="3648456"/>
          </a:xfrm>
          <a:prstGeom prst="roundRect">
            <a:avLst>
              <a:gd name="adj" fmla="val 2158"/>
            </a:avLst>
          </a:prstGeom>
          <a:solidFill>
            <a:srgbClr val="FFFFFF"/>
          </a:solidFill>
          <a:ln w="10160">
            <a:solidFill>
              <a:srgbClr val="D0DBD8"/>
            </a:solidFill>
            <a:prstDash val="solid"/>
          </a:ln>
        </p:spPr>
      </p:sp>
      <p:sp>
        <p:nvSpPr>
          <p:cNvPr id="12" name="Shape 10"/>
          <p:cNvSpPr/>
          <p:nvPr/>
        </p:nvSpPr>
        <p:spPr>
          <a:xfrm>
            <a:off x="841248" y="2308860"/>
            <a:ext cx="64008" cy="64008"/>
          </a:xfrm>
          <a:prstGeom prst="ellipse">
            <a:avLst/>
          </a:prstGeom>
          <a:solidFill>
            <a:srgbClr val="6C7C80"/>
          </a:solidFill>
          <a:ln w="8890">
            <a:solidFill>
              <a:srgbClr val="6C7C80"/>
            </a:solidFill>
            <a:prstDash val="solid"/>
          </a:ln>
        </p:spPr>
      </p:sp>
      <p:sp>
        <p:nvSpPr>
          <p:cNvPr id="13" name="Text 11"/>
          <p:cNvSpPr txBox="1"/>
          <p:nvPr/>
        </p:nvSpPr>
        <p:spPr>
          <a:xfrm>
            <a:off x="978408" y="2212848"/>
            <a:ext cx="1911096" cy="356616"/>
          </a:xfrm>
          <a:prstGeom prst="rect">
            <a:avLst/>
          </a:prstGeom>
          <a:noFill/>
          <a:ln/>
        </p:spPr>
        <p:txBody>
          <a:bodyPr wrap="square" lIns="0" tIns="0" rIns="0" bIns="0" rtlCol="0" anchor="t">
            <a:normAutofit/>
          </a:bodyPr>
          <a:lstStyle/>
          <a:p>
            <a:pPr algn="l" indent="0" marL="0">
              <a:lnSpc>
                <a:spcPct val="90000"/>
              </a:lnSpc>
              <a:buNone/>
            </a:pPr>
            <a:r>
              <a:rPr lang="en-US" sz="880" dirty="0">
                <a:solidFill>
                  <a:srgbClr val="32474D"/>
                </a:solidFill>
                <a:latin typeface="Hiragino Sans GB" pitchFamily="34" charset="0"/>
                <a:ea typeface="Hiragino Sans GB" pitchFamily="34" charset="-122"/>
                <a:cs typeface="Hiragino Sans GB" pitchFamily="34" charset="-120"/>
              </a:rPr>
              <a:t>项目红线叠加控制线</a:t>
            </a:r>
            <a:endParaRPr lang="en-US" sz="880" dirty="0"/>
          </a:p>
        </p:txBody>
      </p:sp>
      <p:sp>
        <p:nvSpPr>
          <p:cNvPr id="14" name="Shape 12"/>
          <p:cNvSpPr/>
          <p:nvPr/>
        </p:nvSpPr>
        <p:spPr>
          <a:xfrm>
            <a:off x="841248" y="2857500"/>
            <a:ext cx="64008" cy="64008"/>
          </a:xfrm>
          <a:prstGeom prst="ellipse">
            <a:avLst/>
          </a:prstGeom>
          <a:solidFill>
            <a:srgbClr val="6C7C80"/>
          </a:solidFill>
          <a:ln w="8890">
            <a:solidFill>
              <a:srgbClr val="6C7C80"/>
            </a:solidFill>
            <a:prstDash val="solid"/>
          </a:ln>
        </p:spPr>
      </p:sp>
      <p:sp>
        <p:nvSpPr>
          <p:cNvPr id="15" name="Text 13"/>
          <p:cNvSpPr txBox="1"/>
          <p:nvPr/>
        </p:nvSpPr>
        <p:spPr>
          <a:xfrm>
            <a:off x="978408" y="2761488"/>
            <a:ext cx="1911096" cy="356616"/>
          </a:xfrm>
          <a:prstGeom prst="rect">
            <a:avLst/>
          </a:prstGeom>
          <a:noFill/>
          <a:ln/>
        </p:spPr>
        <p:txBody>
          <a:bodyPr wrap="square" lIns="0" tIns="0" rIns="0" bIns="0" rtlCol="0" anchor="t">
            <a:normAutofit/>
          </a:bodyPr>
          <a:lstStyle/>
          <a:p>
            <a:pPr algn="l" indent="0" marL="0">
              <a:lnSpc>
                <a:spcPct val="90000"/>
              </a:lnSpc>
              <a:buNone/>
            </a:pPr>
            <a:r>
              <a:rPr lang="en-US" sz="880" dirty="0">
                <a:solidFill>
                  <a:srgbClr val="32474D"/>
                </a:solidFill>
                <a:latin typeface="Hiragino Sans GB" pitchFamily="34" charset="0"/>
                <a:ea typeface="Hiragino Sans GB" pitchFamily="34" charset="-122"/>
                <a:cs typeface="Hiragino Sans GB" pitchFamily="34" charset="-120"/>
              </a:rPr>
              <a:t>逐条查规则与材料</a:t>
            </a:r>
            <a:endParaRPr lang="en-US" sz="880" dirty="0"/>
          </a:p>
        </p:txBody>
      </p:sp>
      <p:sp>
        <p:nvSpPr>
          <p:cNvPr id="16" name="Shape 14"/>
          <p:cNvSpPr/>
          <p:nvPr/>
        </p:nvSpPr>
        <p:spPr>
          <a:xfrm>
            <a:off x="841248" y="3406140"/>
            <a:ext cx="64008" cy="64008"/>
          </a:xfrm>
          <a:prstGeom prst="ellipse">
            <a:avLst/>
          </a:prstGeom>
          <a:solidFill>
            <a:srgbClr val="6C7C80"/>
          </a:solidFill>
          <a:ln w="8890">
            <a:solidFill>
              <a:srgbClr val="6C7C80"/>
            </a:solidFill>
            <a:prstDash val="solid"/>
          </a:ln>
        </p:spPr>
      </p:sp>
      <p:sp>
        <p:nvSpPr>
          <p:cNvPr id="17" name="Text 15"/>
          <p:cNvSpPr txBox="1"/>
          <p:nvPr/>
        </p:nvSpPr>
        <p:spPr>
          <a:xfrm>
            <a:off x="978408" y="3310128"/>
            <a:ext cx="1911096" cy="356616"/>
          </a:xfrm>
          <a:prstGeom prst="rect">
            <a:avLst/>
          </a:prstGeom>
          <a:noFill/>
          <a:ln/>
        </p:spPr>
        <p:txBody>
          <a:bodyPr wrap="square" lIns="0" tIns="0" rIns="0" bIns="0" rtlCol="0" anchor="t">
            <a:normAutofit/>
          </a:bodyPr>
          <a:lstStyle/>
          <a:p>
            <a:pPr algn="l" indent="0" marL="0">
              <a:lnSpc>
                <a:spcPct val="90000"/>
              </a:lnSpc>
              <a:buNone/>
            </a:pPr>
            <a:r>
              <a:rPr lang="en-US" sz="880" dirty="0">
                <a:solidFill>
                  <a:srgbClr val="32474D"/>
                </a:solidFill>
                <a:latin typeface="Hiragino Sans GB" pitchFamily="34" charset="0"/>
                <a:ea typeface="Hiragino Sans GB" pitchFamily="34" charset="-122"/>
                <a:cs typeface="Hiragino Sans GB" pitchFamily="34" charset="-120"/>
              </a:rPr>
              <a:t>发现冲突后退回修改</a:t>
            </a:r>
            <a:endParaRPr lang="en-US" sz="880" dirty="0"/>
          </a:p>
        </p:txBody>
      </p:sp>
      <p:sp>
        <p:nvSpPr>
          <p:cNvPr id="18" name="Shape 16"/>
          <p:cNvSpPr/>
          <p:nvPr/>
        </p:nvSpPr>
        <p:spPr>
          <a:xfrm>
            <a:off x="841248" y="3954780"/>
            <a:ext cx="64008" cy="64008"/>
          </a:xfrm>
          <a:prstGeom prst="ellipse">
            <a:avLst/>
          </a:prstGeom>
          <a:solidFill>
            <a:srgbClr val="6C7C80"/>
          </a:solidFill>
          <a:ln w="8890">
            <a:solidFill>
              <a:srgbClr val="6C7C80"/>
            </a:solidFill>
            <a:prstDash val="solid"/>
          </a:ln>
        </p:spPr>
      </p:sp>
      <p:sp>
        <p:nvSpPr>
          <p:cNvPr id="19" name="Text 17"/>
          <p:cNvSpPr txBox="1"/>
          <p:nvPr/>
        </p:nvSpPr>
        <p:spPr>
          <a:xfrm>
            <a:off x="978408" y="3858768"/>
            <a:ext cx="1911096" cy="356616"/>
          </a:xfrm>
          <a:prstGeom prst="rect">
            <a:avLst/>
          </a:prstGeom>
          <a:noFill/>
          <a:ln/>
        </p:spPr>
        <p:txBody>
          <a:bodyPr wrap="square" lIns="0" tIns="0" rIns="0" bIns="0" rtlCol="0" anchor="t">
            <a:normAutofit/>
          </a:bodyPr>
          <a:lstStyle/>
          <a:p>
            <a:pPr algn="l" indent="0" marL="0">
              <a:lnSpc>
                <a:spcPct val="90000"/>
              </a:lnSpc>
              <a:buNone/>
            </a:pPr>
            <a:r>
              <a:rPr lang="en-US" sz="880" dirty="0">
                <a:solidFill>
                  <a:srgbClr val="32474D"/>
                </a:solidFill>
                <a:latin typeface="Hiragino Sans GB" pitchFamily="34" charset="0"/>
                <a:ea typeface="Hiragino Sans GB" pitchFamily="34" charset="-122"/>
                <a:cs typeface="Hiragino Sans GB" pitchFamily="34" charset="-120"/>
              </a:rPr>
              <a:t>新方案再次叠加与核对</a:t>
            </a:r>
            <a:endParaRPr lang="en-US" sz="880" dirty="0"/>
          </a:p>
        </p:txBody>
      </p:sp>
      <p:sp>
        <p:nvSpPr>
          <p:cNvPr id="20" name="Shape 18"/>
          <p:cNvSpPr/>
          <p:nvPr/>
        </p:nvSpPr>
        <p:spPr>
          <a:xfrm>
            <a:off x="841248" y="4503420"/>
            <a:ext cx="64008" cy="64008"/>
          </a:xfrm>
          <a:prstGeom prst="ellipse">
            <a:avLst/>
          </a:prstGeom>
          <a:solidFill>
            <a:srgbClr val="B04A50"/>
          </a:solidFill>
          <a:ln w="8890">
            <a:solidFill>
              <a:srgbClr val="B04A50"/>
            </a:solidFill>
            <a:prstDash val="solid"/>
          </a:ln>
        </p:spPr>
      </p:sp>
      <p:sp>
        <p:nvSpPr>
          <p:cNvPr id="21" name="Text 19"/>
          <p:cNvSpPr txBox="1"/>
          <p:nvPr/>
        </p:nvSpPr>
        <p:spPr>
          <a:xfrm>
            <a:off x="978408" y="4407408"/>
            <a:ext cx="1911096" cy="356616"/>
          </a:xfrm>
          <a:prstGeom prst="rect">
            <a:avLst/>
          </a:prstGeom>
          <a:noFill/>
          <a:ln/>
        </p:spPr>
        <p:txBody>
          <a:bodyPr wrap="square" lIns="0" tIns="0" rIns="0" bIns="0" rtlCol="0" anchor="t">
            <a:normAutofit/>
          </a:bodyPr>
          <a:lstStyle/>
          <a:p>
            <a:pPr algn="l" indent="0" marL="0">
              <a:lnSpc>
                <a:spcPct val="90000"/>
              </a:lnSpc>
              <a:buNone/>
            </a:pPr>
            <a:r>
              <a:rPr lang="en-US" sz="880" dirty="0">
                <a:solidFill>
                  <a:srgbClr val="32474D"/>
                </a:solidFill>
                <a:latin typeface="Hiragino Sans GB" pitchFamily="34" charset="0"/>
                <a:ea typeface="Hiragino Sans GB" pitchFamily="34" charset="-122"/>
                <a:cs typeface="Hiragino Sans GB" pitchFamily="34" charset="-120"/>
              </a:rPr>
              <a:t>过程依赖经验，替代方案不显式</a:t>
            </a:r>
            <a:endParaRPr lang="en-US" sz="880" dirty="0"/>
          </a:p>
        </p:txBody>
      </p:sp>
      <p:sp>
        <p:nvSpPr>
          <p:cNvPr id="22" name="Text 20"/>
          <p:cNvSpPr txBox="1"/>
          <p:nvPr/>
        </p:nvSpPr>
        <p:spPr>
          <a:xfrm>
            <a:off x="832104" y="5020056"/>
            <a:ext cx="2075688" cy="292608"/>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B04A50"/>
                </a:solidFill>
                <a:latin typeface="Hiragino Sans GB" pitchFamily="34" charset="0"/>
                <a:ea typeface="Hiragino Sans GB" pitchFamily="34" charset="-122"/>
                <a:cs typeface="Hiragino Sans GB" pitchFamily="34" charset="-120"/>
              </a:rPr>
              <a:t>现状：冲突识别较成熟，替代方案生成与后果比较仍依赖人工经验。</a:t>
            </a:r>
            <a:endParaRPr lang="en-US" sz="780" dirty="0"/>
          </a:p>
        </p:txBody>
      </p:sp>
      <p:sp>
        <p:nvSpPr>
          <p:cNvPr id="23" name="Shape 21"/>
          <p:cNvSpPr/>
          <p:nvPr/>
        </p:nvSpPr>
        <p:spPr>
          <a:xfrm>
            <a:off x="3310128" y="3447288"/>
            <a:ext cx="429768" cy="0"/>
          </a:xfrm>
          <a:prstGeom prst="line">
            <a:avLst/>
          </a:prstGeom>
          <a:noFill/>
          <a:ln w="20320">
            <a:solidFill>
              <a:srgbClr val="137F7A"/>
            </a:solidFill>
            <a:prstDash val="solid"/>
            <a:tailEnd type="triangle"/>
          </a:ln>
        </p:spPr>
      </p:sp>
      <p:sp>
        <p:nvSpPr>
          <p:cNvPr id="24" name="Shape 22"/>
          <p:cNvSpPr/>
          <p:nvPr/>
        </p:nvSpPr>
        <p:spPr>
          <a:xfrm>
            <a:off x="3968496" y="1664208"/>
            <a:ext cx="4663440" cy="4069080"/>
          </a:xfrm>
          <a:prstGeom prst="roundRect">
            <a:avLst>
              <a:gd name="adj" fmla="val 1348"/>
            </a:avLst>
          </a:prstGeom>
          <a:solidFill>
            <a:srgbClr val="E2F2EF"/>
          </a:solidFill>
          <a:ln w="12700">
            <a:solidFill>
              <a:srgbClr val="137F7A"/>
            </a:solidFill>
            <a:prstDash val="solid"/>
          </a:ln>
        </p:spPr>
      </p:sp>
      <p:sp>
        <p:nvSpPr>
          <p:cNvPr id="25" name="Text 23"/>
          <p:cNvSpPr txBox="1"/>
          <p:nvPr/>
        </p:nvSpPr>
        <p:spPr>
          <a:xfrm>
            <a:off x="4233672" y="1901952"/>
            <a:ext cx="4133088" cy="292608"/>
          </a:xfrm>
          <a:prstGeom prst="rect">
            <a:avLst/>
          </a:prstGeom>
          <a:noFill/>
          <a:ln/>
        </p:spPr>
        <p:txBody>
          <a:bodyPr wrap="square" lIns="0" tIns="0" rIns="0" bIns="0" rtlCol="0" anchor="ctr">
            <a:normAutofit/>
          </a:bodyPr>
          <a:lstStyle/>
          <a:p>
            <a:pPr algn="ctr" indent="0" marL="0">
              <a:lnSpc>
                <a:spcPct val="92000"/>
              </a:lnSpc>
              <a:buNone/>
            </a:pPr>
            <a:r>
              <a:rPr lang="en-US" sz="1430" b="1" dirty="0">
                <a:solidFill>
                  <a:srgbClr val="0E5C59"/>
                </a:solidFill>
                <a:latin typeface="Hiragino Sans GB" pitchFamily="34" charset="0"/>
                <a:ea typeface="Hiragino Sans GB" pitchFamily="34" charset="-122"/>
                <a:cs typeface="Hiragino Sans GB" pitchFamily="34" charset="-120"/>
              </a:rPr>
              <a:t>TWM 推演闭环</a:t>
            </a:r>
            <a:endParaRPr lang="en-US" sz="1430" dirty="0"/>
          </a:p>
        </p:txBody>
      </p:sp>
      <p:sp>
        <p:nvSpPr>
          <p:cNvPr id="26" name="Shape 24"/>
          <p:cNvSpPr/>
          <p:nvPr/>
        </p:nvSpPr>
        <p:spPr>
          <a:xfrm>
            <a:off x="4206240" y="2331720"/>
            <a:ext cx="676656" cy="256032"/>
          </a:xfrm>
          <a:prstGeom prst="roundRect">
            <a:avLst>
              <a:gd name="adj" fmla="val 50000"/>
            </a:avLst>
          </a:prstGeom>
          <a:solidFill>
            <a:srgbClr val="FFFFFF"/>
          </a:solidFill>
          <a:ln w="6350">
            <a:solidFill>
              <a:srgbClr val="FFFFFF"/>
            </a:solidFill>
            <a:prstDash val="solid"/>
          </a:ln>
        </p:spPr>
      </p:sp>
      <p:sp>
        <p:nvSpPr>
          <p:cNvPr id="27" name="Text 25"/>
          <p:cNvSpPr txBox="1"/>
          <p:nvPr/>
        </p:nvSpPr>
        <p:spPr>
          <a:xfrm>
            <a:off x="4261104" y="2354580"/>
            <a:ext cx="566928" cy="182880"/>
          </a:xfrm>
          <a:prstGeom prst="rect">
            <a:avLst/>
          </a:prstGeom>
          <a:noFill/>
          <a:ln/>
        </p:spPr>
        <p:txBody>
          <a:bodyPr wrap="square" lIns="0" tIns="0" rIns="0" bIns="0" rtlCol="0" anchor="ctr">
            <a:normAutofit/>
          </a:bodyPr>
          <a:lstStyle/>
          <a:p>
            <a:pPr algn="ctr" indent="0" marL="0">
              <a:lnSpc>
                <a:spcPct val="92000"/>
              </a:lnSpc>
              <a:buNone/>
            </a:pPr>
            <a:r>
              <a:rPr lang="en-US" sz="760" b="1" dirty="0">
                <a:solidFill>
                  <a:srgbClr val="0E5C59"/>
                </a:solidFill>
                <a:latin typeface="Hiragino Sans GB" pitchFamily="34" charset="0"/>
                <a:ea typeface="Hiragino Sans GB" pitchFamily="34" charset="-122"/>
                <a:cs typeface="Hiragino Sans GB" pitchFamily="34" charset="-120"/>
              </a:rPr>
              <a:t>状态</a:t>
            </a:r>
            <a:endParaRPr lang="en-US" sz="760" dirty="0"/>
          </a:p>
        </p:txBody>
      </p:sp>
      <p:sp>
        <p:nvSpPr>
          <p:cNvPr id="28" name="Text 26"/>
          <p:cNvSpPr txBox="1"/>
          <p:nvPr/>
        </p:nvSpPr>
        <p:spPr>
          <a:xfrm>
            <a:off x="5065776" y="2322576"/>
            <a:ext cx="3209544" cy="393192"/>
          </a:xfrm>
          <a:prstGeom prst="rect">
            <a:avLst/>
          </a:prstGeom>
          <a:noFill/>
          <a:ln/>
        </p:spPr>
        <p:txBody>
          <a:bodyPr wrap="square" lIns="0" tIns="0" rIns="0" bIns="0" rtlCol="0" anchor="t">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项目范围 + 永久基本农田 + 生态保护红线 + 城镇开发边界 + 权属 + 规则版本</a:t>
            </a:r>
            <a:endParaRPr lang="en-US" sz="760" dirty="0"/>
          </a:p>
        </p:txBody>
      </p:sp>
      <p:sp>
        <p:nvSpPr>
          <p:cNvPr id="29" name="Shape 27"/>
          <p:cNvSpPr/>
          <p:nvPr/>
        </p:nvSpPr>
        <p:spPr>
          <a:xfrm>
            <a:off x="4206240" y="2944368"/>
            <a:ext cx="676656" cy="256032"/>
          </a:xfrm>
          <a:prstGeom prst="roundRect">
            <a:avLst>
              <a:gd name="adj" fmla="val 50000"/>
            </a:avLst>
          </a:prstGeom>
          <a:solidFill>
            <a:srgbClr val="FFFFFF"/>
          </a:solidFill>
          <a:ln w="6350">
            <a:solidFill>
              <a:srgbClr val="FFFFFF"/>
            </a:solidFill>
            <a:prstDash val="solid"/>
          </a:ln>
        </p:spPr>
      </p:sp>
      <p:sp>
        <p:nvSpPr>
          <p:cNvPr id="30" name="Text 28"/>
          <p:cNvSpPr txBox="1"/>
          <p:nvPr/>
        </p:nvSpPr>
        <p:spPr>
          <a:xfrm>
            <a:off x="4261104" y="2967228"/>
            <a:ext cx="566928" cy="182880"/>
          </a:xfrm>
          <a:prstGeom prst="rect">
            <a:avLst/>
          </a:prstGeom>
          <a:noFill/>
          <a:ln/>
        </p:spPr>
        <p:txBody>
          <a:bodyPr wrap="square" lIns="0" tIns="0" rIns="0" bIns="0" rtlCol="0" anchor="ctr">
            <a:normAutofit/>
          </a:bodyPr>
          <a:lstStyle/>
          <a:p>
            <a:pPr algn="ctr" indent="0" marL="0">
              <a:lnSpc>
                <a:spcPct val="92000"/>
              </a:lnSpc>
              <a:buNone/>
            </a:pPr>
            <a:r>
              <a:rPr lang="en-US" sz="760" b="1" dirty="0">
                <a:solidFill>
                  <a:srgbClr val="0E5C59"/>
                </a:solidFill>
                <a:latin typeface="Hiragino Sans GB" pitchFamily="34" charset="0"/>
                <a:ea typeface="Hiragino Sans GB" pitchFamily="34" charset="-122"/>
                <a:cs typeface="Hiragino Sans GB" pitchFamily="34" charset="-120"/>
              </a:rPr>
              <a:t>行动</a:t>
            </a:r>
            <a:endParaRPr lang="en-US" sz="760" dirty="0"/>
          </a:p>
        </p:txBody>
      </p:sp>
      <p:sp>
        <p:nvSpPr>
          <p:cNvPr id="31" name="Text 29"/>
          <p:cNvSpPr txBox="1"/>
          <p:nvPr/>
        </p:nvSpPr>
        <p:spPr>
          <a:xfrm>
            <a:off x="5065776" y="2935224"/>
            <a:ext cx="3209544" cy="393192"/>
          </a:xfrm>
          <a:prstGeom prst="rect">
            <a:avLst/>
          </a:prstGeom>
          <a:noFill/>
          <a:ln/>
        </p:spPr>
        <p:txBody>
          <a:bodyPr wrap="square" lIns="0" tIns="0" rIns="0" bIns="0" rtlCol="0" anchor="t">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A 原案  /  B 缩减  /  C 移位  /  D 补正  /  E 退回</a:t>
            </a:r>
            <a:endParaRPr lang="en-US" sz="760" dirty="0"/>
          </a:p>
        </p:txBody>
      </p:sp>
      <p:sp>
        <p:nvSpPr>
          <p:cNvPr id="32" name="Shape 30"/>
          <p:cNvSpPr/>
          <p:nvPr/>
        </p:nvSpPr>
        <p:spPr>
          <a:xfrm>
            <a:off x="4206240" y="3557016"/>
            <a:ext cx="676656" cy="256032"/>
          </a:xfrm>
          <a:prstGeom prst="roundRect">
            <a:avLst>
              <a:gd name="adj" fmla="val 50000"/>
            </a:avLst>
          </a:prstGeom>
          <a:solidFill>
            <a:srgbClr val="FFFFFF"/>
          </a:solidFill>
          <a:ln w="6350">
            <a:solidFill>
              <a:srgbClr val="FFFFFF"/>
            </a:solidFill>
            <a:prstDash val="solid"/>
          </a:ln>
        </p:spPr>
      </p:sp>
      <p:sp>
        <p:nvSpPr>
          <p:cNvPr id="33" name="Text 31"/>
          <p:cNvSpPr txBox="1"/>
          <p:nvPr/>
        </p:nvSpPr>
        <p:spPr>
          <a:xfrm>
            <a:off x="4261104" y="3579876"/>
            <a:ext cx="566928" cy="182880"/>
          </a:xfrm>
          <a:prstGeom prst="rect">
            <a:avLst/>
          </a:prstGeom>
          <a:noFill/>
          <a:ln/>
        </p:spPr>
        <p:txBody>
          <a:bodyPr wrap="square" lIns="0" tIns="0" rIns="0" bIns="0" rtlCol="0" anchor="ctr">
            <a:normAutofit/>
          </a:bodyPr>
          <a:lstStyle/>
          <a:p>
            <a:pPr algn="ctr" indent="0" marL="0">
              <a:lnSpc>
                <a:spcPct val="92000"/>
              </a:lnSpc>
              <a:buNone/>
            </a:pPr>
            <a:r>
              <a:rPr lang="en-US" sz="760" b="1" dirty="0">
                <a:solidFill>
                  <a:srgbClr val="0E5C59"/>
                </a:solidFill>
                <a:latin typeface="Hiragino Sans GB" pitchFamily="34" charset="0"/>
                <a:ea typeface="Hiragino Sans GB" pitchFamily="34" charset="-122"/>
                <a:cs typeface="Hiragino Sans GB" pitchFamily="34" charset="-120"/>
              </a:rPr>
              <a:t>推演</a:t>
            </a:r>
            <a:endParaRPr lang="en-US" sz="760" dirty="0"/>
          </a:p>
        </p:txBody>
      </p:sp>
      <p:sp>
        <p:nvSpPr>
          <p:cNvPr id="34" name="Text 32"/>
          <p:cNvSpPr txBox="1"/>
          <p:nvPr/>
        </p:nvSpPr>
        <p:spPr>
          <a:xfrm>
            <a:off x="5065776" y="3547872"/>
            <a:ext cx="3209544" cy="393192"/>
          </a:xfrm>
          <a:prstGeom prst="rect">
            <a:avLst/>
          </a:prstGeom>
          <a:noFill/>
          <a:ln/>
        </p:spPr>
        <p:txBody>
          <a:bodyPr wrap="square" lIns="0" tIns="0" rIns="0" bIns="0" rtlCol="0" anchor="t">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逐方案计算控制线命中、相邻影响、用途一致性、证据完整性与不确定性</a:t>
            </a:r>
            <a:endParaRPr lang="en-US" sz="760" dirty="0"/>
          </a:p>
        </p:txBody>
      </p:sp>
      <p:sp>
        <p:nvSpPr>
          <p:cNvPr id="35" name="Shape 33"/>
          <p:cNvSpPr/>
          <p:nvPr/>
        </p:nvSpPr>
        <p:spPr>
          <a:xfrm>
            <a:off x="4206240" y="4169664"/>
            <a:ext cx="676656" cy="256032"/>
          </a:xfrm>
          <a:prstGeom prst="roundRect">
            <a:avLst>
              <a:gd name="adj" fmla="val 50000"/>
            </a:avLst>
          </a:prstGeom>
          <a:solidFill>
            <a:srgbClr val="FFFFFF"/>
          </a:solidFill>
          <a:ln w="6350">
            <a:solidFill>
              <a:srgbClr val="FFFFFF"/>
            </a:solidFill>
            <a:prstDash val="solid"/>
          </a:ln>
        </p:spPr>
      </p:sp>
      <p:sp>
        <p:nvSpPr>
          <p:cNvPr id="36" name="Text 34"/>
          <p:cNvSpPr txBox="1"/>
          <p:nvPr/>
        </p:nvSpPr>
        <p:spPr>
          <a:xfrm>
            <a:off x="4261104" y="4192524"/>
            <a:ext cx="566928" cy="182880"/>
          </a:xfrm>
          <a:prstGeom prst="rect">
            <a:avLst/>
          </a:prstGeom>
          <a:noFill/>
          <a:ln/>
        </p:spPr>
        <p:txBody>
          <a:bodyPr wrap="square" lIns="0" tIns="0" rIns="0" bIns="0" rtlCol="0" anchor="ctr">
            <a:normAutofit/>
          </a:bodyPr>
          <a:lstStyle/>
          <a:p>
            <a:pPr algn="ctr" indent="0" marL="0">
              <a:lnSpc>
                <a:spcPct val="92000"/>
              </a:lnSpc>
              <a:buNone/>
            </a:pPr>
            <a:r>
              <a:rPr lang="en-US" sz="760" b="1" dirty="0">
                <a:solidFill>
                  <a:srgbClr val="0E5C59"/>
                </a:solidFill>
                <a:latin typeface="Hiragino Sans GB" pitchFamily="34" charset="0"/>
                <a:ea typeface="Hiragino Sans GB" pitchFamily="34" charset="-122"/>
                <a:cs typeface="Hiragino Sans GB" pitchFamily="34" charset="-120"/>
              </a:rPr>
              <a:t>门控</a:t>
            </a:r>
            <a:endParaRPr lang="en-US" sz="760" dirty="0"/>
          </a:p>
        </p:txBody>
      </p:sp>
      <p:sp>
        <p:nvSpPr>
          <p:cNvPr id="37" name="Text 35"/>
          <p:cNvSpPr txBox="1"/>
          <p:nvPr/>
        </p:nvSpPr>
        <p:spPr>
          <a:xfrm>
            <a:off x="5065776" y="4160520"/>
            <a:ext cx="3209544" cy="393192"/>
          </a:xfrm>
          <a:prstGeom prst="rect">
            <a:avLst/>
          </a:prstGeom>
          <a:noFill/>
          <a:ln/>
        </p:spPr>
        <p:txBody>
          <a:bodyPr wrap="square" lIns="0" tIns="0" rIns="0" bIns="0" rtlCol="0" anchor="t">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硬规则阻断不可行方案；软冲突进入条件支持；证据不足生成 review task</a:t>
            </a:r>
            <a:endParaRPr lang="en-US" sz="760" dirty="0"/>
          </a:p>
        </p:txBody>
      </p:sp>
      <p:sp>
        <p:nvSpPr>
          <p:cNvPr id="38" name="Shape 36"/>
          <p:cNvSpPr/>
          <p:nvPr/>
        </p:nvSpPr>
        <p:spPr>
          <a:xfrm>
            <a:off x="4206240" y="4782312"/>
            <a:ext cx="676656" cy="256032"/>
          </a:xfrm>
          <a:prstGeom prst="roundRect">
            <a:avLst>
              <a:gd name="adj" fmla="val 50000"/>
            </a:avLst>
          </a:prstGeom>
          <a:solidFill>
            <a:srgbClr val="E7F3EA"/>
          </a:solidFill>
          <a:ln w="6350">
            <a:solidFill>
              <a:srgbClr val="E7F3EA"/>
            </a:solidFill>
            <a:prstDash val="solid"/>
          </a:ln>
        </p:spPr>
      </p:sp>
      <p:sp>
        <p:nvSpPr>
          <p:cNvPr id="39" name="Text 37"/>
          <p:cNvSpPr txBox="1"/>
          <p:nvPr/>
        </p:nvSpPr>
        <p:spPr>
          <a:xfrm>
            <a:off x="4261104" y="4805172"/>
            <a:ext cx="566928" cy="182880"/>
          </a:xfrm>
          <a:prstGeom prst="rect">
            <a:avLst/>
          </a:prstGeom>
          <a:noFill/>
          <a:ln/>
        </p:spPr>
        <p:txBody>
          <a:bodyPr wrap="square" lIns="0" tIns="0" rIns="0" bIns="0" rtlCol="0" anchor="ctr">
            <a:normAutofit/>
          </a:bodyPr>
          <a:lstStyle/>
          <a:p>
            <a:pPr algn="ctr" indent="0" marL="0">
              <a:lnSpc>
                <a:spcPct val="92000"/>
              </a:lnSpc>
              <a:buNone/>
            </a:pPr>
            <a:r>
              <a:rPr lang="en-US" sz="760" b="1" dirty="0">
                <a:solidFill>
                  <a:srgbClr val="2D8A57"/>
                </a:solidFill>
                <a:latin typeface="Hiragino Sans GB" pitchFamily="34" charset="0"/>
                <a:ea typeface="Hiragino Sans GB" pitchFamily="34" charset="-122"/>
                <a:cs typeface="Hiragino Sans GB" pitchFamily="34" charset="-120"/>
              </a:rPr>
              <a:t>结果</a:t>
            </a:r>
            <a:endParaRPr lang="en-US" sz="760" dirty="0"/>
          </a:p>
        </p:txBody>
      </p:sp>
      <p:sp>
        <p:nvSpPr>
          <p:cNvPr id="40" name="Text 38"/>
          <p:cNvSpPr txBox="1"/>
          <p:nvPr/>
        </p:nvSpPr>
        <p:spPr>
          <a:xfrm>
            <a:off x="5065776" y="4773168"/>
            <a:ext cx="3209544" cy="393192"/>
          </a:xfrm>
          <a:prstGeom prst="rect">
            <a:avLst/>
          </a:prstGeom>
          <a:noFill/>
          <a:ln/>
        </p:spPr>
        <p:txBody>
          <a:bodyPr wrap="square" lIns="0" tIns="0" rIns="0" bIns="0" rtlCol="0" anchor="t">
            <a:normAutofit/>
          </a:bodyPr>
          <a:lstStyle/>
          <a:p>
            <a:pPr algn="l" indent="0" marL="0">
              <a:lnSpc>
                <a:spcPct val="92000"/>
              </a:lnSpc>
              <a:buNone/>
            </a:pPr>
            <a:r>
              <a:rPr lang="en-US" sz="760" b="1" dirty="0">
                <a:solidFill>
                  <a:srgbClr val="32474D"/>
                </a:solidFill>
                <a:latin typeface="Hiragino Sans GB" pitchFamily="34" charset="0"/>
                <a:ea typeface="Hiragino Sans GB" pitchFamily="34" charset="-122"/>
                <a:cs typeface="Hiragino Sans GB" pitchFamily="34" charset="-120"/>
              </a:rPr>
              <a:t>形成方案排序、冲突变化、依据清单、差异图层和复核待办</a:t>
            </a:r>
            <a:endParaRPr lang="en-US" sz="760" dirty="0"/>
          </a:p>
        </p:txBody>
      </p:sp>
      <p:sp>
        <p:nvSpPr>
          <p:cNvPr id="41" name="Shape 39"/>
          <p:cNvSpPr/>
          <p:nvPr/>
        </p:nvSpPr>
        <p:spPr>
          <a:xfrm>
            <a:off x="8851392" y="3447288"/>
            <a:ext cx="429768" cy="0"/>
          </a:xfrm>
          <a:prstGeom prst="line">
            <a:avLst/>
          </a:prstGeom>
          <a:noFill/>
          <a:ln w="20320">
            <a:solidFill>
              <a:srgbClr val="2D8A57"/>
            </a:solidFill>
            <a:prstDash val="solid"/>
            <a:tailEnd type="triangle"/>
          </a:ln>
        </p:spPr>
      </p:sp>
      <p:sp>
        <p:nvSpPr>
          <p:cNvPr id="42" name="Text 40"/>
          <p:cNvSpPr txBox="1"/>
          <p:nvPr/>
        </p:nvSpPr>
        <p:spPr>
          <a:xfrm>
            <a:off x="9427464" y="1481328"/>
            <a:ext cx="2167128" cy="274320"/>
          </a:xfrm>
          <a:prstGeom prst="rect">
            <a:avLst/>
          </a:prstGeom>
          <a:noFill/>
          <a:ln/>
        </p:spPr>
        <p:txBody>
          <a:bodyPr wrap="square" lIns="0" tIns="0" rIns="0" bIns="0" rtlCol="0" anchor="ctr">
            <a:normAutofit/>
          </a:bodyPr>
          <a:lstStyle/>
          <a:p>
            <a:pPr algn="l" indent="0" marL="0">
              <a:lnSpc>
                <a:spcPct val="92000"/>
              </a:lnSpc>
              <a:buNone/>
            </a:pPr>
            <a:r>
              <a:rPr lang="en-US" sz="1330" b="1" dirty="0">
                <a:solidFill>
                  <a:srgbClr val="17252A"/>
                </a:solidFill>
                <a:latin typeface="Hiragino Sans GB" pitchFamily="34" charset="0"/>
                <a:ea typeface="Hiragino Sans GB" pitchFamily="34" charset="-122"/>
                <a:cs typeface="Hiragino Sans GB" pitchFamily="34" charset="-120"/>
              </a:rPr>
              <a:t>业务输出</a:t>
            </a:r>
            <a:endParaRPr lang="en-US" sz="1330" dirty="0"/>
          </a:p>
        </p:txBody>
      </p:sp>
      <p:sp>
        <p:nvSpPr>
          <p:cNvPr id="43" name="Shape 41"/>
          <p:cNvSpPr/>
          <p:nvPr/>
        </p:nvSpPr>
        <p:spPr>
          <a:xfrm>
            <a:off x="9381744" y="1883664"/>
            <a:ext cx="2267712" cy="566928"/>
          </a:xfrm>
          <a:prstGeom prst="roundRect">
            <a:avLst>
              <a:gd name="adj" fmla="val 6452"/>
            </a:avLst>
          </a:prstGeom>
          <a:solidFill>
            <a:srgbClr val="FFFFFF"/>
          </a:solidFill>
          <a:ln w="8890">
            <a:solidFill>
              <a:srgbClr val="D0DBD8"/>
            </a:solidFill>
            <a:prstDash val="solid"/>
          </a:ln>
        </p:spPr>
      </p:sp>
      <p:sp>
        <p:nvSpPr>
          <p:cNvPr id="44" name="Text 42"/>
          <p:cNvSpPr txBox="1"/>
          <p:nvPr/>
        </p:nvSpPr>
        <p:spPr>
          <a:xfrm>
            <a:off x="9500616" y="1975104"/>
            <a:ext cx="786384" cy="219456"/>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0E5C59"/>
                </a:solidFill>
                <a:latin typeface="Hiragino Sans GB" pitchFamily="34" charset="0"/>
                <a:ea typeface="Hiragino Sans GB" pitchFamily="34" charset="-122"/>
                <a:cs typeface="Hiragino Sans GB" pitchFamily="34" charset="-120"/>
              </a:rPr>
              <a:t>硬阻断项</a:t>
            </a:r>
            <a:endParaRPr lang="en-US" sz="810" dirty="0"/>
          </a:p>
        </p:txBody>
      </p:sp>
      <p:sp>
        <p:nvSpPr>
          <p:cNvPr id="45" name="Text 43"/>
          <p:cNvSpPr txBox="1"/>
          <p:nvPr/>
        </p:nvSpPr>
        <p:spPr>
          <a:xfrm>
            <a:off x="10259568" y="1956816"/>
            <a:ext cx="1252728" cy="338328"/>
          </a:xfrm>
          <a:prstGeom prst="rect">
            <a:avLst/>
          </a:prstGeom>
          <a:noFill/>
          <a:ln/>
        </p:spPr>
        <p:txBody>
          <a:bodyPr wrap="square" lIns="0" tIns="0" rIns="0" bIns="0" rtlCol="0" anchor="t">
            <a:normAutofit/>
          </a:bodyPr>
          <a:lstStyle/>
          <a:p>
            <a:pPr algn="l" indent="0" marL="0">
              <a:lnSpc>
                <a:spcPct val="92000"/>
              </a:lnSpc>
              <a:buNone/>
            </a:pPr>
            <a:r>
              <a:rPr lang="en-US" sz="690" dirty="0">
                <a:solidFill>
                  <a:srgbClr val="32474D"/>
                </a:solidFill>
                <a:latin typeface="Hiragino Sans GB" pitchFamily="34" charset="0"/>
                <a:ea typeface="Hiragino Sans GB" pitchFamily="34" charset="-122"/>
                <a:cs typeface="Hiragino Sans GB" pitchFamily="34" charset="-120"/>
              </a:rPr>
              <a:t>哪些规则不可突破</a:t>
            </a:r>
            <a:endParaRPr lang="en-US" sz="690" dirty="0"/>
          </a:p>
        </p:txBody>
      </p:sp>
      <p:sp>
        <p:nvSpPr>
          <p:cNvPr id="46" name="Shape 44"/>
          <p:cNvSpPr/>
          <p:nvPr/>
        </p:nvSpPr>
        <p:spPr>
          <a:xfrm>
            <a:off x="9381744" y="2606040"/>
            <a:ext cx="2267712" cy="566928"/>
          </a:xfrm>
          <a:prstGeom prst="roundRect">
            <a:avLst>
              <a:gd name="adj" fmla="val 6452"/>
            </a:avLst>
          </a:prstGeom>
          <a:solidFill>
            <a:srgbClr val="FFFFFF"/>
          </a:solidFill>
          <a:ln w="8890">
            <a:solidFill>
              <a:srgbClr val="D0DBD8"/>
            </a:solidFill>
            <a:prstDash val="solid"/>
          </a:ln>
        </p:spPr>
      </p:sp>
      <p:sp>
        <p:nvSpPr>
          <p:cNvPr id="47" name="Text 45"/>
          <p:cNvSpPr txBox="1"/>
          <p:nvPr/>
        </p:nvSpPr>
        <p:spPr>
          <a:xfrm>
            <a:off x="9500616" y="2697480"/>
            <a:ext cx="786384" cy="219456"/>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0E5C59"/>
                </a:solidFill>
                <a:latin typeface="Hiragino Sans GB" pitchFamily="34" charset="0"/>
                <a:ea typeface="Hiragino Sans GB" pitchFamily="34" charset="-122"/>
                <a:cs typeface="Hiragino Sans GB" pitchFamily="34" charset="-120"/>
              </a:rPr>
              <a:t>可调整项</a:t>
            </a:r>
            <a:endParaRPr lang="en-US" sz="810" dirty="0"/>
          </a:p>
        </p:txBody>
      </p:sp>
      <p:sp>
        <p:nvSpPr>
          <p:cNvPr id="48" name="Text 46"/>
          <p:cNvSpPr txBox="1"/>
          <p:nvPr/>
        </p:nvSpPr>
        <p:spPr>
          <a:xfrm>
            <a:off x="10259568" y="2679192"/>
            <a:ext cx="1252728" cy="338328"/>
          </a:xfrm>
          <a:prstGeom prst="rect">
            <a:avLst/>
          </a:prstGeom>
          <a:noFill/>
          <a:ln/>
        </p:spPr>
        <p:txBody>
          <a:bodyPr wrap="square" lIns="0" tIns="0" rIns="0" bIns="0" rtlCol="0" anchor="t">
            <a:normAutofit/>
          </a:bodyPr>
          <a:lstStyle/>
          <a:p>
            <a:pPr algn="l" indent="0" marL="0">
              <a:lnSpc>
                <a:spcPct val="92000"/>
              </a:lnSpc>
              <a:buNone/>
            </a:pPr>
            <a:r>
              <a:rPr lang="en-US" sz="690" dirty="0">
                <a:solidFill>
                  <a:srgbClr val="32474D"/>
                </a:solidFill>
                <a:latin typeface="Hiragino Sans GB" pitchFamily="34" charset="0"/>
                <a:ea typeface="Hiragino Sans GB" pitchFamily="34" charset="-122"/>
                <a:cs typeface="Hiragino Sans GB" pitchFamily="34" charset="-120"/>
              </a:rPr>
              <a:t>缩减或移位后冲突是否消除</a:t>
            </a:r>
            <a:endParaRPr lang="en-US" sz="690" dirty="0"/>
          </a:p>
        </p:txBody>
      </p:sp>
      <p:sp>
        <p:nvSpPr>
          <p:cNvPr id="49" name="Shape 47"/>
          <p:cNvSpPr/>
          <p:nvPr/>
        </p:nvSpPr>
        <p:spPr>
          <a:xfrm>
            <a:off x="9381744" y="3328416"/>
            <a:ext cx="2267712" cy="566928"/>
          </a:xfrm>
          <a:prstGeom prst="roundRect">
            <a:avLst>
              <a:gd name="adj" fmla="val 6452"/>
            </a:avLst>
          </a:prstGeom>
          <a:solidFill>
            <a:srgbClr val="FFFFFF"/>
          </a:solidFill>
          <a:ln w="8890">
            <a:solidFill>
              <a:srgbClr val="D0DBD8"/>
            </a:solidFill>
            <a:prstDash val="solid"/>
          </a:ln>
        </p:spPr>
      </p:sp>
      <p:sp>
        <p:nvSpPr>
          <p:cNvPr id="50" name="Text 48"/>
          <p:cNvSpPr txBox="1"/>
          <p:nvPr/>
        </p:nvSpPr>
        <p:spPr>
          <a:xfrm>
            <a:off x="9500616" y="3419856"/>
            <a:ext cx="786384" cy="219456"/>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0E5C59"/>
                </a:solidFill>
                <a:latin typeface="Hiragino Sans GB" pitchFamily="34" charset="0"/>
                <a:ea typeface="Hiragino Sans GB" pitchFamily="34" charset="-122"/>
                <a:cs typeface="Hiragino Sans GB" pitchFamily="34" charset="-120"/>
              </a:rPr>
              <a:t>代价与收益</a:t>
            </a:r>
            <a:endParaRPr lang="en-US" sz="810" dirty="0"/>
          </a:p>
        </p:txBody>
      </p:sp>
      <p:sp>
        <p:nvSpPr>
          <p:cNvPr id="51" name="Text 49"/>
          <p:cNvSpPr txBox="1"/>
          <p:nvPr/>
        </p:nvSpPr>
        <p:spPr>
          <a:xfrm>
            <a:off x="10259568" y="3401568"/>
            <a:ext cx="1252728" cy="338328"/>
          </a:xfrm>
          <a:prstGeom prst="rect">
            <a:avLst/>
          </a:prstGeom>
          <a:noFill/>
          <a:ln/>
        </p:spPr>
        <p:txBody>
          <a:bodyPr wrap="square" lIns="0" tIns="0" rIns="0" bIns="0" rtlCol="0" anchor="t">
            <a:normAutofit/>
          </a:bodyPr>
          <a:lstStyle/>
          <a:p>
            <a:pPr algn="l" indent="0" marL="0">
              <a:lnSpc>
                <a:spcPct val="92000"/>
              </a:lnSpc>
              <a:buNone/>
            </a:pPr>
            <a:r>
              <a:rPr lang="en-US" sz="690" dirty="0">
                <a:solidFill>
                  <a:srgbClr val="32474D"/>
                </a:solidFill>
                <a:latin typeface="Hiragino Sans GB" pitchFamily="34" charset="0"/>
                <a:ea typeface="Hiragino Sans GB" pitchFamily="34" charset="-122"/>
                <a:cs typeface="Hiragino Sans GB" pitchFamily="34" charset="-120"/>
              </a:rPr>
              <a:t>功能保留、用地规模、生态与耕地风险</a:t>
            </a:r>
            <a:endParaRPr lang="en-US" sz="690" dirty="0"/>
          </a:p>
        </p:txBody>
      </p:sp>
      <p:sp>
        <p:nvSpPr>
          <p:cNvPr id="52" name="Shape 50"/>
          <p:cNvSpPr/>
          <p:nvPr/>
        </p:nvSpPr>
        <p:spPr>
          <a:xfrm>
            <a:off x="9381744" y="4050792"/>
            <a:ext cx="2267712" cy="566928"/>
          </a:xfrm>
          <a:prstGeom prst="roundRect">
            <a:avLst>
              <a:gd name="adj" fmla="val 6452"/>
            </a:avLst>
          </a:prstGeom>
          <a:solidFill>
            <a:srgbClr val="FFFFFF"/>
          </a:solidFill>
          <a:ln w="8890">
            <a:solidFill>
              <a:srgbClr val="D0DBD8"/>
            </a:solidFill>
            <a:prstDash val="solid"/>
          </a:ln>
        </p:spPr>
      </p:sp>
      <p:sp>
        <p:nvSpPr>
          <p:cNvPr id="53" name="Text 51"/>
          <p:cNvSpPr txBox="1"/>
          <p:nvPr/>
        </p:nvSpPr>
        <p:spPr>
          <a:xfrm>
            <a:off x="9500616" y="4142232"/>
            <a:ext cx="786384" cy="219456"/>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0E5C59"/>
                </a:solidFill>
                <a:latin typeface="Hiragino Sans GB" pitchFamily="34" charset="0"/>
                <a:ea typeface="Hiragino Sans GB" pitchFamily="34" charset="-122"/>
                <a:cs typeface="Hiragino Sans GB" pitchFamily="34" charset="-120"/>
              </a:rPr>
              <a:t>证据缺口</a:t>
            </a:r>
            <a:endParaRPr lang="en-US" sz="810" dirty="0"/>
          </a:p>
        </p:txBody>
      </p:sp>
      <p:sp>
        <p:nvSpPr>
          <p:cNvPr id="54" name="Text 52"/>
          <p:cNvSpPr txBox="1"/>
          <p:nvPr/>
        </p:nvSpPr>
        <p:spPr>
          <a:xfrm>
            <a:off x="10259568" y="4123944"/>
            <a:ext cx="1252728" cy="338328"/>
          </a:xfrm>
          <a:prstGeom prst="rect">
            <a:avLst/>
          </a:prstGeom>
          <a:noFill/>
          <a:ln/>
        </p:spPr>
        <p:txBody>
          <a:bodyPr wrap="square" lIns="0" tIns="0" rIns="0" bIns="0" rtlCol="0" anchor="t">
            <a:normAutofit/>
          </a:bodyPr>
          <a:lstStyle/>
          <a:p>
            <a:pPr algn="l" indent="0" marL="0">
              <a:lnSpc>
                <a:spcPct val="92000"/>
              </a:lnSpc>
              <a:buNone/>
            </a:pPr>
            <a:r>
              <a:rPr lang="en-US" sz="690" dirty="0">
                <a:solidFill>
                  <a:srgbClr val="32474D"/>
                </a:solidFill>
                <a:latin typeface="Hiragino Sans GB" pitchFamily="34" charset="0"/>
                <a:ea typeface="Hiragino Sans GB" pitchFamily="34" charset="-122"/>
                <a:cs typeface="Hiragino Sans GB" pitchFamily="34" charset="-120"/>
              </a:rPr>
              <a:t>缺哪份材料、哪条数据需复核</a:t>
            </a:r>
            <a:endParaRPr lang="en-US" sz="690" dirty="0"/>
          </a:p>
        </p:txBody>
      </p:sp>
      <p:sp>
        <p:nvSpPr>
          <p:cNvPr id="55" name="Shape 53"/>
          <p:cNvSpPr/>
          <p:nvPr/>
        </p:nvSpPr>
        <p:spPr>
          <a:xfrm>
            <a:off x="9381744" y="4773168"/>
            <a:ext cx="2267712" cy="566928"/>
          </a:xfrm>
          <a:prstGeom prst="roundRect">
            <a:avLst>
              <a:gd name="adj" fmla="val 6452"/>
            </a:avLst>
          </a:prstGeom>
          <a:solidFill>
            <a:srgbClr val="E7F3EA"/>
          </a:solidFill>
          <a:ln w="8890">
            <a:solidFill>
              <a:srgbClr val="2D8A57"/>
            </a:solidFill>
            <a:prstDash val="solid"/>
          </a:ln>
        </p:spPr>
      </p:sp>
      <p:sp>
        <p:nvSpPr>
          <p:cNvPr id="56" name="Text 54"/>
          <p:cNvSpPr txBox="1"/>
          <p:nvPr/>
        </p:nvSpPr>
        <p:spPr>
          <a:xfrm>
            <a:off x="9500616" y="4864608"/>
            <a:ext cx="786384" cy="219456"/>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2D8A57"/>
                </a:solidFill>
                <a:latin typeface="Hiragino Sans GB" pitchFamily="34" charset="0"/>
                <a:ea typeface="Hiragino Sans GB" pitchFamily="34" charset="-122"/>
                <a:cs typeface="Hiragino Sans GB" pitchFamily="34" charset="-120"/>
              </a:rPr>
              <a:t>全过程 trace</a:t>
            </a:r>
            <a:endParaRPr lang="en-US" sz="810" dirty="0"/>
          </a:p>
        </p:txBody>
      </p:sp>
      <p:sp>
        <p:nvSpPr>
          <p:cNvPr id="57" name="Text 55"/>
          <p:cNvSpPr txBox="1"/>
          <p:nvPr/>
        </p:nvSpPr>
        <p:spPr>
          <a:xfrm>
            <a:off x="10259568" y="4846320"/>
            <a:ext cx="1252728" cy="338328"/>
          </a:xfrm>
          <a:prstGeom prst="rect">
            <a:avLst/>
          </a:prstGeom>
          <a:noFill/>
          <a:ln/>
        </p:spPr>
        <p:txBody>
          <a:bodyPr wrap="square" lIns="0" tIns="0" rIns="0" bIns="0" rtlCol="0" anchor="t">
            <a:normAutofit/>
          </a:bodyPr>
          <a:lstStyle/>
          <a:p>
            <a:pPr algn="l" indent="0" marL="0">
              <a:lnSpc>
                <a:spcPct val="92000"/>
              </a:lnSpc>
              <a:buNone/>
            </a:pPr>
            <a:r>
              <a:rPr lang="en-US" sz="690" dirty="0">
                <a:solidFill>
                  <a:srgbClr val="32474D"/>
                </a:solidFill>
                <a:latin typeface="Hiragino Sans GB" pitchFamily="34" charset="0"/>
                <a:ea typeface="Hiragino Sans GB" pitchFamily="34" charset="-122"/>
                <a:cs typeface="Hiragino Sans GB" pitchFamily="34" charset="-120"/>
              </a:rPr>
              <a:t>谁用什么版本数据得出何种判断</a:t>
            </a:r>
            <a:endParaRPr lang="en-US" sz="690" dirty="0"/>
          </a:p>
        </p:txBody>
      </p:sp>
      <p:sp>
        <p:nvSpPr>
          <p:cNvPr id="58" name="Shape 56"/>
          <p:cNvSpPr/>
          <p:nvPr/>
        </p:nvSpPr>
        <p:spPr>
          <a:xfrm>
            <a:off x="658368" y="5971032"/>
            <a:ext cx="10972800" cy="347472"/>
          </a:xfrm>
          <a:prstGeom prst="roundRect">
            <a:avLst>
              <a:gd name="adj" fmla="val 10526"/>
            </a:avLst>
          </a:prstGeom>
          <a:solidFill>
            <a:srgbClr val="102F34"/>
          </a:solidFill>
          <a:ln w="12700">
            <a:solidFill>
              <a:srgbClr val="102F34"/>
            </a:solidFill>
            <a:prstDash val="solid"/>
          </a:ln>
        </p:spPr>
      </p:sp>
      <p:sp>
        <p:nvSpPr>
          <p:cNvPr id="59" name="Text 57"/>
          <p:cNvSpPr txBox="1"/>
          <p:nvPr/>
        </p:nvSpPr>
        <p:spPr>
          <a:xfrm>
            <a:off x="877824" y="6044184"/>
            <a:ext cx="10533888" cy="182880"/>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FFFFFF"/>
                </a:solidFill>
                <a:latin typeface="Hiragino Sans GB" pitchFamily="34" charset="0"/>
                <a:ea typeface="Hiragino Sans GB" pitchFamily="34" charset="-122"/>
                <a:cs typeface="Hiragino Sans GB" pitchFamily="34" charset="-120"/>
              </a:rPr>
              <a:t>业务价值指标建议：平均往返轮次、单项目 GIS 叠加工时、替代方案采用率、遗漏规则数、复核任务闭环率。</a:t>
            </a:r>
            <a:endParaRPr lang="en-US" sz="8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场景二</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耕地保护与土地整治：从优化候选到在线多期推演</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Paper9 提供布局优化候选，TWM 用严格状态转移、硬约束重算和轨迹规划形成可审计方案比较。</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来源：Paper9v2 workflow / reports；TWM spatial simulator / planner；GWM Runtime relationship</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25 / 29</a:t>
            </a:r>
            <a:endParaRPr lang="en-US" sz="670" dirty="0"/>
          </a:p>
        </p:txBody>
      </p:sp>
      <p:sp>
        <p:nvSpPr>
          <p:cNvPr id="10" name="Shape 8"/>
          <p:cNvSpPr/>
          <p:nvPr/>
        </p:nvSpPr>
        <p:spPr>
          <a:xfrm>
            <a:off x="530352" y="1563624"/>
            <a:ext cx="3721608" cy="4279392"/>
          </a:xfrm>
          <a:prstGeom prst="roundRect">
            <a:avLst>
              <a:gd name="adj" fmla="val 1474"/>
            </a:avLst>
          </a:prstGeom>
          <a:solidFill>
            <a:srgbClr val="E7EFF8"/>
          </a:solidFill>
          <a:ln w="11430">
            <a:solidFill>
              <a:srgbClr val="356CA8"/>
            </a:solidFill>
            <a:prstDash val="solid"/>
          </a:ln>
        </p:spPr>
      </p:sp>
      <p:sp>
        <p:nvSpPr>
          <p:cNvPr id="11" name="Text 9"/>
          <p:cNvSpPr txBox="1"/>
          <p:nvPr/>
        </p:nvSpPr>
        <p:spPr>
          <a:xfrm>
            <a:off x="813816" y="1837944"/>
            <a:ext cx="3154680" cy="301752"/>
          </a:xfrm>
          <a:prstGeom prst="rect">
            <a:avLst/>
          </a:prstGeom>
          <a:noFill/>
          <a:ln/>
        </p:spPr>
        <p:txBody>
          <a:bodyPr wrap="square" lIns="0" tIns="0" rIns="0" bIns="0" rtlCol="0" anchor="ctr">
            <a:normAutofit/>
          </a:bodyPr>
          <a:lstStyle/>
          <a:p>
            <a:pPr algn="ctr" indent="0" marL="0">
              <a:lnSpc>
                <a:spcPct val="92000"/>
              </a:lnSpc>
              <a:buNone/>
            </a:pPr>
            <a:r>
              <a:rPr lang="en-US" sz="1430" b="1" dirty="0">
                <a:solidFill>
                  <a:srgbClr val="356CA8"/>
                </a:solidFill>
                <a:latin typeface="Hiragino Sans GB" pitchFamily="34" charset="0"/>
                <a:ea typeface="Hiragino Sans GB" pitchFamily="34" charset="-122"/>
                <a:cs typeface="Hiragino Sans GB" pitchFamily="34" charset="-120"/>
              </a:rPr>
              <a:t>Paper9：优化与规划组件</a:t>
            </a:r>
            <a:endParaRPr lang="en-US" sz="1430" dirty="0"/>
          </a:p>
        </p:txBody>
      </p:sp>
      <p:sp>
        <p:nvSpPr>
          <p:cNvPr id="12" name="Shape 10"/>
          <p:cNvSpPr/>
          <p:nvPr/>
        </p:nvSpPr>
        <p:spPr>
          <a:xfrm>
            <a:off x="832104" y="2395728"/>
            <a:ext cx="667512" cy="256032"/>
          </a:xfrm>
          <a:prstGeom prst="roundRect">
            <a:avLst>
              <a:gd name="adj" fmla="val 50000"/>
            </a:avLst>
          </a:prstGeom>
          <a:solidFill>
            <a:srgbClr val="FFFFFF"/>
          </a:solidFill>
          <a:ln w="6350">
            <a:solidFill>
              <a:srgbClr val="FFFFFF"/>
            </a:solidFill>
            <a:prstDash val="solid"/>
          </a:ln>
        </p:spPr>
      </p:sp>
      <p:sp>
        <p:nvSpPr>
          <p:cNvPr id="13" name="Text 11"/>
          <p:cNvSpPr txBox="1"/>
          <p:nvPr/>
        </p:nvSpPr>
        <p:spPr>
          <a:xfrm>
            <a:off x="886968" y="2418588"/>
            <a:ext cx="557784"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356CA8"/>
                </a:solidFill>
                <a:latin typeface="Hiragino Sans GB" pitchFamily="34" charset="0"/>
                <a:ea typeface="Hiragino Sans GB" pitchFamily="34" charset="-122"/>
                <a:cs typeface="Hiragino Sans GB" pitchFamily="34" charset="-120"/>
              </a:rPr>
              <a:t>状态</a:t>
            </a:r>
            <a:endParaRPr lang="en-US" sz="730" dirty="0"/>
          </a:p>
        </p:txBody>
      </p:sp>
      <p:sp>
        <p:nvSpPr>
          <p:cNvPr id="14" name="Text 12"/>
          <p:cNvSpPr txBox="1"/>
          <p:nvPr/>
        </p:nvSpPr>
        <p:spPr>
          <a:xfrm>
            <a:off x="1682496" y="2386584"/>
            <a:ext cx="2240280" cy="274320"/>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Hiragino Sans GB" pitchFamily="34" charset="0"/>
                <a:ea typeface="Hiragino Sans GB" pitchFamily="34" charset="-122"/>
                <a:cs typeface="Hiragino Sans GB" pitchFamily="34" charset="-120"/>
              </a:rPr>
              <a:t>县域图斑、坡度、连片、百亩方</a:t>
            </a:r>
            <a:endParaRPr lang="en-US" sz="810" dirty="0"/>
          </a:p>
        </p:txBody>
      </p:sp>
      <p:sp>
        <p:nvSpPr>
          <p:cNvPr id="15" name="Shape 13"/>
          <p:cNvSpPr/>
          <p:nvPr/>
        </p:nvSpPr>
        <p:spPr>
          <a:xfrm>
            <a:off x="832104" y="2926080"/>
            <a:ext cx="667512" cy="256032"/>
          </a:xfrm>
          <a:prstGeom prst="roundRect">
            <a:avLst>
              <a:gd name="adj" fmla="val 50000"/>
            </a:avLst>
          </a:prstGeom>
          <a:solidFill>
            <a:srgbClr val="FFFFFF"/>
          </a:solidFill>
          <a:ln w="6350">
            <a:solidFill>
              <a:srgbClr val="FFFFFF"/>
            </a:solidFill>
            <a:prstDash val="solid"/>
          </a:ln>
        </p:spPr>
      </p:sp>
      <p:sp>
        <p:nvSpPr>
          <p:cNvPr id="16" name="Text 14"/>
          <p:cNvSpPr txBox="1"/>
          <p:nvPr/>
        </p:nvSpPr>
        <p:spPr>
          <a:xfrm>
            <a:off x="886968" y="2948940"/>
            <a:ext cx="557784"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356CA8"/>
                </a:solidFill>
                <a:latin typeface="Hiragino Sans GB" pitchFamily="34" charset="0"/>
                <a:ea typeface="Hiragino Sans GB" pitchFamily="34" charset="-122"/>
                <a:cs typeface="Hiragino Sans GB" pitchFamily="34" charset="-120"/>
              </a:rPr>
              <a:t>动作</a:t>
            </a:r>
            <a:endParaRPr lang="en-US" sz="730" dirty="0"/>
          </a:p>
        </p:txBody>
      </p:sp>
      <p:sp>
        <p:nvSpPr>
          <p:cNvPr id="17" name="Text 15"/>
          <p:cNvSpPr txBox="1"/>
          <p:nvPr/>
        </p:nvSpPr>
        <p:spPr>
          <a:xfrm>
            <a:off x="1682496" y="2916936"/>
            <a:ext cx="2240280" cy="274320"/>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Hiragino Sans GB" pitchFamily="34" charset="0"/>
                <a:ea typeface="Hiragino Sans GB" pitchFamily="34" charset="-122"/>
                <a:cs typeface="Hiragino Sans GB" pitchFamily="34" charset="-120"/>
              </a:rPr>
              <a:t>受约束的耕地 / 非耕地图斑置换</a:t>
            </a:r>
            <a:endParaRPr lang="en-US" sz="810" dirty="0"/>
          </a:p>
        </p:txBody>
      </p:sp>
      <p:sp>
        <p:nvSpPr>
          <p:cNvPr id="18" name="Shape 16"/>
          <p:cNvSpPr/>
          <p:nvPr/>
        </p:nvSpPr>
        <p:spPr>
          <a:xfrm>
            <a:off x="832104" y="3456432"/>
            <a:ext cx="667512" cy="256032"/>
          </a:xfrm>
          <a:prstGeom prst="roundRect">
            <a:avLst>
              <a:gd name="adj" fmla="val 50000"/>
            </a:avLst>
          </a:prstGeom>
          <a:solidFill>
            <a:srgbClr val="FFFFFF"/>
          </a:solidFill>
          <a:ln w="6350">
            <a:solidFill>
              <a:srgbClr val="FFFFFF"/>
            </a:solidFill>
            <a:prstDash val="solid"/>
          </a:ln>
        </p:spPr>
      </p:sp>
      <p:sp>
        <p:nvSpPr>
          <p:cNvPr id="19" name="Text 17"/>
          <p:cNvSpPr txBox="1"/>
          <p:nvPr/>
        </p:nvSpPr>
        <p:spPr>
          <a:xfrm>
            <a:off x="886968" y="3479292"/>
            <a:ext cx="557784"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356CA8"/>
                </a:solidFill>
                <a:latin typeface="Hiragino Sans GB" pitchFamily="34" charset="0"/>
                <a:ea typeface="Hiragino Sans GB" pitchFamily="34" charset="-122"/>
                <a:cs typeface="Hiragino Sans GB" pitchFamily="34" charset="-120"/>
              </a:rPr>
              <a:t>模型</a:t>
            </a:r>
            <a:endParaRPr lang="en-US" sz="730" dirty="0"/>
          </a:p>
        </p:txBody>
      </p:sp>
      <p:sp>
        <p:nvSpPr>
          <p:cNvPr id="20" name="Text 18"/>
          <p:cNvSpPr txBox="1"/>
          <p:nvPr/>
        </p:nvSpPr>
        <p:spPr>
          <a:xfrm>
            <a:off x="1682496" y="3447288"/>
            <a:ext cx="2240280" cy="274320"/>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Arial" pitchFamily="34" charset="0"/>
                <a:ea typeface="Arial" pitchFamily="34" charset="-122"/>
                <a:cs typeface="Arial" pitchFamily="34" charset="-120"/>
              </a:rPr>
              <a:t>转移 ensemble + pairwise ranking</a:t>
            </a:r>
            <a:endParaRPr lang="en-US" sz="810" dirty="0"/>
          </a:p>
        </p:txBody>
      </p:sp>
      <p:sp>
        <p:nvSpPr>
          <p:cNvPr id="21" name="Shape 19"/>
          <p:cNvSpPr/>
          <p:nvPr/>
        </p:nvSpPr>
        <p:spPr>
          <a:xfrm>
            <a:off x="832104" y="3986784"/>
            <a:ext cx="667512" cy="256032"/>
          </a:xfrm>
          <a:prstGeom prst="roundRect">
            <a:avLst>
              <a:gd name="adj" fmla="val 50000"/>
            </a:avLst>
          </a:prstGeom>
          <a:solidFill>
            <a:srgbClr val="FFFFFF"/>
          </a:solidFill>
          <a:ln w="6350">
            <a:solidFill>
              <a:srgbClr val="FFFFFF"/>
            </a:solidFill>
            <a:prstDash val="solid"/>
          </a:ln>
        </p:spPr>
      </p:sp>
      <p:sp>
        <p:nvSpPr>
          <p:cNvPr id="22" name="Text 20"/>
          <p:cNvSpPr txBox="1"/>
          <p:nvPr/>
        </p:nvSpPr>
        <p:spPr>
          <a:xfrm>
            <a:off x="886968" y="4009644"/>
            <a:ext cx="557784"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356CA8"/>
                </a:solidFill>
                <a:latin typeface="Hiragino Sans GB" pitchFamily="34" charset="0"/>
                <a:ea typeface="Hiragino Sans GB" pitchFamily="34" charset="-122"/>
                <a:cs typeface="Hiragino Sans GB" pitchFamily="34" charset="-120"/>
              </a:rPr>
              <a:t>规划</a:t>
            </a:r>
            <a:endParaRPr lang="en-US" sz="730" dirty="0"/>
          </a:p>
        </p:txBody>
      </p:sp>
      <p:sp>
        <p:nvSpPr>
          <p:cNvPr id="23" name="Text 21"/>
          <p:cNvSpPr txBox="1"/>
          <p:nvPr/>
        </p:nvSpPr>
        <p:spPr>
          <a:xfrm>
            <a:off x="1682496" y="3977640"/>
            <a:ext cx="2240280" cy="274320"/>
          </a:xfrm>
          <a:prstGeom prst="rect">
            <a:avLst/>
          </a:prstGeom>
          <a:noFill/>
          <a:ln/>
        </p:spPr>
        <p:txBody>
          <a:bodyPr wrap="square" lIns="0" tIns="0" rIns="0" bIns="0" rtlCol="0" anchor="ctr">
            <a:normAutofit/>
          </a:bodyPr>
          <a:lstStyle/>
          <a:p>
            <a:pPr algn="l" indent="0" marL="0">
              <a:lnSpc>
                <a:spcPct val="92000"/>
              </a:lnSpc>
              <a:buNone/>
            </a:pPr>
            <a:r>
              <a:rPr lang="en-US" sz="810" dirty="0">
                <a:solidFill>
                  <a:srgbClr val="32474D"/>
                </a:solidFill>
                <a:latin typeface="Arial" pitchFamily="34" charset="0"/>
                <a:ea typeface="Arial" pitchFamily="34" charset="-122"/>
                <a:cs typeface="Arial" pitchFamily="34" charset="-120"/>
              </a:rPr>
              <a:t>MPC 搜索多步候选动作</a:t>
            </a:r>
            <a:endParaRPr lang="en-US" sz="810" dirty="0"/>
          </a:p>
        </p:txBody>
      </p:sp>
      <p:sp>
        <p:nvSpPr>
          <p:cNvPr id="24" name="Shape 22"/>
          <p:cNvSpPr/>
          <p:nvPr/>
        </p:nvSpPr>
        <p:spPr>
          <a:xfrm>
            <a:off x="832104" y="4517136"/>
            <a:ext cx="667512" cy="256032"/>
          </a:xfrm>
          <a:prstGeom prst="roundRect">
            <a:avLst>
              <a:gd name="adj" fmla="val 50000"/>
            </a:avLst>
          </a:prstGeom>
          <a:solidFill>
            <a:srgbClr val="FFFFFF"/>
          </a:solidFill>
          <a:ln w="6350">
            <a:solidFill>
              <a:srgbClr val="FFFFFF"/>
            </a:solidFill>
            <a:prstDash val="solid"/>
          </a:ln>
        </p:spPr>
      </p:sp>
      <p:sp>
        <p:nvSpPr>
          <p:cNvPr id="25" name="Text 23"/>
          <p:cNvSpPr txBox="1"/>
          <p:nvPr/>
        </p:nvSpPr>
        <p:spPr>
          <a:xfrm>
            <a:off x="886968" y="4539996"/>
            <a:ext cx="557784"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356CA8"/>
                </a:solidFill>
                <a:latin typeface="Hiragino Sans GB" pitchFamily="34" charset="0"/>
                <a:ea typeface="Hiragino Sans GB" pitchFamily="34" charset="-122"/>
                <a:cs typeface="Hiragino Sans GB" pitchFamily="34" charset="-120"/>
              </a:rPr>
              <a:t>审计</a:t>
            </a:r>
            <a:endParaRPr lang="en-US" sz="730" dirty="0"/>
          </a:p>
        </p:txBody>
      </p:sp>
      <p:sp>
        <p:nvSpPr>
          <p:cNvPr id="26" name="Text 24"/>
          <p:cNvSpPr txBox="1"/>
          <p:nvPr/>
        </p:nvSpPr>
        <p:spPr>
          <a:xfrm>
            <a:off x="1682496" y="4507992"/>
            <a:ext cx="2240280" cy="274320"/>
          </a:xfrm>
          <a:prstGeom prst="rect">
            <a:avLst/>
          </a:prstGeom>
          <a:noFill/>
          <a:ln/>
        </p:spPr>
        <p:txBody>
          <a:bodyPr wrap="square" lIns="0" tIns="0" rIns="0" bIns="0" rtlCol="0" anchor="ctr">
            <a:normAutofit/>
          </a:bodyPr>
          <a:lstStyle/>
          <a:p>
            <a:pPr algn="l" indent="0" marL="0">
              <a:lnSpc>
                <a:spcPct val="92000"/>
              </a:lnSpc>
              <a:buNone/>
            </a:pPr>
            <a:r>
              <a:rPr lang="en-US" sz="810" b="1" dirty="0">
                <a:solidFill>
                  <a:srgbClr val="32474D"/>
                </a:solidFill>
                <a:latin typeface="Hiragino Sans GB" pitchFamily="34" charset="0"/>
                <a:ea typeface="Hiragino Sans GB" pitchFamily="34" charset="-122"/>
                <a:cs typeface="Hiragino Sans GB" pitchFamily="34" charset="-120"/>
              </a:rPr>
              <a:t>面积不减、坡度下降、连片提升</a:t>
            </a:r>
            <a:endParaRPr lang="en-US" sz="810" dirty="0"/>
          </a:p>
        </p:txBody>
      </p:sp>
      <p:sp>
        <p:nvSpPr>
          <p:cNvPr id="27" name="Shape 25"/>
          <p:cNvSpPr/>
          <p:nvPr/>
        </p:nvSpPr>
        <p:spPr>
          <a:xfrm>
            <a:off x="850392" y="5184648"/>
            <a:ext cx="3090672" cy="402336"/>
          </a:xfrm>
          <a:prstGeom prst="roundRect">
            <a:avLst>
              <a:gd name="adj" fmla="val 9091"/>
            </a:avLst>
          </a:prstGeom>
          <a:solidFill>
            <a:srgbClr val="FFFFFF"/>
          </a:solidFill>
          <a:ln w="8890">
            <a:solidFill>
              <a:srgbClr val="356CA8"/>
            </a:solidFill>
            <a:prstDash val="solid"/>
          </a:ln>
        </p:spPr>
      </p:sp>
      <p:sp>
        <p:nvSpPr>
          <p:cNvPr id="28" name="Text 26"/>
          <p:cNvSpPr txBox="1"/>
          <p:nvPr/>
        </p:nvSpPr>
        <p:spPr>
          <a:xfrm>
            <a:off x="978408" y="5276088"/>
            <a:ext cx="2834640" cy="201168"/>
          </a:xfrm>
          <a:prstGeom prst="rect">
            <a:avLst/>
          </a:prstGeom>
          <a:noFill/>
          <a:ln/>
        </p:spPr>
        <p:txBody>
          <a:bodyPr wrap="square" lIns="0" tIns="0" rIns="0" bIns="0" rtlCol="0" anchor="ctr">
            <a:normAutofit/>
          </a:bodyPr>
          <a:lstStyle/>
          <a:p>
            <a:pPr algn="ctr" indent="0" marL="0">
              <a:lnSpc>
                <a:spcPct val="92000"/>
              </a:lnSpc>
              <a:buNone/>
            </a:pPr>
            <a:r>
              <a:rPr lang="en-US" sz="760" b="1" dirty="0">
                <a:solidFill>
                  <a:srgbClr val="356CA8"/>
                </a:solidFill>
                <a:latin typeface="Arial" pitchFamily="34" charset="0"/>
                <a:ea typeface="Arial" pitchFamily="34" charset="-122"/>
                <a:cs typeface="Arial" pitchFamily="34" charset="-120"/>
              </a:rPr>
              <a:t>产物：优化图斑 + MPC summary + audit summary</a:t>
            </a:r>
            <a:endParaRPr lang="en-US" sz="760" dirty="0"/>
          </a:p>
        </p:txBody>
      </p:sp>
      <p:sp>
        <p:nvSpPr>
          <p:cNvPr id="29" name="Shape 27"/>
          <p:cNvSpPr/>
          <p:nvPr/>
        </p:nvSpPr>
        <p:spPr>
          <a:xfrm>
            <a:off x="4471416" y="3547872"/>
            <a:ext cx="557784" cy="0"/>
          </a:xfrm>
          <a:prstGeom prst="line">
            <a:avLst/>
          </a:prstGeom>
          <a:noFill/>
          <a:ln w="20320">
            <a:solidFill>
              <a:srgbClr val="705FA7"/>
            </a:solidFill>
            <a:prstDash val="solid"/>
            <a:tailEnd type="triangle"/>
          </a:ln>
        </p:spPr>
      </p:sp>
      <p:sp>
        <p:nvSpPr>
          <p:cNvPr id="30" name="Text 28"/>
          <p:cNvSpPr txBox="1"/>
          <p:nvPr/>
        </p:nvSpPr>
        <p:spPr>
          <a:xfrm>
            <a:off x="4361688" y="3008376"/>
            <a:ext cx="795528" cy="429768"/>
          </a:xfrm>
          <a:prstGeom prst="rect">
            <a:avLst/>
          </a:prstGeom>
          <a:noFill/>
          <a:ln/>
        </p:spPr>
        <p:txBody>
          <a:bodyPr wrap="square" lIns="0" tIns="0" rIns="0" bIns="0" rtlCol="0" anchor="ctr">
            <a:normAutofit/>
          </a:bodyPr>
          <a:lstStyle/>
          <a:p>
            <a:pPr algn="ctr" indent="0" marL="0">
              <a:lnSpc>
                <a:spcPct val="92000"/>
              </a:lnSpc>
              <a:buNone/>
            </a:pPr>
            <a:r>
              <a:rPr lang="en-US" sz="680" b="1" dirty="0">
                <a:solidFill>
                  <a:srgbClr val="705FA7"/>
                </a:solidFill>
                <a:latin typeface="Arial" pitchFamily="34" charset="0"/>
                <a:ea typeface="Arial" pitchFamily="34" charset="-122"/>
                <a:cs typeface="Arial" pitchFamily="34" charset="-120"/>
              </a:rPr>
              <a:t>作为 planner / transition backend 接入</a:t>
            </a:r>
            <a:endParaRPr lang="en-US" sz="680" dirty="0"/>
          </a:p>
        </p:txBody>
      </p:sp>
      <p:sp>
        <p:nvSpPr>
          <p:cNvPr id="31" name="Shape 29"/>
          <p:cNvSpPr/>
          <p:nvPr/>
        </p:nvSpPr>
        <p:spPr>
          <a:xfrm>
            <a:off x="5266944" y="1563624"/>
            <a:ext cx="6382512" cy="4279392"/>
          </a:xfrm>
          <a:prstGeom prst="roundRect">
            <a:avLst>
              <a:gd name="adj" fmla="val 1282"/>
            </a:avLst>
          </a:prstGeom>
          <a:solidFill>
            <a:srgbClr val="E2F2EF"/>
          </a:solidFill>
          <a:ln w="12700">
            <a:solidFill>
              <a:srgbClr val="137F7A"/>
            </a:solidFill>
            <a:prstDash val="solid"/>
          </a:ln>
        </p:spPr>
      </p:sp>
      <p:sp>
        <p:nvSpPr>
          <p:cNvPr id="32" name="Text 30"/>
          <p:cNvSpPr txBox="1"/>
          <p:nvPr/>
        </p:nvSpPr>
        <p:spPr>
          <a:xfrm>
            <a:off x="5596128" y="1837944"/>
            <a:ext cx="5715000" cy="301752"/>
          </a:xfrm>
          <a:prstGeom prst="rect">
            <a:avLst/>
          </a:prstGeom>
          <a:noFill/>
          <a:ln/>
        </p:spPr>
        <p:txBody>
          <a:bodyPr wrap="square" lIns="0" tIns="0" rIns="0" bIns="0" rtlCol="0" anchor="ctr">
            <a:normAutofit/>
          </a:bodyPr>
          <a:lstStyle/>
          <a:p>
            <a:pPr algn="ctr" indent="0" marL="0">
              <a:lnSpc>
                <a:spcPct val="92000"/>
              </a:lnSpc>
              <a:buNone/>
            </a:pPr>
            <a:r>
              <a:rPr lang="en-US" sz="1430" b="1" dirty="0">
                <a:solidFill>
                  <a:srgbClr val="0E5C59"/>
                </a:solidFill>
                <a:latin typeface="Hiragino Sans GB" pitchFamily="34" charset="0"/>
                <a:ea typeface="Hiragino Sans GB" pitchFamily="34" charset="-122"/>
                <a:cs typeface="Hiragino Sans GB" pitchFamily="34" charset="-120"/>
              </a:rPr>
              <a:t>TWM：自然资源治理世界模型</a:t>
            </a:r>
            <a:endParaRPr lang="en-US" sz="1430" dirty="0"/>
          </a:p>
        </p:txBody>
      </p:sp>
      <p:sp>
        <p:nvSpPr>
          <p:cNvPr id="33" name="Shape 31"/>
          <p:cNvSpPr/>
          <p:nvPr/>
        </p:nvSpPr>
        <p:spPr>
          <a:xfrm>
            <a:off x="5559552" y="2359152"/>
            <a:ext cx="932688" cy="256032"/>
          </a:xfrm>
          <a:prstGeom prst="roundRect">
            <a:avLst>
              <a:gd name="adj" fmla="val 50000"/>
            </a:avLst>
          </a:prstGeom>
          <a:solidFill>
            <a:srgbClr val="FFFFFF"/>
          </a:solidFill>
          <a:ln w="6350">
            <a:solidFill>
              <a:srgbClr val="FFFFFF"/>
            </a:solidFill>
            <a:prstDash val="solid"/>
          </a:ln>
        </p:spPr>
      </p:sp>
      <p:sp>
        <p:nvSpPr>
          <p:cNvPr id="34" name="Text 32"/>
          <p:cNvSpPr txBox="1"/>
          <p:nvPr/>
        </p:nvSpPr>
        <p:spPr>
          <a:xfrm>
            <a:off x="5614416" y="2382012"/>
            <a:ext cx="822960"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0E5C59"/>
                </a:solidFill>
                <a:latin typeface="Hiragino Sans GB" pitchFamily="34" charset="0"/>
                <a:ea typeface="Hiragino Sans GB" pitchFamily="34" charset="-122"/>
                <a:cs typeface="Hiragino Sans GB" pitchFamily="34" charset="-120"/>
              </a:rPr>
              <a:t>候选准入</a:t>
            </a:r>
            <a:endParaRPr lang="en-US" sz="720" dirty="0"/>
          </a:p>
        </p:txBody>
      </p:sp>
      <p:sp>
        <p:nvSpPr>
          <p:cNvPr id="35" name="Text 33"/>
          <p:cNvSpPr txBox="1"/>
          <p:nvPr/>
        </p:nvSpPr>
        <p:spPr>
          <a:xfrm>
            <a:off x="6684264" y="2350008"/>
            <a:ext cx="4498848" cy="356616"/>
          </a:xfrm>
          <a:prstGeom prst="rect">
            <a:avLst/>
          </a:prstGeom>
          <a:noFill/>
          <a:ln/>
        </p:spPr>
        <p:txBody>
          <a:bodyPr wrap="square" lIns="0" tIns="0" rIns="0" bIns="0" rtlCol="0" anchor="t">
            <a:normAutofit/>
          </a:bodyPr>
          <a:lstStyle/>
          <a:p>
            <a:pPr algn="l"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7 个候选先做空间与法定硬约束审查；4 个阻断，3 个进入合法可行域</a:t>
            </a:r>
            <a:endParaRPr lang="en-US" sz="750" dirty="0"/>
          </a:p>
        </p:txBody>
      </p:sp>
      <p:sp>
        <p:nvSpPr>
          <p:cNvPr id="36" name="Shape 34"/>
          <p:cNvSpPr/>
          <p:nvPr/>
        </p:nvSpPr>
        <p:spPr>
          <a:xfrm>
            <a:off x="5559552" y="2926080"/>
            <a:ext cx="932688" cy="256032"/>
          </a:xfrm>
          <a:prstGeom prst="roundRect">
            <a:avLst>
              <a:gd name="adj" fmla="val 50000"/>
            </a:avLst>
          </a:prstGeom>
          <a:solidFill>
            <a:srgbClr val="FFFFFF"/>
          </a:solidFill>
          <a:ln w="6350">
            <a:solidFill>
              <a:srgbClr val="FFFFFF"/>
            </a:solidFill>
            <a:prstDash val="solid"/>
          </a:ln>
        </p:spPr>
      </p:sp>
      <p:sp>
        <p:nvSpPr>
          <p:cNvPr id="37" name="Text 35"/>
          <p:cNvSpPr txBox="1"/>
          <p:nvPr/>
        </p:nvSpPr>
        <p:spPr>
          <a:xfrm>
            <a:off x="5614416" y="2948940"/>
            <a:ext cx="822960"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0E5C59"/>
                </a:solidFill>
                <a:latin typeface="Hiragino Sans GB" pitchFamily="34" charset="0"/>
                <a:ea typeface="Hiragino Sans GB" pitchFamily="34" charset="-122"/>
                <a:cs typeface="Hiragino Sans GB" pitchFamily="34" charset="-120"/>
              </a:rPr>
              <a:t>在线转移</a:t>
            </a:r>
            <a:endParaRPr lang="en-US" sz="720" dirty="0"/>
          </a:p>
        </p:txBody>
      </p:sp>
      <p:sp>
        <p:nvSpPr>
          <p:cNvPr id="38" name="Text 36"/>
          <p:cNvSpPr txBox="1"/>
          <p:nvPr/>
        </p:nvSpPr>
        <p:spPr>
          <a:xfrm>
            <a:off x="6684264" y="2916936"/>
            <a:ext cx="4498848" cy="356616"/>
          </a:xfrm>
          <a:prstGeom prst="rect">
            <a:avLst/>
          </a:prstGeom>
          <a:noFill/>
          <a:ln/>
        </p:spPr>
        <p:txBody>
          <a:bodyPr wrap="square" lIns="0" tIns="0" rIns="0" bIns="0" rtlCol="0" anchor="t">
            <a:normAutofit/>
          </a:bodyPr>
          <a:lstStyle/>
          <a:p>
            <a:pPr algn="l"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3 个合法方案各执行 3 期：Sₜ + ΔAₜ → Sₜ₊₁，共 9 次状态转移</a:t>
            </a:r>
            <a:endParaRPr lang="en-US" sz="750" dirty="0"/>
          </a:p>
        </p:txBody>
      </p:sp>
      <p:sp>
        <p:nvSpPr>
          <p:cNvPr id="39" name="Shape 37"/>
          <p:cNvSpPr/>
          <p:nvPr/>
        </p:nvSpPr>
        <p:spPr>
          <a:xfrm>
            <a:off x="5559552" y="3493008"/>
            <a:ext cx="932688" cy="256032"/>
          </a:xfrm>
          <a:prstGeom prst="roundRect">
            <a:avLst>
              <a:gd name="adj" fmla="val 50000"/>
            </a:avLst>
          </a:prstGeom>
          <a:solidFill>
            <a:srgbClr val="FFFFFF"/>
          </a:solidFill>
          <a:ln w="6350">
            <a:solidFill>
              <a:srgbClr val="FFFFFF"/>
            </a:solidFill>
            <a:prstDash val="solid"/>
          </a:ln>
        </p:spPr>
      </p:sp>
      <p:sp>
        <p:nvSpPr>
          <p:cNvPr id="40" name="Text 38"/>
          <p:cNvSpPr txBox="1"/>
          <p:nvPr/>
        </p:nvSpPr>
        <p:spPr>
          <a:xfrm>
            <a:off x="5614416" y="3515868"/>
            <a:ext cx="822960"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0E5C59"/>
                </a:solidFill>
                <a:latin typeface="Hiragino Sans GB" pitchFamily="34" charset="0"/>
                <a:ea typeface="Hiragino Sans GB" pitchFamily="34" charset="-122"/>
                <a:cs typeface="Hiragino Sans GB" pitchFamily="34" charset="-120"/>
              </a:rPr>
              <a:t>逐期重算</a:t>
            </a:r>
            <a:endParaRPr lang="en-US" sz="720" dirty="0"/>
          </a:p>
        </p:txBody>
      </p:sp>
      <p:sp>
        <p:nvSpPr>
          <p:cNvPr id="41" name="Text 39"/>
          <p:cNvSpPr txBox="1"/>
          <p:nvPr/>
        </p:nvSpPr>
        <p:spPr>
          <a:xfrm>
            <a:off x="6684264" y="3483864"/>
            <a:ext cx="4498848" cy="356616"/>
          </a:xfrm>
          <a:prstGeom prst="rect">
            <a:avLst/>
          </a:prstGeom>
          <a:noFill/>
          <a:ln/>
        </p:spPr>
        <p:txBody>
          <a:bodyPr wrap="square" lIns="0" tIns="0" rIns="0" bIns="0" rtlCol="0" anchor="t">
            <a:normAutofit/>
          </a:bodyPr>
          <a:lstStyle/>
          <a:p>
            <a:pPr algn="l"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每期重建累计几何，重算空间关系、永久基本农田、生态红线与空间目标</a:t>
            </a:r>
            <a:endParaRPr lang="en-US" sz="750" dirty="0"/>
          </a:p>
        </p:txBody>
      </p:sp>
      <p:sp>
        <p:nvSpPr>
          <p:cNvPr id="42" name="Shape 40"/>
          <p:cNvSpPr/>
          <p:nvPr/>
        </p:nvSpPr>
        <p:spPr>
          <a:xfrm>
            <a:off x="5559552" y="4059936"/>
            <a:ext cx="932688" cy="256032"/>
          </a:xfrm>
          <a:prstGeom prst="roundRect">
            <a:avLst>
              <a:gd name="adj" fmla="val 50000"/>
            </a:avLst>
          </a:prstGeom>
          <a:solidFill>
            <a:srgbClr val="FFFFFF"/>
          </a:solidFill>
          <a:ln w="6350">
            <a:solidFill>
              <a:srgbClr val="FFFFFF"/>
            </a:solidFill>
            <a:prstDash val="solid"/>
          </a:ln>
        </p:spPr>
      </p:sp>
      <p:sp>
        <p:nvSpPr>
          <p:cNvPr id="43" name="Text 41"/>
          <p:cNvSpPr txBox="1"/>
          <p:nvPr/>
        </p:nvSpPr>
        <p:spPr>
          <a:xfrm>
            <a:off x="5614416" y="4082796"/>
            <a:ext cx="822960"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0E5C59"/>
                </a:solidFill>
                <a:latin typeface="Hiragino Sans GB" pitchFamily="34" charset="0"/>
                <a:ea typeface="Hiragino Sans GB" pitchFamily="34" charset="-122"/>
                <a:cs typeface="Hiragino Sans GB" pitchFamily="34" charset="-120"/>
              </a:rPr>
              <a:t>轨迹规划</a:t>
            </a:r>
            <a:endParaRPr lang="en-US" sz="720" dirty="0"/>
          </a:p>
        </p:txBody>
      </p:sp>
      <p:sp>
        <p:nvSpPr>
          <p:cNvPr id="44" name="Text 42"/>
          <p:cNvSpPr txBox="1"/>
          <p:nvPr/>
        </p:nvSpPr>
        <p:spPr>
          <a:xfrm>
            <a:off x="6684264" y="4050792"/>
            <a:ext cx="4498848" cy="356616"/>
          </a:xfrm>
          <a:prstGeom prst="rect">
            <a:avLst/>
          </a:prstGeom>
          <a:noFill/>
          <a:ln/>
        </p:spPr>
        <p:txBody>
          <a:bodyPr wrap="square" lIns="0" tIns="0" rIns="0" bIns="0" rtlCol="0" anchor="t">
            <a:normAutofit/>
          </a:bodyPr>
          <a:lstStyle/>
          <a:p>
            <a:pPr algn="l" indent="0" marL="0">
              <a:lnSpc>
                <a:spcPct val="92000"/>
              </a:lnSpc>
              <a:buNone/>
            </a:pPr>
            <a:r>
              <a:rPr lang="en-US" sz="750" dirty="0">
                <a:solidFill>
                  <a:srgbClr val="32474D"/>
                </a:solidFill>
                <a:latin typeface="Hiragino Sans GB" pitchFamily="34" charset="0"/>
                <a:ea typeface="Hiragino Sans GB" pitchFamily="34" charset="-122"/>
                <a:cs typeface="Hiragino Sans GB" pitchFamily="34" charset="-120"/>
              </a:rPr>
              <a:t>Planner 只读取完整 trace 做跨期累计排序；旧分数和人为高分不参与选优</a:t>
            </a:r>
            <a:endParaRPr lang="en-US" sz="750" dirty="0"/>
          </a:p>
        </p:txBody>
      </p:sp>
      <p:sp>
        <p:nvSpPr>
          <p:cNvPr id="45" name="Shape 43"/>
          <p:cNvSpPr/>
          <p:nvPr/>
        </p:nvSpPr>
        <p:spPr>
          <a:xfrm>
            <a:off x="5559552" y="4626864"/>
            <a:ext cx="932688" cy="256032"/>
          </a:xfrm>
          <a:prstGeom prst="roundRect">
            <a:avLst>
              <a:gd name="adj" fmla="val 50000"/>
            </a:avLst>
          </a:prstGeom>
          <a:solidFill>
            <a:srgbClr val="E7F3EA"/>
          </a:solidFill>
          <a:ln w="6350">
            <a:solidFill>
              <a:srgbClr val="E7F3EA"/>
            </a:solidFill>
            <a:prstDash val="solid"/>
          </a:ln>
        </p:spPr>
      </p:sp>
      <p:sp>
        <p:nvSpPr>
          <p:cNvPr id="46" name="Text 44"/>
          <p:cNvSpPr txBox="1"/>
          <p:nvPr/>
        </p:nvSpPr>
        <p:spPr>
          <a:xfrm>
            <a:off x="5614416" y="4649724"/>
            <a:ext cx="822960"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失败关闭</a:t>
            </a:r>
            <a:endParaRPr lang="en-US" sz="720" dirty="0"/>
          </a:p>
        </p:txBody>
      </p:sp>
      <p:sp>
        <p:nvSpPr>
          <p:cNvPr id="47" name="Text 45"/>
          <p:cNvSpPr txBox="1"/>
          <p:nvPr/>
        </p:nvSpPr>
        <p:spPr>
          <a:xfrm>
            <a:off x="6684264" y="4617720"/>
            <a:ext cx="4498848" cy="356616"/>
          </a:xfrm>
          <a:prstGeom prst="rect">
            <a:avLst/>
          </a:prstGeom>
          <a:noFill/>
          <a:ln/>
        </p:spPr>
        <p:txBody>
          <a:bodyPr wrap="square" lIns="0" tIns="0" rIns="0" bIns="0" rtlCol="0" anchor="t">
            <a:normAutofit/>
          </a:bodyPr>
          <a:lstStyle/>
          <a:p>
            <a:pPr algn="l" indent="0" marL="0">
              <a:lnSpc>
                <a:spcPct val="92000"/>
              </a:lnSpc>
              <a:buNone/>
            </a:pPr>
            <a:r>
              <a:rPr lang="en-US" sz="750" b="1" dirty="0">
                <a:solidFill>
                  <a:srgbClr val="32474D"/>
                </a:solidFill>
                <a:latin typeface="Hiragino Sans GB" pitchFamily="34" charset="0"/>
                <a:ea typeface="Hiragino Sans GB" pitchFamily="34" charset="-122"/>
                <a:cs typeface="Hiragino Sans GB" pitchFamily="34" charset="-120"/>
              </a:rPr>
              <a:t>缺少动作几何、父子状态不连续或轨迹不完整时不产生该方案推荐</a:t>
            </a:r>
            <a:endParaRPr lang="en-US" sz="750" dirty="0"/>
          </a:p>
        </p:txBody>
      </p:sp>
      <p:sp>
        <p:nvSpPr>
          <p:cNvPr id="48" name="Shape 46"/>
          <p:cNvSpPr/>
          <p:nvPr/>
        </p:nvSpPr>
        <p:spPr>
          <a:xfrm>
            <a:off x="5577840" y="5285232"/>
            <a:ext cx="5687568" cy="301752"/>
          </a:xfrm>
          <a:prstGeom prst="roundRect">
            <a:avLst>
              <a:gd name="adj" fmla="val 12121"/>
            </a:avLst>
          </a:prstGeom>
          <a:solidFill>
            <a:srgbClr val="E7F3EA"/>
          </a:solidFill>
          <a:ln w="7620">
            <a:solidFill>
              <a:srgbClr val="2D8A57"/>
            </a:solidFill>
            <a:prstDash val="solid"/>
          </a:ln>
        </p:spPr>
      </p:sp>
      <p:sp>
        <p:nvSpPr>
          <p:cNvPr id="49" name="Text 47"/>
          <p:cNvSpPr txBox="1"/>
          <p:nvPr/>
        </p:nvSpPr>
        <p:spPr>
          <a:xfrm>
            <a:off x="5751576" y="5349240"/>
            <a:ext cx="5330952" cy="164592"/>
          </a:xfrm>
          <a:prstGeom prst="rect">
            <a:avLst/>
          </a:prstGeom>
          <a:noFill/>
          <a:ln/>
        </p:spPr>
        <p:txBody>
          <a:bodyPr wrap="square" lIns="0" tIns="0" rIns="0" bIns="0" rtlCol="0" anchor="ctr">
            <a:normAutofit/>
          </a:bodyPr>
          <a:lstStyle/>
          <a:p>
            <a:pPr algn="ctr" indent="0" marL="0">
              <a:lnSpc>
                <a:spcPct val="92000"/>
              </a:lnSpc>
              <a:buNone/>
            </a:pPr>
            <a:r>
              <a:rPr lang="en-US" sz="810" b="1" dirty="0">
                <a:solidFill>
                  <a:srgbClr val="2D8A57"/>
                </a:solidFill>
                <a:latin typeface="Hiragino Sans GB" pitchFamily="34" charset="0"/>
                <a:ea typeface="Hiragino Sans GB" pitchFamily="34" charset="-122"/>
                <a:cs typeface="Hiragino Sans GB" pitchFamily="34" charset="-120"/>
              </a:rPr>
              <a:t>当前后端：确定性 GIS / 规则机制；在线递归执行，不消费预计算时期状态</a:t>
            </a:r>
            <a:endParaRPr lang="en-US" sz="810" dirty="0"/>
          </a:p>
        </p:txBody>
      </p:sp>
      <p:sp>
        <p:nvSpPr>
          <p:cNvPr id="50" name="Shape 48"/>
          <p:cNvSpPr/>
          <p:nvPr/>
        </p:nvSpPr>
        <p:spPr>
          <a:xfrm>
            <a:off x="658368" y="6016752"/>
            <a:ext cx="10872216" cy="292608"/>
          </a:xfrm>
          <a:prstGeom prst="roundRect">
            <a:avLst>
              <a:gd name="adj" fmla="val 12500"/>
            </a:avLst>
          </a:prstGeom>
          <a:solidFill>
            <a:srgbClr val="FFF3D9"/>
          </a:solidFill>
          <a:ln w="8890">
            <a:solidFill>
              <a:srgbClr val="B17B20"/>
            </a:solidFill>
            <a:prstDash val="solid"/>
          </a:ln>
        </p:spPr>
      </p:sp>
      <p:sp>
        <p:nvSpPr>
          <p:cNvPr id="51" name="Text 49"/>
          <p:cNvSpPr txBox="1"/>
          <p:nvPr/>
        </p:nvSpPr>
        <p:spPr>
          <a:xfrm>
            <a:off x="868680" y="6071616"/>
            <a:ext cx="10451592" cy="164592"/>
          </a:xfrm>
          <a:prstGeom prst="rect">
            <a:avLst/>
          </a:prstGeom>
          <a:noFill/>
          <a:ln/>
        </p:spPr>
        <p:txBody>
          <a:bodyPr wrap="square" lIns="0" tIns="0" rIns="0" bIns="0" rtlCol="0" anchor="ctr">
            <a:normAutofit/>
          </a:bodyPr>
          <a:lstStyle/>
          <a:p>
            <a:pPr algn="ctr" indent="0" marL="0">
              <a:lnSpc>
                <a:spcPct val="92000"/>
              </a:lnSpc>
              <a:buNone/>
            </a:pPr>
            <a:r>
              <a:rPr lang="en-US" sz="830" b="1" dirty="0">
                <a:solidFill>
                  <a:srgbClr val="17252A"/>
                </a:solidFill>
                <a:latin typeface="Hiragino Sans GB" pitchFamily="34" charset="0"/>
                <a:ea typeface="Hiragino Sans GB" pitchFamily="34" charset="-122"/>
                <a:cs typeface="Hiragino Sans GB" pitchFamily="34" charset="-120"/>
              </a:rPr>
              <a:t>当前验证范围：TWM 严格执行链已完成工程验收；真实政策效果、学习型动力学与省域泛化仍待业务历史验证。</a:t>
            </a:r>
            <a:endParaRPr lang="en-US" sz="8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需求映射</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空间智能能力现状与建设边界</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规划智能体检和治理动作推演已有基础；遥感、承载力、人口产业与人地耦合能力需通过专业模型补充。</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来源：twm_space_intelligence_core_algorithm_assessment_2026-07-21.md</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26 / 29</a:t>
            </a:r>
            <a:endParaRPr lang="en-US" sz="670" dirty="0"/>
          </a:p>
        </p:txBody>
      </p:sp>
      <p:sp>
        <p:nvSpPr>
          <p:cNvPr id="10" name="Text 8"/>
          <p:cNvSpPr txBox="1"/>
          <p:nvPr/>
        </p:nvSpPr>
        <p:spPr>
          <a:xfrm>
            <a:off x="658368" y="1472184"/>
            <a:ext cx="2926080" cy="219456"/>
          </a:xfrm>
          <a:prstGeom prst="rect">
            <a:avLst/>
          </a:prstGeom>
          <a:noFill/>
          <a:ln/>
        </p:spPr>
        <p:txBody>
          <a:bodyPr wrap="square" lIns="0" tIns="0" rIns="0" bIns="0" rtlCol="0" anchor="ctr">
            <a:normAutofit/>
          </a:bodyPr>
          <a:lstStyle/>
          <a:p>
            <a:pPr algn="l" indent="0" marL="0">
              <a:lnSpc>
                <a:spcPct val="92000"/>
              </a:lnSpc>
              <a:buNone/>
            </a:pPr>
            <a:r>
              <a:rPr lang="en-US" sz="850" b="1" dirty="0">
                <a:solidFill>
                  <a:srgbClr val="6C7C80"/>
                </a:solidFill>
                <a:latin typeface="Hiragino Sans GB" pitchFamily="34" charset="0"/>
                <a:ea typeface="Hiragino Sans GB" pitchFamily="34" charset="-122"/>
                <a:cs typeface="Hiragino Sans GB" pitchFamily="34" charset="-120"/>
              </a:rPr>
              <a:t>能力项</a:t>
            </a:r>
            <a:endParaRPr lang="en-US" sz="850" dirty="0"/>
          </a:p>
        </p:txBody>
      </p:sp>
      <p:sp>
        <p:nvSpPr>
          <p:cNvPr id="11" name="Text 9"/>
          <p:cNvSpPr txBox="1"/>
          <p:nvPr/>
        </p:nvSpPr>
        <p:spPr>
          <a:xfrm>
            <a:off x="3703320" y="1472184"/>
            <a:ext cx="3749040" cy="219456"/>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6C7C80"/>
                </a:solidFill>
                <a:latin typeface="Hiragino Sans GB" pitchFamily="34" charset="0"/>
                <a:ea typeface="Hiragino Sans GB" pitchFamily="34" charset="-122"/>
                <a:cs typeface="Hiragino Sans GB" pitchFamily="34" charset="-120"/>
              </a:rPr>
              <a:t>工程覆盖判断（非精度得分）</a:t>
            </a:r>
            <a:endParaRPr lang="en-US" sz="850" dirty="0"/>
          </a:p>
        </p:txBody>
      </p:sp>
      <p:sp>
        <p:nvSpPr>
          <p:cNvPr id="12" name="Text 10"/>
          <p:cNvSpPr txBox="1"/>
          <p:nvPr/>
        </p:nvSpPr>
        <p:spPr>
          <a:xfrm>
            <a:off x="7891272" y="1472184"/>
            <a:ext cx="3273552" cy="219456"/>
          </a:xfrm>
          <a:prstGeom prst="rect">
            <a:avLst/>
          </a:prstGeom>
          <a:noFill/>
          <a:ln/>
        </p:spPr>
        <p:txBody>
          <a:bodyPr wrap="square" lIns="0" tIns="0" rIns="0" bIns="0" rtlCol="0" anchor="ctr">
            <a:normAutofit/>
          </a:bodyPr>
          <a:lstStyle/>
          <a:p>
            <a:pPr algn="ctr" indent="0" marL="0">
              <a:lnSpc>
                <a:spcPct val="92000"/>
              </a:lnSpc>
              <a:buNone/>
            </a:pPr>
            <a:r>
              <a:rPr lang="en-US" sz="850" b="1" dirty="0">
                <a:solidFill>
                  <a:srgbClr val="6C7C80"/>
                </a:solidFill>
                <a:latin typeface="Hiragino Sans GB" pitchFamily="34" charset="0"/>
                <a:ea typeface="Hiragino Sans GB" pitchFamily="34" charset="-122"/>
                <a:cs typeface="Hiragino Sans GB" pitchFamily="34" charset="-120"/>
              </a:rPr>
              <a:t>当前能力说明</a:t>
            </a:r>
            <a:endParaRPr lang="en-US" sz="850" dirty="0"/>
          </a:p>
        </p:txBody>
      </p:sp>
      <p:sp>
        <p:nvSpPr>
          <p:cNvPr id="13" name="Text 11"/>
          <p:cNvSpPr txBox="1"/>
          <p:nvPr/>
        </p:nvSpPr>
        <p:spPr>
          <a:xfrm>
            <a:off x="658368" y="1792224"/>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规划智能体检</a:t>
            </a:r>
            <a:endParaRPr lang="en-US" sz="940" dirty="0"/>
          </a:p>
        </p:txBody>
      </p:sp>
      <p:sp>
        <p:nvSpPr>
          <p:cNvPr id="14" name="Shape 12"/>
          <p:cNvSpPr/>
          <p:nvPr/>
        </p:nvSpPr>
        <p:spPr>
          <a:xfrm>
            <a:off x="3712464" y="1819656"/>
            <a:ext cx="3328416" cy="182880"/>
          </a:xfrm>
          <a:prstGeom prst="roundRect">
            <a:avLst>
              <a:gd name="adj" fmla="val 50000"/>
            </a:avLst>
          </a:prstGeom>
          <a:solidFill>
            <a:srgbClr val="EDF1F0"/>
          </a:solidFill>
          <a:ln w="12700">
            <a:solidFill>
              <a:srgbClr val="EDF1F0"/>
            </a:solidFill>
            <a:prstDash val="solid"/>
          </a:ln>
        </p:spPr>
      </p:sp>
      <p:sp>
        <p:nvSpPr>
          <p:cNvPr id="15" name="Shape 13"/>
          <p:cNvSpPr/>
          <p:nvPr/>
        </p:nvSpPr>
        <p:spPr>
          <a:xfrm>
            <a:off x="3712464" y="1819656"/>
            <a:ext cx="2596164" cy="182880"/>
          </a:xfrm>
          <a:prstGeom prst="roundRect">
            <a:avLst>
              <a:gd name="adj" fmla="val 50000"/>
            </a:avLst>
          </a:prstGeom>
          <a:solidFill>
            <a:srgbClr val="2D8A57"/>
          </a:solidFill>
          <a:ln w="12700">
            <a:solidFill>
              <a:srgbClr val="2D8A57"/>
            </a:solidFill>
            <a:prstDash val="solid"/>
          </a:ln>
        </p:spPr>
      </p:sp>
      <p:sp>
        <p:nvSpPr>
          <p:cNvPr id="16" name="Text 14"/>
          <p:cNvSpPr txBox="1"/>
          <p:nvPr/>
        </p:nvSpPr>
        <p:spPr>
          <a:xfrm>
            <a:off x="7159752" y="1783080"/>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2D8A57"/>
                </a:solidFill>
                <a:latin typeface="Hiragino Sans GB" pitchFamily="34" charset="0"/>
                <a:ea typeface="Hiragino Sans GB" pitchFamily="34" charset="-122"/>
                <a:cs typeface="Hiragino Sans GB" pitchFamily="34" charset="-120"/>
              </a:rPr>
              <a:t>较强</a:t>
            </a:r>
            <a:endParaRPr lang="en-US" sz="820" dirty="0"/>
          </a:p>
        </p:txBody>
      </p:sp>
      <p:sp>
        <p:nvSpPr>
          <p:cNvPr id="17" name="Text 15"/>
          <p:cNvSpPr txBox="1"/>
          <p:nvPr/>
        </p:nvSpPr>
        <p:spPr>
          <a:xfrm>
            <a:off x="7882128" y="1773936"/>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控制线 / 用途管制 / 审批一致性 / 复核任务</a:t>
            </a:r>
            <a:endParaRPr lang="en-US" sz="760" dirty="0"/>
          </a:p>
        </p:txBody>
      </p:sp>
      <p:sp>
        <p:nvSpPr>
          <p:cNvPr id="18" name="Shape 16"/>
          <p:cNvSpPr/>
          <p:nvPr/>
        </p:nvSpPr>
        <p:spPr>
          <a:xfrm>
            <a:off x="658368" y="2231136"/>
            <a:ext cx="10652760" cy="0"/>
          </a:xfrm>
          <a:prstGeom prst="line">
            <a:avLst/>
          </a:prstGeom>
          <a:noFill/>
          <a:ln w="5715">
            <a:solidFill>
              <a:srgbClr val="D0DBD8"/>
            </a:solidFill>
            <a:prstDash val="solid"/>
          </a:ln>
        </p:spPr>
      </p:sp>
      <p:sp>
        <p:nvSpPr>
          <p:cNvPr id="19" name="Text 17"/>
          <p:cNvSpPr txBox="1"/>
          <p:nvPr/>
        </p:nvSpPr>
        <p:spPr>
          <a:xfrm>
            <a:off x="658368" y="2404872"/>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治理动作推演</a:t>
            </a:r>
            <a:endParaRPr lang="en-US" sz="940" dirty="0"/>
          </a:p>
        </p:txBody>
      </p:sp>
      <p:sp>
        <p:nvSpPr>
          <p:cNvPr id="20" name="Shape 18"/>
          <p:cNvSpPr/>
          <p:nvPr/>
        </p:nvSpPr>
        <p:spPr>
          <a:xfrm>
            <a:off x="3712464" y="2432304"/>
            <a:ext cx="3328416" cy="182880"/>
          </a:xfrm>
          <a:prstGeom prst="roundRect">
            <a:avLst>
              <a:gd name="adj" fmla="val 50000"/>
            </a:avLst>
          </a:prstGeom>
          <a:solidFill>
            <a:srgbClr val="EDF1F0"/>
          </a:solidFill>
          <a:ln w="12700">
            <a:solidFill>
              <a:srgbClr val="EDF1F0"/>
            </a:solidFill>
            <a:prstDash val="solid"/>
          </a:ln>
        </p:spPr>
      </p:sp>
      <p:sp>
        <p:nvSpPr>
          <p:cNvPr id="21" name="Shape 19"/>
          <p:cNvSpPr/>
          <p:nvPr/>
        </p:nvSpPr>
        <p:spPr>
          <a:xfrm>
            <a:off x="3712464" y="2432304"/>
            <a:ext cx="2396460" cy="182880"/>
          </a:xfrm>
          <a:prstGeom prst="roundRect">
            <a:avLst>
              <a:gd name="adj" fmla="val 50000"/>
            </a:avLst>
          </a:prstGeom>
          <a:solidFill>
            <a:srgbClr val="137F7A"/>
          </a:solidFill>
          <a:ln w="12700">
            <a:solidFill>
              <a:srgbClr val="137F7A"/>
            </a:solidFill>
            <a:prstDash val="solid"/>
          </a:ln>
        </p:spPr>
      </p:sp>
      <p:sp>
        <p:nvSpPr>
          <p:cNvPr id="22" name="Text 20"/>
          <p:cNvSpPr txBox="1"/>
          <p:nvPr/>
        </p:nvSpPr>
        <p:spPr>
          <a:xfrm>
            <a:off x="7159752" y="2395728"/>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137F7A"/>
                </a:solidFill>
                <a:latin typeface="Hiragino Sans GB" pitchFamily="34" charset="0"/>
                <a:ea typeface="Hiragino Sans GB" pitchFamily="34" charset="-122"/>
                <a:cs typeface="Hiragino Sans GB" pitchFamily="34" charset="-120"/>
              </a:rPr>
              <a:t>较强</a:t>
            </a:r>
            <a:endParaRPr lang="en-US" sz="820" dirty="0"/>
          </a:p>
        </p:txBody>
      </p:sp>
      <p:sp>
        <p:nvSpPr>
          <p:cNvPr id="23" name="Text 21"/>
          <p:cNvSpPr txBox="1"/>
          <p:nvPr/>
        </p:nvSpPr>
        <p:spPr>
          <a:xfrm>
            <a:off x="7882128" y="2386584"/>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状态-行动-风险-效用-不确定性闭环</a:t>
            </a:r>
            <a:endParaRPr lang="en-US" sz="760" dirty="0"/>
          </a:p>
        </p:txBody>
      </p:sp>
      <p:sp>
        <p:nvSpPr>
          <p:cNvPr id="24" name="Shape 22"/>
          <p:cNvSpPr/>
          <p:nvPr/>
        </p:nvSpPr>
        <p:spPr>
          <a:xfrm>
            <a:off x="658368" y="2843784"/>
            <a:ext cx="10652760" cy="0"/>
          </a:xfrm>
          <a:prstGeom prst="line">
            <a:avLst/>
          </a:prstGeom>
          <a:noFill/>
          <a:ln w="5715">
            <a:solidFill>
              <a:srgbClr val="D0DBD8"/>
            </a:solidFill>
            <a:prstDash val="solid"/>
          </a:ln>
        </p:spPr>
      </p:sp>
      <p:sp>
        <p:nvSpPr>
          <p:cNvPr id="25" name="Text 23"/>
          <p:cNvSpPr txBox="1"/>
          <p:nvPr/>
        </p:nvSpPr>
        <p:spPr>
          <a:xfrm>
            <a:off x="658368" y="3017520"/>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违法占地 / 耕地流失风险</a:t>
            </a:r>
            <a:endParaRPr lang="en-US" sz="940" dirty="0"/>
          </a:p>
        </p:txBody>
      </p:sp>
      <p:sp>
        <p:nvSpPr>
          <p:cNvPr id="26" name="Shape 24"/>
          <p:cNvSpPr/>
          <p:nvPr/>
        </p:nvSpPr>
        <p:spPr>
          <a:xfrm>
            <a:off x="3712464" y="3044952"/>
            <a:ext cx="3328416" cy="182880"/>
          </a:xfrm>
          <a:prstGeom prst="roundRect">
            <a:avLst>
              <a:gd name="adj" fmla="val 50000"/>
            </a:avLst>
          </a:prstGeom>
          <a:solidFill>
            <a:srgbClr val="EDF1F0"/>
          </a:solidFill>
          <a:ln w="12700">
            <a:solidFill>
              <a:srgbClr val="EDF1F0"/>
            </a:solidFill>
            <a:prstDash val="solid"/>
          </a:ln>
        </p:spPr>
      </p:sp>
      <p:sp>
        <p:nvSpPr>
          <p:cNvPr id="27" name="Shape 25"/>
          <p:cNvSpPr/>
          <p:nvPr/>
        </p:nvSpPr>
        <p:spPr>
          <a:xfrm>
            <a:off x="3712464" y="3044952"/>
            <a:ext cx="1597640" cy="182880"/>
          </a:xfrm>
          <a:prstGeom prst="roundRect">
            <a:avLst>
              <a:gd name="adj" fmla="val 50000"/>
            </a:avLst>
          </a:prstGeom>
          <a:solidFill>
            <a:srgbClr val="B17B20"/>
          </a:solidFill>
          <a:ln w="12700">
            <a:solidFill>
              <a:srgbClr val="B17B20"/>
            </a:solidFill>
            <a:prstDash val="solid"/>
          </a:ln>
        </p:spPr>
      </p:sp>
      <p:sp>
        <p:nvSpPr>
          <p:cNvPr id="28" name="Text 26"/>
          <p:cNvSpPr txBox="1"/>
          <p:nvPr/>
        </p:nvSpPr>
        <p:spPr>
          <a:xfrm>
            <a:off x="7159752" y="3008376"/>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B17B20"/>
                </a:solidFill>
                <a:latin typeface="Hiragino Sans GB" pitchFamily="34" charset="0"/>
                <a:ea typeface="Hiragino Sans GB" pitchFamily="34" charset="-122"/>
                <a:cs typeface="Hiragino Sans GB" pitchFamily="34" charset="-120"/>
              </a:rPr>
              <a:t>部分覆盖</a:t>
            </a:r>
            <a:endParaRPr lang="en-US" sz="820" dirty="0"/>
          </a:p>
        </p:txBody>
      </p:sp>
      <p:sp>
        <p:nvSpPr>
          <p:cNvPr id="29" name="Text 27"/>
          <p:cNvSpPr txBox="1"/>
          <p:nvPr/>
        </p:nvSpPr>
        <p:spPr>
          <a:xfrm>
            <a:off x="7882128" y="2999232"/>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已支持既有图斑审查；独立遥感发现待闭环</a:t>
            </a:r>
            <a:endParaRPr lang="en-US" sz="760" dirty="0"/>
          </a:p>
        </p:txBody>
      </p:sp>
      <p:sp>
        <p:nvSpPr>
          <p:cNvPr id="30" name="Shape 28"/>
          <p:cNvSpPr/>
          <p:nvPr/>
        </p:nvSpPr>
        <p:spPr>
          <a:xfrm>
            <a:off x="658368" y="3456432"/>
            <a:ext cx="10652760" cy="0"/>
          </a:xfrm>
          <a:prstGeom prst="line">
            <a:avLst/>
          </a:prstGeom>
          <a:noFill/>
          <a:ln w="5715">
            <a:solidFill>
              <a:srgbClr val="D0DBD8"/>
            </a:solidFill>
            <a:prstDash val="solid"/>
          </a:ln>
        </p:spPr>
      </p:sp>
      <p:sp>
        <p:nvSpPr>
          <p:cNvPr id="31" name="Text 29"/>
          <p:cNvSpPr txBox="1"/>
          <p:nvPr/>
        </p:nvSpPr>
        <p:spPr>
          <a:xfrm>
            <a:off x="658368" y="3630168"/>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遥感智能解译</a:t>
            </a:r>
            <a:endParaRPr lang="en-US" sz="940" dirty="0"/>
          </a:p>
        </p:txBody>
      </p:sp>
      <p:sp>
        <p:nvSpPr>
          <p:cNvPr id="32" name="Shape 30"/>
          <p:cNvSpPr/>
          <p:nvPr/>
        </p:nvSpPr>
        <p:spPr>
          <a:xfrm>
            <a:off x="3712464" y="3657600"/>
            <a:ext cx="3328416" cy="182880"/>
          </a:xfrm>
          <a:prstGeom prst="roundRect">
            <a:avLst>
              <a:gd name="adj" fmla="val 50000"/>
            </a:avLst>
          </a:prstGeom>
          <a:solidFill>
            <a:srgbClr val="EDF1F0"/>
          </a:solidFill>
          <a:ln w="12700">
            <a:solidFill>
              <a:srgbClr val="EDF1F0"/>
            </a:solidFill>
            <a:prstDash val="solid"/>
          </a:ln>
        </p:spPr>
      </p:sp>
      <p:sp>
        <p:nvSpPr>
          <p:cNvPr id="33" name="Shape 31"/>
          <p:cNvSpPr/>
          <p:nvPr/>
        </p:nvSpPr>
        <p:spPr>
          <a:xfrm>
            <a:off x="3712464" y="3657600"/>
            <a:ext cx="898672" cy="182880"/>
          </a:xfrm>
          <a:prstGeom prst="roundRect">
            <a:avLst>
              <a:gd name="adj" fmla="val 50000"/>
            </a:avLst>
          </a:prstGeom>
          <a:solidFill>
            <a:srgbClr val="B17B20"/>
          </a:solidFill>
          <a:ln w="12700">
            <a:solidFill>
              <a:srgbClr val="B17B20"/>
            </a:solidFill>
            <a:prstDash val="solid"/>
          </a:ln>
        </p:spPr>
      </p:sp>
      <p:sp>
        <p:nvSpPr>
          <p:cNvPr id="34" name="Text 32"/>
          <p:cNvSpPr txBox="1"/>
          <p:nvPr/>
        </p:nvSpPr>
        <p:spPr>
          <a:xfrm>
            <a:off x="7159752" y="3621024"/>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B17B20"/>
                </a:solidFill>
                <a:latin typeface="Hiragino Sans GB" pitchFamily="34" charset="0"/>
                <a:ea typeface="Hiragino Sans GB" pitchFamily="34" charset="-122"/>
                <a:cs typeface="Hiragino Sans GB" pitchFamily="34" charset="-120"/>
              </a:rPr>
              <a:t>接入基础</a:t>
            </a:r>
            <a:endParaRPr lang="en-US" sz="820" dirty="0"/>
          </a:p>
        </p:txBody>
      </p:sp>
      <p:sp>
        <p:nvSpPr>
          <p:cNvPr id="35" name="Text 33"/>
          <p:cNvSpPr txBox="1"/>
          <p:nvPr/>
        </p:nvSpPr>
        <p:spPr>
          <a:xfrm>
            <a:off x="7882128" y="3611880"/>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已接 Sentinel / STAC / 指数；生产识别主干待建设</a:t>
            </a:r>
            <a:endParaRPr lang="en-US" sz="760" dirty="0"/>
          </a:p>
        </p:txBody>
      </p:sp>
      <p:sp>
        <p:nvSpPr>
          <p:cNvPr id="36" name="Shape 34"/>
          <p:cNvSpPr/>
          <p:nvPr/>
        </p:nvSpPr>
        <p:spPr>
          <a:xfrm>
            <a:off x="658368" y="4069080"/>
            <a:ext cx="10652760" cy="0"/>
          </a:xfrm>
          <a:prstGeom prst="line">
            <a:avLst/>
          </a:prstGeom>
          <a:noFill/>
          <a:ln w="5715">
            <a:solidFill>
              <a:srgbClr val="D0DBD8"/>
            </a:solidFill>
            <a:prstDash val="solid"/>
          </a:ln>
        </p:spPr>
      </p:sp>
      <p:sp>
        <p:nvSpPr>
          <p:cNvPr id="37" name="Text 35"/>
          <p:cNvSpPr txBox="1"/>
          <p:nvPr/>
        </p:nvSpPr>
        <p:spPr>
          <a:xfrm>
            <a:off x="658368" y="4242816"/>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承载力 AI 仿真</a:t>
            </a:r>
            <a:endParaRPr lang="en-US" sz="940" dirty="0"/>
          </a:p>
        </p:txBody>
      </p:sp>
      <p:sp>
        <p:nvSpPr>
          <p:cNvPr id="38" name="Shape 36"/>
          <p:cNvSpPr/>
          <p:nvPr/>
        </p:nvSpPr>
        <p:spPr>
          <a:xfrm>
            <a:off x="3712464" y="4270248"/>
            <a:ext cx="3328416" cy="182880"/>
          </a:xfrm>
          <a:prstGeom prst="roundRect">
            <a:avLst>
              <a:gd name="adj" fmla="val 50000"/>
            </a:avLst>
          </a:prstGeom>
          <a:solidFill>
            <a:srgbClr val="EDF1F0"/>
          </a:solidFill>
          <a:ln w="12700">
            <a:solidFill>
              <a:srgbClr val="EDF1F0"/>
            </a:solidFill>
            <a:prstDash val="solid"/>
          </a:ln>
        </p:spPr>
      </p:sp>
      <p:sp>
        <p:nvSpPr>
          <p:cNvPr id="39" name="Shape 37"/>
          <p:cNvSpPr/>
          <p:nvPr/>
        </p:nvSpPr>
        <p:spPr>
          <a:xfrm>
            <a:off x="3712464" y="4270248"/>
            <a:ext cx="399410" cy="182880"/>
          </a:xfrm>
          <a:prstGeom prst="roundRect">
            <a:avLst>
              <a:gd name="adj" fmla="val 50000"/>
            </a:avLst>
          </a:prstGeom>
          <a:solidFill>
            <a:srgbClr val="B04A50"/>
          </a:solidFill>
          <a:ln w="12700">
            <a:solidFill>
              <a:srgbClr val="B04A50"/>
            </a:solidFill>
            <a:prstDash val="solid"/>
          </a:ln>
        </p:spPr>
      </p:sp>
      <p:sp>
        <p:nvSpPr>
          <p:cNvPr id="40" name="Text 38"/>
          <p:cNvSpPr txBox="1"/>
          <p:nvPr/>
        </p:nvSpPr>
        <p:spPr>
          <a:xfrm>
            <a:off x="7159752" y="4233672"/>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B04A50"/>
                </a:solidFill>
                <a:latin typeface="Hiragino Sans GB" pitchFamily="34" charset="0"/>
                <a:ea typeface="Hiragino Sans GB" pitchFamily="34" charset="-122"/>
                <a:cs typeface="Hiragino Sans GB" pitchFamily="34" charset="-120"/>
              </a:rPr>
              <a:t>待建设</a:t>
            </a:r>
            <a:endParaRPr lang="en-US" sz="820" dirty="0"/>
          </a:p>
        </p:txBody>
      </p:sp>
      <p:sp>
        <p:nvSpPr>
          <p:cNvPr id="41" name="Text 39"/>
          <p:cNvSpPr txBox="1"/>
          <p:nvPr/>
        </p:nvSpPr>
        <p:spPr>
          <a:xfrm>
            <a:off x="7882128" y="4224528"/>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需补充水土资源、生态容量、灾害与设施容量通道</a:t>
            </a:r>
            <a:endParaRPr lang="en-US" sz="760" dirty="0"/>
          </a:p>
        </p:txBody>
      </p:sp>
      <p:sp>
        <p:nvSpPr>
          <p:cNvPr id="42" name="Shape 40"/>
          <p:cNvSpPr/>
          <p:nvPr/>
        </p:nvSpPr>
        <p:spPr>
          <a:xfrm>
            <a:off x="658368" y="4681728"/>
            <a:ext cx="10652760" cy="0"/>
          </a:xfrm>
          <a:prstGeom prst="line">
            <a:avLst/>
          </a:prstGeom>
          <a:noFill/>
          <a:ln w="5715">
            <a:solidFill>
              <a:srgbClr val="D0DBD8"/>
            </a:solidFill>
            <a:prstDash val="solid"/>
          </a:ln>
        </p:spPr>
      </p:sp>
      <p:sp>
        <p:nvSpPr>
          <p:cNvPr id="43" name="Text 41"/>
          <p:cNvSpPr txBox="1"/>
          <p:nvPr/>
        </p:nvSpPr>
        <p:spPr>
          <a:xfrm>
            <a:off x="658368" y="4855464"/>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人口产业空间模拟</a:t>
            </a:r>
            <a:endParaRPr lang="en-US" sz="940" dirty="0"/>
          </a:p>
        </p:txBody>
      </p:sp>
      <p:sp>
        <p:nvSpPr>
          <p:cNvPr id="44" name="Shape 42"/>
          <p:cNvSpPr/>
          <p:nvPr/>
        </p:nvSpPr>
        <p:spPr>
          <a:xfrm>
            <a:off x="3712464" y="4882896"/>
            <a:ext cx="3328416" cy="182880"/>
          </a:xfrm>
          <a:prstGeom prst="roundRect">
            <a:avLst>
              <a:gd name="adj" fmla="val 50000"/>
            </a:avLst>
          </a:prstGeom>
          <a:solidFill>
            <a:srgbClr val="EDF1F0"/>
          </a:solidFill>
          <a:ln w="12700">
            <a:solidFill>
              <a:srgbClr val="EDF1F0"/>
            </a:solidFill>
            <a:prstDash val="solid"/>
          </a:ln>
        </p:spPr>
      </p:sp>
      <p:sp>
        <p:nvSpPr>
          <p:cNvPr id="45" name="Shape 43"/>
          <p:cNvSpPr/>
          <p:nvPr/>
        </p:nvSpPr>
        <p:spPr>
          <a:xfrm>
            <a:off x="3712464" y="4882896"/>
            <a:ext cx="266273" cy="182880"/>
          </a:xfrm>
          <a:prstGeom prst="roundRect">
            <a:avLst>
              <a:gd name="adj" fmla="val 50000"/>
            </a:avLst>
          </a:prstGeom>
          <a:solidFill>
            <a:srgbClr val="B04A50"/>
          </a:solidFill>
          <a:ln w="12700">
            <a:solidFill>
              <a:srgbClr val="B04A50"/>
            </a:solidFill>
            <a:prstDash val="solid"/>
          </a:ln>
        </p:spPr>
      </p:sp>
      <p:sp>
        <p:nvSpPr>
          <p:cNvPr id="46" name="Text 44"/>
          <p:cNvSpPr txBox="1"/>
          <p:nvPr/>
        </p:nvSpPr>
        <p:spPr>
          <a:xfrm>
            <a:off x="7159752" y="4846320"/>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B04A50"/>
                </a:solidFill>
                <a:latin typeface="Hiragino Sans GB" pitchFamily="34" charset="0"/>
                <a:ea typeface="Hiragino Sans GB" pitchFamily="34" charset="-122"/>
                <a:cs typeface="Hiragino Sans GB" pitchFamily="34" charset="-120"/>
              </a:rPr>
              <a:t>待建设</a:t>
            </a:r>
            <a:endParaRPr lang="en-US" sz="820" dirty="0"/>
          </a:p>
        </p:txBody>
      </p:sp>
      <p:sp>
        <p:nvSpPr>
          <p:cNvPr id="47" name="Text 45"/>
          <p:cNvSpPr txBox="1"/>
          <p:nvPr/>
        </p:nvSpPr>
        <p:spPr>
          <a:xfrm>
            <a:off x="7882128" y="4837176"/>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需补充人口迁移、产业布局、就业与资源匹配动力学</a:t>
            </a:r>
            <a:endParaRPr lang="en-US" sz="760" dirty="0"/>
          </a:p>
        </p:txBody>
      </p:sp>
      <p:sp>
        <p:nvSpPr>
          <p:cNvPr id="48" name="Shape 46"/>
          <p:cNvSpPr/>
          <p:nvPr/>
        </p:nvSpPr>
        <p:spPr>
          <a:xfrm>
            <a:off x="658368" y="5294376"/>
            <a:ext cx="10652760" cy="0"/>
          </a:xfrm>
          <a:prstGeom prst="line">
            <a:avLst/>
          </a:prstGeom>
          <a:noFill/>
          <a:ln w="5715">
            <a:solidFill>
              <a:srgbClr val="D0DBD8"/>
            </a:solidFill>
            <a:prstDash val="solid"/>
          </a:ln>
        </p:spPr>
      </p:sp>
      <p:sp>
        <p:nvSpPr>
          <p:cNvPr id="49" name="Text 47"/>
          <p:cNvSpPr txBox="1"/>
          <p:nvPr/>
        </p:nvSpPr>
        <p:spPr>
          <a:xfrm>
            <a:off x="658368" y="5468112"/>
            <a:ext cx="2880360" cy="265176"/>
          </a:xfrm>
          <a:prstGeom prst="rect">
            <a:avLst/>
          </a:prstGeom>
          <a:noFill/>
          <a:ln/>
        </p:spPr>
        <p:txBody>
          <a:bodyPr wrap="square" lIns="0" tIns="0" rIns="0" bIns="0" rtlCol="0" anchor="ctr">
            <a:normAutofit/>
          </a:bodyPr>
          <a:lstStyle/>
          <a:p>
            <a:pPr algn="l" indent="0" marL="0">
              <a:lnSpc>
                <a:spcPct val="92000"/>
              </a:lnSpc>
              <a:buNone/>
            </a:pPr>
            <a:r>
              <a:rPr lang="en-US" sz="940" b="1" dirty="0">
                <a:solidFill>
                  <a:srgbClr val="17252A"/>
                </a:solidFill>
                <a:latin typeface="Hiragino Sans GB" pitchFamily="34" charset="0"/>
                <a:ea typeface="Hiragino Sans GB" pitchFamily="34" charset="-122"/>
                <a:cs typeface="Hiragino Sans GB" pitchFamily="34" charset="-120"/>
              </a:rPr>
              <a:t>人地耦合评价 / 空间错配</a:t>
            </a:r>
            <a:endParaRPr lang="en-US" sz="940" dirty="0"/>
          </a:p>
        </p:txBody>
      </p:sp>
      <p:sp>
        <p:nvSpPr>
          <p:cNvPr id="50" name="Shape 48"/>
          <p:cNvSpPr/>
          <p:nvPr/>
        </p:nvSpPr>
        <p:spPr>
          <a:xfrm>
            <a:off x="3712464" y="5495544"/>
            <a:ext cx="3328416" cy="182880"/>
          </a:xfrm>
          <a:prstGeom prst="roundRect">
            <a:avLst>
              <a:gd name="adj" fmla="val 50000"/>
            </a:avLst>
          </a:prstGeom>
          <a:solidFill>
            <a:srgbClr val="EDF1F0"/>
          </a:solidFill>
          <a:ln w="12700">
            <a:solidFill>
              <a:srgbClr val="EDF1F0"/>
            </a:solidFill>
            <a:prstDash val="solid"/>
          </a:ln>
        </p:spPr>
      </p:sp>
      <p:sp>
        <p:nvSpPr>
          <p:cNvPr id="51" name="Shape 49"/>
          <p:cNvSpPr/>
          <p:nvPr/>
        </p:nvSpPr>
        <p:spPr>
          <a:xfrm>
            <a:off x="3712464" y="5495544"/>
            <a:ext cx="266273" cy="182880"/>
          </a:xfrm>
          <a:prstGeom prst="roundRect">
            <a:avLst>
              <a:gd name="adj" fmla="val 50000"/>
            </a:avLst>
          </a:prstGeom>
          <a:solidFill>
            <a:srgbClr val="B04A50"/>
          </a:solidFill>
          <a:ln w="12700">
            <a:solidFill>
              <a:srgbClr val="B04A50"/>
            </a:solidFill>
            <a:prstDash val="solid"/>
          </a:ln>
        </p:spPr>
      </p:sp>
      <p:sp>
        <p:nvSpPr>
          <p:cNvPr id="52" name="Text 50"/>
          <p:cNvSpPr txBox="1"/>
          <p:nvPr/>
        </p:nvSpPr>
        <p:spPr>
          <a:xfrm>
            <a:off x="7159752" y="5458968"/>
            <a:ext cx="566928" cy="246888"/>
          </a:xfrm>
          <a:prstGeom prst="rect">
            <a:avLst/>
          </a:prstGeom>
          <a:noFill/>
          <a:ln/>
        </p:spPr>
        <p:txBody>
          <a:bodyPr wrap="square" lIns="0" tIns="0" rIns="0" bIns="0" rtlCol="0" anchor="ctr">
            <a:normAutofit/>
          </a:bodyPr>
          <a:lstStyle/>
          <a:p>
            <a:pPr algn="ctr" indent="0" marL="0">
              <a:lnSpc>
                <a:spcPct val="92000"/>
              </a:lnSpc>
              <a:buNone/>
            </a:pPr>
            <a:r>
              <a:rPr lang="en-US" sz="820" b="1" dirty="0">
                <a:solidFill>
                  <a:srgbClr val="B04A50"/>
                </a:solidFill>
                <a:latin typeface="Hiragino Sans GB" pitchFamily="34" charset="0"/>
                <a:ea typeface="Hiragino Sans GB" pitchFamily="34" charset="-122"/>
                <a:cs typeface="Hiragino Sans GB" pitchFamily="34" charset="-120"/>
              </a:rPr>
              <a:t>待建设</a:t>
            </a:r>
            <a:endParaRPr lang="en-US" sz="820" dirty="0"/>
          </a:p>
        </p:txBody>
      </p:sp>
      <p:sp>
        <p:nvSpPr>
          <p:cNvPr id="53" name="Text 51"/>
          <p:cNvSpPr txBox="1"/>
          <p:nvPr/>
        </p:nvSpPr>
        <p:spPr>
          <a:xfrm>
            <a:off x="7882128" y="5449824"/>
            <a:ext cx="3429000" cy="310896"/>
          </a:xfrm>
          <a:prstGeom prst="rect">
            <a:avLst/>
          </a:prstGeom>
          <a:noFill/>
          <a:ln/>
        </p:spPr>
        <p:txBody>
          <a:bodyPr wrap="square" lIns="0" tIns="0" rIns="0" bIns="0" rtlCol="0" anchor="ctr">
            <a:normAutofit/>
          </a:bodyPr>
          <a:lstStyle/>
          <a:p>
            <a:pPr algn="l" indent="0" marL="0">
              <a:lnSpc>
                <a:spcPct val="92000"/>
              </a:lnSpc>
              <a:buNone/>
            </a:pPr>
            <a:r>
              <a:rPr lang="en-US" sz="760" dirty="0">
                <a:solidFill>
                  <a:srgbClr val="32474D"/>
                </a:solidFill>
                <a:latin typeface="Hiragino Sans GB" pitchFamily="34" charset="0"/>
                <a:ea typeface="Hiragino Sans GB" pitchFamily="34" charset="-122"/>
                <a:cs typeface="Hiragino Sans GB" pitchFamily="34" charset="-120"/>
              </a:rPr>
              <a:t>需建立统一目标函数、跨区流动与真实行动结果数据</a:t>
            </a:r>
            <a:endParaRPr lang="en-US" sz="760" dirty="0"/>
          </a:p>
        </p:txBody>
      </p:sp>
      <p:sp>
        <p:nvSpPr>
          <p:cNvPr id="54" name="Shape 52"/>
          <p:cNvSpPr/>
          <p:nvPr/>
        </p:nvSpPr>
        <p:spPr>
          <a:xfrm>
            <a:off x="658368" y="5907024"/>
            <a:ext cx="10652760" cy="0"/>
          </a:xfrm>
          <a:prstGeom prst="line">
            <a:avLst/>
          </a:prstGeom>
          <a:noFill/>
          <a:ln w="5715">
            <a:solidFill>
              <a:srgbClr val="D0DBD8"/>
            </a:solidFill>
            <a:prstDash val="solid"/>
          </a:ln>
        </p:spPr>
      </p:sp>
      <p:sp>
        <p:nvSpPr>
          <p:cNvPr id="55" name="Shape 53"/>
          <p:cNvSpPr/>
          <p:nvPr/>
        </p:nvSpPr>
        <p:spPr>
          <a:xfrm>
            <a:off x="658368" y="6153912"/>
            <a:ext cx="10872216" cy="219456"/>
          </a:xfrm>
          <a:prstGeom prst="roundRect">
            <a:avLst>
              <a:gd name="adj" fmla="val 12500"/>
            </a:avLst>
          </a:prstGeom>
          <a:solidFill>
            <a:srgbClr val="102F34"/>
          </a:solidFill>
          <a:ln w="12700">
            <a:solidFill>
              <a:srgbClr val="102F34"/>
            </a:solidFill>
            <a:prstDash val="solid"/>
          </a:ln>
        </p:spPr>
      </p:sp>
      <p:sp>
        <p:nvSpPr>
          <p:cNvPr id="56" name="Text 54"/>
          <p:cNvSpPr txBox="1"/>
          <p:nvPr/>
        </p:nvSpPr>
        <p:spPr>
          <a:xfrm>
            <a:off x="850392" y="6190488"/>
            <a:ext cx="10497312" cy="137160"/>
          </a:xfrm>
          <a:prstGeom prst="rect">
            <a:avLst/>
          </a:prstGeom>
          <a:noFill/>
          <a:ln/>
        </p:spPr>
        <p:txBody>
          <a:bodyPr wrap="square" lIns="0" tIns="0" rIns="0" bIns="0" rtlCol="0" anchor="ctr">
            <a:normAutofit/>
          </a:bodyPr>
          <a:lstStyle/>
          <a:p>
            <a:pPr algn="ctr" indent="0" marL="0">
              <a:lnSpc>
                <a:spcPct val="92000"/>
              </a:lnSpc>
              <a:buNone/>
            </a:pPr>
            <a:r>
              <a:rPr lang="en-US" sz="780" b="1" dirty="0">
                <a:solidFill>
                  <a:srgbClr val="FFFFFF"/>
                </a:solidFill>
                <a:latin typeface="Hiragino Sans GB" pitchFamily="34" charset="0"/>
                <a:ea typeface="Hiragino Sans GB" pitchFamily="34" charset="-122"/>
                <a:cs typeface="Hiragino Sans GB" pitchFamily="34" charset="-120"/>
              </a:rPr>
              <a:t>建设定位：TWM 作为自然资源空间世界模型与决策内核，专业模型通过统一契约进入状态、转移和评价闭环。</a:t>
            </a:r>
            <a:endParaRPr lang="en-US" sz="7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证据与落地</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省级试点：证据分层与分阶段实施路径</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现有工程和研究证据已具备联合试点基础，省域通用能力需通过真实业务闭环逐级验证。</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来源：Paper9v2 E2E；TWM runtime benchmark / validation bundle；DAM-GK terminal adjudication；production input requirements</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27 / 29</a:t>
            </a:r>
            <a:endParaRPr lang="en-US" sz="670" dirty="0"/>
          </a:p>
        </p:txBody>
      </p:sp>
      <p:sp>
        <p:nvSpPr>
          <p:cNvPr id="10" name="Shape 8"/>
          <p:cNvSpPr/>
          <p:nvPr/>
        </p:nvSpPr>
        <p:spPr>
          <a:xfrm>
            <a:off x="548640" y="1490472"/>
            <a:ext cx="3429000" cy="1920240"/>
          </a:xfrm>
          <a:prstGeom prst="roundRect">
            <a:avLst>
              <a:gd name="adj" fmla="val 2381"/>
            </a:avLst>
          </a:prstGeom>
          <a:solidFill>
            <a:srgbClr val="FFFFFF"/>
          </a:solidFill>
          <a:ln w="11430">
            <a:solidFill>
              <a:srgbClr val="2D8A57"/>
            </a:solidFill>
            <a:prstDash val="solid"/>
          </a:ln>
        </p:spPr>
      </p:sp>
      <p:sp>
        <p:nvSpPr>
          <p:cNvPr id="11" name="Shape 9"/>
          <p:cNvSpPr/>
          <p:nvPr/>
        </p:nvSpPr>
        <p:spPr>
          <a:xfrm>
            <a:off x="548640" y="1490472"/>
            <a:ext cx="3429000" cy="448056"/>
          </a:xfrm>
          <a:prstGeom prst="roundRect">
            <a:avLst>
              <a:gd name="adj" fmla="val 10204"/>
            </a:avLst>
          </a:prstGeom>
          <a:solidFill>
            <a:srgbClr val="E7F3EA"/>
          </a:solidFill>
          <a:ln w="8890">
            <a:solidFill>
              <a:srgbClr val="2D8A57"/>
            </a:solidFill>
            <a:prstDash val="solid"/>
          </a:ln>
        </p:spPr>
      </p:sp>
      <p:sp>
        <p:nvSpPr>
          <p:cNvPr id="12" name="Text 10"/>
          <p:cNvSpPr txBox="1"/>
          <p:nvPr/>
        </p:nvSpPr>
        <p:spPr>
          <a:xfrm>
            <a:off x="676656" y="1609344"/>
            <a:ext cx="3172968" cy="219456"/>
          </a:xfrm>
          <a:prstGeom prst="rect">
            <a:avLst/>
          </a:prstGeom>
          <a:noFill/>
          <a:ln/>
        </p:spPr>
        <p:txBody>
          <a:bodyPr wrap="square" lIns="0" tIns="0" rIns="0" bIns="0" rtlCol="0" anchor="ctr">
            <a:normAutofit/>
          </a:bodyPr>
          <a:lstStyle/>
          <a:p>
            <a:pPr algn="ctr" indent="0" marL="0">
              <a:lnSpc>
                <a:spcPct val="92000"/>
              </a:lnSpc>
              <a:buNone/>
            </a:pPr>
            <a:r>
              <a:rPr lang="en-US" sz="1120" b="1" dirty="0">
                <a:solidFill>
                  <a:srgbClr val="2D8A57"/>
                </a:solidFill>
                <a:latin typeface="Hiragino Sans GB" pitchFamily="34" charset="0"/>
                <a:ea typeface="Hiragino Sans GB" pitchFamily="34" charset="-122"/>
                <a:cs typeface="Hiragino Sans GB" pitchFamily="34" charset="-120"/>
              </a:rPr>
              <a:t>已有工程证据</a:t>
            </a:r>
            <a:endParaRPr lang="en-US" sz="1120" dirty="0"/>
          </a:p>
        </p:txBody>
      </p:sp>
      <p:sp>
        <p:nvSpPr>
          <p:cNvPr id="13" name="Shape 11"/>
          <p:cNvSpPr/>
          <p:nvPr/>
        </p:nvSpPr>
        <p:spPr>
          <a:xfrm>
            <a:off x="768096" y="2235708"/>
            <a:ext cx="64008" cy="64008"/>
          </a:xfrm>
          <a:prstGeom prst="ellipse">
            <a:avLst/>
          </a:prstGeom>
          <a:solidFill>
            <a:srgbClr val="2D8A57"/>
          </a:solidFill>
          <a:ln w="8890">
            <a:solidFill>
              <a:srgbClr val="2D8A57"/>
            </a:solidFill>
            <a:prstDash val="solid"/>
          </a:ln>
        </p:spPr>
      </p:sp>
      <p:sp>
        <p:nvSpPr>
          <p:cNvPr id="14" name="Text 12"/>
          <p:cNvSpPr txBox="1"/>
          <p:nvPr/>
        </p:nvSpPr>
        <p:spPr>
          <a:xfrm>
            <a:off x="905256" y="2139696"/>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Paper9 双县真实数据 E2E hard gate 通过</a:t>
            </a:r>
            <a:endParaRPr lang="en-US" sz="770" dirty="0"/>
          </a:p>
        </p:txBody>
      </p:sp>
      <p:sp>
        <p:nvSpPr>
          <p:cNvPr id="15" name="Shape 13"/>
          <p:cNvSpPr/>
          <p:nvPr/>
        </p:nvSpPr>
        <p:spPr>
          <a:xfrm>
            <a:off x="768096" y="2628900"/>
            <a:ext cx="64008" cy="64008"/>
          </a:xfrm>
          <a:prstGeom prst="ellipse">
            <a:avLst/>
          </a:prstGeom>
          <a:solidFill>
            <a:srgbClr val="2D8A57"/>
          </a:solidFill>
          <a:ln w="8890">
            <a:solidFill>
              <a:srgbClr val="2D8A57"/>
            </a:solidFill>
            <a:prstDash val="solid"/>
          </a:ln>
        </p:spPr>
      </p:sp>
      <p:sp>
        <p:nvSpPr>
          <p:cNvPr id="16" name="Text 14"/>
          <p:cNvSpPr txBox="1"/>
          <p:nvPr/>
        </p:nvSpPr>
        <p:spPr>
          <a:xfrm>
            <a:off x="905256" y="2532888"/>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TWM：3 个合法方案 × 3 期在线递归转移</a:t>
            </a:r>
            <a:endParaRPr lang="en-US" sz="770" dirty="0"/>
          </a:p>
        </p:txBody>
      </p:sp>
      <p:sp>
        <p:nvSpPr>
          <p:cNvPr id="17" name="Shape 15"/>
          <p:cNvSpPr/>
          <p:nvPr/>
        </p:nvSpPr>
        <p:spPr>
          <a:xfrm>
            <a:off x="768096" y="3022092"/>
            <a:ext cx="64008" cy="64008"/>
          </a:xfrm>
          <a:prstGeom prst="ellipse">
            <a:avLst/>
          </a:prstGeom>
          <a:solidFill>
            <a:srgbClr val="2D8A57"/>
          </a:solidFill>
          <a:ln w="8890">
            <a:solidFill>
              <a:srgbClr val="2D8A57"/>
            </a:solidFill>
            <a:prstDash val="solid"/>
          </a:ln>
        </p:spPr>
      </p:sp>
      <p:sp>
        <p:nvSpPr>
          <p:cNvPr id="18" name="Text 16"/>
          <p:cNvSpPr txBox="1"/>
          <p:nvPr/>
        </p:nvSpPr>
        <p:spPr>
          <a:xfrm>
            <a:off x="905256" y="2926080"/>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9 次状态写回、约束重算与 trace-only 选优通过</a:t>
            </a:r>
            <a:endParaRPr lang="en-US" sz="770" dirty="0"/>
          </a:p>
        </p:txBody>
      </p:sp>
      <p:sp>
        <p:nvSpPr>
          <p:cNvPr id="19" name="Shape 17"/>
          <p:cNvSpPr/>
          <p:nvPr/>
        </p:nvSpPr>
        <p:spPr>
          <a:xfrm>
            <a:off x="4370832" y="1490472"/>
            <a:ext cx="3429000" cy="1920240"/>
          </a:xfrm>
          <a:prstGeom prst="roundRect">
            <a:avLst>
              <a:gd name="adj" fmla="val 2381"/>
            </a:avLst>
          </a:prstGeom>
          <a:solidFill>
            <a:srgbClr val="FFFFFF"/>
          </a:solidFill>
          <a:ln w="11430">
            <a:solidFill>
              <a:srgbClr val="B17B20"/>
            </a:solidFill>
            <a:prstDash val="solid"/>
          </a:ln>
        </p:spPr>
      </p:sp>
      <p:sp>
        <p:nvSpPr>
          <p:cNvPr id="20" name="Shape 18"/>
          <p:cNvSpPr/>
          <p:nvPr/>
        </p:nvSpPr>
        <p:spPr>
          <a:xfrm>
            <a:off x="4370832" y="1490472"/>
            <a:ext cx="3429000" cy="448056"/>
          </a:xfrm>
          <a:prstGeom prst="roundRect">
            <a:avLst>
              <a:gd name="adj" fmla="val 10204"/>
            </a:avLst>
          </a:prstGeom>
          <a:solidFill>
            <a:srgbClr val="FFF3D9"/>
          </a:solidFill>
          <a:ln w="8890">
            <a:solidFill>
              <a:srgbClr val="B17B20"/>
            </a:solidFill>
            <a:prstDash val="solid"/>
          </a:ln>
        </p:spPr>
      </p:sp>
      <p:sp>
        <p:nvSpPr>
          <p:cNvPr id="21" name="Text 19"/>
          <p:cNvSpPr txBox="1"/>
          <p:nvPr/>
        </p:nvSpPr>
        <p:spPr>
          <a:xfrm>
            <a:off x="4498848" y="1609344"/>
            <a:ext cx="3172968" cy="219456"/>
          </a:xfrm>
          <a:prstGeom prst="rect">
            <a:avLst/>
          </a:prstGeom>
          <a:noFill/>
          <a:ln/>
        </p:spPr>
        <p:txBody>
          <a:bodyPr wrap="square" lIns="0" tIns="0" rIns="0" bIns="0" rtlCol="0" anchor="ctr">
            <a:normAutofit/>
          </a:bodyPr>
          <a:lstStyle/>
          <a:p>
            <a:pPr algn="ctr" indent="0" marL="0">
              <a:lnSpc>
                <a:spcPct val="92000"/>
              </a:lnSpc>
              <a:buNone/>
            </a:pPr>
            <a:r>
              <a:rPr lang="en-US" sz="1120" b="1" dirty="0">
                <a:solidFill>
                  <a:srgbClr val="B17B20"/>
                </a:solidFill>
                <a:latin typeface="Hiragino Sans GB" pitchFamily="34" charset="0"/>
                <a:ea typeface="Hiragino Sans GB" pitchFamily="34" charset="-122"/>
                <a:cs typeface="Hiragino Sans GB" pitchFamily="34" charset="-120"/>
              </a:rPr>
              <a:t>已有研究证据</a:t>
            </a:r>
            <a:endParaRPr lang="en-US" sz="1120" dirty="0"/>
          </a:p>
        </p:txBody>
      </p:sp>
      <p:sp>
        <p:nvSpPr>
          <p:cNvPr id="22" name="Shape 20"/>
          <p:cNvSpPr/>
          <p:nvPr/>
        </p:nvSpPr>
        <p:spPr>
          <a:xfrm>
            <a:off x="4590288" y="2235708"/>
            <a:ext cx="64008" cy="64008"/>
          </a:xfrm>
          <a:prstGeom prst="ellipse">
            <a:avLst/>
          </a:prstGeom>
          <a:solidFill>
            <a:srgbClr val="B17B20"/>
          </a:solidFill>
          <a:ln w="8890">
            <a:solidFill>
              <a:srgbClr val="B17B20"/>
            </a:solidFill>
            <a:prstDash val="solid"/>
          </a:ln>
        </p:spPr>
      </p:sp>
      <p:sp>
        <p:nvSpPr>
          <p:cNvPr id="23" name="Text 21"/>
          <p:cNvSpPr txBox="1"/>
          <p:nvPr/>
        </p:nvSpPr>
        <p:spPr>
          <a:xfrm>
            <a:off x="4727448" y="2139696"/>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TWM / FLUS 多协议比较已报告正负结果</a:t>
            </a:r>
            <a:endParaRPr lang="en-US" sz="770" dirty="0"/>
          </a:p>
        </p:txBody>
      </p:sp>
      <p:sp>
        <p:nvSpPr>
          <p:cNvPr id="24" name="Shape 22"/>
          <p:cNvSpPr/>
          <p:nvPr/>
        </p:nvSpPr>
        <p:spPr>
          <a:xfrm>
            <a:off x="4590288" y="2628900"/>
            <a:ext cx="64008" cy="64008"/>
          </a:xfrm>
          <a:prstGeom prst="ellipse">
            <a:avLst/>
          </a:prstGeom>
          <a:solidFill>
            <a:srgbClr val="B17B20"/>
          </a:solidFill>
          <a:ln w="8890">
            <a:solidFill>
              <a:srgbClr val="B17B20"/>
            </a:solidFill>
            <a:prstDash val="solid"/>
          </a:ln>
        </p:spPr>
      </p:sp>
      <p:sp>
        <p:nvSpPr>
          <p:cNvPr id="25" name="Text 23"/>
          <p:cNvSpPr txBox="1"/>
          <p:nvPr/>
        </p:nvSpPr>
        <p:spPr>
          <a:xfrm>
            <a:off x="4727448" y="2532888"/>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Runtime 合成留出证明原型机制可运行</a:t>
            </a:r>
            <a:endParaRPr lang="en-US" sz="770" dirty="0"/>
          </a:p>
        </p:txBody>
      </p:sp>
      <p:sp>
        <p:nvSpPr>
          <p:cNvPr id="26" name="Shape 24"/>
          <p:cNvSpPr/>
          <p:nvPr/>
        </p:nvSpPr>
        <p:spPr>
          <a:xfrm>
            <a:off x="4590288" y="3022092"/>
            <a:ext cx="64008" cy="64008"/>
          </a:xfrm>
          <a:prstGeom prst="ellipse">
            <a:avLst/>
          </a:prstGeom>
          <a:solidFill>
            <a:srgbClr val="B17B20"/>
          </a:solidFill>
          <a:ln w="8890">
            <a:solidFill>
              <a:srgbClr val="B17B20"/>
            </a:solidFill>
            <a:prstDash val="solid"/>
          </a:ln>
        </p:spPr>
      </p:sp>
      <p:sp>
        <p:nvSpPr>
          <p:cNvPr id="27" name="Text 25"/>
          <p:cNvSpPr txBox="1"/>
          <p:nvPr/>
        </p:nvSpPr>
        <p:spPr>
          <a:xfrm>
            <a:off x="4727448" y="2926080"/>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DAM-GK v0.1：H1-H5 rejected；H6 超出本版范围</a:t>
            </a:r>
            <a:endParaRPr lang="en-US" sz="770" dirty="0"/>
          </a:p>
        </p:txBody>
      </p:sp>
      <p:sp>
        <p:nvSpPr>
          <p:cNvPr id="28" name="Shape 26"/>
          <p:cNvSpPr/>
          <p:nvPr/>
        </p:nvSpPr>
        <p:spPr>
          <a:xfrm>
            <a:off x="8193024" y="1490472"/>
            <a:ext cx="3429000" cy="1920240"/>
          </a:xfrm>
          <a:prstGeom prst="roundRect">
            <a:avLst>
              <a:gd name="adj" fmla="val 2381"/>
            </a:avLst>
          </a:prstGeom>
          <a:solidFill>
            <a:srgbClr val="FFFFFF"/>
          </a:solidFill>
          <a:ln w="11430">
            <a:solidFill>
              <a:srgbClr val="B04A50"/>
            </a:solidFill>
            <a:prstDash val="solid"/>
          </a:ln>
        </p:spPr>
      </p:sp>
      <p:sp>
        <p:nvSpPr>
          <p:cNvPr id="29" name="Shape 27"/>
          <p:cNvSpPr/>
          <p:nvPr/>
        </p:nvSpPr>
        <p:spPr>
          <a:xfrm>
            <a:off x="8193024" y="1490472"/>
            <a:ext cx="3429000" cy="448056"/>
          </a:xfrm>
          <a:prstGeom prst="roundRect">
            <a:avLst>
              <a:gd name="adj" fmla="val 10204"/>
            </a:avLst>
          </a:prstGeom>
          <a:solidFill>
            <a:srgbClr val="FBE9EA"/>
          </a:solidFill>
          <a:ln w="8890">
            <a:solidFill>
              <a:srgbClr val="B04A50"/>
            </a:solidFill>
            <a:prstDash val="solid"/>
          </a:ln>
        </p:spPr>
      </p:sp>
      <p:sp>
        <p:nvSpPr>
          <p:cNvPr id="30" name="Text 28"/>
          <p:cNvSpPr txBox="1"/>
          <p:nvPr/>
        </p:nvSpPr>
        <p:spPr>
          <a:xfrm>
            <a:off x="8321040" y="1609344"/>
            <a:ext cx="3172968" cy="219456"/>
          </a:xfrm>
          <a:prstGeom prst="rect">
            <a:avLst/>
          </a:prstGeom>
          <a:noFill/>
          <a:ln/>
        </p:spPr>
        <p:txBody>
          <a:bodyPr wrap="square" lIns="0" tIns="0" rIns="0" bIns="0" rtlCol="0" anchor="ctr">
            <a:normAutofit/>
          </a:bodyPr>
          <a:lstStyle/>
          <a:p>
            <a:pPr algn="ctr" indent="0" marL="0">
              <a:lnSpc>
                <a:spcPct val="92000"/>
              </a:lnSpc>
              <a:buNone/>
            </a:pPr>
            <a:r>
              <a:rPr lang="en-US" sz="1120" b="1" dirty="0">
                <a:solidFill>
                  <a:srgbClr val="B04A50"/>
                </a:solidFill>
                <a:latin typeface="Hiragino Sans GB" pitchFamily="34" charset="0"/>
                <a:ea typeface="Hiragino Sans GB" pitchFamily="34" charset="-122"/>
                <a:cs typeface="Hiragino Sans GB" pitchFamily="34" charset="-120"/>
              </a:rPr>
              <a:t>试点补充项</a:t>
            </a:r>
            <a:endParaRPr lang="en-US" sz="1120" dirty="0"/>
          </a:p>
        </p:txBody>
      </p:sp>
      <p:sp>
        <p:nvSpPr>
          <p:cNvPr id="31" name="Shape 29"/>
          <p:cNvSpPr/>
          <p:nvPr/>
        </p:nvSpPr>
        <p:spPr>
          <a:xfrm>
            <a:off x="8412480" y="2235708"/>
            <a:ext cx="64008" cy="64008"/>
          </a:xfrm>
          <a:prstGeom prst="ellipse">
            <a:avLst/>
          </a:prstGeom>
          <a:solidFill>
            <a:srgbClr val="B04A50"/>
          </a:solidFill>
          <a:ln w="8890">
            <a:solidFill>
              <a:srgbClr val="B04A50"/>
            </a:solidFill>
            <a:prstDash val="solid"/>
          </a:ln>
        </p:spPr>
      </p:sp>
      <p:sp>
        <p:nvSpPr>
          <p:cNvPr id="32" name="Text 30"/>
          <p:cNvSpPr txBox="1"/>
          <p:nvPr/>
        </p:nvSpPr>
        <p:spPr>
          <a:xfrm>
            <a:off x="8549640" y="2139696"/>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真实审批 / 整治的状态-行动-结果链</a:t>
            </a:r>
            <a:endParaRPr lang="en-US" sz="770" dirty="0"/>
          </a:p>
        </p:txBody>
      </p:sp>
      <p:sp>
        <p:nvSpPr>
          <p:cNvPr id="33" name="Shape 31"/>
          <p:cNvSpPr/>
          <p:nvPr/>
        </p:nvSpPr>
        <p:spPr>
          <a:xfrm>
            <a:off x="8412480" y="2628900"/>
            <a:ext cx="64008" cy="64008"/>
          </a:xfrm>
          <a:prstGeom prst="ellipse">
            <a:avLst/>
          </a:prstGeom>
          <a:solidFill>
            <a:srgbClr val="B04A50"/>
          </a:solidFill>
          <a:ln w="8890">
            <a:solidFill>
              <a:srgbClr val="B04A50"/>
            </a:solidFill>
            <a:prstDash val="solid"/>
          </a:ln>
        </p:spPr>
      </p:sp>
      <p:sp>
        <p:nvSpPr>
          <p:cNvPr id="34" name="Text 32"/>
          <p:cNvSpPr txBox="1"/>
          <p:nvPr/>
        </p:nvSpPr>
        <p:spPr>
          <a:xfrm>
            <a:off x="8549640" y="2532888"/>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跨区域、跨政策版本 temporal / spatial holdout</a:t>
            </a:r>
            <a:endParaRPr lang="en-US" sz="770" dirty="0"/>
          </a:p>
        </p:txBody>
      </p:sp>
      <p:sp>
        <p:nvSpPr>
          <p:cNvPr id="35" name="Shape 33"/>
          <p:cNvSpPr/>
          <p:nvPr/>
        </p:nvSpPr>
        <p:spPr>
          <a:xfrm>
            <a:off x="8412480" y="3022092"/>
            <a:ext cx="64008" cy="64008"/>
          </a:xfrm>
          <a:prstGeom prst="ellipse">
            <a:avLst/>
          </a:prstGeom>
          <a:solidFill>
            <a:srgbClr val="B04A50"/>
          </a:solidFill>
          <a:ln w="8890">
            <a:solidFill>
              <a:srgbClr val="B04A50"/>
            </a:solidFill>
            <a:prstDash val="solid"/>
          </a:ln>
        </p:spPr>
      </p:sp>
      <p:sp>
        <p:nvSpPr>
          <p:cNvPr id="36" name="Text 34"/>
          <p:cNvSpPr txBox="1"/>
          <p:nvPr/>
        </p:nvSpPr>
        <p:spPr>
          <a:xfrm>
            <a:off x="8549640" y="2926080"/>
            <a:ext cx="2834640" cy="283464"/>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共享 Runtime / Kernel 验证、负对照、因果与不确定性校准</a:t>
            </a:r>
            <a:endParaRPr lang="en-US" sz="770" dirty="0"/>
          </a:p>
        </p:txBody>
      </p:sp>
      <p:sp>
        <p:nvSpPr>
          <p:cNvPr id="37" name="Text 35"/>
          <p:cNvSpPr txBox="1"/>
          <p:nvPr/>
        </p:nvSpPr>
        <p:spPr>
          <a:xfrm>
            <a:off x="612648" y="3730752"/>
            <a:ext cx="2212848" cy="274320"/>
          </a:xfrm>
          <a:prstGeom prst="rect">
            <a:avLst/>
          </a:prstGeom>
          <a:noFill/>
          <a:ln/>
        </p:spPr>
        <p:txBody>
          <a:bodyPr wrap="square" lIns="0" tIns="0" rIns="0" bIns="0" rtlCol="0" anchor="ctr">
            <a:normAutofit/>
          </a:bodyPr>
          <a:lstStyle/>
          <a:p>
            <a:pPr algn="l" indent="0" marL="0">
              <a:lnSpc>
                <a:spcPct val="92000"/>
              </a:lnSpc>
              <a:buNone/>
            </a:pPr>
            <a:r>
              <a:rPr lang="en-US" sz="1340" b="1" dirty="0">
                <a:solidFill>
                  <a:srgbClr val="17252A"/>
                </a:solidFill>
                <a:latin typeface="Hiragino Sans GB" pitchFamily="34" charset="0"/>
                <a:ea typeface="Hiragino Sans GB" pitchFamily="34" charset="-122"/>
                <a:cs typeface="Hiragino Sans GB" pitchFamily="34" charset="-120"/>
              </a:rPr>
              <a:t>建议省级试点路径</a:t>
            </a:r>
            <a:endParaRPr lang="en-US" sz="1340" dirty="0"/>
          </a:p>
        </p:txBody>
      </p:sp>
      <p:sp>
        <p:nvSpPr>
          <p:cNvPr id="38" name="Shape 36"/>
          <p:cNvSpPr/>
          <p:nvPr/>
        </p:nvSpPr>
        <p:spPr>
          <a:xfrm>
            <a:off x="640080" y="4142232"/>
            <a:ext cx="3447288" cy="1325880"/>
          </a:xfrm>
          <a:prstGeom prst="roundRect">
            <a:avLst>
              <a:gd name="adj" fmla="val 3448"/>
            </a:avLst>
          </a:prstGeom>
          <a:solidFill>
            <a:srgbClr val="E7EFF8"/>
          </a:solidFill>
          <a:ln w="10160">
            <a:solidFill>
              <a:srgbClr val="356CA8"/>
            </a:solidFill>
            <a:prstDash val="solid"/>
          </a:ln>
        </p:spPr>
      </p:sp>
      <p:sp>
        <p:nvSpPr>
          <p:cNvPr id="39" name="Shape 37"/>
          <p:cNvSpPr/>
          <p:nvPr/>
        </p:nvSpPr>
        <p:spPr>
          <a:xfrm>
            <a:off x="804672" y="4288536"/>
            <a:ext cx="950976" cy="256032"/>
          </a:xfrm>
          <a:prstGeom prst="roundRect">
            <a:avLst>
              <a:gd name="adj" fmla="val 50000"/>
            </a:avLst>
          </a:prstGeom>
          <a:solidFill>
            <a:srgbClr val="FFFFFF"/>
          </a:solidFill>
          <a:ln w="6350">
            <a:solidFill>
              <a:srgbClr val="FFFFFF"/>
            </a:solidFill>
            <a:prstDash val="solid"/>
          </a:ln>
        </p:spPr>
      </p:sp>
      <p:sp>
        <p:nvSpPr>
          <p:cNvPr id="40" name="Text 38"/>
          <p:cNvSpPr txBox="1"/>
          <p:nvPr/>
        </p:nvSpPr>
        <p:spPr>
          <a:xfrm>
            <a:off x="859536" y="4311396"/>
            <a:ext cx="841248"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356CA8"/>
                </a:solidFill>
                <a:latin typeface="Hiragino Sans GB" pitchFamily="34" charset="0"/>
                <a:ea typeface="Hiragino Sans GB" pitchFamily="34" charset="-122"/>
                <a:cs typeface="Hiragino Sans GB" pitchFamily="34" charset="-120"/>
              </a:rPr>
              <a:t>0-3 个月</a:t>
            </a:r>
            <a:endParaRPr lang="en-US" sz="720" dirty="0"/>
          </a:p>
        </p:txBody>
      </p:sp>
      <p:sp>
        <p:nvSpPr>
          <p:cNvPr id="41" name="Text 39"/>
          <p:cNvSpPr txBox="1"/>
          <p:nvPr/>
        </p:nvSpPr>
        <p:spPr>
          <a:xfrm>
            <a:off x="1920240" y="4288536"/>
            <a:ext cx="1938528" cy="219456"/>
          </a:xfrm>
          <a:prstGeom prst="rect">
            <a:avLst/>
          </a:prstGeom>
          <a:noFill/>
          <a:ln/>
        </p:spPr>
        <p:txBody>
          <a:bodyPr wrap="square" lIns="0" tIns="0" rIns="0" bIns="0" rtlCol="0" anchor="ctr">
            <a:normAutofit/>
          </a:bodyPr>
          <a:lstStyle/>
          <a:p>
            <a:pPr algn="ctr" indent="0" marL="0">
              <a:lnSpc>
                <a:spcPct val="92000"/>
              </a:lnSpc>
              <a:buNone/>
            </a:pPr>
            <a:r>
              <a:rPr lang="en-US" sz="970" b="1" dirty="0">
                <a:solidFill>
                  <a:srgbClr val="356CA8"/>
                </a:solidFill>
                <a:latin typeface="Hiragino Sans GB" pitchFamily="34" charset="0"/>
                <a:ea typeface="Hiragino Sans GB" pitchFamily="34" charset="-122"/>
                <a:cs typeface="Hiragino Sans GB" pitchFamily="34" charset="-120"/>
              </a:rPr>
              <a:t>闭环与数据契约</a:t>
            </a:r>
            <a:endParaRPr lang="en-US" sz="970" dirty="0"/>
          </a:p>
        </p:txBody>
      </p:sp>
      <p:sp>
        <p:nvSpPr>
          <p:cNvPr id="42" name="Text 40"/>
          <p:cNvSpPr txBox="1"/>
          <p:nvPr/>
        </p:nvSpPr>
        <p:spPr>
          <a:xfrm>
            <a:off x="841248" y="4709160"/>
            <a:ext cx="3044952" cy="502920"/>
          </a:xfrm>
          <a:prstGeom prst="rect">
            <a:avLst/>
          </a:prstGeom>
          <a:noFill/>
          <a:ln/>
        </p:spPr>
        <p:txBody>
          <a:bodyPr wrap="square" lIns="0" tIns="0" rIns="0" bIns="0" rtlCol="0" anchor="t">
            <a:normAutofit/>
          </a:bodyPr>
          <a:lstStyle/>
          <a:p>
            <a:pPr algn="ctr" indent="0" marL="0">
              <a:lnSpc>
                <a:spcPct val="92000"/>
              </a:lnSpc>
              <a:buNone/>
            </a:pPr>
            <a:r>
              <a:rPr lang="en-US" sz="740" dirty="0">
                <a:solidFill>
                  <a:srgbClr val="32474D"/>
                </a:solidFill>
                <a:latin typeface="Hiragino Sans GB" pitchFamily="34" charset="0"/>
                <a:ea typeface="Hiragino Sans GB" pitchFamily="34" charset="-122"/>
                <a:cs typeface="Hiragino Sans GB" pitchFamily="34" charset="-120"/>
              </a:rPr>
              <a:t>选建设用地预审或耕地保护；冻结对象、动作、结果、政策版本、基线与权限。</a:t>
            </a:r>
            <a:endParaRPr lang="en-US" sz="740" dirty="0"/>
          </a:p>
        </p:txBody>
      </p:sp>
      <p:sp>
        <p:nvSpPr>
          <p:cNvPr id="43" name="Shape 41"/>
          <p:cNvSpPr/>
          <p:nvPr/>
        </p:nvSpPr>
        <p:spPr>
          <a:xfrm>
            <a:off x="4133088" y="4791456"/>
            <a:ext cx="256032" cy="0"/>
          </a:xfrm>
          <a:prstGeom prst="line">
            <a:avLst/>
          </a:prstGeom>
          <a:noFill/>
          <a:ln w="20320">
            <a:solidFill>
              <a:srgbClr val="6C7C80"/>
            </a:solidFill>
            <a:prstDash val="solid"/>
            <a:tailEnd type="triangle"/>
          </a:ln>
        </p:spPr>
      </p:sp>
      <p:sp>
        <p:nvSpPr>
          <p:cNvPr id="44" name="Shape 42"/>
          <p:cNvSpPr/>
          <p:nvPr/>
        </p:nvSpPr>
        <p:spPr>
          <a:xfrm>
            <a:off x="4453128" y="4142232"/>
            <a:ext cx="3447288" cy="1325880"/>
          </a:xfrm>
          <a:prstGeom prst="roundRect">
            <a:avLst>
              <a:gd name="adj" fmla="val 3448"/>
            </a:avLst>
          </a:prstGeom>
          <a:solidFill>
            <a:srgbClr val="E2F2EF"/>
          </a:solidFill>
          <a:ln w="10160">
            <a:solidFill>
              <a:srgbClr val="137F7A"/>
            </a:solidFill>
            <a:prstDash val="solid"/>
          </a:ln>
        </p:spPr>
      </p:sp>
      <p:sp>
        <p:nvSpPr>
          <p:cNvPr id="45" name="Shape 43"/>
          <p:cNvSpPr/>
          <p:nvPr/>
        </p:nvSpPr>
        <p:spPr>
          <a:xfrm>
            <a:off x="4617720" y="4288536"/>
            <a:ext cx="950976" cy="256032"/>
          </a:xfrm>
          <a:prstGeom prst="roundRect">
            <a:avLst>
              <a:gd name="adj" fmla="val 50000"/>
            </a:avLst>
          </a:prstGeom>
          <a:solidFill>
            <a:srgbClr val="FFFFFF"/>
          </a:solidFill>
          <a:ln w="6350">
            <a:solidFill>
              <a:srgbClr val="FFFFFF"/>
            </a:solidFill>
            <a:prstDash val="solid"/>
          </a:ln>
        </p:spPr>
      </p:sp>
      <p:sp>
        <p:nvSpPr>
          <p:cNvPr id="46" name="Text 44"/>
          <p:cNvSpPr txBox="1"/>
          <p:nvPr/>
        </p:nvSpPr>
        <p:spPr>
          <a:xfrm>
            <a:off x="4672584" y="4311396"/>
            <a:ext cx="841248"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137F7A"/>
                </a:solidFill>
                <a:latin typeface="Hiragino Sans GB" pitchFamily="34" charset="0"/>
                <a:ea typeface="Hiragino Sans GB" pitchFamily="34" charset="-122"/>
                <a:cs typeface="Hiragino Sans GB" pitchFamily="34" charset="-120"/>
              </a:rPr>
              <a:t>3-9 个月</a:t>
            </a:r>
            <a:endParaRPr lang="en-US" sz="720" dirty="0"/>
          </a:p>
        </p:txBody>
      </p:sp>
      <p:sp>
        <p:nvSpPr>
          <p:cNvPr id="47" name="Text 45"/>
          <p:cNvSpPr txBox="1"/>
          <p:nvPr/>
        </p:nvSpPr>
        <p:spPr>
          <a:xfrm>
            <a:off x="5733288" y="4288536"/>
            <a:ext cx="1938528" cy="219456"/>
          </a:xfrm>
          <a:prstGeom prst="rect">
            <a:avLst/>
          </a:prstGeom>
          <a:noFill/>
          <a:ln/>
        </p:spPr>
        <p:txBody>
          <a:bodyPr wrap="square" lIns="0" tIns="0" rIns="0" bIns="0" rtlCol="0" anchor="ctr">
            <a:normAutofit/>
          </a:bodyPr>
          <a:lstStyle/>
          <a:p>
            <a:pPr algn="ctr" indent="0" marL="0">
              <a:lnSpc>
                <a:spcPct val="92000"/>
              </a:lnSpc>
              <a:buNone/>
            </a:pPr>
            <a:r>
              <a:rPr lang="en-US" sz="970" b="1" dirty="0">
                <a:solidFill>
                  <a:srgbClr val="137F7A"/>
                </a:solidFill>
                <a:latin typeface="Hiragino Sans GB" pitchFamily="34" charset="0"/>
                <a:ea typeface="Hiragino Sans GB" pitchFamily="34" charset="-122"/>
                <a:cs typeface="Hiragino Sans GB" pitchFamily="34" charset="-120"/>
              </a:rPr>
              <a:t>影子运行与同题验证</a:t>
            </a:r>
            <a:endParaRPr lang="en-US" sz="970" dirty="0"/>
          </a:p>
        </p:txBody>
      </p:sp>
      <p:sp>
        <p:nvSpPr>
          <p:cNvPr id="48" name="Text 46"/>
          <p:cNvSpPr txBox="1"/>
          <p:nvPr/>
        </p:nvSpPr>
        <p:spPr>
          <a:xfrm>
            <a:off x="4654296" y="4709160"/>
            <a:ext cx="3044952" cy="502920"/>
          </a:xfrm>
          <a:prstGeom prst="rect">
            <a:avLst/>
          </a:prstGeom>
          <a:noFill/>
          <a:ln/>
        </p:spPr>
        <p:txBody>
          <a:bodyPr wrap="square" lIns="0" tIns="0" rIns="0" bIns="0" rtlCol="0" anchor="t">
            <a:normAutofit/>
          </a:bodyPr>
          <a:lstStyle/>
          <a:p>
            <a:pPr algn="ctr" indent="0" marL="0">
              <a:lnSpc>
                <a:spcPct val="92000"/>
              </a:lnSpc>
              <a:buNone/>
            </a:pPr>
            <a:r>
              <a:rPr lang="en-US" sz="740" dirty="0">
                <a:solidFill>
                  <a:srgbClr val="32474D"/>
                </a:solidFill>
                <a:latin typeface="Hiragino Sans GB" pitchFamily="34" charset="0"/>
                <a:ea typeface="Hiragino Sans GB" pitchFamily="34" charset="-122"/>
                <a:cs typeface="Hiragino Sans GB" pitchFamily="34" charset="-120"/>
              </a:rPr>
              <a:t>接入历史处置；对照人工 GIS、规则引擎、FLUS / 传统优化；做时间与区域留出。</a:t>
            </a:r>
            <a:endParaRPr lang="en-US" sz="740" dirty="0"/>
          </a:p>
        </p:txBody>
      </p:sp>
      <p:sp>
        <p:nvSpPr>
          <p:cNvPr id="49" name="Shape 47"/>
          <p:cNvSpPr/>
          <p:nvPr/>
        </p:nvSpPr>
        <p:spPr>
          <a:xfrm>
            <a:off x="7946136" y="4791456"/>
            <a:ext cx="256032" cy="0"/>
          </a:xfrm>
          <a:prstGeom prst="line">
            <a:avLst/>
          </a:prstGeom>
          <a:noFill/>
          <a:ln w="20320">
            <a:solidFill>
              <a:srgbClr val="6C7C80"/>
            </a:solidFill>
            <a:prstDash val="solid"/>
            <a:tailEnd type="triangle"/>
          </a:ln>
        </p:spPr>
      </p:sp>
      <p:sp>
        <p:nvSpPr>
          <p:cNvPr id="50" name="Shape 48"/>
          <p:cNvSpPr/>
          <p:nvPr/>
        </p:nvSpPr>
        <p:spPr>
          <a:xfrm>
            <a:off x="8266176" y="4142232"/>
            <a:ext cx="3447288" cy="1325880"/>
          </a:xfrm>
          <a:prstGeom prst="roundRect">
            <a:avLst>
              <a:gd name="adj" fmla="val 3448"/>
            </a:avLst>
          </a:prstGeom>
          <a:solidFill>
            <a:srgbClr val="E7F3EA"/>
          </a:solidFill>
          <a:ln w="10160">
            <a:solidFill>
              <a:srgbClr val="2D8A57"/>
            </a:solidFill>
            <a:prstDash val="solid"/>
          </a:ln>
        </p:spPr>
      </p:sp>
      <p:sp>
        <p:nvSpPr>
          <p:cNvPr id="51" name="Shape 49"/>
          <p:cNvSpPr/>
          <p:nvPr/>
        </p:nvSpPr>
        <p:spPr>
          <a:xfrm>
            <a:off x="8430768" y="4288536"/>
            <a:ext cx="950976" cy="256032"/>
          </a:xfrm>
          <a:prstGeom prst="roundRect">
            <a:avLst>
              <a:gd name="adj" fmla="val 50000"/>
            </a:avLst>
          </a:prstGeom>
          <a:solidFill>
            <a:srgbClr val="FFFFFF"/>
          </a:solidFill>
          <a:ln w="6350">
            <a:solidFill>
              <a:srgbClr val="FFFFFF"/>
            </a:solidFill>
            <a:prstDash val="solid"/>
          </a:ln>
        </p:spPr>
      </p:sp>
      <p:sp>
        <p:nvSpPr>
          <p:cNvPr id="52" name="Text 50"/>
          <p:cNvSpPr txBox="1"/>
          <p:nvPr/>
        </p:nvSpPr>
        <p:spPr>
          <a:xfrm>
            <a:off x="8485632" y="4311396"/>
            <a:ext cx="841248"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2D8A57"/>
                </a:solidFill>
                <a:latin typeface="Hiragino Sans GB" pitchFamily="34" charset="0"/>
                <a:ea typeface="Hiragino Sans GB" pitchFamily="34" charset="-122"/>
                <a:cs typeface="Hiragino Sans GB" pitchFamily="34" charset="-120"/>
              </a:rPr>
              <a:t>9-18 个月</a:t>
            </a:r>
            <a:endParaRPr lang="en-US" sz="720" dirty="0"/>
          </a:p>
        </p:txBody>
      </p:sp>
      <p:sp>
        <p:nvSpPr>
          <p:cNvPr id="53" name="Text 51"/>
          <p:cNvSpPr txBox="1"/>
          <p:nvPr/>
        </p:nvSpPr>
        <p:spPr>
          <a:xfrm>
            <a:off x="9546336" y="4288536"/>
            <a:ext cx="1938528" cy="219456"/>
          </a:xfrm>
          <a:prstGeom prst="rect">
            <a:avLst/>
          </a:prstGeom>
          <a:noFill/>
          <a:ln/>
        </p:spPr>
        <p:txBody>
          <a:bodyPr wrap="square" lIns="0" tIns="0" rIns="0" bIns="0" rtlCol="0" anchor="ctr">
            <a:normAutofit/>
          </a:bodyPr>
          <a:lstStyle/>
          <a:p>
            <a:pPr algn="ctr" indent="0" marL="0">
              <a:lnSpc>
                <a:spcPct val="92000"/>
              </a:lnSpc>
              <a:buNone/>
            </a:pPr>
            <a:r>
              <a:rPr lang="en-US" sz="970" b="1" dirty="0">
                <a:solidFill>
                  <a:srgbClr val="2D8A57"/>
                </a:solidFill>
                <a:latin typeface="Hiragino Sans GB" pitchFamily="34" charset="0"/>
                <a:ea typeface="Hiragino Sans GB" pitchFamily="34" charset="-122"/>
                <a:cs typeface="Hiragino Sans GB" pitchFamily="34" charset="-120"/>
              </a:rPr>
              <a:t>受控生产与扩展</a:t>
            </a:r>
            <a:endParaRPr lang="en-US" sz="970" dirty="0"/>
          </a:p>
        </p:txBody>
      </p:sp>
      <p:sp>
        <p:nvSpPr>
          <p:cNvPr id="54" name="Text 52"/>
          <p:cNvSpPr txBox="1"/>
          <p:nvPr/>
        </p:nvSpPr>
        <p:spPr>
          <a:xfrm>
            <a:off x="8467344" y="4709160"/>
            <a:ext cx="3044952" cy="502920"/>
          </a:xfrm>
          <a:prstGeom prst="rect">
            <a:avLst/>
          </a:prstGeom>
          <a:noFill/>
          <a:ln/>
        </p:spPr>
        <p:txBody>
          <a:bodyPr wrap="square" lIns="0" tIns="0" rIns="0" bIns="0" rtlCol="0" anchor="t">
            <a:normAutofit/>
          </a:bodyPr>
          <a:lstStyle/>
          <a:p>
            <a:pPr algn="ctr" indent="0" marL="0">
              <a:lnSpc>
                <a:spcPct val="92000"/>
              </a:lnSpc>
              <a:buNone/>
            </a:pPr>
            <a:r>
              <a:rPr lang="en-US" sz="740" dirty="0">
                <a:solidFill>
                  <a:srgbClr val="32474D"/>
                </a:solidFill>
                <a:latin typeface="Hiragino Sans GB" pitchFamily="34" charset="0"/>
                <a:ea typeface="Hiragino Sans GB" pitchFamily="34" charset="-122"/>
                <a:cs typeface="Hiragino Sans GB" pitchFamily="34" charset="-120"/>
              </a:rPr>
              <a:t>只输出辅助结论；上线回滚和审计；完成共享 Runtime / Kernel 绑定后再扩展专业 Kernel。</a:t>
            </a:r>
            <a:endParaRPr lang="en-US" sz="740" dirty="0"/>
          </a:p>
        </p:txBody>
      </p:sp>
      <p:sp>
        <p:nvSpPr>
          <p:cNvPr id="55" name="Shape 53"/>
          <p:cNvSpPr/>
          <p:nvPr/>
        </p:nvSpPr>
        <p:spPr>
          <a:xfrm>
            <a:off x="658368" y="5815584"/>
            <a:ext cx="10853928" cy="466344"/>
          </a:xfrm>
          <a:prstGeom prst="roundRect">
            <a:avLst>
              <a:gd name="adj" fmla="val 7843"/>
            </a:avLst>
          </a:prstGeom>
          <a:solidFill>
            <a:srgbClr val="102F34"/>
          </a:solidFill>
          <a:ln w="12700">
            <a:solidFill>
              <a:srgbClr val="102F34"/>
            </a:solidFill>
            <a:prstDash val="solid"/>
          </a:ln>
        </p:spPr>
      </p:sp>
      <p:sp>
        <p:nvSpPr>
          <p:cNvPr id="56" name="Text 54"/>
          <p:cNvSpPr txBox="1"/>
          <p:nvPr/>
        </p:nvSpPr>
        <p:spPr>
          <a:xfrm>
            <a:off x="868680" y="5916168"/>
            <a:ext cx="10451592" cy="228600"/>
          </a:xfrm>
          <a:prstGeom prst="rect">
            <a:avLst/>
          </a:prstGeom>
          <a:noFill/>
          <a:ln/>
        </p:spPr>
        <p:txBody>
          <a:bodyPr wrap="square" lIns="0" tIns="0" rIns="0" bIns="0" rtlCol="0" anchor="ctr">
            <a:normAutofit/>
          </a:bodyPr>
          <a:lstStyle/>
          <a:p>
            <a:pPr algn="ctr" indent="0" marL="0">
              <a:lnSpc>
                <a:spcPct val="92000"/>
              </a:lnSpc>
              <a:buNone/>
            </a:pPr>
            <a:r>
              <a:rPr lang="en-US" sz="870" b="1" dirty="0">
                <a:solidFill>
                  <a:srgbClr val="FFFFFF"/>
                </a:solidFill>
                <a:latin typeface="Hiragino Sans GB" pitchFamily="34" charset="0"/>
                <a:ea typeface="Hiragino Sans GB" pitchFamily="34" charset="-122"/>
                <a:cs typeface="Hiragino Sans GB" pitchFamily="34" charset="-120"/>
              </a:rPr>
              <a:t>首期验收重点：数据可追溯、动作可定义、结果可验证、失败可复演、结论可降级。</a:t>
            </a:r>
            <a:endParaRPr lang="en-US" sz="87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未来平台</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LLM + WM：空间智能体平台的目标架构</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LLM 负责语义理解、检索与编排，WM 负责状态转移、反事实推演和方案评价，GIS 与证据门控负责约束和审计。</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架构判断：GWM Research Principles；TWM technical basis；GIS Data Agent cognitive runtime</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28 / 29</a:t>
            </a:r>
            <a:endParaRPr lang="en-US" sz="670" dirty="0"/>
          </a:p>
        </p:txBody>
      </p:sp>
      <p:sp>
        <p:nvSpPr>
          <p:cNvPr id="10" name="Shape 8"/>
          <p:cNvSpPr/>
          <p:nvPr/>
        </p:nvSpPr>
        <p:spPr>
          <a:xfrm>
            <a:off x="512064" y="1554480"/>
            <a:ext cx="3163824" cy="3493008"/>
          </a:xfrm>
          <a:prstGeom prst="roundRect">
            <a:avLst>
              <a:gd name="adj" fmla="val 1734"/>
            </a:avLst>
          </a:prstGeom>
          <a:solidFill>
            <a:srgbClr val="E7EFF8"/>
          </a:solidFill>
          <a:ln w="11430">
            <a:solidFill>
              <a:srgbClr val="356CA8"/>
            </a:solidFill>
            <a:prstDash val="solid"/>
          </a:ln>
        </p:spPr>
      </p:sp>
      <p:sp>
        <p:nvSpPr>
          <p:cNvPr id="11" name="Text 9"/>
          <p:cNvSpPr txBox="1"/>
          <p:nvPr/>
        </p:nvSpPr>
        <p:spPr>
          <a:xfrm>
            <a:off x="786384" y="1837944"/>
            <a:ext cx="2615184" cy="338328"/>
          </a:xfrm>
          <a:prstGeom prst="rect">
            <a:avLst/>
          </a:prstGeom>
          <a:noFill/>
          <a:ln/>
        </p:spPr>
        <p:txBody>
          <a:bodyPr wrap="square" lIns="0" tIns="0" rIns="0" bIns="0" rtlCol="0" anchor="ctr">
            <a:normAutofit/>
          </a:bodyPr>
          <a:lstStyle/>
          <a:p>
            <a:pPr algn="ctr" indent="0" marL="0">
              <a:lnSpc>
                <a:spcPct val="92000"/>
              </a:lnSpc>
              <a:buNone/>
            </a:pPr>
            <a:r>
              <a:rPr lang="en-US" sz="1600" b="1" dirty="0">
                <a:solidFill>
                  <a:srgbClr val="356CA8"/>
                </a:solidFill>
                <a:latin typeface="Arial" pitchFamily="34" charset="0"/>
                <a:ea typeface="Arial" pitchFamily="34" charset="-122"/>
                <a:cs typeface="Arial" pitchFamily="34" charset="-120"/>
              </a:rPr>
              <a:t>LLM / Agent Runtime</a:t>
            </a:r>
            <a:endParaRPr lang="en-US" sz="1600" dirty="0"/>
          </a:p>
        </p:txBody>
      </p:sp>
      <p:sp>
        <p:nvSpPr>
          <p:cNvPr id="12" name="Shape 10"/>
          <p:cNvSpPr/>
          <p:nvPr/>
        </p:nvSpPr>
        <p:spPr>
          <a:xfrm>
            <a:off x="850392" y="2491740"/>
            <a:ext cx="64008" cy="64008"/>
          </a:xfrm>
          <a:prstGeom prst="ellipse">
            <a:avLst/>
          </a:prstGeom>
          <a:solidFill>
            <a:srgbClr val="356CA8"/>
          </a:solidFill>
          <a:ln w="8890">
            <a:solidFill>
              <a:srgbClr val="356CA8"/>
            </a:solidFill>
            <a:prstDash val="solid"/>
          </a:ln>
        </p:spPr>
      </p:sp>
      <p:sp>
        <p:nvSpPr>
          <p:cNvPr id="13" name="Text 11"/>
          <p:cNvSpPr txBox="1"/>
          <p:nvPr/>
        </p:nvSpPr>
        <p:spPr>
          <a:xfrm>
            <a:off x="987552" y="23957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理解用户目标与政策文本</a:t>
            </a:r>
            <a:endParaRPr lang="en-US" sz="860" dirty="0"/>
          </a:p>
        </p:txBody>
      </p:sp>
      <p:sp>
        <p:nvSpPr>
          <p:cNvPr id="14" name="Shape 12"/>
          <p:cNvSpPr/>
          <p:nvPr/>
        </p:nvSpPr>
        <p:spPr>
          <a:xfrm>
            <a:off x="850392" y="2948940"/>
            <a:ext cx="64008" cy="64008"/>
          </a:xfrm>
          <a:prstGeom prst="ellipse">
            <a:avLst/>
          </a:prstGeom>
          <a:solidFill>
            <a:srgbClr val="356CA8"/>
          </a:solidFill>
          <a:ln w="8890">
            <a:solidFill>
              <a:srgbClr val="356CA8"/>
            </a:solidFill>
            <a:prstDash val="solid"/>
          </a:ln>
        </p:spPr>
      </p:sp>
      <p:sp>
        <p:nvSpPr>
          <p:cNvPr id="15" name="Text 13"/>
          <p:cNvSpPr txBox="1"/>
          <p:nvPr/>
        </p:nvSpPr>
        <p:spPr>
          <a:xfrm>
            <a:off x="987552" y="28529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检索数据、规则与证据</a:t>
            </a:r>
            <a:endParaRPr lang="en-US" sz="860" dirty="0"/>
          </a:p>
        </p:txBody>
      </p:sp>
      <p:sp>
        <p:nvSpPr>
          <p:cNvPr id="16" name="Shape 14"/>
          <p:cNvSpPr/>
          <p:nvPr/>
        </p:nvSpPr>
        <p:spPr>
          <a:xfrm>
            <a:off x="850392" y="3406140"/>
            <a:ext cx="64008" cy="64008"/>
          </a:xfrm>
          <a:prstGeom prst="ellipse">
            <a:avLst/>
          </a:prstGeom>
          <a:solidFill>
            <a:srgbClr val="356CA8"/>
          </a:solidFill>
          <a:ln w="8890">
            <a:solidFill>
              <a:srgbClr val="356CA8"/>
            </a:solidFill>
            <a:prstDash val="solid"/>
          </a:ln>
        </p:spPr>
      </p:sp>
      <p:sp>
        <p:nvSpPr>
          <p:cNvPr id="17" name="Text 15"/>
          <p:cNvSpPr txBox="1"/>
          <p:nvPr/>
        </p:nvSpPr>
        <p:spPr>
          <a:xfrm>
            <a:off x="987552" y="33101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拆解任务并调用工具</a:t>
            </a:r>
            <a:endParaRPr lang="en-US" sz="860" dirty="0"/>
          </a:p>
        </p:txBody>
      </p:sp>
      <p:sp>
        <p:nvSpPr>
          <p:cNvPr id="18" name="Shape 16"/>
          <p:cNvSpPr/>
          <p:nvPr/>
        </p:nvSpPr>
        <p:spPr>
          <a:xfrm>
            <a:off x="850392" y="3863340"/>
            <a:ext cx="64008" cy="64008"/>
          </a:xfrm>
          <a:prstGeom prst="ellipse">
            <a:avLst/>
          </a:prstGeom>
          <a:solidFill>
            <a:srgbClr val="356CA8"/>
          </a:solidFill>
          <a:ln w="8890">
            <a:solidFill>
              <a:srgbClr val="356CA8"/>
            </a:solidFill>
            <a:prstDash val="solid"/>
          </a:ln>
        </p:spPr>
      </p:sp>
      <p:sp>
        <p:nvSpPr>
          <p:cNvPr id="19" name="Text 17"/>
          <p:cNvSpPr txBox="1"/>
          <p:nvPr/>
        </p:nvSpPr>
        <p:spPr>
          <a:xfrm>
            <a:off x="987552" y="37673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生成解释、报告与交互</a:t>
            </a:r>
            <a:endParaRPr lang="en-US" sz="860" dirty="0"/>
          </a:p>
        </p:txBody>
      </p:sp>
      <p:sp>
        <p:nvSpPr>
          <p:cNvPr id="20" name="Shape 18"/>
          <p:cNvSpPr/>
          <p:nvPr/>
        </p:nvSpPr>
        <p:spPr>
          <a:xfrm>
            <a:off x="850392" y="4320540"/>
            <a:ext cx="64008" cy="64008"/>
          </a:xfrm>
          <a:prstGeom prst="ellipse">
            <a:avLst/>
          </a:prstGeom>
          <a:solidFill>
            <a:srgbClr val="356CA8"/>
          </a:solidFill>
          <a:ln w="8890">
            <a:solidFill>
              <a:srgbClr val="356CA8"/>
            </a:solidFill>
            <a:prstDash val="solid"/>
          </a:ln>
        </p:spPr>
      </p:sp>
      <p:sp>
        <p:nvSpPr>
          <p:cNvPr id="21" name="Text 19"/>
          <p:cNvSpPr txBox="1"/>
          <p:nvPr/>
        </p:nvSpPr>
        <p:spPr>
          <a:xfrm>
            <a:off x="987552" y="42245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发现缺口并请求人工确认</a:t>
            </a:r>
            <a:endParaRPr lang="en-US" sz="860" dirty="0"/>
          </a:p>
        </p:txBody>
      </p:sp>
      <p:sp>
        <p:nvSpPr>
          <p:cNvPr id="22" name="Shape 20"/>
          <p:cNvSpPr/>
          <p:nvPr/>
        </p:nvSpPr>
        <p:spPr>
          <a:xfrm>
            <a:off x="896112" y="4590288"/>
            <a:ext cx="2404872" cy="256032"/>
          </a:xfrm>
          <a:prstGeom prst="roundRect">
            <a:avLst>
              <a:gd name="adj" fmla="val 50000"/>
            </a:avLst>
          </a:prstGeom>
          <a:solidFill>
            <a:srgbClr val="E7EFF8"/>
          </a:solidFill>
          <a:ln w="6350">
            <a:solidFill>
              <a:srgbClr val="E7EFF8"/>
            </a:solidFill>
            <a:prstDash val="solid"/>
          </a:ln>
        </p:spPr>
      </p:sp>
      <p:sp>
        <p:nvSpPr>
          <p:cNvPr id="23" name="Text 21"/>
          <p:cNvSpPr txBox="1"/>
          <p:nvPr/>
        </p:nvSpPr>
        <p:spPr>
          <a:xfrm>
            <a:off x="950976" y="4613148"/>
            <a:ext cx="2295144"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356CA8"/>
                </a:solidFill>
                <a:latin typeface="Hiragino Sans GB" pitchFamily="34" charset="0"/>
                <a:ea typeface="Hiragino Sans GB" pitchFamily="34" charset="-122"/>
                <a:cs typeface="Hiragino Sans GB" pitchFamily="34" charset="-120"/>
              </a:rPr>
              <a:t>语义理解与工具编排</a:t>
            </a:r>
            <a:endParaRPr lang="en-US" sz="720" dirty="0"/>
          </a:p>
        </p:txBody>
      </p:sp>
      <p:sp>
        <p:nvSpPr>
          <p:cNvPr id="24" name="Shape 22"/>
          <p:cNvSpPr/>
          <p:nvPr/>
        </p:nvSpPr>
        <p:spPr>
          <a:xfrm>
            <a:off x="3913632" y="3118104"/>
            <a:ext cx="658368" cy="0"/>
          </a:xfrm>
          <a:prstGeom prst="line">
            <a:avLst/>
          </a:prstGeom>
          <a:noFill/>
          <a:ln w="20320">
            <a:solidFill>
              <a:srgbClr val="705FA7"/>
            </a:solidFill>
            <a:prstDash val="solid"/>
            <a:tailEnd type="triangle"/>
          </a:ln>
        </p:spPr>
      </p:sp>
      <p:sp>
        <p:nvSpPr>
          <p:cNvPr id="25" name="Text 23"/>
          <p:cNvSpPr txBox="1"/>
          <p:nvPr/>
        </p:nvSpPr>
        <p:spPr>
          <a:xfrm>
            <a:off x="3694176" y="2660904"/>
            <a:ext cx="1060704" cy="365760"/>
          </a:xfrm>
          <a:prstGeom prst="rect">
            <a:avLst/>
          </a:prstGeom>
          <a:noFill/>
          <a:ln/>
        </p:spPr>
        <p:txBody>
          <a:bodyPr wrap="square" lIns="0" tIns="0" rIns="0" bIns="0" rtlCol="0" anchor="ctr">
            <a:normAutofit/>
          </a:bodyPr>
          <a:lstStyle/>
          <a:p>
            <a:pPr algn="ctr" indent="0" marL="0">
              <a:lnSpc>
                <a:spcPct val="92000"/>
              </a:lnSpc>
              <a:buNone/>
            </a:pPr>
            <a:r>
              <a:rPr lang="en-US" sz="660" b="1" dirty="0">
                <a:solidFill>
                  <a:srgbClr val="705FA7"/>
                </a:solidFill>
                <a:latin typeface="Hiragino Sans GB" pitchFamily="34" charset="0"/>
                <a:ea typeface="Hiragino Sans GB" pitchFamily="34" charset="-122"/>
                <a:cs typeface="Hiragino Sans GB" pitchFamily="34" charset="-120"/>
              </a:rPr>
              <a:t>状态 / 动作</a:t>
            </a:r>
            <a:endParaRPr lang="en-US" sz="660" dirty="0"/>
          </a:p>
          <a:p>
            <a:pPr algn="ctr" indent="0" marL="0">
              <a:lnSpc>
                <a:spcPct val="92000"/>
              </a:lnSpc>
              <a:buNone/>
            </a:pPr>
            <a:r>
              <a:rPr lang="en-US" sz="660" b="1" dirty="0">
                <a:solidFill>
                  <a:srgbClr val="705FA7"/>
                </a:solidFill>
                <a:latin typeface="Hiragino Sans GB" pitchFamily="34" charset="0"/>
                <a:ea typeface="Hiragino Sans GB" pitchFamily="34" charset="-122"/>
                <a:cs typeface="Hiragino Sans GB" pitchFamily="34" charset="-120"/>
              </a:rPr>
              <a:t>证据契约</a:t>
            </a:r>
            <a:endParaRPr lang="en-US" sz="660" dirty="0"/>
          </a:p>
        </p:txBody>
      </p:sp>
      <p:sp>
        <p:nvSpPr>
          <p:cNvPr id="26" name="Shape 24"/>
          <p:cNvSpPr/>
          <p:nvPr/>
        </p:nvSpPr>
        <p:spPr>
          <a:xfrm>
            <a:off x="4800600" y="1554480"/>
            <a:ext cx="3163824" cy="3493008"/>
          </a:xfrm>
          <a:prstGeom prst="roundRect">
            <a:avLst>
              <a:gd name="adj" fmla="val 1734"/>
            </a:avLst>
          </a:prstGeom>
          <a:solidFill>
            <a:srgbClr val="E2F2EF"/>
          </a:solidFill>
          <a:ln w="11430">
            <a:solidFill>
              <a:srgbClr val="137F7A"/>
            </a:solidFill>
            <a:prstDash val="solid"/>
          </a:ln>
        </p:spPr>
      </p:sp>
      <p:sp>
        <p:nvSpPr>
          <p:cNvPr id="27" name="Text 25"/>
          <p:cNvSpPr txBox="1"/>
          <p:nvPr/>
        </p:nvSpPr>
        <p:spPr>
          <a:xfrm>
            <a:off x="5074920" y="1837944"/>
            <a:ext cx="2615184" cy="338328"/>
          </a:xfrm>
          <a:prstGeom prst="rect">
            <a:avLst/>
          </a:prstGeom>
          <a:noFill/>
          <a:ln/>
        </p:spPr>
        <p:txBody>
          <a:bodyPr wrap="square" lIns="0" tIns="0" rIns="0" bIns="0" rtlCol="0" anchor="ctr">
            <a:normAutofit/>
          </a:bodyPr>
          <a:lstStyle/>
          <a:p>
            <a:pPr algn="ctr" indent="0" marL="0">
              <a:lnSpc>
                <a:spcPct val="92000"/>
              </a:lnSpc>
              <a:buNone/>
            </a:pPr>
            <a:r>
              <a:rPr lang="en-US" sz="1600" b="1" dirty="0">
                <a:solidFill>
                  <a:srgbClr val="0E5C59"/>
                </a:solidFill>
                <a:latin typeface="Arial" pitchFamily="34" charset="0"/>
                <a:ea typeface="Arial" pitchFamily="34" charset="-122"/>
                <a:cs typeface="Arial" pitchFamily="34" charset="-120"/>
              </a:rPr>
              <a:t>World Model Runtime</a:t>
            </a:r>
            <a:endParaRPr lang="en-US" sz="1600" dirty="0"/>
          </a:p>
        </p:txBody>
      </p:sp>
      <p:sp>
        <p:nvSpPr>
          <p:cNvPr id="28" name="Shape 26"/>
          <p:cNvSpPr/>
          <p:nvPr/>
        </p:nvSpPr>
        <p:spPr>
          <a:xfrm>
            <a:off x="5138928" y="2491740"/>
            <a:ext cx="64008" cy="64008"/>
          </a:xfrm>
          <a:prstGeom prst="ellipse">
            <a:avLst/>
          </a:prstGeom>
          <a:solidFill>
            <a:srgbClr val="137F7A"/>
          </a:solidFill>
          <a:ln w="8890">
            <a:solidFill>
              <a:srgbClr val="137F7A"/>
            </a:solidFill>
            <a:prstDash val="solid"/>
          </a:ln>
        </p:spPr>
      </p:sp>
      <p:sp>
        <p:nvSpPr>
          <p:cNvPr id="29" name="Text 27"/>
          <p:cNvSpPr txBox="1"/>
          <p:nvPr/>
        </p:nvSpPr>
        <p:spPr>
          <a:xfrm>
            <a:off x="5276088" y="23957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维护版本化世界状态</a:t>
            </a:r>
            <a:endParaRPr lang="en-US" sz="860" dirty="0"/>
          </a:p>
        </p:txBody>
      </p:sp>
      <p:sp>
        <p:nvSpPr>
          <p:cNvPr id="30" name="Shape 28"/>
          <p:cNvSpPr/>
          <p:nvPr/>
        </p:nvSpPr>
        <p:spPr>
          <a:xfrm>
            <a:off x="5138928" y="2948940"/>
            <a:ext cx="64008" cy="64008"/>
          </a:xfrm>
          <a:prstGeom prst="ellipse">
            <a:avLst/>
          </a:prstGeom>
          <a:solidFill>
            <a:srgbClr val="137F7A"/>
          </a:solidFill>
          <a:ln w="8890">
            <a:solidFill>
              <a:srgbClr val="137F7A"/>
            </a:solidFill>
            <a:prstDash val="solid"/>
          </a:ln>
        </p:spPr>
      </p:sp>
      <p:sp>
        <p:nvSpPr>
          <p:cNvPr id="31" name="Text 29"/>
          <p:cNvSpPr txBox="1"/>
          <p:nvPr/>
        </p:nvSpPr>
        <p:spPr>
          <a:xfrm>
            <a:off x="5276088" y="28529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计算行动条件状态转移</a:t>
            </a:r>
            <a:endParaRPr lang="en-US" sz="860" dirty="0"/>
          </a:p>
        </p:txBody>
      </p:sp>
      <p:sp>
        <p:nvSpPr>
          <p:cNvPr id="32" name="Shape 30"/>
          <p:cNvSpPr/>
          <p:nvPr/>
        </p:nvSpPr>
        <p:spPr>
          <a:xfrm>
            <a:off x="5138928" y="3406140"/>
            <a:ext cx="64008" cy="64008"/>
          </a:xfrm>
          <a:prstGeom prst="ellipse">
            <a:avLst/>
          </a:prstGeom>
          <a:solidFill>
            <a:srgbClr val="137F7A"/>
          </a:solidFill>
          <a:ln w="8890">
            <a:solidFill>
              <a:srgbClr val="137F7A"/>
            </a:solidFill>
            <a:prstDash val="solid"/>
          </a:ln>
        </p:spPr>
      </p:sp>
      <p:sp>
        <p:nvSpPr>
          <p:cNvPr id="33" name="Text 31"/>
          <p:cNvSpPr txBox="1"/>
          <p:nvPr/>
        </p:nvSpPr>
        <p:spPr>
          <a:xfrm>
            <a:off x="5276088" y="33101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递归 rollout 与关系重算</a:t>
            </a:r>
            <a:endParaRPr lang="en-US" sz="860" dirty="0"/>
          </a:p>
        </p:txBody>
      </p:sp>
      <p:sp>
        <p:nvSpPr>
          <p:cNvPr id="34" name="Shape 32"/>
          <p:cNvSpPr/>
          <p:nvPr/>
        </p:nvSpPr>
        <p:spPr>
          <a:xfrm>
            <a:off x="5138928" y="3863340"/>
            <a:ext cx="64008" cy="64008"/>
          </a:xfrm>
          <a:prstGeom prst="ellipse">
            <a:avLst/>
          </a:prstGeom>
          <a:solidFill>
            <a:srgbClr val="137F7A"/>
          </a:solidFill>
          <a:ln w="8890">
            <a:solidFill>
              <a:srgbClr val="137F7A"/>
            </a:solidFill>
            <a:prstDash val="solid"/>
          </a:ln>
        </p:spPr>
      </p:sp>
      <p:sp>
        <p:nvSpPr>
          <p:cNvPr id="35" name="Text 33"/>
          <p:cNvSpPr txBox="1"/>
          <p:nvPr/>
        </p:nvSpPr>
        <p:spPr>
          <a:xfrm>
            <a:off x="5276088" y="37673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输出风险、效用与不确定性</a:t>
            </a:r>
            <a:endParaRPr lang="en-US" sz="860" dirty="0"/>
          </a:p>
        </p:txBody>
      </p:sp>
      <p:sp>
        <p:nvSpPr>
          <p:cNvPr id="36" name="Shape 34"/>
          <p:cNvSpPr/>
          <p:nvPr/>
        </p:nvSpPr>
        <p:spPr>
          <a:xfrm>
            <a:off x="5138928" y="4320540"/>
            <a:ext cx="64008" cy="64008"/>
          </a:xfrm>
          <a:prstGeom prst="ellipse">
            <a:avLst/>
          </a:prstGeom>
          <a:solidFill>
            <a:srgbClr val="137F7A"/>
          </a:solidFill>
          <a:ln w="8890">
            <a:solidFill>
              <a:srgbClr val="137F7A"/>
            </a:solidFill>
            <a:prstDash val="solid"/>
          </a:ln>
        </p:spPr>
      </p:sp>
      <p:sp>
        <p:nvSpPr>
          <p:cNvPr id="37" name="Text 35"/>
          <p:cNvSpPr txBox="1"/>
          <p:nvPr/>
        </p:nvSpPr>
        <p:spPr>
          <a:xfrm>
            <a:off x="5276088" y="4224528"/>
            <a:ext cx="2331720" cy="310896"/>
          </a:xfrm>
          <a:prstGeom prst="rect">
            <a:avLst/>
          </a:prstGeom>
          <a:noFill/>
          <a:ln/>
        </p:spPr>
        <p:txBody>
          <a:bodyPr wrap="square" lIns="0" tIns="0" rIns="0" bIns="0" rtlCol="0" anchor="t">
            <a:normAutofit/>
          </a:bodyPr>
          <a:lstStyle/>
          <a:p>
            <a:pPr algn="l" indent="0" marL="0">
              <a:lnSpc>
                <a:spcPct val="90000"/>
              </a:lnSpc>
              <a:buNone/>
            </a:pPr>
            <a:r>
              <a:rPr lang="en-US" sz="860" dirty="0">
                <a:solidFill>
                  <a:srgbClr val="32474D"/>
                </a:solidFill>
                <a:latin typeface="Hiragino Sans GB" pitchFamily="34" charset="0"/>
                <a:ea typeface="Hiragino Sans GB" pitchFamily="34" charset="-122"/>
                <a:cs typeface="Hiragino Sans GB" pitchFamily="34" charset="-120"/>
              </a:rPr>
              <a:t>比较候选方案并保留 trace</a:t>
            </a:r>
            <a:endParaRPr lang="en-US" sz="860" dirty="0"/>
          </a:p>
        </p:txBody>
      </p:sp>
      <p:sp>
        <p:nvSpPr>
          <p:cNvPr id="38" name="Shape 36"/>
          <p:cNvSpPr/>
          <p:nvPr/>
        </p:nvSpPr>
        <p:spPr>
          <a:xfrm>
            <a:off x="5184648" y="4590288"/>
            <a:ext cx="2404872" cy="256032"/>
          </a:xfrm>
          <a:prstGeom prst="roundRect">
            <a:avLst>
              <a:gd name="adj" fmla="val 50000"/>
            </a:avLst>
          </a:prstGeom>
          <a:solidFill>
            <a:srgbClr val="FFFFFF"/>
          </a:solidFill>
          <a:ln w="6350">
            <a:solidFill>
              <a:srgbClr val="FFFFFF"/>
            </a:solidFill>
            <a:prstDash val="solid"/>
          </a:ln>
        </p:spPr>
      </p:sp>
      <p:sp>
        <p:nvSpPr>
          <p:cNvPr id="39" name="Text 37"/>
          <p:cNvSpPr txBox="1"/>
          <p:nvPr/>
        </p:nvSpPr>
        <p:spPr>
          <a:xfrm>
            <a:off x="5239512" y="4613148"/>
            <a:ext cx="2295144"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0E5C59"/>
                </a:solidFill>
                <a:latin typeface="Hiragino Sans GB" pitchFamily="34" charset="0"/>
                <a:ea typeface="Hiragino Sans GB" pitchFamily="34" charset="-122"/>
                <a:cs typeface="Hiragino Sans GB" pitchFamily="34" charset="-120"/>
              </a:rPr>
              <a:t>数值推演与验证门控</a:t>
            </a:r>
            <a:endParaRPr lang="en-US" sz="720" dirty="0"/>
          </a:p>
        </p:txBody>
      </p:sp>
      <p:sp>
        <p:nvSpPr>
          <p:cNvPr id="40" name="Shape 38"/>
          <p:cNvSpPr/>
          <p:nvPr/>
        </p:nvSpPr>
        <p:spPr>
          <a:xfrm>
            <a:off x="8202168" y="3118104"/>
            <a:ext cx="658368" cy="0"/>
          </a:xfrm>
          <a:prstGeom prst="line">
            <a:avLst/>
          </a:prstGeom>
          <a:noFill/>
          <a:ln w="20320">
            <a:solidFill>
              <a:srgbClr val="2D8A57"/>
            </a:solidFill>
            <a:prstDash val="solid"/>
            <a:tailEnd type="triangle"/>
          </a:ln>
        </p:spPr>
      </p:sp>
      <p:sp>
        <p:nvSpPr>
          <p:cNvPr id="41" name="Text 39"/>
          <p:cNvSpPr txBox="1"/>
          <p:nvPr/>
        </p:nvSpPr>
        <p:spPr>
          <a:xfrm>
            <a:off x="8065008" y="2660904"/>
            <a:ext cx="987552" cy="365760"/>
          </a:xfrm>
          <a:prstGeom prst="rect">
            <a:avLst/>
          </a:prstGeom>
          <a:noFill/>
          <a:ln/>
        </p:spPr>
        <p:txBody>
          <a:bodyPr wrap="square" lIns="0" tIns="0" rIns="0" bIns="0" rtlCol="0" anchor="ctr">
            <a:normAutofit/>
          </a:bodyPr>
          <a:lstStyle/>
          <a:p>
            <a:pPr algn="ctr" indent="0" marL="0">
              <a:lnSpc>
                <a:spcPct val="92000"/>
              </a:lnSpc>
              <a:buNone/>
            </a:pPr>
            <a:r>
              <a:rPr lang="en-US" sz="660" b="1" dirty="0">
                <a:solidFill>
                  <a:srgbClr val="2D8A57"/>
                </a:solidFill>
                <a:latin typeface="Hiragino Sans GB" pitchFamily="34" charset="0"/>
                <a:ea typeface="Hiragino Sans GB" pitchFamily="34" charset="-122"/>
                <a:cs typeface="Hiragino Sans GB" pitchFamily="34" charset="-120"/>
              </a:rPr>
              <a:t>工具调用</a:t>
            </a:r>
            <a:endParaRPr lang="en-US" sz="660" dirty="0"/>
          </a:p>
          <a:p>
            <a:pPr algn="ctr" indent="0" marL="0">
              <a:lnSpc>
                <a:spcPct val="92000"/>
              </a:lnSpc>
              <a:buNone/>
            </a:pPr>
            <a:r>
              <a:rPr lang="en-US" sz="660" b="1" dirty="0">
                <a:solidFill>
                  <a:srgbClr val="2D8A57"/>
                </a:solidFill>
                <a:latin typeface="Hiragino Sans GB" pitchFamily="34" charset="0"/>
                <a:ea typeface="Hiragino Sans GB" pitchFamily="34" charset="-122"/>
                <a:cs typeface="Hiragino Sans GB" pitchFamily="34" charset="-120"/>
              </a:rPr>
              <a:t>回写 / 审计</a:t>
            </a:r>
            <a:endParaRPr lang="en-US" sz="660" dirty="0"/>
          </a:p>
        </p:txBody>
      </p:sp>
      <p:sp>
        <p:nvSpPr>
          <p:cNvPr id="42" name="Shape 40"/>
          <p:cNvSpPr/>
          <p:nvPr/>
        </p:nvSpPr>
        <p:spPr>
          <a:xfrm>
            <a:off x="9089136" y="1554480"/>
            <a:ext cx="2596896" cy="3493008"/>
          </a:xfrm>
          <a:prstGeom prst="roundRect">
            <a:avLst>
              <a:gd name="adj" fmla="val 2113"/>
            </a:avLst>
          </a:prstGeom>
          <a:solidFill>
            <a:srgbClr val="E7F3EA"/>
          </a:solidFill>
          <a:ln w="11430">
            <a:solidFill>
              <a:srgbClr val="2D8A57"/>
            </a:solidFill>
            <a:prstDash val="solid"/>
          </a:ln>
        </p:spPr>
      </p:sp>
      <p:sp>
        <p:nvSpPr>
          <p:cNvPr id="43" name="Text 41"/>
          <p:cNvSpPr txBox="1"/>
          <p:nvPr/>
        </p:nvSpPr>
        <p:spPr>
          <a:xfrm>
            <a:off x="9299448" y="1837944"/>
            <a:ext cx="2176272" cy="338328"/>
          </a:xfrm>
          <a:prstGeom prst="rect">
            <a:avLst/>
          </a:prstGeom>
          <a:noFill/>
          <a:ln/>
        </p:spPr>
        <p:txBody>
          <a:bodyPr wrap="square" lIns="0" tIns="0" rIns="0" bIns="0" rtlCol="0" anchor="ctr">
            <a:normAutofit/>
          </a:bodyPr>
          <a:lstStyle/>
          <a:p>
            <a:pPr algn="ctr" indent="0" marL="0">
              <a:lnSpc>
                <a:spcPct val="92000"/>
              </a:lnSpc>
              <a:buNone/>
            </a:pPr>
            <a:r>
              <a:rPr lang="en-US" sz="1500" b="1" dirty="0">
                <a:solidFill>
                  <a:srgbClr val="2D8A57"/>
                </a:solidFill>
                <a:latin typeface="Arial" pitchFamily="34" charset="0"/>
                <a:ea typeface="Arial" pitchFamily="34" charset="-122"/>
                <a:cs typeface="Arial" pitchFamily="34" charset="-120"/>
              </a:rPr>
              <a:t>GIS + Governance</a:t>
            </a:r>
            <a:endParaRPr lang="en-US" sz="1500" dirty="0"/>
          </a:p>
        </p:txBody>
      </p:sp>
      <p:sp>
        <p:nvSpPr>
          <p:cNvPr id="44" name="Shape 42"/>
          <p:cNvSpPr/>
          <p:nvPr/>
        </p:nvSpPr>
        <p:spPr>
          <a:xfrm>
            <a:off x="9326880" y="2491740"/>
            <a:ext cx="64008" cy="64008"/>
          </a:xfrm>
          <a:prstGeom prst="ellipse">
            <a:avLst/>
          </a:prstGeom>
          <a:solidFill>
            <a:srgbClr val="2D8A57"/>
          </a:solidFill>
          <a:ln w="8890">
            <a:solidFill>
              <a:srgbClr val="2D8A57"/>
            </a:solidFill>
            <a:prstDash val="solid"/>
          </a:ln>
        </p:spPr>
      </p:sp>
      <p:sp>
        <p:nvSpPr>
          <p:cNvPr id="45" name="Text 43"/>
          <p:cNvSpPr txBox="1"/>
          <p:nvPr/>
        </p:nvSpPr>
        <p:spPr>
          <a:xfrm>
            <a:off x="9464040" y="2395728"/>
            <a:ext cx="1892808" cy="310896"/>
          </a:xfrm>
          <a:prstGeom prst="rect">
            <a:avLst/>
          </a:prstGeom>
          <a:noFill/>
          <a:ln/>
        </p:spPr>
        <p:txBody>
          <a:bodyPr wrap="square" lIns="0" tIns="0" rIns="0" bIns="0" rtlCol="0" anchor="t">
            <a:normAutofit/>
          </a:bodyPr>
          <a:lstStyle/>
          <a:p>
            <a:pPr algn="l" indent="0" marL="0">
              <a:lnSpc>
                <a:spcPct val="90000"/>
              </a:lnSpc>
              <a:buNone/>
            </a:pPr>
            <a:r>
              <a:rPr lang="en-US" sz="840" dirty="0">
                <a:solidFill>
                  <a:srgbClr val="32474D"/>
                </a:solidFill>
                <a:latin typeface="Hiragino Sans GB" pitchFamily="34" charset="0"/>
                <a:ea typeface="Hiragino Sans GB" pitchFamily="34" charset="-122"/>
                <a:cs typeface="Hiragino Sans GB" pitchFamily="34" charset="-120"/>
              </a:rPr>
              <a:t>权威数据与坐标拓扑</a:t>
            </a:r>
            <a:endParaRPr lang="en-US" sz="840" dirty="0"/>
          </a:p>
        </p:txBody>
      </p:sp>
      <p:sp>
        <p:nvSpPr>
          <p:cNvPr id="46" name="Shape 44"/>
          <p:cNvSpPr/>
          <p:nvPr/>
        </p:nvSpPr>
        <p:spPr>
          <a:xfrm>
            <a:off x="9326880" y="2948940"/>
            <a:ext cx="64008" cy="64008"/>
          </a:xfrm>
          <a:prstGeom prst="ellipse">
            <a:avLst/>
          </a:prstGeom>
          <a:solidFill>
            <a:srgbClr val="2D8A57"/>
          </a:solidFill>
          <a:ln w="8890">
            <a:solidFill>
              <a:srgbClr val="2D8A57"/>
            </a:solidFill>
            <a:prstDash val="solid"/>
          </a:ln>
        </p:spPr>
      </p:sp>
      <p:sp>
        <p:nvSpPr>
          <p:cNvPr id="47" name="Text 45"/>
          <p:cNvSpPr txBox="1"/>
          <p:nvPr/>
        </p:nvSpPr>
        <p:spPr>
          <a:xfrm>
            <a:off x="9464040" y="2852928"/>
            <a:ext cx="1892808" cy="310896"/>
          </a:xfrm>
          <a:prstGeom prst="rect">
            <a:avLst/>
          </a:prstGeom>
          <a:noFill/>
          <a:ln/>
        </p:spPr>
        <p:txBody>
          <a:bodyPr wrap="square" lIns="0" tIns="0" rIns="0" bIns="0" rtlCol="0" anchor="t">
            <a:normAutofit/>
          </a:bodyPr>
          <a:lstStyle/>
          <a:p>
            <a:pPr algn="l" indent="0" marL="0">
              <a:lnSpc>
                <a:spcPct val="90000"/>
              </a:lnSpc>
              <a:buNone/>
            </a:pPr>
            <a:r>
              <a:rPr lang="en-US" sz="840" dirty="0">
                <a:solidFill>
                  <a:srgbClr val="32474D"/>
                </a:solidFill>
                <a:latin typeface="Hiragino Sans GB" pitchFamily="34" charset="0"/>
                <a:ea typeface="Hiragino Sans GB" pitchFamily="34" charset="-122"/>
                <a:cs typeface="Hiragino Sans GB" pitchFamily="34" charset="-120"/>
              </a:rPr>
              <a:t>硬规则与动作可行域</a:t>
            </a:r>
            <a:endParaRPr lang="en-US" sz="840" dirty="0"/>
          </a:p>
        </p:txBody>
      </p:sp>
      <p:sp>
        <p:nvSpPr>
          <p:cNvPr id="48" name="Shape 46"/>
          <p:cNvSpPr/>
          <p:nvPr/>
        </p:nvSpPr>
        <p:spPr>
          <a:xfrm>
            <a:off x="9326880" y="3406140"/>
            <a:ext cx="64008" cy="64008"/>
          </a:xfrm>
          <a:prstGeom prst="ellipse">
            <a:avLst/>
          </a:prstGeom>
          <a:solidFill>
            <a:srgbClr val="2D8A57"/>
          </a:solidFill>
          <a:ln w="8890">
            <a:solidFill>
              <a:srgbClr val="2D8A57"/>
            </a:solidFill>
            <a:prstDash val="solid"/>
          </a:ln>
        </p:spPr>
      </p:sp>
      <p:sp>
        <p:nvSpPr>
          <p:cNvPr id="49" name="Text 47"/>
          <p:cNvSpPr txBox="1"/>
          <p:nvPr/>
        </p:nvSpPr>
        <p:spPr>
          <a:xfrm>
            <a:off x="9464040" y="3310128"/>
            <a:ext cx="1892808" cy="310896"/>
          </a:xfrm>
          <a:prstGeom prst="rect">
            <a:avLst/>
          </a:prstGeom>
          <a:noFill/>
          <a:ln/>
        </p:spPr>
        <p:txBody>
          <a:bodyPr wrap="square" lIns="0" tIns="0" rIns="0" bIns="0" rtlCol="0" anchor="t">
            <a:normAutofit/>
          </a:bodyPr>
          <a:lstStyle/>
          <a:p>
            <a:pPr algn="l" indent="0" marL="0">
              <a:lnSpc>
                <a:spcPct val="90000"/>
              </a:lnSpc>
              <a:buNone/>
            </a:pPr>
            <a:r>
              <a:rPr lang="en-US" sz="840" dirty="0">
                <a:solidFill>
                  <a:srgbClr val="32474D"/>
                </a:solidFill>
                <a:latin typeface="Hiragino Sans GB" pitchFamily="34" charset="0"/>
                <a:ea typeface="Hiragino Sans GB" pitchFamily="34" charset="-122"/>
                <a:cs typeface="Hiragino Sans GB" pitchFamily="34" charset="-120"/>
              </a:rPr>
              <a:t>证据来源与数据谱系</a:t>
            </a:r>
            <a:endParaRPr lang="en-US" sz="840" dirty="0"/>
          </a:p>
        </p:txBody>
      </p:sp>
      <p:sp>
        <p:nvSpPr>
          <p:cNvPr id="50" name="Shape 48"/>
          <p:cNvSpPr/>
          <p:nvPr/>
        </p:nvSpPr>
        <p:spPr>
          <a:xfrm>
            <a:off x="9326880" y="3863340"/>
            <a:ext cx="64008" cy="64008"/>
          </a:xfrm>
          <a:prstGeom prst="ellipse">
            <a:avLst/>
          </a:prstGeom>
          <a:solidFill>
            <a:srgbClr val="2D8A57"/>
          </a:solidFill>
          <a:ln w="8890">
            <a:solidFill>
              <a:srgbClr val="2D8A57"/>
            </a:solidFill>
            <a:prstDash val="solid"/>
          </a:ln>
        </p:spPr>
      </p:sp>
      <p:sp>
        <p:nvSpPr>
          <p:cNvPr id="51" name="Text 49"/>
          <p:cNvSpPr txBox="1"/>
          <p:nvPr/>
        </p:nvSpPr>
        <p:spPr>
          <a:xfrm>
            <a:off x="9464040" y="3767328"/>
            <a:ext cx="1892808" cy="310896"/>
          </a:xfrm>
          <a:prstGeom prst="rect">
            <a:avLst/>
          </a:prstGeom>
          <a:noFill/>
          <a:ln/>
        </p:spPr>
        <p:txBody>
          <a:bodyPr wrap="square" lIns="0" tIns="0" rIns="0" bIns="0" rtlCol="0" anchor="t">
            <a:normAutofit/>
          </a:bodyPr>
          <a:lstStyle/>
          <a:p>
            <a:pPr algn="l" indent="0" marL="0">
              <a:lnSpc>
                <a:spcPct val="90000"/>
              </a:lnSpc>
              <a:buNone/>
            </a:pPr>
            <a:r>
              <a:rPr lang="en-US" sz="840" dirty="0">
                <a:solidFill>
                  <a:srgbClr val="32474D"/>
                </a:solidFill>
                <a:latin typeface="Hiragino Sans GB" pitchFamily="34" charset="0"/>
                <a:ea typeface="Hiragino Sans GB" pitchFamily="34" charset="-122"/>
                <a:cs typeface="Hiragino Sans GB" pitchFamily="34" charset="-120"/>
              </a:rPr>
              <a:t>人工复核与责任边界</a:t>
            </a:r>
            <a:endParaRPr lang="en-US" sz="840" dirty="0"/>
          </a:p>
        </p:txBody>
      </p:sp>
      <p:sp>
        <p:nvSpPr>
          <p:cNvPr id="52" name="Shape 50"/>
          <p:cNvSpPr/>
          <p:nvPr/>
        </p:nvSpPr>
        <p:spPr>
          <a:xfrm>
            <a:off x="9326880" y="4320540"/>
            <a:ext cx="64008" cy="64008"/>
          </a:xfrm>
          <a:prstGeom prst="ellipse">
            <a:avLst/>
          </a:prstGeom>
          <a:solidFill>
            <a:srgbClr val="2D8A57"/>
          </a:solidFill>
          <a:ln w="8890">
            <a:solidFill>
              <a:srgbClr val="2D8A57"/>
            </a:solidFill>
            <a:prstDash val="solid"/>
          </a:ln>
        </p:spPr>
      </p:sp>
      <p:sp>
        <p:nvSpPr>
          <p:cNvPr id="53" name="Text 51"/>
          <p:cNvSpPr txBox="1"/>
          <p:nvPr/>
        </p:nvSpPr>
        <p:spPr>
          <a:xfrm>
            <a:off x="9464040" y="4224528"/>
            <a:ext cx="1892808" cy="310896"/>
          </a:xfrm>
          <a:prstGeom prst="rect">
            <a:avLst/>
          </a:prstGeom>
          <a:noFill/>
          <a:ln/>
        </p:spPr>
        <p:txBody>
          <a:bodyPr wrap="square" lIns="0" tIns="0" rIns="0" bIns="0" rtlCol="0" anchor="t">
            <a:normAutofit/>
          </a:bodyPr>
          <a:lstStyle/>
          <a:p>
            <a:pPr algn="l" indent="0" marL="0">
              <a:lnSpc>
                <a:spcPct val="90000"/>
              </a:lnSpc>
              <a:buNone/>
            </a:pPr>
            <a:r>
              <a:rPr lang="en-US" sz="840" dirty="0">
                <a:solidFill>
                  <a:srgbClr val="32474D"/>
                </a:solidFill>
                <a:latin typeface="Hiragino Sans GB" pitchFamily="34" charset="0"/>
                <a:ea typeface="Hiragino Sans GB" pitchFamily="34" charset="-122"/>
                <a:cs typeface="Hiragino Sans GB" pitchFamily="34" charset="-120"/>
              </a:rPr>
              <a:t>输出回写、审计与反馈</a:t>
            </a:r>
            <a:endParaRPr lang="en-US" sz="840" dirty="0"/>
          </a:p>
        </p:txBody>
      </p:sp>
      <p:sp>
        <p:nvSpPr>
          <p:cNvPr id="54" name="Shape 52"/>
          <p:cNvSpPr/>
          <p:nvPr/>
        </p:nvSpPr>
        <p:spPr>
          <a:xfrm>
            <a:off x="9390888" y="4590288"/>
            <a:ext cx="1911096" cy="256032"/>
          </a:xfrm>
          <a:prstGeom prst="roundRect">
            <a:avLst>
              <a:gd name="adj" fmla="val 50000"/>
            </a:avLst>
          </a:prstGeom>
          <a:solidFill>
            <a:srgbClr val="FFF3D9"/>
          </a:solidFill>
          <a:ln w="6350">
            <a:solidFill>
              <a:srgbClr val="FFF3D9"/>
            </a:solidFill>
            <a:prstDash val="solid"/>
          </a:ln>
        </p:spPr>
      </p:sp>
      <p:sp>
        <p:nvSpPr>
          <p:cNvPr id="55" name="Text 53"/>
          <p:cNvSpPr txBox="1"/>
          <p:nvPr/>
        </p:nvSpPr>
        <p:spPr>
          <a:xfrm>
            <a:off x="9445752" y="4613148"/>
            <a:ext cx="1801368" cy="182880"/>
          </a:xfrm>
          <a:prstGeom prst="rect">
            <a:avLst/>
          </a:prstGeom>
          <a:noFill/>
          <a:ln/>
        </p:spPr>
        <p:txBody>
          <a:bodyPr wrap="square" lIns="0" tIns="0" rIns="0" bIns="0" rtlCol="0" anchor="ctr">
            <a:normAutofit/>
          </a:bodyPr>
          <a:lstStyle/>
          <a:p>
            <a:pPr algn="ctr" indent="0" marL="0">
              <a:lnSpc>
                <a:spcPct val="92000"/>
              </a:lnSpc>
              <a:buNone/>
            </a:pPr>
            <a:r>
              <a:rPr lang="en-US" sz="720" b="1" dirty="0">
                <a:solidFill>
                  <a:srgbClr val="B17B20"/>
                </a:solidFill>
                <a:latin typeface="Hiragino Sans GB" pitchFamily="34" charset="0"/>
                <a:ea typeface="Hiragino Sans GB" pitchFamily="34" charset="-122"/>
                <a:cs typeface="Hiragino Sans GB" pitchFamily="34" charset="-120"/>
              </a:rPr>
              <a:t>法定责任不转移给模型</a:t>
            </a:r>
            <a:endParaRPr lang="en-US" sz="720" dirty="0"/>
          </a:p>
        </p:txBody>
      </p:sp>
      <p:sp>
        <p:nvSpPr>
          <p:cNvPr id="56" name="Shape 54"/>
          <p:cNvSpPr/>
          <p:nvPr/>
        </p:nvSpPr>
        <p:spPr>
          <a:xfrm>
            <a:off x="676656" y="5422392"/>
            <a:ext cx="10972800" cy="630936"/>
          </a:xfrm>
          <a:prstGeom prst="roundRect">
            <a:avLst>
              <a:gd name="adj" fmla="val 7246"/>
            </a:avLst>
          </a:prstGeom>
          <a:solidFill>
            <a:srgbClr val="102F34"/>
          </a:solidFill>
          <a:ln w="12700">
            <a:solidFill>
              <a:srgbClr val="102F34"/>
            </a:solidFill>
            <a:prstDash val="solid"/>
          </a:ln>
        </p:spPr>
      </p:sp>
      <p:sp>
        <p:nvSpPr>
          <p:cNvPr id="57" name="Text 55"/>
          <p:cNvSpPr txBox="1"/>
          <p:nvPr/>
        </p:nvSpPr>
        <p:spPr>
          <a:xfrm>
            <a:off x="950976" y="5586984"/>
            <a:ext cx="1444752" cy="201168"/>
          </a:xfrm>
          <a:prstGeom prst="rect">
            <a:avLst/>
          </a:prstGeom>
          <a:noFill/>
          <a:ln/>
        </p:spPr>
        <p:txBody>
          <a:bodyPr wrap="square" lIns="0" tIns="0" rIns="0" bIns="0" rtlCol="0" anchor="ctr">
            <a:normAutofit/>
          </a:bodyPr>
          <a:lstStyle/>
          <a:p>
            <a:pPr algn="ctr" indent="0" marL="0">
              <a:lnSpc>
                <a:spcPct val="92000"/>
              </a:lnSpc>
              <a:buNone/>
            </a:pPr>
            <a:r>
              <a:rPr lang="en-US" sz="920" b="1" dirty="0">
                <a:solidFill>
                  <a:srgbClr val="D7E7E4"/>
                </a:solidFill>
                <a:latin typeface="Hiragino Sans GB" pitchFamily="34" charset="0"/>
                <a:ea typeface="Hiragino Sans GB" pitchFamily="34" charset="-122"/>
                <a:cs typeface="Hiragino Sans GB" pitchFamily="34" charset="-120"/>
              </a:rPr>
              <a:t>LLM 独立运行</a:t>
            </a:r>
            <a:endParaRPr lang="en-US" sz="920" dirty="0"/>
          </a:p>
        </p:txBody>
      </p:sp>
      <p:sp>
        <p:nvSpPr>
          <p:cNvPr id="58" name="Text 56"/>
          <p:cNvSpPr txBox="1"/>
          <p:nvPr/>
        </p:nvSpPr>
        <p:spPr>
          <a:xfrm>
            <a:off x="2322576" y="5568696"/>
            <a:ext cx="1920240" cy="228600"/>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FFFFFF"/>
                </a:solidFill>
                <a:latin typeface="Hiragino Sans GB" pitchFamily="34" charset="0"/>
                <a:ea typeface="Hiragino Sans GB" pitchFamily="34" charset="-122"/>
                <a:cs typeface="Hiragino Sans GB" pitchFamily="34" charset="-120"/>
              </a:rPr>
              <a:t>侧重语义理解与任务编排</a:t>
            </a:r>
            <a:endParaRPr lang="en-US" sz="860" dirty="0"/>
          </a:p>
        </p:txBody>
      </p:sp>
      <p:sp>
        <p:nvSpPr>
          <p:cNvPr id="59" name="Shape 57"/>
          <p:cNvSpPr/>
          <p:nvPr/>
        </p:nvSpPr>
        <p:spPr>
          <a:xfrm>
            <a:off x="4507992" y="5532120"/>
            <a:ext cx="0" cy="274320"/>
          </a:xfrm>
          <a:prstGeom prst="line">
            <a:avLst/>
          </a:prstGeom>
          <a:noFill/>
          <a:ln w="10160">
            <a:solidFill>
              <a:srgbClr val="56777A"/>
            </a:solidFill>
            <a:prstDash val="solid"/>
          </a:ln>
        </p:spPr>
      </p:sp>
      <p:sp>
        <p:nvSpPr>
          <p:cNvPr id="60" name="Text 58"/>
          <p:cNvSpPr txBox="1"/>
          <p:nvPr/>
        </p:nvSpPr>
        <p:spPr>
          <a:xfrm>
            <a:off x="4782312" y="5586984"/>
            <a:ext cx="1444752" cy="201168"/>
          </a:xfrm>
          <a:prstGeom prst="rect">
            <a:avLst/>
          </a:prstGeom>
          <a:noFill/>
          <a:ln/>
        </p:spPr>
        <p:txBody>
          <a:bodyPr wrap="square" lIns="0" tIns="0" rIns="0" bIns="0" rtlCol="0" anchor="ctr">
            <a:normAutofit/>
          </a:bodyPr>
          <a:lstStyle/>
          <a:p>
            <a:pPr algn="ctr" indent="0" marL="0">
              <a:lnSpc>
                <a:spcPct val="92000"/>
              </a:lnSpc>
              <a:buNone/>
            </a:pPr>
            <a:r>
              <a:rPr lang="en-US" sz="920" b="1" dirty="0">
                <a:solidFill>
                  <a:srgbClr val="D7E7E4"/>
                </a:solidFill>
                <a:latin typeface="Hiragino Sans GB" pitchFamily="34" charset="0"/>
                <a:ea typeface="Hiragino Sans GB" pitchFamily="34" charset="-122"/>
                <a:cs typeface="Hiragino Sans GB" pitchFamily="34" charset="-120"/>
              </a:rPr>
              <a:t>WM 独立运行</a:t>
            </a:r>
            <a:endParaRPr lang="en-US" sz="920" dirty="0"/>
          </a:p>
        </p:txBody>
      </p:sp>
      <p:sp>
        <p:nvSpPr>
          <p:cNvPr id="61" name="Text 59"/>
          <p:cNvSpPr txBox="1"/>
          <p:nvPr/>
        </p:nvSpPr>
        <p:spPr>
          <a:xfrm>
            <a:off x="6190488" y="5568696"/>
            <a:ext cx="2240280" cy="228600"/>
          </a:xfrm>
          <a:prstGeom prst="rect">
            <a:avLst/>
          </a:prstGeom>
          <a:noFill/>
          <a:ln/>
        </p:spPr>
        <p:txBody>
          <a:bodyPr wrap="square" lIns="0" tIns="0" rIns="0" bIns="0" rtlCol="0" anchor="ctr">
            <a:normAutofit/>
          </a:bodyPr>
          <a:lstStyle/>
          <a:p>
            <a:pPr algn="ctr" indent="0" marL="0">
              <a:lnSpc>
                <a:spcPct val="92000"/>
              </a:lnSpc>
              <a:buNone/>
            </a:pPr>
            <a:r>
              <a:rPr lang="en-US" sz="860" b="1" dirty="0">
                <a:solidFill>
                  <a:srgbClr val="FFFFFF"/>
                </a:solidFill>
                <a:latin typeface="Hiragino Sans GB" pitchFamily="34" charset="0"/>
                <a:ea typeface="Hiragino Sans GB" pitchFamily="34" charset="-122"/>
                <a:cs typeface="Hiragino Sans GB" pitchFamily="34" charset="-120"/>
              </a:rPr>
              <a:t>侧重状态转移与方案评价</a:t>
            </a:r>
            <a:endParaRPr lang="en-US" sz="860" dirty="0"/>
          </a:p>
        </p:txBody>
      </p:sp>
      <p:sp>
        <p:nvSpPr>
          <p:cNvPr id="62" name="Shape 60"/>
          <p:cNvSpPr/>
          <p:nvPr/>
        </p:nvSpPr>
        <p:spPr>
          <a:xfrm>
            <a:off x="8659368" y="5532120"/>
            <a:ext cx="0" cy="274320"/>
          </a:xfrm>
          <a:prstGeom prst="line">
            <a:avLst/>
          </a:prstGeom>
          <a:noFill/>
          <a:ln w="10160">
            <a:solidFill>
              <a:srgbClr val="56777A"/>
            </a:solidFill>
            <a:prstDash val="solid"/>
          </a:ln>
        </p:spPr>
      </p:sp>
      <p:sp>
        <p:nvSpPr>
          <p:cNvPr id="63" name="Text 61"/>
          <p:cNvSpPr txBox="1"/>
          <p:nvPr/>
        </p:nvSpPr>
        <p:spPr>
          <a:xfrm>
            <a:off x="8915400" y="5586984"/>
            <a:ext cx="1444752" cy="201168"/>
          </a:xfrm>
          <a:prstGeom prst="rect">
            <a:avLst/>
          </a:prstGeom>
          <a:noFill/>
          <a:ln/>
        </p:spPr>
        <p:txBody>
          <a:bodyPr wrap="square" lIns="0" tIns="0" rIns="0" bIns="0" rtlCol="0" anchor="ctr">
            <a:normAutofit/>
          </a:bodyPr>
          <a:lstStyle/>
          <a:p>
            <a:pPr algn="ctr" indent="0" marL="0">
              <a:lnSpc>
                <a:spcPct val="92000"/>
              </a:lnSpc>
              <a:buNone/>
            </a:pPr>
            <a:r>
              <a:rPr lang="en-US" sz="920" b="1" dirty="0">
                <a:solidFill>
                  <a:srgbClr val="8EE0CE"/>
                </a:solidFill>
                <a:latin typeface="Arial" pitchFamily="34" charset="0"/>
                <a:ea typeface="Arial" pitchFamily="34" charset="-122"/>
                <a:cs typeface="Arial" pitchFamily="34" charset="-120"/>
              </a:rPr>
              <a:t>LLM + WM + GIS</a:t>
            </a:r>
            <a:endParaRPr lang="en-US" sz="920" dirty="0"/>
          </a:p>
        </p:txBody>
      </p:sp>
      <p:sp>
        <p:nvSpPr>
          <p:cNvPr id="64" name="Text 62"/>
          <p:cNvSpPr txBox="1"/>
          <p:nvPr/>
        </p:nvSpPr>
        <p:spPr>
          <a:xfrm>
            <a:off x="10104120" y="5568696"/>
            <a:ext cx="1335024" cy="228600"/>
          </a:xfrm>
          <a:prstGeom prst="rect">
            <a:avLst/>
          </a:prstGeom>
          <a:noFill/>
          <a:ln/>
        </p:spPr>
        <p:txBody>
          <a:bodyPr wrap="square" lIns="0" tIns="0" rIns="0" bIns="0" rtlCol="0" anchor="ctr">
            <a:normAutofit/>
          </a:bodyPr>
          <a:lstStyle/>
          <a:p>
            <a:pPr algn="ctr" indent="0" marL="0">
              <a:lnSpc>
                <a:spcPct val="92000"/>
              </a:lnSpc>
              <a:buNone/>
            </a:pPr>
            <a:r>
              <a:rPr lang="en-US" sz="800" b="1" dirty="0">
                <a:solidFill>
                  <a:srgbClr val="FFFFFF"/>
                </a:solidFill>
                <a:latin typeface="Hiragino Sans GB" pitchFamily="34" charset="0"/>
                <a:ea typeface="Hiragino Sans GB" pitchFamily="34" charset="-122"/>
                <a:cs typeface="Hiragino Sans GB" pitchFamily="34" charset="-120"/>
              </a:rPr>
              <a:t>形成可解释、可推演、可审计的智能体</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347472" y="201168"/>
            <a:ext cx="1298448" cy="256032"/>
          </a:xfrm>
          <a:prstGeom prst="roundRect">
            <a:avLst>
              <a:gd name="adj" fmla="val 50000"/>
            </a:avLst>
          </a:prstGeom>
          <a:solidFill>
            <a:srgbClr val="E2F2EF"/>
          </a:solidFill>
          <a:ln w="6350">
            <a:solidFill>
              <a:srgbClr val="E2F2EF"/>
            </a:solidFill>
            <a:prstDash val="solid"/>
          </a:ln>
        </p:spPr>
      </p:sp>
      <p:sp>
        <p:nvSpPr>
          <p:cNvPr id="3" name="Text 1"/>
          <p:cNvSpPr txBox="1"/>
          <p:nvPr/>
        </p:nvSpPr>
        <p:spPr>
          <a:xfrm>
            <a:off x="402336" y="224028"/>
            <a:ext cx="1188720" cy="182880"/>
          </a:xfrm>
          <a:prstGeom prst="rect">
            <a:avLst/>
          </a:prstGeom>
          <a:noFill/>
          <a:ln/>
        </p:spPr>
        <p:txBody>
          <a:bodyPr wrap="square" lIns="0" tIns="0" rIns="0" bIns="0" rtlCol="0" anchor="ctr">
            <a:normAutofit/>
          </a:bodyPr>
          <a:lstStyle/>
          <a:p>
            <a:pPr algn="ctr" indent="0" marL="0">
              <a:lnSpc>
                <a:spcPct val="92000"/>
              </a:lnSpc>
              <a:buNone/>
            </a:pPr>
            <a:r>
              <a:rPr lang="en-US" sz="730" b="1" dirty="0">
                <a:solidFill>
                  <a:srgbClr val="0E5C59"/>
                </a:solidFill>
                <a:latin typeface="Hiragino Sans GB" pitchFamily="34" charset="0"/>
                <a:ea typeface="Hiragino Sans GB" pitchFamily="34" charset="-122"/>
                <a:cs typeface="Hiragino Sans GB" pitchFamily="34" charset="-120"/>
              </a:rPr>
              <a:t>结语与依据</a:t>
            </a:r>
            <a:endParaRPr lang="en-US" sz="730" dirty="0"/>
          </a:p>
        </p:txBody>
      </p:sp>
      <p:sp>
        <p:nvSpPr>
          <p:cNvPr id="4" name="Text 2"/>
          <p:cNvSpPr txBox="1"/>
          <p:nvPr/>
        </p:nvSpPr>
        <p:spPr>
          <a:xfrm>
            <a:off x="356616" y="548640"/>
            <a:ext cx="11064240" cy="384048"/>
          </a:xfrm>
          <a:prstGeom prst="rect">
            <a:avLst/>
          </a:prstGeom>
          <a:noFill/>
          <a:ln/>
        </p:spPr>
        <p:txBody>
          <a:bodyPr wrap="square" lIns="0" tIns="0" rIns="0" bIns="0" rtlCol="0" anchor="t">
            <a:normAutofit/>
          </a:bodyPr>
          <a:lstStyle/>
          <a:p>
            <a:pPr algn="l" indent="0" marL="0">
              <a:lnSpc>
                <a:spcPct val="92000"/>
              </a:lnSpc>
              <a:buNone/>
            </a:pPr>
            <a:r>
              <a:rPr lang="en-US" sz="2350" b="1" dirty="0">
                <a:solidFill>
                  <a:srgbClr val="17252A"/>
                </a:solidFill>
                <a:latin typeface="Hiragino Sans GB" pitchFamily="34" charset="0"/>
                <a:ea typeface="Hiragino Sans GB" pitchFamily="34" charset="-122"/>
                <a:cs typeface="Hiragino Sans GB" pitchFamily="34" charset="-120"/>
              </a:rPr>
              <a:t>建设自然资源空间智能的公共决策内核</a:t>
            </a:r>
            <a:endParaRPr lang="en-US" sz="2350" dirty="0"/>
          </a:p>
        </p:txBody>
      </p:sp>
      <p:sp>
        <p:nvSpPr>
          <p:cNvPr id="5" name="Text 3"/>
          <p:cNvSpPr txBox="1"/>
          <p:nvPr/>
        </p:nvSpPr>
        <p:spPr>
          <a:xfrm>
            <a:off x="365760" y="941832"/>
            <a:ext cx="11064240" cy="274320"/>
          </a:xfrm>
          <a:prstGeom prst="rect">
            <a:avLst/>
          </a:prstGeom>
          <a:noFill/>
          <a:ln/>
        </p:spPr>
        <p:txBody>
          <a:bodyPr wrap="square" lIns="0" tIns="0" rIns="0" bIns="0" rtlCol="0" anchor="t">
            <a:normAutofit/>
          </a:bodyPr>
          <a:lstStyle/>
          <a:p>
            <a:pPr algn="l" indent="0" marL="0">
              <a:lnSpc>
                <a:spcPct val="92000"/>
              </a:lnSpc>
              <a:buNone/>
            </a:pPr>
            <a:r>
              <a:rPr lang="en-US" sz="1020" b="1" dirty="0">
                <a:solidFill>
                  <a:srgbClr val="0E5C59"/>
                </a:solidFill>
                <a:latin typeface="Hiragino Sans GB" pitchFamily="34" charset="0"/>
                <a:ea typeface="Hiragino Sans GB" pitchFamily="34" charset="-122"/>
                <a:cs typeface="Hiragino Sans GB" pitchFamily="34" charset="-120"/>
              </a:rPr>
              <a:t>以真实业务闭环验证 TWM，以跨领域 Runtime 与 Kernel 逐步建立 GWM，以 LLM + WM 形成下一代空间智能体平台。</a:t>
            </a:r>
            <a:endParaRPr lang="en-US" sz="1020" dirty="0"/>
          </a:p>
        </p:txBody>
      </p:sp>
      <p:sp>
        <p:nvSpPr>
          <p:cNvPr id="6" name="Shape 4"/>
          <p:cNvSpPr/>
          <p:nvPr/>
        </p:nvSpPr>
        <p:spPr>
          <a:xfrm>
            <a:off x="356616" y="1243584"/>
            <a:ext cx="11466576" cy="0"/>
          </a:xfrm>
          <a:prstGeom prst="line">
            <a:avLst/>
          </a:prstGeom>
          <a:noFill/>
          <a:ln w="10160">
            <a:solidFill>
              <a:srgbClr val="D0DBD8"/>
            </a:solidFill>
            <a:prstDash val="solid"/>
          </a:ln>
        </p:spPr>
      </p:sp>
      <p:sp>
        <p:nvSpPr>
          <p:cNvPr id="7" name="Shape 5"/>
          <p:cNvSpPr/>
          <p:nvPr/>
        </p:nvSpPr>
        <p:spPr>
          <a:xfrm>
            <a:off x="356616" y="6510528"/>
            <a:ext cx="11466576" cy="0"/>
          </a:xfrm>
          <a:prstGeom prst="line">
            <a:avLst/>
          </a:prstGeom>
          <a:noFill/>
          <a:ln w="8890">
            <a:solidFill>
              <a:srgbClr val="D0DBD8"/>
            </a:solidFill>
            <a:prstDash val="solid"/>
          </a:ln>
        </p:spPr>
      </p:sp>
      <p:sp>
        <p:nvSpPr>
          <p:cNvPr id="8" name="Text 6"/>
          <p:cNvSpPr txBox="1"/>
          <p:nvPr/>
        </p:nvSpPr>
        <p:spPr>
          <a:xfrm>
            <a:off x="365760" y="6565392"/>
            <a:ext cx="10012680" cy="118872"/>
          </a:xfrm>
          <a:prstGeom prst="rect">
            <a:avLst/>
          </a:prstGeom>
          <a:noFill/>
          <a:ln/>
        </p:spPr>
        <p:txBody>
          <a:bodyPr wrap="square" lIns="0" tIns="0" rIns="0" bIns="0" rtlCol="0" anchor="t">
            <a:normAutofit/>
          </a:bodyPr>
          <a:lstStyle/>
          <a:p>
            <a:pPr algn="l" indent="0" marL="0">
              <a:lnSpc>
                <a:spcPct val="92000"/>
              </a:lnSpc>
              <a:buNone/>
            </a:pPr>
            <a:r>
              <a:rPr lang="en-US" sz="580" dirty="0">
                <a:solidFill>
                  <a:srgbClr val="6C7C80"/>
                </a:solidFill>
                <a:latin typeface="Hiragino Sans GB" pitchFamily="34" charset="0"/>
                <a:ea typeface="Hiragino Sans GB" pitchFamily="34" charset="-122"/>
                <a:cs typeface="Hiragino Sans GB" pitchFamily="34" charset="-120"/>
              </a:rPr>
              <a:t>本页列出汇报使用的核心项目依据与外部理论来源</a:t>
            </a:r>
            <a:endParaRPr lang="en-US" sz="580" dirty="0"/>
          </a:p>
        </p:txBody>
      </p:sp>
      <p:sp>
        <p:nvSpPr>
          <p:cNvPr id="9" name="Text 7"/>
          <p:cNvSpPr txBox="1"/>
          <p:nvPr/>
        </p:nvSpPr>
        <p:spPr>
          <a:xfrm>
            <a:off x="11082528" y="6556248"/>
            <a:ext cx="731520" cy="137160"/>
          </a:xfrm>
          <a:prstGeom prst="rect">
            <a:avLst/>
          </a:prstGeom>
          <a:noFill/>
          <a:ln/>
        </p:spPr>
        <p:txBody>
          <a:bodyPr wrap="square" lIns="0" tIns="0" rIns="0" bIns="0" rtlCol="0" anchor="ctr">
            <a:normAutofit/>
          </a:bodyPr>
          <a:lstStyle/>
          <a:p>
            <a:pPr algn="r" indent="0" marL="0">
              <a:lnSpc>
                <a:spcPct val="92000"/>
              </a:lnSpc>
              <a:buNone/>
            </a:pPr>
            <a:r>
              <a:rPr lang="en-US" sz="670" dirty="0">
                <a:solidFill>
                  <a:srgbClr val="6C7C80"/>
                </a:solidFill>
                <a:latin typeface="Hiragino Sans GB" pitchFamily="34" charset="0"/>
                <a:ea typeface="Hiragino Sans GB" pitchFamily="34" charset="-122"/>
                <a:cs typeface="Hiragino Sans GB" pitchFamily="34" charset="-120"/>
              </a:rPr>
              <a:t>29 / 29</a:t>
            </a:r>
            <a:endParaRPr lang="en-US" sz="670" dirty="0"/>
          </a:p>
        </p:txBody>
      </p:sp>
      <p:sp>
        <p:nvSpPr>
          <p:cNvPr id="10" name="Shape 8"/>
          <p:cNvSpPr/>
          <p:nvPr/>
        </p:nvSpPr>
        <p:spPr>
          <a:xfrm>
            <a:off x="603504" y="1481328"/>
            <a:ext cx="10991088" cy="1060704"/>
          </a:xfrm>
          <a:prstGeom prst="roundRect">
            <a:avLst>
              <a:gd name="adj" fmla="val 5172"/>
            </a:avLst>
          </a:prstGeom>
          <a:solidFill>
            <a:srgbClr val="102F34"/>
          </a:solidFill>
          <a:ln w="12700">
            <a:solidFill>
              <a:srgbClr val="102F34"/>
            </a:solidFill>
            <a:prstDash val="solid"/>
          </a:ln>
        </p:spPr>
      </p:sp>
      <p:sp>
        <p:nvSpPr>
          <p:cNvPr id="11" name="Text 9"/>
          <p:cNvSpPr txBox="1"/>
          <p:nvPr/>
        </p:nvSpPr>
        <p:spPr>
          <a:xfrm>
            <a:off x="896112" y="1755648"/>
            <a:ext cx="2980944" cy="320040"/>
          </a:xfrm>
          <a:prstGeom prst="rect">
            <a:avLst/>
          </a:prstGeom>
          <a:noFill/>
          <a:ln/>
        </p:spPr>
        <p:txBody>
          <a:bodyPr wrap="square" lIns="0" tIns="0" rIns="0" bIns="0" rtlCol="0" anchor="ctr">
            <a:normAutofit/>
          </a:bodyPr>
          <a:lstStyle/>
          <a:p>
            <a:pPr algn="ctr" indent="0" marL="0">
              <a:lnSpc>
                <a:spcPct val="92000"/>
              </a:lnSpc>
              <a:buNone/>
            </a:pPr>
            <a:r>
              <a:rPr lang="en-US" sz="1650" b="1" dirty="0">
                <a:solidFill>
                  <a:srgbClr val="FFFFFF"/>
                </a:solidFill>
                <a:latin typeface="Hiragino Sans GB" pitchFamily="34" charset="0"/>
                <a:ea typeface="Hiragino Sans GB" pitchFamily="34" charset="-122"/>
                <a:cs typeface="Hiragino Sans GB" pitchFamily="34" charset="-120"/>
              </a:rPr>
              <a:t>从“看见现在”到“比较未来”</a:t>
            </a:r>
            <a:endParaRPr lang="en-US" sz="1650" dirty="0"/>
          </a:p>
        </p:txBody>
      </p:sp>
      <p:sp>
        <p:nvSpPr>
          <p:cNvPr id="12" name="Text 10"/>
          <p:cNvSpPr txBox="1"/>
          <p:nvPr/>
        </p:nvSpPr>
        <p:spPr>
          <a:xfrm>
            <a:off x="3877056" y="1737360"/>
            <a:ext cx="7269480" cy="374904"/>
          </a:xfrm>
          <a:prstGeom prst="rect">
            <a:avLst/>
          </a:prstGeom>
          <a:noFill/>
          <a:ln/>
        </p:spPr>
        <p:txBody>
          <a:bodyPr wrap="square" lIns="0" tIns="0" rIns="0" bIns="0" rtlCol="0" anchor="ctr">
            <a:normAutofit/>
          </a:bodyPr>
          <a:lstStyle/>
          <a:p>
            <a:pPr algn="ctr" indent="0" marL="0">
              <a:lnSpc>
                <a:spcPct val="92000"/>
              </a:lnSpc>
              <a:buNone/>
            </a:pPr>
            <a:r>
              <a:rPr lang="en-US" sz="1130" b="1" dirty="0">
                <a:solidFill>
                  <a:srgbClr val="D5E7E4"/>
                </a:solidFill>
                <a:latin typeface="Hiragino Sans GB" pitchFamily="34" charset="0"/>
                <a:ea typeface="Hiragino Sans GB" pitchFamily="34" charset="-122"/>
                <a:cs typeface="Hiragino Sans GB" pitchFamily="34" charset="-120"/>
              </a:rPr>
              <a:t>权威 GIS 状态  →  行动条件转移  →  多步世界推演  →  证据门控规划  →  人工负责决策</a:t>
            </a:r>
            <a:endParaRPr lang="en-US" sz="1130" dirty="0"/>
          </a:p>
        </p:txBody>
      </p:sp>
      <p:sp>
        <p:nvSpPr>
          <p:cNvPr id="13" name="Text 11"/>
          <p:cNvSpPr txBox="1"/>
          <p:nvPr/>
        </p:nvSpPr>
        <p:spPr>
          <a:xfrm>
            <a:off x="649224" y="2907792"/>
            <a:ext cx="2057400" cy="283464"/>
          </a:xfrm>
          <a:prstGeom prst="rect">
            <a:avLst/>
          </a:prstGeom>
          <a:noFill/>
          <a:ln/>
        </p:spPr>
        <p:txBody>
          <a:bodyPr wrap="square" lIns="0" tIns="0" rIns="0" bIns="0" rtlCol="0" anchor="ctr">
            <a:normAutofit/>
          </a:bodyPr>
          <a:lstStyle/>
          <a:p>
            <a:pPr algn="l" indent="0" marL="0">
              <a:lnSpc>
                <a:spcPct val="92000"/>
              </a:lnSpc>
              <a:buNone/>
            </a:pPr>
            <a:r>
              <a:rPr lang="en-US" sz="1340" b="1" dirty="0">
                <a:solidFill>
                  <a:srgbClr val="17252A"/>
                </a:solidFill>
                <a:latin typeface="Hiragino Sans GB" pitchFamily="34" charset="0"/>
                <a:ea typeface="Hiragino Sans GB" pitchFamily="34" charset="-122"/>
                <a:cs typeface="Hiragino Sans GB" pitchFamily="34" charset="-120"/>
              </a:rPr>
              <a:t>核心项目依据</a:t>
            </a:r>
            <a:endParaRPr lang="en-US" sz="1340" dirty="0"/>
          </a:p>
        </p:txBody>
      </p:sp>
      <p:sp>
        <p:nvSpPr>
          <p:cNvPr id="14" name="Shape 12"/>
          <p:cNvSpPr/>
          <p:nvPr/>
        </p:nvSpPr>
        <p:spPr>
          <a:xfrm>
            <a:off x="713232" y="3442716"/>
            <a:ext cx="64008" cy="64008"/>
          </a:xfrm>
          <a:prstGeom prst="ellipse">
            <a:avLst/>
          </a:prstGeom>
          <a:solidFill>
            <a:srgbClr val="137F7A"/>
          </a:solidFill>
          <a:ln w="8890">
            <a:solidFill>
              <a:srgbClr val="137F7A"/>
            </a:solidFill>
            <a:prstDash val="solid"/>
          </a:ln>
        </p:spPr>
      </p:sp>
      <p:sp>
        <p:nvSpPr>
          <p:cNvPr id="15" name="Text 13"/>
          <p:cNvSpPr txBox="1"/>
          <p:nvPr/>
        </p:nvSpPr>
        <p:spPr>
          <a:xfrm>
            <a:off x="850392" y="3346704"/>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GWM_RESEARCH_PRINCIPLES.md</a:t>
            </a:r>
            <a:endParaRPr lang="en-US" sz="770" dirty="0"/>
          </a:p>
        </p:txBody>
      </p:sp>
      <p:sp>
        <p:nvSpPr>
          <p:cNvPr id="16" name="Shape 14"/>
          <p:cNvSpPr/>
          <p:nvPr/>
        </p:nvSpPr>
        <p:spPr>
          <a:xfrm>
            <a:off x="713232" y="3826764"/>
            <a:ext cx="64008" cy="64008"/>
          </a:xfrm>
          <a:prstGeom prst="ellipse">
            <a:avLst/>
          </a:prstGeom>
          <a:solidFill>
            <a:srgbClr val="137F7A"/>
          </a:solidFill>
          <a:ln w="8890">
            <a:solidFill>
              <a:srgbClr val="137F7A"/>
            </a:solidFill>
            <a:prstDash val="solid"/>
          </a:ln>
        </p:spPr>
      </p:sp>
      <p:sp>
        <p:nvSpPr>
          <p:cNvPr id="17" name="Text 15"/>
          <p:cNvSpPr txBox="1"/>
          <p:nvPr/>
        </p:nvSpPr>
        <p:spPr>
          <a:xfrm>
            <a:off x="850392" y="3730752"/>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DAM_GK_RESEARCH_SPEC.md</a:t>
            </a:r>
            <a:endParaRPr lang="en-US" sz="770" dirty="0"/>
          </a:p>
        </p:txBody>
      </p:sp>
      <p:sp>
        <p:nvSpPr>
          <p:cNvPr id="18" name="Shape 16"/>
          <p:cNvSpPr/>
          <p:nvPr/>
        </p:nvSpPr>
        <p:spPr>
          <a:xfrm>
            <a:off x="713232" y="4210812"/>
            <a:ext cx="64008" cy="64008"/>
          </a:xfrm>
          <a:prstGeom prst="ellipse">
            <a:avLst/>
          </a:prstGeom>
          <a:solidFill>
            <a:srgbClr val="137F7A"/>
          </a:solidFill>
          <a:ln w="8890">
            <a:solidFill>
              <a:srgbClr val="137F7A"/>
            </a:solidFill>
            <a:prstDash val="solid"/>
          </a:ln>
        </p:spPr>
      </p:sp>
      <p:sp>
        <p:nvSpPr>
          <p:cNvPr id="19" name="Text 17"/>
          <p:cNvSpPr txBox="1"/>
          <p:nvPr/>
        </p:nvSpPr>
        <p:spPr>
          <a:xfrm>
            <a:off x="850392" y="4114800"/>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GWM_RUNTIME_KERNEL_AND_GEOSPATIAL_KERNEL_RELATIONSHIP.md</a:t>
            </a:r>
            <a:endParaRPr lang="en-US" sz="770" dirty="0"/>
          </a:p>
        </p:txBody>
      </p:sp>
      <p:sp>
        <p:nvSpPr>
          <p:cNvPr id="20" name="Shape 18"/>
          <p:cNvSpPr/>
          <p:nvPr/>
        </p:nvSpPr>
        <p:spPr>
          <a:xfrm>
            <a:off x="713232" y="4594860"/>
            <a:ext cx="64008" cy="64008"/>
          </a:xfrm>
          <a:prstGeom prst="ellipse">
            <a:avLst/>
          </a:prstGeom>
          <a:solidFill>
            <a:srgbClr val="137F7A"/>
          </a:solidFill>
          <a:ln w="8890">
            <a:solidFill>
              <a:srgbClr val="137F7A"/>
            </a:solidFill>
            <a:prstDash val="solid"/>
          </a:ln>
        </p:spPr>
      </p:sp>
      <p:sp>
        <p:nvSpPr>
          <p:cNvPr id="21" name="Text 19"/>
          <p:cNvSpPr txBox="1"/>
          <p:nvPr/>
        </p:nvSpPr>
        <p:spPr>
          <a:xfrm>
            <a:off x="850392" y="4498848"/>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gwm_geospatial_kernel_core_architecture_design_theory_and_gis_relationship_2026-07-20.md</a:t>
            </a:r>
            <a:endParaRPr lang="en-US" sz="770" dirty="0"/>
          </a:p>
        </p:txBody>
      </p:sp>
      <p:sp>
        <p:nvSpPr>
          <p:cNvPr id="22" name="Shape 20"/>
          <p:cNvSpPr/>
          <p:nvPr/>
        </p:nvSpPr>
        <p:spPr>
          <a:xfrm>
            <a:off x="713232" y="4978908"/>
            <a:ext cx="64008" cy="64008"/>
          </a:xfrm>
          <a:prstGeom prst="ellipse">
            <a:avLst/>
          </a:prstGeom>
          <a:solidFill>
            <a:srgbClr val="137F7A"/>
          </a:solidFill>
          <a:ln w="8890">
            <a:solidFill>
              <a:srgbClr val="137F7A"/>
            </a:solidFill>
            <a:prstDash val="solid"/>
          </a:ln>
        </p:spPr>
      </p:sp>
      <p:sp>
        <p:nvSpPr>
          <p:cNvPr id="23" name="Text 21"/>
          <p:cNvSpPr txBox="1"/>
          <p:nvPr/>
        </p:nvSpPr>
        <p:spPr>
          <a:xfrm>
            <a:off x="850392" y="4882896"/>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twm-vs-geosos-flus-comparison.md</a:t>
            </a:r>
            <a:endParaRPr lang="en-US" sz="770" dirty="0"/>
          </a:p>
        </p:txBody>
      </p:sp>
      <p:sp>
        <p:nvSpPr>
          <p:cNvPr id="24" name="Shape 22"/>
          <p:cNvSpPr/>
          <p:nvPr/>
        </p:nvSpPr>
        <p:spPr>
          <a:xfrm>
            <a:off x="713232" y="5362956"/>
            <a:ext cx="64008" cy="64008"/>
          </a:xfrm>
          <a:prstGeom prst="ellipse">
            <a:avLst/>
          </a:prstGeom>
          <a:solidFill>
            <a:srgbClr val="137F7A"/>
          </a:solidFill>
          <a:ln w="8890">
            <a:solidFill>
              <a:srgbClr val="137F7A"/>
            </a:solidFill>
            <a:prstDash val="solid"/>
          </a:ln>
        </p:spPr>
      </p:sp>
      <p:sp>
        <p:nvSpPr>
          <p:cNvPr id="25" name="Text 23"/>
          <p:cNvSpPr txBox="1"/>
          <p:nvPr/>
        </p:nvSpPr>
        <p:spPr>
          <a:xfrm>
            <a:off x="850392" y="5266944"/>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twm-vs-geosos-flus-academic-positioning.md</a:t>
            </a:r>
            <a:endParaRPr lang="en-US" sz="770" dirty="0"/>
          </a:p>
        </p:txBody>
      </p:sp>
      <p:sp>
        <p:nvSpPr>
          <p:cNvPr id="26" name="Shape 24"/>
          <p:cNvSpPr/>
          <p:nvPr/>
        </p:nvSpPr>
        <p:spPr>
          <a:xfrm>
            <a:off x="713232" y="5747004"/>
            <a:ext cx="64008" cy="64008"/>
          </a:xfrm>
          <a:prstGeom prst="ellipse">
            <a:avLst/>
          </a:prstGeom>
          <a:solidFill>
            <a:srgbClr val="137F7A"/>
          </a:solidFill>
          <a:ln w="8890">
            <a:solidFill>
              <a:srgbClr val="137F7A"/>
            </a:solidFill>
            <a:prstDash val="solid"/>
          </a:ln>
        </p:spPr>
      </p:sp>
      <p:sp>
        <p:nvSpPr>
          <p:cNvPr id="27" name="Text 25"/>
          <p:cNvSpPr txBox="1"/>
          <p:nvPr/>
        </p:nvSpPr>
        <p:spPr>
          <a:xfrm>
            <a:off x="850392" y="5650992"/>
            <a:ext cx="4983480"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twm_runtime_benchmark_v1.json / twm_validation_bundle.json</a:t>
            </a:r>
            <a:endParaRPr lang="en-US" sz="770" dirty="0"/>
          </a:p>
        </p:txBody>
      </p:sp>
      <p:sp>
        <p:nvSpPr>
          <p:cNvPr id="28" name="Shape 26"/>
          <p:cNvSpPr/>
          <p:nvPr/>
        </p:nvSpPr>
        <p:spPr>
          <a:xfrm>
            <a:off x="5971032" y="2935224"/>
            <a:ext cx="0" cy="2560320"/>
          </a:xfrm>
          <a:prstGeom prst="line">
            <a:avLst/>
          </a:prstGeom>
          <a:noFill/>
          <a:ln w="10160">
            <a:solidFill>
              <a:srgbClr val="D0DBD8"/>
            </a:solidFill>
            <a:prstDash val="solid"/>
          </a:ln>
        </p:spPr>
      </p:sp>
      <p:sp>
        <p:nvSpPr>
          <p:cNvPr id="29" name="Text 27"/>
          <p:cNvSpPr txBox="1"/>
          <p:nvPr/>
        </p:nvSpPr>
        <p:spPr>
          <a:xfrm>
            <a:off x="6309360" y="2907792"/>
            <a:ext cx="2057400" cy="283464"/>
          </a:xfrm>
          <a:prstGeom prst="rect">
            <a:avLst/>
          </a:prstGeom>
          <a:noFill/>
          <a:ln/>
        </p:spPr>
        <p:txBody>
          <a:bodyPr wrap="square" lIns="0" tIns="0" rIns="0" bIns="0" rtlCol="0" anchor="ctr">
            <a:normAutofit/>
          </a:bodyPr>
          <a:lstStyle/>
          <a:p>
            <a:pPr algn="l" indent="0" marL="0">
              <a:lnSpc>
                <a:spcPct val="92000"/>
              </a:lnSpc>
              <a:buNone/>
            </a:pPr>
            <a:r>
              <a:rPr lang="en-US" sz="1340" b="1" dirty="0">
                <a:solidFill>
                  <a:srgbClr val="17252A"/>
                </a:solidFill>
                <a:latin typeface="Hiragino Sans GB" pitchFamily="34" charset="0"/>
                <a:ea typeface="Hiragino Sans GB" pitchFamily="34" charset="-122"/>
                <a:cs typeface="Hiragino Sans GB" pitchFamily="34" charset="-120"/>
              </a:rPr>
              <a:t>核心理论与基线</a:t>
            </a:r>
            <a:endParaRPr lang="en-US" sz="1340" dirty="0"/>
          </a:p>
        </p:txBody>
      </p:sp>
      <p:sp>
        <p:nvSpPr>
          <p:cNvPr id="30" name="Shape 28"/>
          <p:cNvSpPr/>
          <p:nvPr/>
        </p:nvSpPr>
        <p:spPr>
          <a:xfrm>
            <a:off x="6373368" y="3442716"/>
            <a:ext cx="64008" cy="64008"/>
          </a:xfrm>
          <a:prstGeom prst="ellipse">
            <a:avLst/>
          </a:prstGeom>
          <a:solidFill>
            <a:srgbClr val="356CA8"/>
          </a:solidFill>
          <a:ln w="8890">
            <a:solidFill>
              <a:srgbClr val="356CA8"/>
            </a:solidFill>
            <a:prstDash val="solid"/>
          </a:ln>
        </p:spPr>
      </p:sp>
      <p:sp>
        <p:nvSpPr>
          <p:cNvPr id="31" name="Text 29"/>
          <p:cNvSpPr txBox="1"/>
          <p:nvPr/>
        </p:nvSpPr>
        <p:spPr>
          <a:xfrm>
            <a:off x="6510528" y="3346704"/>
            <a:ext cx="4818888"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Sutton &amp; Barto: Reinforcement Learning / Dyna</a:t>
            </a:r>
            <a:endParaRPr lang="en-US" sz="770" dirty="0"/>
          </a:p>
        </p:txBody>
      </p:sp>
      <p:sp>
        <p:nvSpPr>
          <p:cNvPr id="32" name="Shape 30"/>
          <p:cNvSpPr/>
          <p:nvPr/>
        </p:nvSpPr>
        <p:spPr>
          <a:xfrm>
            <a:off x="6373368" y="3826764"/>
            <a:ext cx="64008" cy="64008"/>
          </a:xfrm>
          <a:prstGeom prst="ellipse">
            <a:avLst/>
          </a:prstGeom>
          <a:solidFill>
            <a:srgbClr val="356CA8"/>
          </a:solidFill>
          <a:ln w="8890">
            <a:solidFill>
              <a:srgbClr val="356CA8"/>
            </a:solidFill>
            <a:prstDash val="solid"/>
          </a:ln>
        </p:spPr>
      </p:sp>
      <p:sp>
        <p:nvSpPr>
          <p:cNvPr id="33" name="Text 31"/>
          <p:cNvSpPr txBox="1"/>
          <p:nvPr/>
        </p:nvSpPr>
        <p:spPr>
          <a:xfrm>
            <a:off x="6510528" y="3730752"/>
            <a:ext cx="4818888"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Moerland et al.: Model-based Reinforcement Learning Survey</a:t>
            </a:r>
            <a:endParaRPr lang="en-US" sz="770" dirty="0"/>
          </a:p>
        </p:txBody>
      </p:sp>
      <p:sp>
        <p:nvSpPr>
          <p:cNvPr id="34" name="Shape 32"/>
          <p:cNvSpPr/>
          <p:nvPr/>
        </p:nvSpPr>
        <p:spPr>
          <a:xfrm>
            <a:off x="6373368" y="4210812"/>
            <a:ext cx="64008" cy="64008"/>
          </a:xfrm>
          <a:prstGeom prst="ellipse">
            <a:avLst/>
          </a:prstGeom>
          <a:solidFill>
            <a:srgbClr val="356CA8"/>
          </a:solidFill>
          <a:ln w="8890">
            <a:solidFill>
              <a:srgbClr val="356CA8"/>
            </a:solidFill>
            <a:prstDash val="solid"/>
          </a:ln>
        </p:spPr>
      </p:sp>
      <p:sp>
        <p:nvSpPr>
          <p:cNvPr id="35" name="Text 33"/>
          <p:cNvSpPr txBox="1"/>
          <p:nvPr/>
        </p:nvSpPr>
        <p:spPr>
          <a:xfrm>
            <a:off x="6510528" y="4114800"/>
            <a:ext cx="4818888"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Ha &amp; Schmidhuber: World Models; Schrittwieser et al.: MuZero</a:t>
            </a:r>
            <a:endParaRPr lang="en-US" sz="770" dirty="0"/>
          </a:p>
        </p:txBody>
      </p:sp>
      <p:sp>
        <p:nvSpPr>
          <p:cNvPr id="36" name="Shape 34"/>
          <p:cNvSpPr/>
          <p:nvPr/>
        </p:nvSpPr>
        <p:spPr>
          <a:xfrm>
            <a:off x="6373368" y="4594860"/>
            <a:ext cx="64008" cy="64008"/>
          </a:xfrm>
          <a:prstGeom prst="ellipse">
            <a:avLst/>
          </a:prstGeom>
          <a:solidFill>
            <a:srgbClr val="356CA8"/>
          </a:solidFill>
          <a:ln w="8890">
            <a:solidFill>
              <a:srgbClr val="356CA8"/>
            </a:solidFill>
            <a:prstDash val="solid"/>
          </a:ln>
        </p:spPr>
      </p:sp>
      <p:sp>
        <p:nvSpPr>
          <p:cNvPr id="37" name="Text 35"/>
          <p:cNvSpPr txBox="1"/>
          <p:nvPr/>
        </p:nvSpPr>
        <p:spPr>
          <a:xfrm>
            <a:off x="6510528" y="4498848"/>
            <a:ext cx="4818888"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Caruana: Multitask Learning; Altman: Constrained MDP</a:t>
            </a:r>
            <a:endParaRPr lang="en-US" sz="770" dirty="0"/>
          </a:p>
        </p:txBody>
      </p:sp>
      <p:sp>
        <p:nvSpPr>
          <p:cNvPr id="38" name="Shape 36"/>
          <p:cNvSpPr/>
          <p:nvPr/>
        </p:nvSpPr>
        <p:spPr>
          <a:xfrm>
            <a:off x="6373368" y="4978908"/>
            <a:ext cx="64008" cy="64008"/>
          </a:xfrm>
          <a:prstGeom prst="ellipse">
            <a:avLst/>
          </a:prstGeom>
          <a:solidFill>
            <a:srgbClr val="356CA8"/>
          </a:solidFill>
          <a:ln w="8890">
            <a:solidFill>
              <a:srgbClr val="356CA8"/>
            </a:solidFill>
            <a:prstDash val="solid"/>
          </a:ln>
        </p:spPr>
      </p:sp>
      <p:sp>
        <p:nvSpPr>
          <p:cNvPr id="39" name="Text 37"/>
          <p:cNvSpPr txBox="1"/>
          <p:nvPr/>
        </p:nvSpPr>
        <p:spPr>
          <a:xfrm>
            <a:off x="6510528" y="4882896"/>
            <a:ext cx="4818888"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Pearl: Causality / do-calculus</a:t>
            </a:r>
            <a:endParaRPr lang="en-US" sz="770" dirty="0"/>
          </a:p>
        </p:txBody>
      </p:sp>
      <p:sp>
        <p:nvSpPr>
          <p:cNvPr id="40" name="Shape 38"/>
          <p:cNvSpPr/>
          <p:nvPr/>
        </p:nvSpPr>
        <p:spPr>
          <a:xfrm>
            <a:off x="6373368" y="5362956"/>
            <a:ext cx="64008" cy="64008"/>
          </a:xfrm>
          <a:prstGeom prst="ellipse">
            <a:avLst/>
          </a:prstGeom>
          <a:solidFill>
            <a:srgbClr val="356CA8"/>
          </a:solidFill>
          <a:ln w="8890">
            <a:solidFill>
              <a:srgbClr val="356CA8"/>
            </a:solidFill>
            <a:prstDash val="solid"/>
          </a:ln>
        </p:spPr>
      </p:sp>
      <p:sp>
        <p:nvSpPr>
          <p:cNvPr id="41" name="Text 39"/>
          <p:cNvSpPr txBox="1"/>
          <p:nvPr/>
        </p:nvSpPr>
        <p:spPr>
          <a:xfrm>
            <a:off x="6510528" y="5266944"/>
            <a:ext cx="4818888" cy="256032"/>
          </a:xfrm>
          <a:prstGeom prst="rect">
            <a:avLst/>
          </a:prstGeom>
          <a:noFill/>
          <a:ln/>
        </p:spPr>
        <p:txBody>
          <a:bodyPr wrap="square" lIns="0" tIns="0" rIns="0" bIns="0" rtlCol="0" anchor="t">
            <a:normAutofit/>
          </a:bodyPr>
          <a:lstStyle/>
          <a:p>
            <a:pPr algn="l" indent="0" marL="0">
              <a:lnSpc>
                <a:spcPct val="90000"/>
              </a:lnSpc>
              <a:buNone/>
            </a:pPr>
            <a:r>
              <a:rPr lang="en-US" sz="770" dirty="0">
                <a:solidFill>
                  <a:srgbClr val="32474D"/>
                </a:solidFill>
                <a:latin typeface="Hiragino Sans GB" pitchFamily="34" charset="0"/>
                <a:ea typeface="Hiragino Sans GB" pitchFamily="34" charset="-122"/>
                <a:cs typeface="Hiragino Sans GB" pitchFamily="34" charset="-120"/>
              </a:rPr>
              <a:t>Liu et al. 2017: FLUS; Li et al. 2011: GeoSOS</a:t>
            </a:r>
            <a:endParaRPr lang="en-US" sz="770" dirty="0"/>
          </a:p>
        </p:txBody>
      </p:sp>
      <p:sp>
        <p:nvSpPr>
          <p:cNvPr id="42" name="Shape 40"/>
          <p:cNvSpPr/>
          <p:nvPr/>
        </p:nvSpPr>
        <p:spPr>
          <a:xfrm>
            <a:off x="658368" y="5815584"/>
            <a:ext cx="10863072" cy="411480"/>
          </a:xfrm>
          <a:prstGeom prst="roundRect">
            <a:avLst>
              <a:gd name="adj" fmla="val 11111"/>
            </a:avLst>
          </a:prstGeom>
          <a:solidFill>
            <a:srgbClr val="E2F2EF"/>
          </a:solidFill>
          <a:ln w="8890">
            <a:solidFill>
              <a:srgbClr val="137F7A"/>
            </a:solidFill>
            <a:prstDash val="solid"/>
          </a:ln>
        </p:spPr>
      </p:sp>
      <p:sp>
        <p:nvSpPr>
          <p:cNvPr id="43" name="Text 41"/>
          <p:cNvSpPr txBox="1"/>
          <p:nvPr/>
        </p:nvSpPr>
        <p:spPr>
          <a:xfrm>
            <a:off x="877824" y="5907024"/>
            <a:ext cx="10451592" cy="210312"/>
          </a:xfrm>
          <a:prstGeom prst="rect">
            <a:avLst/>
          </a:prstGeom>
          <a:noFill/>
          <a:ln/>
        </p:spPr>
        <p:txBody>
          <a:bodyPr wrap="square" lIns="0" tIns="0" rIns="0" bIns="0" rtlCol="0" anchor="ctr">
            <a:normAutofit/>
          </a:bodyPr>
          <a:lstStyle/>
          <a:p>
            <a:pPr algn="ctr" indent="0" marL="0">
              <a:lnSpc>
                <a:spcPct val="92000"/>
              </a:lnSpc>
              <a:buNone/>
            </a:pPr>
            <a:r>
              <a:rPr lang="en-US" sz="950" b="1" dirty="0">
                <a:solidFill>
                  <a:srgbClr val="0E5C59"/>
                </a:solidFill>
                <a:latin typeface="Hiragino Sans GB" pitchFamily="34" charset="0"/>
                <a:ea typeface="Hiragino Sans GB" pitchFamily="34" charset="-122"/>
                <a:cs typeface="Hiragino Sans GB" pitchFamily="34" charset="-120"/>
              </a:rPr>
              <a:t>建议启动项：选定一条省级真实业务闭环，联合冻结数据契约、基线、留出协议与主张升级门槛。</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iragino Sans GB"/>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ragino Sans GB"/>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GIS Data Agent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地理空间世界模型：从空间优化到可验证的国土空间推演内核</dc:title>
  <dc:subject>面向省级自然资源治理的地理空间世界模型技术汇报</dc:subject>
  <dc:creator>GIS Data Agent / GWM Research</dc:creator>
  <cp:lastModifiedBy>GIS Data Agent / GWM Research</cp:lastModifiedBy>
  <cp:revision>1</cp:revision>
  <dcterms:created xsi:type="dcterms:W3CDTF">2026-07-22T08:38:01Z</dcterms:created>
  <dcterms:modified xsi:type="dcterms:W3CDTF">2026-07-22T08:38:01Z</dcterms:modified>
</cp:coreProperties>
</file>