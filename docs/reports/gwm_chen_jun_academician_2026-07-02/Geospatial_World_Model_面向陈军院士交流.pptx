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开场强调：这不是产品汇报，而是希望就 Geospatial World Model 的科学定位、边界和研究路线请专家判断。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gwm_academic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58368" y="585216"/>
            <a:ext cx="1325880" cy="292608"/>
          </a:xfrm>
          <a:prstGeom prst="roundRect">
            <a:avLst/>
          </a:prstGeom>
          <a:solidFill>
            <a:srgbClr val="1E8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635508"/>
            <a:ext cx="1252728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PingFang SC"/>
              </a:rPr>
              <a:t>院士交流材料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43584"/>
            <a:ext cx="8595360" cy="7863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</a:rPr>
              <a:t>Geospatial World Model：</a:t>
            </a:r>
          </a:p>
          <a:p>
            <a:pPr algn="l"/>
            <a:r>
              <a:rPr sz="2600" b="1">
                <a:solidFill>
                  <a:srgbClr val="FFFFFF"/>
                </a:solidFill>
                <a:latin typeface="PingFang SC"/>
              </a:rPr>
              <a:t>面向自然资源治理的地理空间世界模型探索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852928"/>
            <a:ext cx="713232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E6EEF5"/>
                </a:solidFill>
                <a:latin typeface="PingFang SC"/>
              </a:rPr>
              <a:t>以 TWM 作为自然资源行业实例，讨论 GIScience、GeoAI 与行动后果推演的交叉方向。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6236208"/>
            <a:ext cx="42062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D8E2EA"/>
                </a:solidFill>
                <a:latin typeface="PingFang SC"/>
              </a:rPr>
              <a:t>GIS Data Agent / 2026-07-02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56032"/>
            <a:ext cx="7680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1E827D"/>
                </a:solidFill>
                <a:latin typeface="PingFang SC"/>
              </a:rPr>
              <a:t>面向院士交流的定位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66928"/>
            <a:ext cx="1042416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8212B"/>
                </a:solidFill>
                <a:latin typeface="PingFang SC"/>
              </a:rPr>
              <a:t>这份材料的交流目标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10896"/>
            <a:ext cx="45720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5F6E7C"/>
                </a:solidFill>
                <a:latin typeface="PingFang SC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170432"/>
            <a:ext cx="104241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145D8F"/>
                </a:solidFill>
                <a:latin typeface="PingFang SC"/>
              </a:rPr>
              <a:t>不是做一个系统演示，而是请判断一个研究方向是否成立。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084831"/>
            <a:ext cx="3154680" cy="1874519"/>
          </a:xfrm>
          <a:prstGeom prst="roundRect">
            <a:avLst/>
          </a:prstGeom>
          <a:solidFill>
            <a:srgbClr val="EAF3F9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2084831"/>
            <a:ext cx="64008" cy="1874519"/>
          </a:xfrm>
          <a:prstGeom prst="rect">
            <a:avLst/>
          </a:prstGeom>
          <a:solidFill>
            <a:srgbClr val="145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2231136"/>
            <a:ext cx="284378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12B"/>
                </a:solidFill>
                <a:latin typeface="PingFang SC"/>
              </a:rPr>
              <a:t>概念是否成立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596896"/>
            <a:ext cx="2843784" cy="127101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1100" b="0">
                <a:solidFill>
                  <a:srgbClr val="5F6E7C"/>
                </a:solidFill>
                <a:latin typeface="PingFang SC"/>
              </a:rPr>
              <a:t>Geospatial World Model 是否能作为 GIScience + GeoAI 的下一类研究对象？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2084831"/>
            <a:ext cx="3154680" cy="1874519"/>
          </a:xfrm>
          <a:prstGeom prst="roundRect">
            <a:avLst/>
          </a:prstGeom>
          <a:solidFill>
            <a:srgbClr val="EBF6E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17720" y="2084831"/>
            <a:ext cx="64008" cy="1874519"/>
          </a:xfrm>
          <a:prstGeom prst="rect">
            <a:avLst/>
          </a:prstGeom>
          <a:solidFill>
            <a:srgbClr val="1E8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18888" y="2231136"/>
            <a:ext cx="284378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12B"/>
                </a:solidFill>
                <a:latin typeface="PingFang SC"/>
              </a:rPr>
              <a:t>边界是否严谨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8888" y="2596896"/>
            <a:ext cx="2843784" cy="127101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1100" b="0">
                <a:solidFill>
                  <a:srgbClr val="5F6E7C"/>
                </a:solidFill>
                <a:latin typeface="PingFang SC"/>
              </a:rPr>
              <a:t>它和 GIS、数字孪生、土地利用模拟、空间优化、GeoAI foundation model 的边界如何划分？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59" y="2084831"/>
            <a:ext cx="3154680" cy="1874519"/>
          </a:xfrm>
          <a:prstGeom prst="roundRect">
            <a:avLst/>
          </a:prstGeom>
          <a:solidFill>
            <a:srgbClr val="FAF0E3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59" y="2084831"/>
            <a:ext cx="64008" cy="1874519"/>
          </a:xfrm>
          <a:prstGeom prst="rect">
            <a:avLst/>
          </a:prstGeom>
          <a:solidFill>
            <a:srgbClr val="A76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67928" y="2231136"/>
            <a:ext cx="284378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12B"/>
                </a:solidFill>
                <a:latin typeface="PingFang SC"/>
              </a:rPr>
              <a:t>路线是否值得推进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7928" y="2596896"/>
            <a:ext cx="2843784" cy="127101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1100" b="0">
                <a:solidFill>
                  <a:srgbClr val="5F6E7C"/>
                </a:solidFill>
                <a:latin typeface="PingFang SC"/>
              </a:rPr>
              <a:t>自然资源 TWM 是否适合作为 GWM 的第一类行业实例与验证场景？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047488"/>
            <a:ext cx="100584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8212B"/>
                </a:solidFill>
                <a:latin typeface="PingFang SC"/>
              </a:rPr>
              <a:t>因此，后续会主动说明已有工作、实验边界和当前不足，避免把概念包装成已完成结论。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547104"/>
            <a:ext cx="768096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600" b="0">
                <a:solidFill>
                  <a:srgbClr val="5F6E7C"/>
                </a:solidFill>
                <a:latin typeface="PingFang SC"/>
              </a:rPr>
              <a:t>Geospatial World Model / TWM 技术交流材料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56032"/>
            <a:ext cx="7680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1E827D"/>
                </a:solidFill>
                <a:latin typeface="PingFang SC"/>
              </a:rPr>
              <a:t>研究背景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66928"/>
            <a:ext cx="1042416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8212B"/>
                </a:solidFill>
                <a:latin typeface="PingFang SC"/>
              </a:rPr>
              <a:t>从 GIS / GeoAI 到 GWM：问题正在变化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10896"/>
            <a:ext cx="45720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5F6E7C"/>
                </a:solidFill>
                <a:latin typeface="PingFang SC"/>
              </a:rPr>
              <a:t>03</a:t>
            </a:r>
          </a:p>
        </p:txBody>
      </p:sp>
      <p:pic>
        <p:nvPicPr>
          <p:cNvPr id="6" name="Picture 5" descr="gwm_route_capability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234439"/>
            <a:ext cx="5852160" cy="2926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086600" y="1115568"/>
            <a:ext cx="4251960" cy="987552"/>
          </a:xfrm>
          <a:prstGeom prst="roundRect">
            <a:avLst/>
          </a:prstGeom>
          <a:solidFill>
            <a:srgbClr val="EAF3F9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086600" y="1115568"/>
            <a:ext cx="64008" cy="987552"/>
          </a:xfrm>
          <a:prstGeom prst="rect">
            <a:avLst/>
          </a:prstGeom>
          <a:solidFill>
            <a:srgbClr val="145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87768" y="1261872"/>
            <a:ext cx="394106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12B"/>
                </a:solidFill>
                <a:latin typeface="PingFang SC"/>
              </a:rPr>
              <a:t>GIS 的强项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87768" y="1627632"/>
            <a:ext cx="3941064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1100" b="0">
                <a:solidFill>
                  <a:srgbClr val="5F6E7C"/>
                </a:solidFill>
                <a:latin typeface="PingFang SC"/>
              </a:rPr>
              <a:t>表达、组织、查询、分析空间信息。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86600" y="2432304"/>
            <a:ext cx="4251960" cy="987552"/>
          </a:xfrm>
          <a:prstGeom prst="roundRect">
            <a:avLst/>
          </a:prstGeom>
          <a:solidFill>
            <a:srgbClr val="EBF6E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86600" y="2432304"/>
            <a:ext cx="64008" cy="987552"/>
          </a:xfrm>
          <a:prstGeom prst="rect">
            <a:avLst/>
          </a:prstGeom>
          <a:solidFill>
            <a:srgbClr val="1E8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87768" y="2578608"/>
            <a:ext cx="394106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12B"/>
                </a:solidFill>
                <a:latin typeface="PingFang SC"/>
              </a:rPr>
              <a:t>GeoAI 的强项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87768" y="2944368"/>
            <a:ext cx="3941064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1100" b="0">
                <a:solidFill>
                  <a:srgbClr val="5F6E7C"/>
                </a:solidFill>
                <a:latin typeface="PingFang SC"/>
              </a:rPr>
              <a:t>识别、表征、预测遥感与空间数据模式。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86600" y="3749039"/>
            <a:ext cx="4251960" cy="987552"/>
          </a:xfrm>
          <a:prstGeom prst="roundRect">
            <a:avLst/>
          </a:prstGeom>
          <a:solidFill>
            <a:srgbClr val="FAF0E3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86600" y="3749039"/>
            <a:ext cx="64008" cy="987552"/>
          </a:xfrm>
          <a:prstGeom prst="rect">
            <a:avLst/>
          </a:prstGeom>
          <a:solidFill>
            <a:srgbClr val="A76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87768" y="3895344"/>
            <a:ext cx="394106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12B"/>
                </a:solidFill>
                <a:latin typeface="PingFang SC"/>
              </a:rPr>
              <a:t>GWM 的目标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87768" y="4261104"/>
            <a:ext cx="3941064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1100" b="0">
                <a:solidFill>
                  <a:srgbClr val="5F6E7C"/>
                </a:solidFill>
                <a:latin typeface="PingFang SC"/>
              </a:rPr>
              <a:t>推演行动后果，约束模型结论，服务可审计决策。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257800"/>
            <a:ext cx="1046988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18212B"/>
                </a:solidFill>
                <a:latin typeface="PingFang SC"/>
              </a:rPr>
              <a:t>从“描述世界”到“识别世界”之后，自然资源治理更需要“推演世界”。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547104"/>
            <a:ext cx="768096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600" b="0">
                <a:solidFill>
                  <a:srgbClr val="5F6E7C"/>
                </a:solidFill>
                <a:latin typeface="PingFang SC"/>
              </a:rPr>
              <a:t>Geospatial World Model / TWM 技术交流材料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56032"/>
            <a:ext cx="7680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1E827D"/>
                </a:solidFill>
                <a:latin typeface="PingFang SC"/>
              </a:rPr>
              <a:t>概念基线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66928"/>
            <a:ext cx="1042416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8212B"/>
                </a:solidFill>
                <a:latin typeface="PingFang SC"/>
              </a:rPr>
              <a:t>World Model 的最低共识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10896"/>
            <a:ext cx="45720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5F6E7C"/>
                </a:solidFill>
                <a:latin typeface="PingFang SC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143000"/>
            <a:ext cx="105156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45D8F"/>
                </a:solidFill>
                <a:latin typeface="PingFang SC"/>
              </a:rPr>
              <a:t>世界模型不是“生成好看的未来画面”，而是学习环境状态、演化规律和行动后果。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331720"/>
            <a:ext cx="20574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527048" y="2606040"/>
            <a:ext cx="713232" cy="292608"/>
          </a:xfrm>
          <a:prstGeom prst="roundRect">
            <a:avLst/>
          </a:prstGeom>
          <a:solidFill>
            <a:srgbClr val="145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63624" y="2656332"/>
            <a:ext cx="640080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PingFang SC"/>
              </a:rPr>
              <a:t>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3127248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F6E7C"/>
                </a:solidFill>
                <a:latin typeface="PingFang SC"/>
              </a:rPr>
              <a:t>世界现在是什么状态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53511" y="2999232"/>
            <a:ext cx="457200" cy="0"/>
          </a:xfrm>
          <a:prstGeom prst="line">
            <a:avLst/>
          </a:prstGeom>
          <a:ln w="15240">
            <a:solidFill>
              <a:srgbClr val="D7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611880" y="2331720"/>
            <a:ext cx="20574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70248" y="2606040"/>
            <a:ext cx="713232" cy="292608"/>
          </a:xfrm>
          <a:prstGeom prst="roundRect">
            <a:avLst/>
          </a:prstGeom>
          <a:solidFill>
            <a:srgbClr val="1E8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2656332"/>
            <a:ext cx="640080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PingFang SC"/>
              </a:rPr>
              <a:t>Dynamics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6472" y="3127248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F6E7C"/>
                </a:solidFill>
                <a:latin typeface="PingFang SC"/>
              </a:rPr>
              <a:t>世界如何随时间变化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96712" y="2999232"/>
            <a:ext cx="457200" cy="0"/>
          </a:xfrm>
          <a:prstGeom prst="line">
            <a:avLst/>
          </a:prstGeom>
          <a:ln w="15240">
            <a:solidFill>
              <a:srgbClr val="D7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355080" y="2331720"/>
            <a:ext cx="20574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013448" y="2606040"/>
            <a:ext cx="713232" cy="292608"/>
          </a:xfrm>
          <a:prstGeom prst="roundRect">
            <a:avLst/>
          </a:prstGeom>
          <a:solidFill>
            <a:srgbClr val="3F8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50024" y="2656332"/>
            <a:ext cx="640080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PingFang SC"/>
              </a:rPr>
              <a:t>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3127248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F6E7C"/>
                </a:solidFill>
                <a:latin typeface="PingFang SC"/>
              </a:rPr>
              <a:t>行动如何改变未来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439912" y="2999232"/>
            <a:ext cx="457200" cy="0"/>
          </a:xfrm>
          <a:prstGeom prst="line">
            <a:avLst/>
          </a:prstGeom>
          <a:ln w="15240">
            <a:solidFill>
              <a:srgbClr val="D7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098280" y="2331720"/>
            <a:ext cx="20574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756648" y="2606040"/>
            <a:ext cx="713232" cy="292608"/>
          </a:xfrm>
          <a:prstGeom prst="roundRect">
            <a:avLst/>
          </a:prstGeom>
          <a:solidFill>
            <a:srgbClr val="A76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93224" y="2656332"/>
            <a:ext cx="640080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PingFang SC"/>
              </a:rPr>
              <a:t>Planning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2872" y="3127248"/>
            <a:ext cx="17373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F6E7C"/>
                </a:solidFill>
                <a:latin typeface="PingFang SC"/>
              </a:rPr>
              <a:t>如何基于推演选择方案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617720"/>
            <a:ext cx="9921240" cy="713232"/>
          </a:xfrm>
          <a:prstGeom prst="roundRect">
            <a:avLst/>
          </a:prstGeom>
          <a:solidFill>
            <a:srgbClr val="EAF3F9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0" y="4855464"/>
            <a:ext cx="94640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8212B"/>
                </a:solidFill>
                <a:latin typeface="PingFang SC"/>
              </a:rPr>
              <a:t>普通形式：p(S_{t+1} | S_t, A_t)；GWM 需要把 S 和 A 都换成地理空间与治理语义。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6547104"/>
            <a:ext cx="768096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600" b="0">
                <a:solidFill>
                  <a:srgbClr val="5F6E7C"/>
                </a:solidFill>
                <a:latin typeface="PingFang SC"/>
              </a:rPr>
              <a:t>References: Ha &amp; Schmidhuber 2018; Dreamer 系列；model-based planning literature.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56032"/>
            <a:ext cx="7680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1E827D"/>
                </a:solidFill>
                <a:latin typeface="PingFang SC"/>
              </a:rPr>
              <a:t>地理空间特殊性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66928"/>
            <a:ext cx="1042416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8212B"/>
                </a:solidFill>
                <a:latin typeface="PingFang SC"/>
              </a:rPr>
              <a:t>为什么 GWM 不是普通 World Model 的搬运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10896"/>
            <a:ext cx="45720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5F6E7C"/>
                </a:solidFill>
                <a:latin typeface="PingFang SC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234440"/>
            <a:ext cx="315468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234440"/>
            <a:ext cx="64008" cy="1325880"/>
          </a:xfrm>
          <a:prstGeom prst="rect">
            <a:avLst/>
          </a:prstGeom>
          <a:solidFill>
            <a:srgbClr val="145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380744"/>
            <a:ext cx="284378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8212B"/>
                </a:solidFill>
                <a:latin typeface="PingFang SC"/>
              </a:rPr>
              <a:t>对象-场二元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1746504"/>
            <a:ext cx="2843784" cy="72237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1000" b="0">
                <a:solidFill>
                  <a:srgbClr val="5F6E7C"/>
                </a:solidFill>
                <a:latin typeface="PingFang SC"/>
              </a:rPr>
              <a:t>地块/道路/行政区 + 遥感/栅格场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8848" y="1234440"/>
            <a:ext cx="315468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98848" y="1234440"/>
            <a:ext cx="64008" cy="1325880"/>
          </a:xfrm>
          <a:prstGeom prst="rect">
            <a:avLst/>
          </a:prstGeom>
          <a:solidFill>
            <a:srgbClr val="1E8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0016" y="1380744"/>
            <a:ext cx="284378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8212B"/>
                </a:solidFill>
                <a:latin typeface="PingFang SC"/>
              </a:rPr>
              <a:t>拓扑关系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0016" y="1746504"/>
            <a:ext cx="2843784" cy="72237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1000" b="0">
                <a:solidFill>
                  <a:srgbClr val="5F6E7C"/>
                </a:solidFill>
                <a:latin typeface="PingFang SC"/>
              </a:rPr>
              <a:t>相邻、包含、连通、缓冲、上下游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47888" y="1234440"/>
            <a:ext cx="315468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47888" y="1234440"/>
            <a:ext cx="64008" cy="1325880"/>
          </a:xfrm>
          <a:prstGeom prst="rect">
            <a:avLst/>
          </a:prstGeom>
          <a:solidFill>
            <a:srgbClr val="3F8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9056" y="1380744"/>
            <a:ext cx="284378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8212B"/>
                </a:solidFill>
                <a:latin typeface="PingFang SC"/>
              </a:rPr>
              <a:t>尺度效应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6" y="1746504"/>
            <a:ext cx="2843784" cy="72237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1000" b="0">
                <a:solidFill>
                  <a:srgbClr val="5F6E7C"/>
                </a:solidFill>
                <a:latin typeface="PingFang SC"/>
              </a:rPr>
              <a:t>parcel / township / county 改变结论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108960"/>
            <a:ext cx="315468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8" y="3108960"/>
            <a:ext cx="64008" cy="1325880"/>
          </a:xfrm>
          <a:prstGeom prst="rect">
            <a:avLst/>
          </a:prstGeom>
          <a:solidFill>
            <a:srgbClr val="A76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3255264"/>
            <a:ext cx="284378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8212B"/>
                </a:solidFill>
                <a:latin typeface="PingFang SC"/>
              </a:rPr>
              <a:t>空间异质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3621024"/>
            <a:ext cx="2843784" cy="72237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1000" b="0">
                <a:solidFill>
                  <a:srgbClr val="5F6E7C"/>
                </a:solidFill>
                <a:latin typeface="PingFang SC"/>
              </a:rPr>
              <a:t>规则、地貌、经济与数据质量区域差异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98848" y="3108960"/>
            <a:ext cx="315468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98848" y="3108960"/>
            <a:ext cx="64008" cy="1325880"/>
          </a:xfrm>
          <a:prstGeom prst="rect">
            <a:avLst/>
          </a:prstGeom>
          <a:solidFill>
            <a:srgbClr val="B84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0016" y="3255264"/>
            <a:ext cx="284378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8212B"/>
                </a:solidFill>
                <a:latin typeface="PingFang SC"/>
              </a:rPr>
              <a:t>治理规则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0016" y="3621024"/>
            <a:ext cx="2843784" cy="72237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1000" b="0">
                <a:solidFill>
                  <a:srgbClr val="5F6E7C"/>
                </a:solidFill>
                <a:latin typeface="PingFang SC"/>
              </a:rPr>
              <a:t>红线、基本农田、用途管制、审批要求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47888" y="3108960"/>
            <a:ext cx="315468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47888" y="3108960"/>
            <a:ext cx="64008" cy="1325880"/>
          </a:xfrm>
          <a:prstGeom prst="rect">
            <a:avLst/>
          </a:prstGeom>
          <a:solidFill>
            <a:srgbClr val="655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255264"/>
            <a:ext cx="284378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8212B"/>
                </a:solidFill>
                <a:latin typeface="PingFang SC"/>
              </a:rPr>
              <a:t>证据边界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49056" y="3621024"/>
            <a:ext cx="2843784" cy="72237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1000" b="0">
                <a:solidFill>
                  <a:srgbClr val="5F6E7C"/>
                </a:solidFill>
                <a:latin typeface="PingFang SC"/>
              </a:rPr>
              <a:t>来源、时间、CRS、置信度、法律效力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358384"/>
            <a:ext cx="1042416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8212B"/>
                </a:solidFill>
                <a:latin typeface="PingFang SC"/>
              </a:rPr>
              <a:t>GWM 的核心难点不是“再训练一个模型”，而是把空间、规则、证据和行动统一进模型状态。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6547104"/>
            <a:ext cx="768096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600" b="0">
                <a:solidFill>
                  <a:srgbClr val="5F6E7C"/>
                </a:solidFill>
                <a:latin typeface="PingFang SC"/>
              </a:rPr>
              <a:t>Geospatial World Model / TWM 技术交流材料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56032"/>
            <a:ext cx="7680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1E827D"/>
                </a:solidFill>
                <a:latin typeface="PingFang SC"/>
              </a:rPr>
              <a:t>核心定义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66928"/>
            <a:ext cx="1042416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8212B"/>
                </a:solidFill>
                <a:latin typeface="PingFang SC"/>
              </a:rPr>
              <a:t>Geospatial World Model 的形式化定义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10896"/>
            <a:ext cx="45720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5F6E7C"/>
                </a:solidFill>
                <a:latin typeface="PingFang SC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170432"/>
            <a:ext cx="10561320" cy="960120"/>
          </a:xfrm>
          <a:prstGeom prst="roundRect">
            <a:avLst/>
          </a:prstGeom>
          <a:solidFill>
            <a:srgbClr val="102033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17904"/>
            <a:ext cx="101041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PingFang SC"/>
              </a:rPr>
              <a:t>GWM = &lt;S_G, A_G, R_G, E_G, T_G, U_G, C_G, M_G&gt;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51760"/>
            <a:ext cx="23317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98064"/>
            <a:ext cx="530352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45D8F"/>
                </a:solidFill>
                <a:latin typeface="PingFang SC"/>
              </a:rPr>
              <a:t>S_G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816352"/>
            <a:ext cx="146304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F6E7C"/>
                </a:solidFill>
                <a:latin typeface="PingFang SC"/>
              </a:rPr>
              <a:t>geospatial state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2651760"/>
            <a:ext cx="23317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608" y="2798064"/>
            <a:ext cx="530352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E827D"/>
                </a:solidFill>
                <a:latin typeface="PingFang SC"/>
              </a:rPr>
              <a:t>A_G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816352"/>
            <a:ext cx="146304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F6E7C"/>
                </a:solidFill>
                <a:latin typeface="PingFang SC"/>
              </a:rPr>
              <a:t>geospatial 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2651760"/>
            <a:ext cx="23317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2798064"/>
            <a:ext cx="530352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3F8B5F"/>
                </a:solidFill>
                <a:latin typeface="PingFang SC"/>
              </a:rPr>
              <a:t>R_G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816352"/>
            <a:ext cx="146304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F6E7C"/>
                </a:solidFill>
                <a:latin typeface="PingFang SC"/>
              </a:rPr>
              <a:t>rules / constraints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2651760"/>
            <a:ext cx="23317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90888" y="2798064"/>
            <a:ext cx="530352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A76325"/>
                </a:solidFill>
                <a:latin typeface="PingFang SC"/>
              </a:rPr>
              <a:t>E_G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2816352"/>
            <a:ext cx="146304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F6E7C"/>
                </a:solidFill>
                <a:latin typeface="PingFang SC"/>
              </a:rPr>
              <a:t>evidence / uncertainty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794760"/>
            <a:ext cx="23317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3941064"/>
            <a:ext cx="530352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B8453F"/>
                </a:solidFill>
                <a:latin typeface="PingFang SC"/>
              </a:rPr>
              <a:t>T_G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959352"/>
            <a:ext cx="146304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F6E7C"/>
                </a:solidFill>
                <a:latin typeface="PingFang SC"/>
              </a:rPr>
              <a:t>transition dynamics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11880" y="3794760"/>
            <a:ext cx="23317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21608" y="3941064"/>
            <a:ext cx="530352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6558A8"/>
                </a:solidFill>
                <a:latin typeface="PingFang SC"/>
              </a:rPr>
              <a:t>U_G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3959352"/>
            <a:ext cx="146304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F6E7C"/>
                </a:solidFill>
                <a:latin typeface="PingFang SC"/>
              </a:rPr>
              <a:t>utility / regret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3794760"/>
            <a:ext cx="23317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6248" y="3941064"/>
            <a:ext cx="530352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45D8F"/>
                </a:solidFill>
                <a:latin typeface="PingFang SC"/>
              </a:rPr>
              <a:t>C_G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3959352"/>
            <a:ext cx="146304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F6E7C"/>
                </a:solidFill>
                <a:latin typeface="PingFang SC"/>
              </a:rPr>
              <a:t>claim boundary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81160" y="3794760"/>
            <a:ext cx="23317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90888" y="3941064"/>
            <a:ext cx="530352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E827D"/>
                </a:solidFill>
                <a:latin typeface="PingFang SC"/>
              </a:rPr>
              <a:t>M_G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3959352"/>
            <a:ext cx="146304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F6E7C"/>
                </a:solidFill>
                <a:latin typeface="PingFang SC"/>
              </a:rPr>
              <a:t>failure memory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413248"/>
            <a:ext cx="10241280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45D8F"/>
                </a:solidFill>
                <a:latin typeface="PingFang SC"/>
              </a:rPr>
              <a:t>定义重点：GWM 不是普通预测器，而是受空间、证据和治理约束的行动世界模型。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6547104"/>
            <a:ext cx="768096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600" b="0">
                <a:solidFill>
                  <a:srgbClr val="5F6E7C"/>
                </a:solidFill>
                <a:latin typeface="PingFang SC"/>
              </a:rPr>
              <a:t>Geospatial World Model / TWM 技术交流材料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56032"/>
            <a:ext cx="7680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1E827D"/>
                </a:solidFill>
                <a:latin typeface="PingFang SC"/>
              </a:rPr>
              <a:t>学术定位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66928"/>
            <a:ext cx="1042416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8212B"/>
                </a:solidFill>
                <a:latin typeface="PingFang SC"/>
              </a:rPr>
              <a:t>与已有路线的边界：不能把相邻工作说成空白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10896"/>
            <a:ext cx="45720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5F6E7C"/>
                </a:solidFill>
                <a:latin typeface="PingFang SC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097280"/>
            <a:ext cx="1051560" cy="384048"/>
          </a:xfrm>
          <a:prstGeom prst="rect">
            <a:avLst/>
          </a:prstGeom>
          <a:solidFill>
            <a:srgbClr val="102033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207008"/>
            <a:ext cx="978407" cy="1097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PingFang SC"/>
              </a:rPr>
              <a:t>路线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4519" y="1097280"/>
            <a:ext cx="1874519" cy="384048"/>
          </a:xfrm>
          <a:prstGeom prst="rect">
            <a:avLst/>
          </a:prstGeom>
          <a:solidFill>
            <a:srgbClr val="102033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11095" y="1207008"/>
            <a:ext cx="1801367" cy="1097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PingFang SC"/>
              </a:rPr>
              <a:t>主要对象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1097280"/>
            <a:ext cx="2057400" cy="384048"/>
          </a:xfrm>
          <a:prstGeom prst="rect">
            <a:avLst/>
          </a:prstGeom>
          <a:solidFill>
            <a:srgbClr val="102033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59936" y="1207008"/>
            <a:ext cx="1984248" cy="1097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PingFang SC"/>
              </a:rPr>
              <a:t>核心输出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097280"/>
            <a:ext cx="2148840" cy="384048"/>
          </a:xfrm>
          <a:prstGeom prst="rect">
            <a:avLst/>
          </a:prstGeom>
          <a:solidFill>
            <a:srgbClr val="102033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1207008"/>
            <a:ext cx="2075688" cy="1097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PingFang SC"/>
              </a:rPr>
              <a:t>强项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23960" y="1097280"/>
            <a:ext cx="2606040" cy="384048"/>
          </a:xfrm>
          <a:prstGeom prst="rect">
            <a:avLst/>
          </a:prstGeom>
          <a:solidFill>
            <a:srgbClr val="102033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0536" y="1207008"/>
            <a:ext cx="2532888" cy="1097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PingFang SC"/>
              </a:rPr>
              <a:t>GWM 的差异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1572768"/>
            <a:ext cx="105156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1719072"/>
            <a:ext cx="960119" cy="1188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18212B"/>
                </a:solidFill>
                <a:latin typeface="PingFang SC"/>
              </a:rPr>
              <a:t>GIS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74519" y="1572768"/>
            <a:ext cx="1874519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20239" y="1719072"/>
            <a:ext cx="1783079" cy="1188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5F6E7C"/>
                </a:solidFill>
                <a:latin typeface="PingFang SC"/>
              </a:rPr>
              <a:t>空间数据与关系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3360" y="1572768"/>
            <a:ext cx="20574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69080" y="1719072"/>
            <a:ext cx="1965960" cy="1188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5F6E7C"/>
                </a:solidFill>
                <a:latin typeface="PingFang SC"/>
              </a:rPr>
              <a:t>图层/分析/制图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572768"/>
            <a:ext cx="214884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1719072"/>
            <a:ext cx="2057400" cy="1188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5F6E7C"/>
                </a:solidFill>
                <a:latin typeface="PingFang SC"/>
              </a:rPr>
              <a:t>表达严谨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23960" y="1572768"/>
            <a:ext cx="260604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0" y="1719072"/>
            <a:ext cx="2514600" cy="1188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5F6E7C"/>
                </a:solidFill>
                <a:latin typeface="PingFang SC"/>
              </a:rPr>
              <a:t>加入未来与行动后果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" y="2286000"/>
            <a:ext cx="1051560" cy="530352"/>
          </a:xfrm>
          <a:prstGeom prst="rect">
            <a:avLst/>
          </a:prstGeom>
          <a:solidFill>
            <a:srgbClr val="F3F7FA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" y="2432304"/>
            <a:ext cx="960119" cy="1188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18212B"/>
                </a:solidFill>
                <a:latin typeface="PingFang SC"/>
              </a:rPr>
              <a:t>数字孪生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74519" y="2286000"/>
            <a:ext cx="1874519" cy="530352"/>
          </a:xfrm>
          <a:prstGeom prst="rect">
            <a:avLst/>
          </a:prstGeom>
          <a:solidFill>
            <a:srgbClr val="F3F7FA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20239" y="2432304"/>
            <a:ext cx="1783079" cy="1188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5F6E7C"/>
                </a:solidFill>
                <a:latin typeface="PingFang SC"/>
              </a:rPr>
              <a:t>实时状态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23360" y="2286000"/>
            <a:ext cx="2057400" cy="530352"/>
          </a:xfrm>
          <a:prstGeom prst="rect">
            <a:avLst/>
          </a:prstGeom>
          <a:solidFill>
            <a:srgbClr val="F3F7FA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69080" y="2432304"/>
            <a:ext cx="1965960" cy="1188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5F6E7C"/>
                </a:solidFill>
                <a:latin typeface="PingFang SC"/>
              </a:rPr>
              <a:t>同步/监控/可视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2286000"/>
            <a:ext cx="2148840" cy="530352"/>
          </a:xfrm>
          <a:prstGeom prst="rect">
            <a:avLst/>
          </a:prstGeom>
          <a:solidFill>
            <a:srgbClr val="F3F7FA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2432304"/>
            <a:ext cx="2057400" cy="1188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5F6E7C"/>
                </a:solidFill>
                <a:latin typeface="PingFang SC"/>
              </a:rPr>
              <a:t>状态可见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23960" y="2286000"/>
            <a:ext cx="2606040" cy="530352"/>
          </a:xfrm>
          <a:prstGeom prst="rect">
            <a:avLst/>
          </a:prstGeom>
          <a:solidFill>
            <a:srgbClr val="F3F7FA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0" y="2432304"/>
            <a:ext cx="2514600" cy="1188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5F6E7C"/>
                </a:solidFill>
                <a:latin typeface="PingFang SC"/>
              </a:rPr>
              <a:t>从同步走向可审计推演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" y="2999232"/>
            <a:ext cx="105156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" y="3145536"/>
            <a:ext cx="960119" cy="1188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18212B"/>
                </a:solidFill>
                <a:latin typeface="PingFang SC"/>
              </a:rPr>
              <a:t>GeoAI/FM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74519" y="2999232"/>
            <a:ext cx="1874519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20239" y="3145536"/>
            <a:ext cx="1783079" cy="1188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5F6E7C"/>
                </a:solidFill>
                <a:latin typeface="PingFang SC"/>
              </a:rPr>
              <a:t>遥感与空间模式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023360" y="2999232"/>
            <a:ext cx="20574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69080" y="3145536"/>
            <a:ext cx="1965960" cy="1188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5F6E7C"/>
                </a:solidFill>
                <a:latin typeface="PingFang SC"/>
              </a:rPr>
              <a:t>识别/表征/预测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2999232"/>
            <a:ext cx="214884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3145536"/>
            <a:ext cx="2057400" cy="1188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5F6E7C"/>
                </a:solidFill>
                <a:latin typeface="PingFang SC"/>
              </a:rPr>
              <a:t>模型能力强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23960" y="2999232"/>
            <a:ext cx="260604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69680" y="3145536"/>
            <a:ext cx="2514600" cy="1188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5F6E7C"/>
                </a:solidFill>
                <a:latin typeface="PingFang SC"/>
              </a:rPr>
              <a:t>加入规则、行动、证据边界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" y="3712463"/>
            <a:ext cx="1051560" cy="530352"/>
          </a:xfrm>
          <a:prstGeom prst="rect">
            <a:avLst/>
          </a:prstGeom>
          <a:solidFill>
            <a:srgbClr val="F3F7FA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7512" y="3858768"/>
            <a:ext cx="960119" cy="1188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18212B"/>
                </a:solidFill>
                <a:latin typeface="PingFang SC"/>
              </a:rPr>
              <a:t>LULC 模拟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74519" y="3712463"/>
            <a:ext cx="1874519" cy="530352"/>
          </a:xfrm>
          <a:prstGeom prst="rect">
            <a:avLst/>
          </a:prstGeom>
          <a:solidFill>
            <a:srgbClr val="F3F7FA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920239" y="3858768"/>
            <a:ext cx="1783079" cy="1188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5F6E7C"/>
                </a:solidFill>
                <a:latin typeface="PingFang SC"/>
              </a:rPr>
              <a:t>土地类型转移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23360" y="3712463"/>
            <a:ext cx="2057400" cy="530352"/>
          </a:xfrm>
          <a:prstGeom prst="rect">
            <a:avLst/>
          </a:prstGeom>
          <a:solidFill>
            <a:srgbClr val="F3F7FA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69080" y="3858768"/>
            <a:ext cx="1965960" cy="1188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5F6E7C"/>
                </a:solidFill>
                <a:latin typeface="PingFang SC"/>
              </a:rPr>
              <a:t>未来土地利用图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0" y="3712463"/>
            <a:ext cx="2148840" cy="530352"/>
          </a:xfrm>
          <a:prstGeom prst="rect">
            <a:avLst/>
          </a:prstGeom>
          <a:solidFill>
            <a:srgbClr val="F3F7FA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46520" y="3858768"/>
            <a:ext cx="2057400" cy="1188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5F6E7C"/>
                </a:solidFill>
                <a:latin typeface="PingFang SC"/>
              </a:rPr>
              <a:t>成熟基线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823960" y="3712463"/>
            <a:ext cx="2606040" cy="530352"/>
          </a:xfrm>
          <a:prstGeom prst="rect">
            <a:avLst/>
          </a:prstGeom>
          <a:solidFill>
            <a:srgbClr val="F3F7FA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869680" y="3858768"/>
            <a:ext cx="2514600" cy="1188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5F6E7C"/>
                </a:solidFill>
                <a:latin typeface="PingFang SC"/>
              </a:rPr>
              <a:t>从地类转移扩展到治理行动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1792" y="4425696"/>
            <a:ext cx="105156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7512" y="4572000"/>
            <a:ext cx="960119" cy="1188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18212B"/>
                </a:solidFill>
                <a:latin typeface="PingFang SC"/>
              </a:rPr>
              <a:t>空间优化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74519" y="4425696"/>
            <a:ext cx="1874519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920239" y="4572000"/>
            <a:ext cx="1783079" cy="1188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5F6E7C"/>
                </a:solidFill>
                <a:latin typeface="PingFang SC"/>
              </a:rPr>
              <a:t>目标与约束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023360" y="4425696"/>
            <a:ext cx="20574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069080" y="4572000"/>
            <a:ext cx="1965960" cy="1188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5F6E7C"/>
                </a:solidFill>
                <a:latin typeface="PingFang SC"/>
              </a:rPr>
              <a:t>方案排序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0" y="4425696"/>
            <a:ext cx="214884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46520" y="4572000"/>
            <a:ext cx="2057400" cy="1188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5F6E7C"/>
                </a:solidFill>
                <a:latin typeface="PingFang SC"/>
              </a:rPr>
              <a:t>决策导向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823960" y="4425696"/>
            <a:ext cx="260604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869680" y="4572000"/>
            <a:ext cx="2514600" cy="1188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5F6E7C"/>
                </a:solidFill>
                <a:latin typeface="PingFang SC"/>
              </a:rPr>
              <a:t>优化消费 simulator，而非替代模型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2960" y="5650992"/>
            <a:ext cx="105613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B8453F"/>
                </a:solidFill>
                <a:latin typeface="PingFang SC"/>
              </a:rPr>
              <a:t>稳妥表述：GWM 不是“首次做地理空间模拟”，而是把状态、行动、规则、证据和规划闭环系统化。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1792" y="6547104"/>
            <a:ext cx="768096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600" b="0">
                <a:solidFill>
                  <a:srgbClr val="5F6E7C"/>
                </a:solidFill>
                <a:latin typeface="PingFang SC"/>
              </a:rPr>
              <a:t>Geospatial World Model / TWM 技术交流材料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45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566928"/>
            <a:ext cx="1078992" cy="292608"/>
          </a:xfrm>
          <a:prstGeom prst="roundRect">
            <a:avLst/>
          </a:prstGeom>
          <a:solidFill>
            <a:srgbClr val="1E8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617220"/>
            <a:ext cx="1005839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PingFang SC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987552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ingFang SC"/>
              </a:rPr>
              <a:t>自然资源治理是 GWM 的高价值起点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176272"/>
            <a:ext cx="87782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D8E2EA"/>
                </a:solidFill>
                <a:latin typeface="PingFang SC"/>
              </a:rPr>
              <a:t>因为它天然同时包含空间对象、规则约束、权威证据、历史演化和行动后果。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9376" y="6355080"/>
            <a:ext cx="5943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D8E2EA"/>
                </a:solidFill>
                <a:latin typeface="PingFang S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56032"/>
            <a:ext cx="7680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1E827D"/>
                </a:solidFill>
                <a:latin typeface="PingFang SC"/>
              </a:rPr>
              <a:t>行业问题结构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66928"/>
            <a:ext cx="1042416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8212B"/>
                </a:solidFill>
                <a:latin typeface="PingFang SC"/>
              </a:rPr>
              <a:t>自然资源问题为什么适合第一个实例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10896"/>
            <a:ext cx="45720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5F6E7C"/>
                </a:solidFill>
                <a:latin typeface="PingFang SC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1225295"/>
            <a:ext cx="384048" cy="292608"/>
          </a:xfrm>
          <a:prstGeom prst="roundRect">
            <a:avLst/>
          </a:prstGeom>
          <a:solidFill>
            <a:srgbClr val="145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275587"/>
            <a:ext cx="310896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17320" y="1115568"/>
            <a:ext cx="992124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17320" y="1115568"/>
            <a:ext cx="64008" cy="713232"/>
          </a:xfrm>
          <a:prstGeom prst="rect">
            <a:avLst/>
          </a:prstGeom>
          <a:solidFill>
            <a:srgbClr val="145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4208" y="1252728"/>
            <a:ext cx="21945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8212B"/>
                </a:solidFill>
                <a:latin typeface="PingFang SC"/>
              </a:rPr>
              <a:t>空间对象明确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261872"/>
            <a:ext cx="69951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F6E7C"/>
                </a:solidFill>
                <a:latin typeface="PingFang SC"/>
              </a:rPr>
              <a:t>地块、图斑、行政区、规划区、项目范围、保护边界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" y="2231136"/>
            <a:ext cx="384048" cy="292608"/>
          </a:xfrm>
          <a:prstGeom prst="roundRect">
            <a:avLst/>
          </a:prstGeom>
          <a:solidFill>
            <a:srgbClr val="1E8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281428"/>
            <a:ext cx="310896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17320" y="2121408"/>
            <a:ext cx="992124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17320" y="2121408"/>
            <a:ext cx="64008" cy="713232"/>
          </a:xfrm>
          <a:prstGeom prst="rect">
            <a:avLst/>
          </a:prstGeom>
          <a:solidFill>
            <a:srgbClr val="1E8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64208" y="2258568"/>
            <a:ext cx="21945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8212B"/>
                </a:solidFill>
                <a:latin typeface="PingFang SC"/>
              </a:rPr>
              <a:t>规则约束强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2267712"/>
            <a:ext cx="69951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F6E7C"/>
                </a:solidFill>
                <a:latin typeface="PingFang SC"/>
              </a:rPr>
              <a:t>生态红线、基本农田、城镇开发边界、用途管制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" y="3236976"/>
            <a:ext cx="384048" cy="292608"/>
          </a:xfrm>
          <a:prstGeom prst="roundRect">
            <a:avLst/>
          </a:prstGeom>
          <a:solidFill>
            <a:srgbClr val="3F8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3287268"/>
            <a:ext cx="310896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17320" y="3127248"/>
            <a:ext cx="992124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417320" y="3127248"/>
            <a:ext cx="64008" cy="713232"/>
          </a:xfrm>
          <a:prstGeom prst="rect">
            <a:avLst/>
          </a:prstGeom>
          <a:solidFill>
            <a:srgbClr val="3F8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64208" y="3264408"/>
            <a:ext cx="21945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8212B"/>
                </a:solidFill>
                <a:latin typeface="PingFang SC"/>
              </a:rPr>
              <a:t>证据体系清晰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3273552"/>
            <a:ext cx="69951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F6E7C"/>
                </a:solidFill>
                <a:latin typeface="PingFang SC"/>
              </a:rPr>
              <a:t>遥感变化、权威底图、审批记录、巡查证据、政策文本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" y="4242816"/>
            <a:ext cx="384048" cy="292608"/>
          </a:xfrm>
          <a:prstGeom prst="roundRect">
            <a:avLst/>
          </a:prstGeom>
          <a:solidFill>
            <a:srgbClr val="A76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4293108"/>
            <a:ext cx="310896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17320" y="4133088"/>
            <a:ext cx="992124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417320" y="4133088"/>
            <a:ext cx="64008" cy="713232"/>
          </a:xfrm>
          <a:prstGeom prst="rect">
            <a:avLst/>
          </a:prstGeom>
          <a:solidFill>
            <a:srgbClr val="A76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64208" y="4270248"/>
            <a:ext cx="21945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8212B"/>
                </a:solidFill>
                <a:latin typeface="PingFang SC"/>
              </a:rPr>
              <a:t>行动后果重要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4279392"/>
            <a:ext cx="69951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F6E7C"/>
                </a:solidFill>
                <a:latin typeface="PingFang SC"/>
              </a:rPr>
              <a:t>批准、调整、保护、整治、开发都会改变未来状态和风险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1560" y="5486400"/>
            <a:ext cx="10058400" cy="384048"/>
          </a:xfrm>
          <a:prstGeom prst="roundRect">
            <a:avLst/>
          </a:prstGeom>
          <a:solidFill>
            <a:srgbClr val="EBF6E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34440" y="5605272"/>
            <a:ext cx="9692640" cy="1097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3F8B5F"/>
                </a:solidFill>
                <a:latin typeface="PingFang SC"/>
              </a:rPr>
              <a:t>自然资源 GWM 的核心问题：在规则与证据约束下，某个空间行动会导致怎样的未来状态、风险和效用？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6547104"/>
            <a:ext cx="768096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600" b="0">
                <a:solidFill>
                  <a:srgbClr val="5F6E7C"/>
                </a:solidFill>
                <a:latin typeface="PingFang SC"/>
              </a:rPr>
              <a:t>Geospatial World Model / TWM 技术交流材料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56032"/>
            <a:ext cx="7680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1E827D"/>
                </a:solidFill>
                <a:latin typeface="PingFang SC"/>
              </a:rPr>
              <a:t>系统实例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66928"/>
            <a:ext cx="1042416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8212B"/>
                </a:solidFill>
                <a:latin typeface="PingFang SC"/>
              </a:rPr>
              <a:t>TWM：自然资源领域的 Geospatial World Model 实例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10896"/>
            <a:ext cx="45720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5F6E7C"/>
                </a:solidFill>
                <a:latin typeface="PingFang SC"/>
              </a:rPr>
              <a:t>10</a:t>
            </a:r>
          </a:p>
        </p:txBody>
      </p:sp>
      <p:pic>
        <p:nvPicPr>
          <p:cNvPr id="6" name="Picture 5" descr="twm_architectur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326116"/>
            <a:ext cx="5303520" cy="338280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46520" y="1097280"/>
            <a:ext cx="4800600" cy="914400"/>
          </a:xfrm>
          <a:prstGeom prst="roundRect">
            <a:avLst/>
          </a:prstGeom>
          <a:solidFill>
            <a:srgbClr val="EAF3F9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46520" y="1097280"/>
            <a:ext cx="64008" cy="914400"/>
          </a:xfrm>
          <a:prstGeom prst="rect">
            <a:avLst/>
          </a:prstGeom>
          <a:solidFill>
            <a:srgbClr val="145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7688" y="1243584"/>
            <a:ext cx="448970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12B"/>
                </a:solidFill>
                <a:latin typeface="PingFang SC"/>
              </a:rPr>
              <a:t>Renderer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7688" y="1609344"/>
            <a:ext cx="4489704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1000" b="0">
                <a:solidFill>
                  <a:srgbClr val="5F6E7C"/>
                </a:solidFill>
                <a:latin typeface="PingFang SC"/>
              </a:rPr>
              <a:t>GIS-operational rendering：地图、证据、风险、审计视图。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331720"/>
            <a:ext cx="4800600" cy="914400"/>
          </a:xfrm>
          <a:prstGeom prst="roundRect">
            <a:avLst/>
          </a:prstGeom>
          <a:solidFill>
            <a:srgbClr val="EBF6E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46520" y="2331720"/>
            <a:ext cx="64008" cy="914400"/>
          </a:xfrm>
          <a:prstGeom prst="rect">
            <a:avLst/>
          </a:prstGeom>
          <a:solidFill>
            <a:srgbClr val="3F8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2478024"/>
            <a:ext cx="448970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12B"/>
                </a:solidFill>
                <a:latin typeface="PingFang SC"/>
              </a:rPr>
              <a:t>Simulator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7688" y="2843784"/>
            <a:ext cx="4489704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1000" b="0">
                <a:solidFill>
                  <a:srgbClr val="5F6E7C"/>
                </a:solidFill>
                <a:latin typeface="PingFang SC"/>
              </a:rPr>
              <a:t>学术核心：行动条件下的状态、约束、效用和不确定性推演。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3566160"/>
            <a:ext cx="4800600" cy="914400"/>
          </a:xfrm>
          <a:prstGeom prst="roundRect">
            <a:avLst/>
          </a:prstGeom>
          <a:solidFill>
            <a:srgbClr val="FAF0E3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46520" y="3566160"/>
            <a:ext cx="64008" cy="914400"/>
          </a:xfrm>
          <a:prstGeom prst="rect">
            <a:avLst/>
          </a:prstGeom>
          <a:solidFill>
            <a:srgbClr val="A76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7688" y="3712463"/>
            <a:ext cx="448970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12B"/>
                </a:solidFill>
                <a:latin typeface="PingFang SC"/>
              </a:rPr>
              <a:t>Planner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7688" y="4078224"/>
            <a:ext cx="4489704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1000" b="0">
                <a:solidFill>
                  <a:srgbClr val="5F6E7C"/>
                </a:solidFill>
                <a:latin typeface="PingFang SC"/>
              </a:rPr>
              <a:t>消费 simulator 输出，做候选方案排序、风险复核和任务生成。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58384"/>
            <a:ext cx="104698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8212B"/>
                </a:solidFill>
                <a:latin typeface="PingFang SC"/>
              </a:rPr>
              <a:t>给院士交流时应强调：TWM 不是 GWM 全部，而是自然资源治理场景下的一个验证实例。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547104"/>
            <a:ext cx="768096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600" b="0">
                <a:solidFill>
                  <a:srgbClr val="5F6E7C"/>
                </a:solidFill>
                <a:latin typeface="PingFang SC"/>
              </a:rPr>
              <a:t>Geospatial World Model / TWM 技术交流材料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56032"/>
            <a:ext cx="7680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1E827D"/>
                </a:solidFill>
                <a:latin typeface="PingFang SC"/>
              </a:rPr>
              <a:t>TWM 的状态表达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66928"/>
            <a:ext cx="1042416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8212B"/>
                </a:solidFill>
                <a:latin typeface="PingFang SC"/>
              </a:rPr>
              <a:t>Governance-bound Geospatial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10896"/>
            <a:ext cx="45720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5F6E7C"/>
                </a:solidFill>
                <a:latin typeface="PingFang SC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143000"/>
            <a:ext cx="10287000" cy="749808"/>
          </a:xfrm>
          <a:prstGeom prst="roundRect">
            <a:avLst/>
          </a:prstGeom>
          <a:solidFill>
            <a:srgbClr val="102033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417320"/>
            <a:ext cx="982980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PingFang SC"/>
              </a:rPr>
              <a:t>Geospatial State = Geometry + Topology + Semantics + Governance + Evidence +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60320"/>
            <a:ext cx="14173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788920"/>
            <a:ext cx="1261872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145D8F"/>
                </a:solidFill>
                <a:latin typeface="PingFang SC"/>
              </a:rPr>
              <a:t>Geometry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82112"/>
            <a:ext cx="123444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5F6E7C"/>
                </a:solidFill>
                <a:latin typeface="PingFang SC"/>
              </a:rPr>
              <a:t>parcel / polygon / boundary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2560320"/>
            <a:ext cx="14173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24912" y="2788920"/>
            <a:ext cx="1261872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1E827D"/>
                </a:solidFill>
                <a:latin typeface="PingFang SC"/>
              </a:rPr>
              <a:t>Topology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182112"/>
            <a:ext cx="123444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5F6E7C"/>
                </a:solidFill>
                <a:latin typeface="PingFang SC"/>
              </a:rPr>
              <a:t>adjacent / contains / overlaps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79" y="2560320"/>
            <a:ext cx="14173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1" y="2788920"/>
            <a:ext cx="1261872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3F8B5F"/>
                </a:solidFill>
                <a:latin typeface="PingFang SC"/>
              </a:rPr>
              <a:t>Semantics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19" y="3182112"/>
            <a:ext cx="123444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5F6E7C"/>
                </a:solidFill>
                <a:latin typeface="PingFang SC"/>
              </a:rPr>
              <a:t>land type / use / entity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799" y="2560320"/>
            <a:ext cx="14173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1" y="2788920"/>
            <a:ext cx="1261872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A76325"/>
                </a:solidFill>
                <a:latin typeface="PingFang SC"/>
              </a:rPr>
              <a:t>Governance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39" y="3182112"/>
            <a:ext cx="123444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5F6E7C"/>
                </a:solidFill>
                <a:latin typeface="PingFang SC"/>
              </a:rPr>
              <a:t>redline / PBF / rule hit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19" y="2560320"/>
            <a:ext cx="14173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8471" y="2788920"/>
            <a:ext cx="1261872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6558A8"/>
                </a:solidFill>
                <a:latin typeface="PingFang SC"/>
              </a:rPr>
              <a:t>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3182112"/>
            <a:ext cx="123444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5F6E7C"/>
                </a:solidFill>
                <a:latin typeface="PingFang SC"/>
              </a:rPr>
              <a:t>source / time / CRS / confidence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49840" y="2560320"/>
            <a:ext cx="14173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22992" y="2788920"/>
            <a:ext cx="1261872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B8453F"/>
                </a:solidFill>
                <a:latin typeface="PingFang SC"/>
              </a:rPr>
              <a:t>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3182112"/>
            <a:ext cx="123444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5F6E7C"/>
                </a:solidFill>
                <a:latin typeface="PingFang SC"/>
              </a:rPr>
              <a:t>history / horizon / rule version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4572000"/>
            <a:ext cx="9966960" cy="658368"/>
          </a:xfrm>
          <a:prstGeom prst="roundRect">
            <a:avLst/>
          </a:prstGeom>
          <a:solidFill>
            <a:srgbClr val="EAF3F9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98448" y="4791456"/>
            <a:ext cx="95554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145D8F"/>
                </a:solidFill>
                <a:latin typeface="PingFang SC"/>
              </a:rPr>
              <a:t>状态空间本身就是创新焦点：它不是 flat feature vector，而是可审计、可追溯、可跨尺度的 GIS 治理状态。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6547104"/>
            <a:ext cx="768096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600" b="0">
                <a:solidFill>
                  <a:srgbClr val="5F6E7C"/>
                </a:solidFill>
                <a:latin typeface="PingFang SC"/>
              </a:rPr>
              <a:t>Geospatial World Model / TWM 技术交流材料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56032"/>
            <a:ext cx="7680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1E827D"/>
                </a:solidFill>
                <a:latin typeface="PingFang SC"/>
              </a:rPr>
              <a:t>算法核心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66928"/>
            <a:ext cx="1042416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8212B"/>
                </a:solidFill>
                <a:latin typeface="PingFang SC"/>
              </a:rPr>
              <a:t>TWM Simulator：从变化预测到行动后果推演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10896"/>
            <a:ext cx="45720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5F6E7C"/>
                </a:solidFill>
                <a:latin typeface="PingFang SC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" y="1828800"/>
            <a:ext cx="1536192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011680"/>
            <a:ext cx="1353312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18212B"/>
                </a:solidFill>
                <a:latin typeface="PingFang SC"/>
              </a:rPr>
              <a:t>历史状态对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441448"/>
            <a:ext cx="1353312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5F6E7C"/>
                </a:solidFill>
                <a:latin typeface="PingFang SC"/>
              </a:rPr>
              <a:t>S_t -&gt; S_t+1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48256" y="2395728"/>
            <a:ext cx="274320" cy="0"/>
          </a:xfrm>
          <a:prstGeom prst="line">
            <a:avLst/>
          </a:prstGeom>
          <a:ln w="15240">
            <a:solidFill>
              <a:srgbClr val="D7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14016" y="1828800"/>
            <a:ext cx="1536192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05456" y="2011680"/>
            <a:ext cx="1353312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18212B"/>
                </a:solidFill>
                <a:latin typeface="PingFang SC"/>
              </a:rPr>
              <a:t>Transition replay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5456" y="2441448"/>
            <a:ext cx="1353312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5F6E7C"/>
                </a:solidFill>
                <a:latin typeface="PingFang SC"/>
              </a:rPr>
              <a:t>训练期回放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86784" y="2395728"/>
            <a:ext cx="274320" cy="0"/>
          </a:xfrm>
          <a:prstGeom prst="line">
            <a:avLst/>
          </a:prstGeom>
          <a:ln w="15240">
            <a:solidFill>
              <a:srgbClr val="D7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352544" y="1828800"/>
            <a:ext cx="1536192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43983" y="2011680"/>
            <a:ext cx="1353312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18212B"/>
                </a:solidFill>
                <a:latin typeface="PingFang SC"/>
              </a:rPr>
              <a:t>Topology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3983" y="2441448"/>
            <a:ext cx="1353312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5F6E7C"/>
                </a:solidFill>
                <a:latin typeface="PingFang SC"/>
              </a:rPr>
              <a:t>前沿/邻域支撑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25312" y="2395728"/>
            <a:ext cx="274319" cy="0"/>
          </a:xfrm>
          <a:prstGeom prst="line">
            <a:avLst/>
          </a:prstGeom>
          <a:ln w="15240">
            <a:solidFill>
              <a:srgbClr val="D7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91072" y="1828800"/>
            <a:ext cx="1536192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2011680"/>
            <a:ext cx="1353312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18212B"/>
                </a:solidFill>
                <a:latin typeface="PingFang SC"/>
              </a:rPr>
              <a:t>Action mask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441448"/>
            <a:ext cx="1353312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5F6E7C"/>
                </a:solidFill>
                <a:latin typeface="PingFang SC"/>
              </a:rPr>
              <a:t>规则可行性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63840" y="2395728"/>
            <a:ext cx="274320" cy="0"/>
          </a:xfrm>
          <a:prstGeom prst="line">
            <a:avLst/>
          </a:prstGeom>
          <a:ln w="15240">
            <a:solidFill>
              <a:srgbClr val="D7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229600" y="1828800"/>
            <a:ext cx="1536192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2011680"/>
            <a:ext cx="1353312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18212B"/>
                </a:solidFill>
                <a:latin typeface="PingFang SC"/>
              </a:rPr>
              <a:t>Demand / scenario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441448"/>
            <a:ext cx="1353312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5F6E7C"/>
                </a:solidFill>
                <a:latin typeface="PingFang SC"/>
              </a:rPr>
              <a:t>情景约束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802368" y="2395728"/>
            <a:ext cx="274320" cy="0"/>
          </a:xfrm>
          <a:prstGeom prst="line">
            <a:avLst/>
          </a:prstGeom>
          <a:ln w="15240">
            <a:solidFill>
              <a:srgbClr val="D7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168128" y="1828800"/>
            <a:ext cx="1536192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59568" y="2011680"/>
            <a:ext cx="1353312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18212B"/>
                </a:solidFill>
                <a:latin typeface="PingFang SC"/>
              </a:rPr>
              <a:t>Risk &amp; utility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59568" y="2441448"/>
            <a:ext cx="1353312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5F6E7C"/>
                </a:solidFill>
                <a:latin typeface="PingFang SC"/>
              </a:rPr>
              <a:t>风险/收益/不确定性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3977639"/>
            <a:ext cx="10332720" cy="841248"/>
          </a:xfrm>
          <a:prstGeom prst="roundRect">
            <a:avLst/>
          </a:prstGeom>
          <a:solidFill>
            <a:srgbClr val="EBF6E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4242816"/>
            <a:ext cx="9875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3F8B5F"/>
                </a:solidFill>
                <a:latin typeface="PingFang SC"/>
              </a:rPr>
              <a:t>p(future_state, constraint_risk, utility_delta, uncertainty | current_gis_state, action, rules, evidence)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321808"/>
            <a:ext cx="10332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8212B"/>
                </a:solidFill>
                <a:latin typeface="PingFang SC"/>
              </a:rPr>
              <a:t>这部分才是与土地利用模拟、GeoAI 预测模型真正拉开问题定义的地方。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6547104"/>
            <a:ext cx="768096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600" b="0">
                <a:solidFill>
                  <a:srgbClr val="5F6E7C"/>
                </a:solidFill>
                <a:latin typeface="PingFang SC"/>
              </a:rPr>
              <a:t>Geospatial World Model / TWM 技术交流材料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56032"/>
            <a:ext cx="7680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1E827D"/>
                </a:solidFill>
                <a:latin typeface="PingFang SC"/>
              </a:rPr>
              <a:t>治理可信性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66928"/>
            <a:ext cx="1042416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8212B"/>
                </a:solidFill>
                <a:latin typeface="PingFang SC"/>
              </a:rPr>
              <a:t>Evidence-bounded Claim：让模型结论受证据约束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10896"/>
            <a:ext cx="45720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5F6E7C"/>
                </a:solidFill>
                <a:latin typeface="PingFang SC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7373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029968"/>
            <a:ext cx="1572768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18212B"/>
                </a:solidFill>
                <a:latin typeface="PingFang SC"/>
              </a:rPr>
              <a:t>diagnostic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68880"/>
            <a:ext cx="1517904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5F6E7C"/>
                </a:solidFill>
                <a:latin typeface="PingFang SC"/>
              </a:rPr>
              <a:t>仅诊断，不建议行动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06040" y="2377440"/>
            <a:ext cx="329184" cy="0"/>
          </a:xfrm>
          <a:prstGeom prst="line">
            <a:avLst/>
          </a:prstGeom>
          <a:ln w="12700">
            <a:solidFill>
              <a:srgbClr val="D7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063240" y="1828800"/>
            <a:ext cx="1737360" cy="1143000"/>
          </a:xfrm>
          <a:prstGeom prst="roundRect">
            <a:avLst/>
          </a:prstGeom>
          <a:solidFill>
            <a:srgbClr val="EAF3F9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36392" y="2029968"/>
            <a:ext cx="1572768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18212B"/>
                </a:solidFill>
                <a:latin typeface="PingFang SC"/>
              </a:rPr>
              <a:t>replay ready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2968" y="2468880"/>
            <a:ext cx="1517904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5F6E7C"/>
                </a:solidFill>
                <a:latin typeface="PingFang SC"/>
              </a:rPr>
              <a:t>历史回放通过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46320" y="2377440"/>
            <a:ext cx="329184" cy="0"/>
          </a:xfrm>
          <a:prstGeom prst="line">
            <a:avLst/>
          </a:prstGeom>
          <a:ln w="12700">
            <a:solidFill>
              <a:srgbClr val="D7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303520" y="1828800"/>
            <a:ext cx="1737360" cy="1143000"/>
          </a:xfrm>
          <a:prstGeom prst="roundRect">
            <a:avLst/>
          </a:prstGeom>
          <a:solidFill>
            <a:srgbClr val="EBF6E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76672" y="2029968"/>
            <a:ext cx="1572768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18212B"/>
                </a:solidFill>
                <a:latin typeface="PingFang SC"/>
              </a:rPr>
              <a:t>pilot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13248" y="2468880"/>
            <a:ext cx="1517904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5F6E7C"/>
                </a:solidFill>
                <a:latin typeface="PingFang SC"/>
              </a:rPr>
              <a:t>可控试点评审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86600" y="2377440"/>
            <a:ext cx="329184" cy="0"/>
          </a:xfrm>
          <a:prstGeom prst="line">
            <a:avLst/>
          </a:prstGeom>
          <a:ln w="12700">
            <a:solidFill>
              <a:srgbClr val="D7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543800" y="1828800"/>
            <a:ext cx="1737360" cy="1143000"/>
          </a:xfrm>
          <a:prstGeom prst="roundRect">
            <a:avLst/>
          </a:prstGeom>
          <a:solidFill>
            <a:srgbClr val="FAF0E3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16952" y="2029968"/>
            <a:ext cx="1572768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18212B"/>
                </a:solidFill>
                <a:latin typeface="PingFang SC"/>
              </a:rPr>
              <a:t>promotion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3527" y="2468880"/>
            <a:ext cx="1517904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5F6E7C"/>
                </a:solidFill>
                <a:latin typeface="PingFang SC"/>
              </a:rPr>
              <a:t>候选晋级评审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26880" y="2377440"/>
            <a:ext cx="329184" cy="0"/>
          </a:xfrm>
          <a:prstGeom prst="line">
            <a:avLst/>
          </a:prstGeom>
          <a:ln w="12700">
            <a:solidFill>
              <a:srgbClr val="D7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784080" y="1828800"/>
            <a:ext cx="1737360" cy="1143000"/>
          </a:xfrm>
          <a:prstGeom prst="roundRect">
            <a:avLst/>
          </a:prstGeom>
          <a:solidFill>
            <a:srgbClr val="F8EDED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57232" y="2029968"/>
            <a:ext cx="1572768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18212B"/>
                </a:solidFill>
                <a:latin typeface="PingFang SC"/>
              </a:rPr>
              <a:t>production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93808" y="2468880"/>
            <a:ext cx="1517904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5F6E7C"/>
                </a:solidFill>
                <a:latin typeface="PingFang SC"/>
              </a:rPr>
              <a:t>需权威验证后才可进入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3931920"/>
            <a:ext cx="4800600" cy="1005840"/>
          </a:xfrm>
          <a:prstGeom prst="roundRect">
            <a:avLst/>
          </a:prstGeom>
          <a:solidFill>
            <a:srgbClr val="EAF3F9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" y="3931920"/>
            <a:ext cx="64008" cy="1005840"/>
          </a:xfrm>
          <a:prstGeom prst="rect">
            <a:avLst/>
          </a:prstGeom>
          <a:solidFill>
            <a:srgbClr val="145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15568" y="4078224"/>
            <a:ext cx="448970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12B"/>
                </a:solidFill>
                <a:latin typeface="PingFang SC"/>
              </a:rPr>
              <a:t>核心原则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4443983"/>
            <a:ext cx="4489704" cy="4023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1200" b="0">
                <a:solidFill>
                  <a:srgbClr val="5F6E7C"/>
                </a:solidFill>
                <a:latin typeface="PingFang SC"/>
              </a:rPr>
              <a:t>Claim(model) &lt;= Evidence(state, replay, canary, rollback, registry)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931920"/>
            <a:ext cx="4800600" cy="1005840"/>
          </a:xfrm>
          <a:prstGeom prst="roundRect">
            <a:avLst/>
          </a:prstGeom>
          <a:solidFill>
            <a:srgbClr val="EBF6E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3931920"/>
            <a:ext cx="64008" cy="1005840"/>
          </a:xfrm>
          <a:prstGeom prst="rect">
            <a:avLst/>
          </a:prstGeom>
          <a:solidFill>
            <a:srgbClr val="3F8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01968" y="4078224"/>
            <a:ext cx="448970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12B"/>
                </a:solidFill>
                <a:latin typeface="PingFang SC"/>
              </a:rPr>
              <a:t>不是削弱模型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1968" y="4443983"/>
            <a:ext cx="4489704" cy="4023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1100" b="0">
                <a:solidFill>
                  <a:srgbClr val="5F6E7C"/>
                </a:solidFill>
                <a:latin typeface="PingFang SC"/>
              </a:rPr>
              <a:t>把模型从“大胆输出”约束为“可审计、可回放、可回滚”。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6547104"/>
            <a:ext cx="768096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600" b="0">
                <a:solidFill>
                  <a:srgbClr val="5F6E7C"/>
                </a:solidFill>
                <a:latin typeface="PingFang SC"/>
              </a:rPr>
              <a:t>Geospatial World Model / TWM 技术交流材料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56032"/>
            <a:ext cx="7680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1E827D"/>
                </a:solidFill>
                <a:latin typeface="PingFang SC"/>
              </a:rPr>
              <a:t>对比边界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66928"/>
            <a:ext cx="1042416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8212B"/>
                </a:solidFill>
                <a:latin typeface="PingFang SC"/>
              </a:rPr>
              <a:t>与 GeoSOS-FLUS 的关系：强基线，而不是被简单替代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10896"/>
            <a:ext cx="45720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5F6E7C"/>
                </a:solidFill>
                <a:latin typeface="PingFang SC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170432"/>
            <a:ext cx="5074920" cy="3200400"/>
          </a:xfrm>
          <a:prstGeom prst="roundRect">
            <a:avLst/>
          </a:prstGeom>
          <a:solidFill>
            <a:srgbClr val="FAF0E3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170432"/>
            <a:ext cx="64008" cy="3200400"/>
          </a:xfrm>
          <a:prstGeom prst="rect">
            <a:avLst/>
          </a:prstGeom>
          <a:solidFill>
            <a:srgbClr val="A76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316736"/>
            <a:ext cx="476402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12B"/>
                </a:solidFill>
                <a:latin typeface="PingFang SC"/>
              </a:rPr>
              <a:t>GeoSOS / FLUS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682496"/>
            <a:ext cx="4764024" cy="2596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1100" b="0">
                <a:solidFill>
                  <a:srgbClr val="5F6E7C"/>
                </a:solidFill>
                <a:latin typeface="PingFang SC"/>
              </a:rPr>
              <a:t>成熟土地利用变化模拟与空间优化路线。</a:t>
            </a:r>
          </a:p>
          <a:p>
            <a:pPr algn="l">
              <a:lnSpc>
                <a:spcPct val="92000"/>
              </a:lnSpc>
            </a:pPr>
          </a:p>
          <a:p>
            <a:pPr algn="l">
              <a:lnSpc>
                <a:spcPct val="92000"/>
              </a:lnSpc>
            </a:pPr>
            <a:r>
              <a:rPr sz="1100" b="0">
                <a:solidFill>
                  <a:srgbClr val="5F6E7C"/>
                </a:solidFill>
                <a:latin typeface="PingFang SC"/>
              </a:rPr>
              <a:t>核心对象：land-use transition and allocation。</a:t>
            </a:r>
          </a:p>
          <a:p>
            <a:pPr algn="l">
              <a:lnSpc>
                <a:spcPct val="92000"/>
              </a:lnSpc>
            </a:pPr>
          </a:p>
          <a:p>
            <a:pPr algn="l">
              <a:lnSpc>
                <a:spcPct val="92000"/>
              </a:lnSpc>
            </a:pPr>
            <a:r>
              <a:rPr sz="1100" b="0">
                <a:solidFill>
                  <a:srgbClr val="5F6E7C"/>
                </a:solidFill>
                <a:latin typeface="PingFang SC"/>
              </a:rPr>
              <a:t>优势：ANN suitability + CA allocation 机制成熟，整体地图模拟稳定。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170432"/>
            <a:ext cx="5074920" cy="3200400"/>
          </a:xfrm>
          <a:prstGeom prst="roundRect">
            <a:avLst/>
          </a:prstGeom>
          <a:solidFill>
            <a:srgbClr val="EBF6E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170432"/>
            <a:ext cx="64008" cy="3200400"/>
          </a:xfrm>
          <a:prstGeom prst="rect">
            <a:avLst/>
          </a:prstGeom>
          <a:solidFill>
            <a:srgbClr val="3F8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1316736"/>
            <a:ext cx="476402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12B"/>
                </a:solidFill>
                <a:latin typeface="PingFang SC"/>
              </a:rPr>
              <a:t>TWM / GWM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1682496"/>
            <a:ext cx="4764024" cy="2596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1100" b="0">
                <a:solidFill>
                  <a:srgbClr val="5F6E7C"/>
                </a:solidFill>
                <a:latin typeface="PingFang SC"/>
              </a:rPr>
              <a:t>面向自然资源治理的行动世界模型。</a:t>
            </a:r>
          </a:p>
          <a:p>
            <a:pPr algn="l">
              <a:lnSpc>
                <a:spcPct val="92000"/>
              </a:lnSpc>
            </a:pPr>
          </a:p>
          <a:p>
            <a:pPr algn="l">
              <a:lnSpc>
                <a:spcPct val="92000"/>
              </a:lnSpc>
            </a:pPr>
            <a:r>
              <a:rPr sz="1100" b="0">
                <a:solidFill>
                  <a:srgbClr val="5F6E7C"/>
                </a:solidFill>
                <a:latin typeface="PingFang SC"/>
              </a:rPr>
              <a:t>核心对象：action-conditioned territorial governance state。</a:t>
            </a:r>
          </a:p>
          <a:p>
            <a:pPr algn="l">
              <a:lnSpc>
                <a:spcPct val="92000"/>
              </a:lnSpc>
            </a:pPr>
          </a:p>
          <a:p>
            <a:pPr algn="l">
              <a:lnSpc>
                <a:spcPct val="92000"/>
              </a:lnSpc>
            </a:pPr>
            <a:r>
              <a:rPr sz="1100" b="0">
                <a:solidFill>
                  <a:srgbClr val="5F6E7C"/>
                </a:solidFill>
                <a:latin typeface="PingFang SC"/>
              </a:rPr>
              <a:t>目标：未来状态、约束风险、规划效用、不确定性和证据边界。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166360"/>
            <a:ext cx="101498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B8453F"/>
                </a:solidFill>
                <a:latin typeface="PingFang SC"/>
              </a:rPr>
              <a:t>严谨说法：FLUS 可作为土地变化模拟强基线；TWM 需要证明更宽的治理世界模型问题，而不是只宣称替代 FLUS。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6547104"/>
            <a:ext cx="768096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600" b="0">
                <a:solidFill>
                  <a:srgbClr val="5F6E7C"/>
                </a:solidFill>
                <a:latin typeface="PingFang SC"/>
              </a:rPr>
              <a:t>Source basis: GeoSOS/FLUS documentation and local TWM-vs-FLUS academic positioning notes.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56032"/>
            <a:ext cx="7680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1E827D"/>
                </a:solidFill>
                <a:latin typeface="PingFang SC"/>
              </a:rPr>
              <a:t>证据边界示例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66928"/>
            <a:ext cx="1042416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8212B"/>
                </a:solidFill>
                <a:latin typeface="PingFang SC"/>
              </a:rPr>
              <a:t>当前实验能支持什么，不能支持什么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10896"/>
            <a:ext cx="45720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5F6E7C"/>
                </a:solidFill>
                <a:latin typeface="PingFang SC"/>
              </a:rPr>
              <a:t>15</a:t>
            </a:r>
          </a:p>
        </p:txBody>
      </p:sp>
      <p:pic>
        <p:nvPicPr>
          <p:cNvPr id="6" name="Picture 5" descr="twm_flus_evidence_boundary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61237"/>
            <a:ext cx="5806440" cy="306451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086600" y="1097280"/>
            <a:ext cx="4251960" cy="1005840"/>
          </a:xfrm>
          <a:prstGeom prst="roundRect">
            <a:avLst/>
          </a:prstGeom>
          <a:solidFill>
            <a:srgbClr val="EBF6E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086600" y="1097280"/>
            <a:ext cx="64008" cy="1005840"/>
          </a:xfrm>
          <a:prstGeom prst="rect">
            <a:avLst/>
          </a:prstGeom>
          <a:solidFill>
            <a:srgbClr val="3F8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87768" y="1243584"/>
            <a:ext cx="394106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12B"/>
                </a:solidFill>
                <a:latin typeface="PingFang SC"/>
              </a:rPr>
              <a:t>能支持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87768" y="1609344"/>
            <a:ext cx="3941064" cy="4023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1100" b="0">
                <a:solidFill>
                  <a:srgbClr val="5F6E7C"/>
                </a:solidFill>
                <a:latin typeface="PingFang SC"/>
              </a:rPr>
              <a:t>在 direct CA fixed baseline 下，TWM 的变化定位指标显示优势。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86600" y="2423160"/>
            <a:ext cx="4251960" cy="1005840"/>
          </a:xfrm>
          <a:prstGeom prst="roundRect">
            <a:avLst/>
          </a:prstGeom>
          <a:solidFill>
            <a:srgbClr val="F8EDED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86600" y="2423160"/>
            <a:ext cx="64008" cy="1005840"/>
          </a:xfrm>
          <a:prstGeom prst="rect">
            <a:avLst/>
          </a:prstGeom>
          <a:solidFill>
            <a:srgbClr val="B84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87768" y="2569464"/>
            <a:ext cx="394106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12B"/>
                </a:solidFill>
                <a:latin typeface="PingFang SC"/>
              </a:rPr>
              <a:t>不能支持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87768" y="2935224"/>
            <a:ext cx="3941064" cy="4023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1100" b="0">
                <a:solidFill>
                  <a:srgbClr val="5F6E7C"/>
                </a:solidFill>
                <a:latin typeface="PingFang SC"/>
              </a:rPr>
              <a:t>不能据此声称 TWM 全面超过 GeoSOS-FLUS 或完整 ANN+CA 工作流。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86600" y="3749039"/>
            <a:ext cx="4251960" cy="1005840"/>
          </a:xfrm>
          <a:prstGeom prst="roundRect">
            <a:avLst/>
          </a:prstGeom>
          <a:solidFill>
            <a:srgbClr val="FAF0E3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86600" y="3749039"/>
            <a:ext cx="64008" cy="1005840"/>
          </a:xfrm>
          <a:prstGeom prst="rect">
            <a:avLst/>
          </a:prstGeom>
          <a:solidFill>
            <a:srgbClr val="A76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87768" y="3895344"/>
            <a:ext cx="394106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12B"/>
                </a:solidFill>
                <a:latin typeface="PingFang SC"/>
              </a:rPr>
              <a:t>最新严谨边界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87768" y="4261104"/>
            <a:ext cx="3941064" cy="4023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1000" b="0">
                <a:solidFill>
                  <a:srgbClr val="5F6E7C"/>
                </a:solidFill>
                <a:latin typeface="PingFang SC"/>
              </a:rPr>
              <a:t>ANN-trained FLUS 85 成功配对案例中，FLUS 在变化空间准确性上仍领先；TWM 优势主要是需求守恒。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340096"/>
            <a:ext cx="105156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8212B"/>
                </a:solidFill>
                <a:latin typeface="PingFang SC"/>
              </a:rPr>
              <a:t>给院士版不应隐藏这个结果：它说明 TWM 还有真正算法突破空间，也避免概念先行。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547104"/>
            <a:ext cx="768096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600" b="0">
                <a:solidFill>
                  <a:srgbClr val="5F6E7C"/>
                </a:solidFill>
                <a:latin typeface="PingFang SC"/>
              </a:rPr>
              <a:t>Geospatial World Model / TWM 技术交流材料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56032"/>
            <a:ext cx="7680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1E827D"/>
                </a:solidFill>
                <a:latin typeface="PingFang SC"/>
              </a:rPr>
              <a:t>当前不足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66928"/>
            <a:ext cx="1042416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8212B"/>
                </a:solidFill>
                <a:latin typeface="PingFang SC"/>
              </a:rPr>
              <a:t>真正需要突破的科学问题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10896"/>
            <a:ext cx="45720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5F6E7C"/>
                </a:solidFill>
                <a:latin typeface="PingFang SC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234440"/>
            <a:ext cx="315468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234440"/>
            <a:ext cx="64008" cy="1325880"/>
          </a:xfrm>
          <a:prstGeom prst="rect">
            <a:avLst/>
          </a:prstGeom>
          <a:solidFill>
            <a:srgbClr val="145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380744"/>
            <a:ext cx="284378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8212B"/>
                </a:solidFill>
                <a:latin typeface="PingFang SC"/>
              </a:rPr>
              <a:t>尺度泛化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1746504"/>
            <a:ext cx="2843784" cy="72237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1000" b="0">
                <a:solidFill>
                  <a:srgbClr val="5F6E7C"/>
                </a:solidFill>
                <a:latin typeface="PingFang SC"/>
              </a:rPr>
              <a:t>MAUP / FoV / 行政尺度变化下结论稳定性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8848" y="1234440"/>
            <a:ext cx="315468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98848" y="1234440"/>
            <a:ext cx="64008" cy="1325880"/>
          </a:xfrm>
          <a:prstGeom prst="rect">
            <a:avLst/>
          </a:prstGeom>
          <a:solidFill>
            <a:srgbClr val="1E8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0016" y="1380744"/>
            <a:ext cx="284378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8212B"/>
                </a:solidFill>
                <a:latin typeface="PingFang SC"/>
              </a:rPr>
              <a:t>空间因果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0016" y="1746504"/>
            <a:ext cx="2843784" cy="72237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1000" b="0">
                <a:solidFill>
                  <a:srgbClr val="5F6E7C"/>
                </a:solidFill>
                <a:latin typeface="PingFang SC"/>
              </a:rPr>
              <a:t>区分规划行动效果与空间背景相关性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47888" y="1234440"/>
            <a:ext cx="315468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47888" y="1234440"/>
            <a:ext cx="64008" cy="1325880"/>
          </a:xfrm>
          <a:prstGeom prst="rect">
            <a:avLst/>
          </a:prstGeom>
          <a:solidFill>
            <a:srgbClr val="3F8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9056" y="1380744"/>
            <a:ext cx="284378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8212B"/>
                </a:solidFill>
                <a:latin typeface="PingFang SC"/>
              </a:rPr>
              <a:t>规则版本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6" y="1746504"/>
            <a:ext cx="2843784" cy="72237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1000" b="0">
                <a:solidFill>
                  <a:srgbClr val="5F6E7C"/>
                </a:solidFill>
                <a:latin typeface="PingFang SC"/>
              </a:rPr>
              <a:t>政策、红线、用途管制变化如何进入模型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108960"/>
            <a:ext cx="315468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8" y="3108960"/>
            <a:ext cx="64008" cy="1325880"/>
          </a:xfrm>
          <a:prstGeom prst="rect">
            <a:avLst/>
          </a:prstGeom>
          <a:solidFill>
            <a:srgbClr val="A76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3255264"/>
            <a:ext cx="284378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8212B"/>
                </a:solidFill>
                <a:latin typeface="PingFang SC"/>
              </a:rPr>
              <a:t>不确定性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3621024"/>
            <a:ext cx="2843784" cy="72237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1000" b="0">
                <a:solidFill>
                  <a:srgbClr val="5F6E7C"/>
                </a:solidFill>
                <a:latin typeface="PingFang SC"/>
              </a:rPr>
              <a:t>风险、证据缺口和模型置信度如何传播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98848" y="3108960"/>
            <a:ext cx="315468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98848" y="3108960"/>
            <a:ext cx="64008" cy="1325880"/>
          </a:xfrm>
          <a:prstGeom prst="rect">
            <a:avLst/>
          </a:prstGeom>
          <a:solidFill>
            <a:srgbClr val="B84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0016" y="3255264"/>
            <a:ext cx="284378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8212B"/>
                </a:solidFill>
                <a:latin typeface="PingFang SC"/>
              </a:rPr>
              <a:t>评价体系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0016" y="3621024"/>
            <a:ext cx="2843784" cy="72237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1000" b="0">
                <a:solidFill>
                  <a:srgbClr val="5F6E7C"/>
                </a:solidFill>
                <a:latin typeface="PingFang SC"/>
              </a:rPr>
              <a:t>从 change accuracy 走向 decision regret 和 claim safety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47888" y="3108960"/>
            <a:ext cx="315468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47888" y="3108960"/>
            <a:ext cx="64008" cy="1325880"/>
          </a:xfrm>
          <a:prstGeom prst="rect">
            <a:avLst/>
          </a:prstGeom>
          <a:solidFill>
            <a:srgbClr val="655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255264"/>
            <a:ext cx="284378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8212B"/>
                </a:solidFill>
                <a:latin typeface="PingFang SC"/>
              </a:rPr>
              <a:t>权威数据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49056" y="3621024"/>
            <a:ext cx="2843784" cy="72237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1000" b="0">
                <a:solidFill>
                  <a:srgbClr val="5F6E7C"/>
                </a:solidFill>
                <a:latin typeface="PingFang SC"/>
              </a:rPr>
              <a:t>与自然资源权威底图、审批、巡查证据连接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358384"/>
            <a:ext cx="1042416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45D8F"/>
                </a:solidFill>
                <a:latin typeface="PingFang SC"/>
              </a:rPr>
              <a:t>这些问题解决后，TWM 才能从工程原型走向可发表、可验证、可评审的 GWM 研究框架。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6547104"/>
            <a:ext cx="768096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600" b="0">
                <a:solidFill>
                  <a:srgbClr val="5F6E7C"/>
                </a:solidFill>
                <a:latin typeface="PingFang SC"/>
              </a:rPr>
              <a:t>Geospatial World Model / TWM 技术交流材料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56032"/>
            <a:ext cx="7680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1E827D"/>
                </a:solidFill>
                <a:latin typeface="PingFang SC"/>
              </a:rPr>
              <a:t>研究路线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66928"/>
            <a:ext cx="1042416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8212B"/>
                </a:solidFill>
                <a:latin typeface="PingFang SC"/>
              </a:rPr>
              <a:t>下一步：从工程原型走向学术范式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10896"/>
            <a:ext cx="45720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5F6E7C"/>
                </a:solidFill>
                <a:latin typeface="PingFang SC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07007"/>
            <a:ext cx="384048" cy="292608"/>
          </a:xfrm>
          <a:prstGeom prst="roundRect">
            <a:avLst/>
          </a:prstGeom>
          <a:solidFill>
            <a:srgbClr val="145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1257299"/>
            <a:ext cx="310896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1097280"/>
            <a:ext cx="996696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0" y="1097280"/>
            <a:ext cx="64008" cy="621792"/>
          </a:xfrm>
          <a:prstGeom prst="rect">
            <a:avLst/>
          </a:prstGeom>
          <a:solidFill>
            <a:srgbClr val="145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7632" y="1216152"/>
            <a:ext cx="109728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8212B"/>
                </a:solidFill>
                <a:latin typeface="PingFang SC"/>
              </a:rPr>
              <a:t>定义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225295"/>
            <a:ext cx="8046720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F6E7C"/>
                </a:solidFill>
                <a:latin typeface="PingFang SC"/>
              </a:rPr>
              <a:t>形成 GWM 状态、行动、规则、证据、结论边界的形式化定义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084832"/>
            <a:ext cx="384048" cy="292608"/>
          </a:xfrm>
          <a:prstGeom prst="roundRect">
            <a:avLst/>
          </a:prstGeom>
          <a:solidFill>
            <a:srgbClr val="1E8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" y="2135124"/>
            <a:ext cx="310896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1975104"/>
            <a:ext cx="996696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71600" y="1975104"/>
            <a:ext cx="64008" cy="621792"/>
          </a:xfrm>
          <a:prstGeom prst="rect">
            <a:avLst/>
          </a:prstGeom>
          <a:solidFill>
            <a:srgbClr val="1E8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7632" y="2093976"/>
            <a:ext cx="109728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8212B"/>
                </a:solidFill>
                <a:latin typeface="PingFang SC"/>
              </a:rPr>
              <a:t>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103120"/>
            <a:ext cx="8046720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F6E7C"/>
                </a:solidFill>
                <a:latin typeface="PingFang SC"/>
              </a:rPr>
              <a:t>建设自然资源治理时空样本库：状态对、行动、规则、证据、结果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2962656"/>
            <a:ext cx="384048" cy="292608"/>
          </a:xfrm>
          <a:prstGeom prst="roundRect">
            <a:avLst/>
          </a:prstGeom>
          <a:solidFill>
            <a:srgbClr val="3F8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" y="3012948"/>
            <a:ext cx="310896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2852928"/>
            <a:ext cx="996696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71600" y="2852928"/>
            <a:ext cx="64008" cy="621792"/>
          </a:xfrm>
          <a:prstGeom prst="rect">
            <a:avLst/>
          </a:prstGeom>
          <a:solidFill>
            <a:srgbClr val="3F8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7632" y="2971800"/>
            <a:ext cx="109728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8212B"/>
                </a:solidFill>
                <a:latin typeface="PingFang SC"/>
              </a:rPr>
              <a:t>模型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2980944"/>
            <a:ext cx="8046720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F6E7C"/>
                </a:solidFill>
                <a:latin typeface="PingFang SC"/>
              </a:rPr>
              <a:t>实现 action-conditioned multi-head dynamics，而非单一 land-use forecast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840480"/>
            <a:ext cx="384048" cy="292608"/>
          </a:xfrm>
          <a:prstGeom prst="roundRect">
            <a:avLst/>
          </a:prstGeom>
          <a:solidFill>
            <a:srgbClr val="A76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" y="3890772"/>
            <a:ext cx="310896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71600" y="3730752"/>
            <a:ext cx="996696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371600" y="3730752"/>
            <a:ext cx="64008" cy="621792"/>
          </a:xfrm>
          <a:prstGeom prst="rect">
            <a:avLst/>
          </a:prstGeom>
          <a:solidFill>
            <a:srgbClr val="A76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27632" y="3849624"/>
            <a:ext cx="109728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8212B"/>
                </a:solidFill>
                <a:latin typeface="PingFang SC"/>
              </a:rPr>
              <a:t>验证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3858768"/>
            <a:ext cx="8046720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F6E7C"/>
                </a:solidFill>
                <a:latin typeface="PingFang SC"/>
              </a:rPr>
              <a:t>构建分层 benchmark：未来状态、反事实、规划收益、证据安全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718304"/>
            <a:ext cx="384048" cy="292608"/>
          </a:xfrm>
          <a:prstGeom prst="roundRect">
            <a:avLst/>
          </a:prstGeom>
          <a:solidFill>
            <a:srgbClr val="655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" y="4768596"/>
            <a:ext cx="310896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PingFang SC"/>
              </a:rPr>
              <a:t>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71600" y="4608576"/>
            <a:ext cx="996696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371600" y="4608576"/>
            <a:ext cx="64008" cy="621792"/>
          </a:xfrm>
          <a:prstGeom prst="rect">
            <a:avLst/>
          </a:prstGeom>
          <a:solidFill>
            <a:srgbClr val="655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27632" y="4727448"/>
            <a:ext cx="109728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8212B"/>
                </a:solidFill>
                <a:latin typeface="PingFang SC"/>
              </a:rPr>
              <a:t>合作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4736592"/>
            <a:ext cx="8046720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F6E7C"/>
                </a:solidFill>
                <a:latin typeface="PingFang SC"/>
              </a:rPr>
              <a:t>引入权威数据、专家规则和真实评审案例，形成可复核示范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6547104"/>
            <a:ext cx="768096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600" b="0">
                <a:solidFill>
                  <a:srgbClr val="5F6E7C"/>
                </a:solidFill>
                <a:latin typeface="PingFang SC"/>
              </a:rPr>
              <a:t>Geospatial World Model / TWM 技术交流材料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749808"/>
            <a:ext cx="9875520" cy="4754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PingFang SC"/>
              </a:rPr>
              <a:t>希望请陈军院士重点指正的问题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91640"/>
            <a:ext cx="384048" cy="292608"/>
          </a:xfrm>
          <a:prstGeom prst="roundRect">
            <a:avLst/>
          </a:prstGeom>
          <a:solidFill>
            <a:srgbClr val="1E8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741932"/>
            <a:ext cx="310896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732788"/>
            <a:ext cx="97840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6EEF5"/>
                </a:solidFill>
                <a:latin typeface="PingFang SC"/>
              </a:rPr>
              <a:t>Geospatial World Model 这个概念是否能成为 GIScience / GeoAI 的严谨研究方向？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51760"/>
            <a:ext cx="384048" cy="292608"/>
          </a:xfrm>
          <a:prstGeom prst="roundRect">
            <a:avLst/>
          </a:prstGeom>
          <a:solidFill>
            <a:srgbClr val="1E8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702052"/>
            <a:ext cx="310896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692908"/>
            <a:ext cx="97840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6EEF5"/>
                </a:solidFill>
                <a:latin typeface="PingFang SC"/>
              </a:rPr>
              <a:t>自然资源治理是否适合作为第一类 GWM 验证场景？还缺哪些关键场景？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611880"/>
            <a:ext cx="384048" cy="292608"/>
          </a:xfrm>
          <a:prstGeom prst="roundRect">
            <a:avLst/>
          </a:prstGeom>
          <a:solidFill>
            <a:srgbClr val="1E8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3662172"/>
            <a:ext cx="310896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653028"/>
            <a:ext cx="97840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6EEF5"/>
                </a:solidFill>
                <a:latin typeface="PingFang SC"/>
              </a:rPr>
              <a:t>与 GeoSOS/FLUS、数字孪生、空间优化的学术边界如何表述更稳妥？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572000"/>
            <a:ext cx="384048" cy="292608"/>
          </a:xfrm>
          <a:prstGeom prst="roundRect">
            <a:avLst/>
          </a:prstGeom>
          <a:solidFill>
            <a:srgbClr val="1E8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4622292"/>
            <a:ext cx="310896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613148"/>
            <a:ext cx="97840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6EEF5"/>
                </a:solidFill>
                <a:latin typeface="PingFang SC"/>
              </a:rPr>
              <a:t>评价体系应如何从地图精度升级为治理行动后果、证据安全和决策后悔？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6547104"/>
            <a:ext cx="768096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600" b="0">
                <a:solidFill>
                  <a:srgbClr val="5F6E7C"/>
                </a:solidFill>
                <a:latin typeface="PingFang SC"/>
              </a:rPr>
              <a:t>References: World Models; GeoAI foundation model literature; GeoSOS/FLUS; GIS Data Agent TWM local reports.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56032"/>
            <a:ext cx="7680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1E827D"/>
                </a:solidFill>
                <a:latin typeface="PingFang SC"/>
              </a:rP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66928"/>
            <a:ext cx="1042416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8212B"/>
                </a:solidFill>
                <a:latin typeface="PingFang SC"/>
              </a:rPr>
              <a:t>三个结论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10896"/>
            <a:ext cx="45720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5F6E7C"/>
                </a:solidFill>
                <a:latin typeface="PingFang SC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45920"/>
            <a:ext cx="3154680" cy="2148840"/>
          </a:xfrm>
          <a:prstGeom prst="roundRect">
            <a:avLst/>
          </a:prstGeom>
          <a:solidFill>
            <a:srgbClr val="EAF3F9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645920"/>
            <a:ext cx="64008" cy="2148840"/>
          </a:xfrm>
          <a:prstGeom prst="rect">
            <a:avLst/>
          </a:prstGeom>
          <a:solidFill>
            <a:srgbClr val="145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1792224"/>
            <a:ext cx="284378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12B"/>
                </a:solidFill>
                <a:latin typeface="PingFang SC"/>
              </a:rPr>
              <a:t>GWM 的定位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157984"/>
            <a:ext cx="2843784" cy="15453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1200" b="0">
                <a:solidFill>
                  <a:srgbClr val="5F6E7C"/>
                </a:solidFill>
                <a:latin typeface="PingFang SC"/>
              </a:rPr>
              <a:t>让 GIS 从“空间信息表达系统”扩展为“空间行动后果推演系统”。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645920"/>
            <a:ext cx="3154680" cy="2148840"/>
          </a:xfrm>
          <a:prstGeom prst="roundRect">
            <a:avLst/>
          </a:prstGeom>
          <a:solidFill>
            <a:srgbClr val="EBF6E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7720" y="1645920"/>
            <a:ext cx="64008" cy="2148840"/>
          </a:xfrm>
          <a:prstGeom prst="rect">
            <a:avLst/>
          </a:prstGeom>
          <a:solidFill>
            <a:srgbClr val="3F8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18888" y="1792224"/>
            <a:ext cx="284378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12B"/>
                </a:solidFill>
                <a:latin typeface="PingFang SC"/>
              </a:rPr>
              <a:t>TWM 的定位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8888" y="2157984"/>
            <a:ext cx="2843784" cy="15453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1200" b="0">
                <a:solidFill>
                  <a:srgbClr val="5F6E7C"/>
                </a:solidFill>
                <a:latin typeface="PingFang SC"/>
              </a:rPr>
              <a:t>TWM 是自然资源治理场景下的 GWM 实例，不等同于 GWM 全部。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59" y="1645920"/>
            <a:ext cx="3154680" cy="2148840"/>
          </a:xfrm>
          <a:prstGeom prst="roundRect">
            <a:avLst/>
          </a:prstGeom>
          <a:solidFill>
            <a:srgbClr val="FAF0E3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66759" y="1645920"/>
            <a:ext cx="64008" cy="2148840"/>
          </a:xfrm>
          <a:prstGeom prst="rect">
            <a:avLst/>
          </a:prstGeom>
          <a:solidFill>
            <a:srgbClr val="A76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67928" y="1792224"/>
            <a:ext cx="284378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12B"/>
                </a:solidFill>
                <a:latin typeface="PingFang SC"/>
              </a:rPr>
              <a:t>当前边界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67928" y="2157984"/>
            <a:ext cx="2843784" cy="15453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1200" b="0">
                <a:solidFill>
                  <a:srgbClr val="5F6E7C"/>
                </a:solidFill>
                <a:latin typeface="PingFang SC"/>
              </a:rPr>
              <a:t>概念与工程雏形已经形成；算法、权威数据、评价体系和基线验证仍需继续突破。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" y="4800600"/>
            <a:ext cx="10058400" cy="694944"/>
          </a:xfrm>
          <a:prstGeom prst="roundRect">
            <a:avLst/>
          </a:prstGeom>
          <a:solidFill>
            <a:srgbClr val="102033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98448" y="5047488"/>
            <a:ext cx="95554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</a:rPr>
              <a:t>最终目标：可预测、可反事实、可规划、可审计的地理空间治理世界模型。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547104"/>
            <a:ext cx="768096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600" b="0">
                <a:solidFill>
                  <a:srgbClr val="5F6E7C"/>
                </a:solidFill>
                <a:latin typeface="PingFang SC"/>
              </a:rPr>
              <a:t>Geospatial World Model / TWM 技术交流材料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56032"/>
            <a:ext cx="7680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1E827D"/>
                </a:solidFill>
                <a:latin typeface="PingFang SC"/>
              </a:rPr>
              <a:t>References / Source Basis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66928"/>
            <a:ext cx="1042416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8212B"/>
                </a:solidFill>
                <a:latin typeface="PingFang SC"/>
              </a:rPr>
              <a:t>参考依据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10896"/>
            <a:ext cx="45720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5F6E7C"/>
                </a:solidFill>
                <a:latin typeface="PingFang SC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332720" cy="310896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/>
            <a:r>
              <a:rPr sz="1300" b="0">
                <a:solidFill>
                  <a:srgbClr val="18212B"/>
                </a:solidFill>
                <a:latin typeface="PingFang SC"/>
              </a:rPr>
              <a:t>Ha &amp; Schmidhuber, World Models, 2018.</a:t>
            </a:r>
          </a:p>
          <a:p>
            <a:pPr/>
            <a:r>
              <a:rPr sz="1300" b="0">
                <a:solidFill>
                  <a:srgbClr val="18212B"/>
                </a:solidFill>
                <a:latin typeface="PingFang SC"/>
              </a:rPr>
              <a:t>Hafner et al., Dreamer / DreamerV3 world model literature.</a:t>
            </a:r>
          </a:p>
          <a:p>
            <a:pPr/>
            <a:r>
              <a:rPr sz="1300" b="0">
                <a:solidFill>
                  <a:srgbClr val="18212B"/>
                </a:solidFill>
                <a:latin typeface="PingFang SC"/>
              </a:rPr>
              <a:t>GeoAI foundation model and Earth observation foundation model literature.</a:t>
            </a:r>
          </a:p>
          <a:p>
            <a:pPr/>
            <a:r>
              <a:rPr sz="1300" b="0">
                <a:solidFill>
                  <a:srgbClr val="18212B"/>
                </a:solidFill>
                <a:latin typeface="PingFang SC"/>
              </a:rPr>
              <a:t>GeoSOS / FLUS: land-use simulation and spatial optimization model family; Liu et al. 2017 FLUS paper.</a:t>
            </a:r>
          </a:p>
          <a:p>
            <a:pPr/>
            <a:r>
              <a:rPr sz="1300" b="0">
                <a:solidFill>
                  <a:srgbClr val="18212B"/>
                </a:solidFill>
                <a:latin typeface="PingFang SC"/>
              </a:rPr>
              <a:t>GIS Data Agent local reports: TWM theoretical foundations, novelty boundary, TWM-vs-GeoSOS/FLUS academic positioning, ANN-trained FLUS comparison.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892040"/>
            <a:ext cx="10332720" cy="694944"/>
          </a:xfrm>
          <a:prstGeom prst="roundRect">
            <a:avLst/>
          </a:prstGeom>
          <a:solidFill>
            <a:srgbClr val="EAF3F9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5138928"/>
            <a:ext cx="98755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145D8F"/>
                </a:solidFill>
                <a:latin typeface="PingFang SC"/>
              </a:rPr>
              <a:t>本材料采用保守表述：强调研究问题和验证路线，不把工程原型包装成已完成理论。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6547104"/>
            <a:ext cx="768096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600" b="0">
                <a:solidFill>
                  <a:srgbClr val="5F6E7C"/>
                </a:solidFill>
                <a:latin typeface="PingFang SC"/>
              </a:rPr>
              <a:t>Geospatial World Model / TWM 技术交流材料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