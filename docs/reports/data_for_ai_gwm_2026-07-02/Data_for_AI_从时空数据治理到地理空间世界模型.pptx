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开场强调：这不是产品宣传页，而是一个技术路线分享：Data for AI 如何从治理走向模拟与规划。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先把听众拉到同一语境：Data for AI 不只是建湖仓，而是为后续世界模型提供观测、状态和证据。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过渡：先讲世界模型，再讲地理空间世界模型，最后落到 TWM。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data_for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85216"/>
            <a:ext cx="141732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35508"/>
            <a:ext cx="130759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内部技术交流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7772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Data for AI：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从时空数据治理到地理空间世界模型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16352"/>
            <a:ext cx="6949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6EEF5"/>
                </a:solidFill>
                <a:latin typeface="PingFang SC"/>
              </a:rPr>
              <a:t>MMFE 作为 AI-ready 时空数据底座，TWM 作为自然资源行业 Geospatial World Model 实例。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6236208"/>
            <a:ext cx="438912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D7E0E8"/>
                </a:solidFill>
                <a:latin typeface="PingFang SC"/>
              </a:rPr>
              <a:t>GIS Data Agent /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今天只讲一条主线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37560" cy="329184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329184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1. Data for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3017520" cy="2615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数据治理的目标从“可查、可看”升级为“可被模型稳定消费”。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MMFE 提供多源时空数据接入、融合、质量和语义治理。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37560" cy="329184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73152" cy="329184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99032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2. World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01368"/>
            <a:ext cx="3017520" cy="2615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世界模型不是热词，而是对状态、演化规律和行动后果的可计算表达。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关键能力是预测、模拟、规划。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37560" cy="329184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329184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99032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3. Geospatial WM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01368"/>
            <a:ext cx="3017520" cy="2615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地理空间世界模型把 GIS 对象、时序变化、空间约束和行业行动组织进一个模拟闭环。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TWM 是自然资源行业实例。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7202A"/>
                </a:solidFill>
                <a:latin typeface="PingFang SC"/>
              </a:rPr>
              <a:t>一句话：MMFE 解决“AI 可用的数据”，TWM 解决“数据驱动的世界状态推演”。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Data for AI 的问题背景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为什么传统 GIS 数据治理不够了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74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面向人看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754880" cy="7406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传统治理面向制图、检索、统计报表；AI 需要稳定 API、结构化语义和可追溯 lineage。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074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73152" cy="1417320"/>
          </a:xfrm>
          <a:prstGeom prst="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9903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面向单数据集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01368"/>
            <a:ext cx="4754880" cy="7406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AI 场景通常同时需要矢量、栅格、表格、影像、规则、审批历史和文本证据。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5074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00400"/>
            <a:ext cx="73152" cy="141732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36499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面向静态状态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767328"/>
            <a:ext cx="4754880" cy="7406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世界模型要求看到历史变化、约束条件和行动干预，而不只是当前底图。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00400"/>
            <a:ext cx="5074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73152" cy="1417320"/>
          </a:xfrm>
          <a:prstGeom prst="rect">
            <a:avLst/>
          </a:prstGeom>
          <a:solidFill>
            <a:srgbClr val="B74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36499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缺少模型反馈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767328"/>
            <a:ext cx="4754880" cy="7406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数据质量、融合冲突、语义错配需要进入模型和 agent 的反馈闭环。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23560"/>
            <a:ext cx="107899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B5C8C"/>
                </a:solidFill>
                <a:latin typeface="PingFang SC"/>
              </a:rPr>
              <a:t>AI 时代的数据治理对象变成：数据 + 语义 + 质量 + 证据 + 时间演化 + 可行动接口。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从数据资产到模型燃料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Data for AI 的分层目标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737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29968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B5C8C"/>
                </a:solidFill>
                <a:latin typeface="PingFang SC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87168"/>
            <a:ext cx="15179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多源接入</a:t>
            </a:r>
          </a:p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遥感/矢量/栅格/表格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542032"/>
            <a:ext cx="365760" cy="0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828800"/>
            <a:ext cx="1737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29968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47C7A"/>
                </a:solidFill>
                <a:latin typeface="PingFang SC"/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87168"/>
            <a:ext cx="15179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标准化</a:t>
            </a:r>
          </a:p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质量/血缘/权限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542032"/>
            <a:ext cx="365760" cy="0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828800"/>
            <a:ext cx="1737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29968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3E8A5E"/>
                </a:solidFill>
                <a:latin typeface="PingFang SC"/>
              </a:rPr>
              <a:t>Semantics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487168"/>
            <a:ext cx="15179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实体/关系/本体</a:t>
            </a:r>
          </a:p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字段语义对齐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0" y="2542032"/>
            <a:ext cx="365760" cy="0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1828800"/>
            <a:ext cx="1737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2029968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B56A2A"/>
                </a:solidFill>
                <a:latin typeface="PingFang SC"/>
              </a:rPr>
              <a:t>Model-ready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87168"/>
            <a:ext cx="15179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特征/样本/时序</a:t>
            </a:r>
          </a:p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稳定 contract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89720" y="2542032"/>
            <a:ext cx="365760" cy="0"/>
          </a:xfrm>
          <a:prstGeom prst="line">
            <a:avLst/>
          </a:prstGeom>
          <a:ln w="1778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1828800"/>
            <a:ext cx="1737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2029968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675AA7"/>
                </a:solidFill>
                <a:latin typeface="PingFang SC"/>
              </a:rPr>
              <a:t>World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487168"/>
            <a:ext cx="15179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预测/模拟/规划</a:t>
            </a:r>
          </a:p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证据门控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60520"/>
            <a:ext cx="4754880" cy="105156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160520"/>
            <a:ext cx="73152" cy="105156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MMFE 的位置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727448"/>
            <a:ext cx="4434840" cy="3749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把多源时空数据治理成 AI-ready 数据产品。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160520"/>
            <a:ext cx="4754880" cy="105156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4160520"/>
            <a:ext cx="73152" cy="105156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325112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TWM 的位置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7" y="4727448"/>
            <a:ext cx="4434840" cy="3749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在 AI-ready 数据之上学习状态演化和行动后果。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85216"/>
            <a:ext cx="114300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35508"/>
            <a:ext cx="103327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87552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PingFang SC"/>
              </a:rPr>
              <a:t>世界模型：先把概念说清楚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12848"/>
            <a:ext cx="859536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E0E8"/>
                </a:solidFill>
                <a:latin typeface="PingFang SC"/>
              </a:rPr>
              <a:t>不同团队对 world model 的理解不一样，部门内部交流必须先建立共同词典。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6400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D7E0E8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概念定义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世界模型不是一个单一产品名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1B5C8C"/>
                </a:solidFill>
                <a:latin typeface="PingFang SC"/>
              </a:rPr>
              <a:t>世界模型 = 对现实环境的状态、演化规律、行动影响的可计算表达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33272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2606040"/>
            <a:ext cx="1005840" cy="310896"/>
          </a:xfrm>
          <a:prstGeom prst="round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0744" y="2656332"/>
            <a:ext cx="89611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02A"/>
                </a:solidFill>
                <a:latin typeface="PingFang SC"/>
              </a:rPr>
              <a:t>世界现在是什么状态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47872"/>
            <a:ext cx="23317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B77"/>
                </a:solidFill>
                <a:latin typeface="PingFang SC"/>
              </a:rPr>
              <a:t>对象、关系、属性、约束、证据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337560"/>
            <a:ext cx="45720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606040"/>
            <a:ext cx="1005840" cy="310896"/>
          </a:xfrm>
          <a:prstGeom prst="round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656332"/>
            <a:ext cx="89611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02A"/>
                </a:solidFill>
                <a:latin typeface="PingFang SC"/>
              </a:rPr>
              <a:t>世界会如何变化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47872"/>
            <a:ext cx="23317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B77"/>
                </a:solidFill>
                <a:latin typeface="PingFang SC"/>
              </a:rPr>
              <a:t>转移、趋势、物理/空间过程、不确定性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8040" y="3337560"/>
            <a:ext cx="45720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01000" y="2606040"/>
            <a:ext cx="1005840" cy="310896"/>
          </a:xfrm>
          <a:prstGeom prst="round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4" y="2656332"/>
            <a:ext cx="89611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0632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02A"/>
                </a:solidFill>
                <a:latin typeface="PingFang SC"/>
              </a:rPr>
              <a:t>行动会造成什么后果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547872"/>
            <a:ext cx="2331720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B77"/>
                </a:solidFill>
                <a:latin typeface="PingFang SC"/>
              </a:rPr>
              <a:t>反事实、规划动作、收益、风险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10149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7202A"/>
                </a:solidFill>
                <a:latin typeface="PingFang SC"/>
              </a:rPr>
              <a:t>它和 LLM 的区别：LLM 主要预测文本序列；世界模型要预测环境状态变化，并支持模拟与规划。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路线版图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世界模型的主要技术路线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1554480" cy="411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61288"/>
            <a:ext cx="1444752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051560"/>
            <a:ext cx="1965960" cy="411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1161288"/>
            <a:ext cx="1856231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代表输入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051560"/>
            <a:ext cx="2560320" cy="411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1161288"/>
            <a:ext cx="2450591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核心目标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051560"/>
            <a:ext cx="3749039" cy="411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1161288"/>
            <a:ext cx="3639311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成熟度判断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536192"/>
            <a:ext cx="15544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655064"/>
            <a:ext cx="1426464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17202A"/>
                </a:solidFill>
                <a:latin typeface="PingFang SC"/>
              </a:rPr>
              <a:t>RL / 控制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536192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1655064"/>
            <a:ext cx="183794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状态 + 动作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536192"/>
            <a:ext cx="25603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1655064"/>
            <a:ext cx="243230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想象未来并学习策略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536192"/>
            <a:ext cx="3749039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1655064"/>
            <a:ext cx="362102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Dreamer 等路线较成熟，仍依赖任务环境定义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194560"/>
            <a:ext cx="155448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313432"/>
            <a:ext cx="1426464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17202A"/>
                </a:solidFill>
                <a:latin typeface="PingFang SC"/>
              </a:rPr>
              <a:t>视频生成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194560"/>
            <a:ext cx="196596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2" y="2313432"/>
            <a:ext cx="183794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视频/图像/文本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194560"/>
            <a:ext cx="256032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2313432"/>
            <a:ext cx="243230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生成未来场景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2194560"/>
            <a:ext cx="3749039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8392" y="2313432"/>
            <a:ext cx="362102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表现力强，可控性和物理一致性仍是瓶颈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852928"/>
            <a:ext cx="15544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2971800"/>
            <a:ext cx="1426464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17202A"/>
                </a:solidFill>
                <a:latin typeface="PingFang SC"/>
              </a:rPr>
              <a:t>游戏/交互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2852928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7752" y="2971800"/>
            <a:ext cx="183794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视频 + 动作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2852928"/>
            <a:ext cx="25603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2971800"/>
            <a:ext cx="243230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生成可交互环境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2852928"/>
            <a:ext cx="3749039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971800"/>
            <a:ext cx="362102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Genie/GameNGen 推动明显，真实业务迁移仍早期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511296"/>
            <a:ext cx="155448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3630168"/>
            <a:ext cx="1426464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17202A"/>
                </a:solidFill>
                <a:latin typeface="PingFang SC"/>
              </a:rPr>
              <a:t>自动驾驶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511296"/>
            <a:ext cx="196596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87752" y="3630168"/>
            <a:ext cx="183794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相机/LiDAR/动作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511296"/>
            <a:ext cx="256032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73752" y="3630168"/>
            <a:ext cx="243230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驾驶场景预测与仿真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3511296"/>
            <a:ext cx="3749039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8392" y="3630168"/>
            <a:ext cx="362102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行业投入大，但安全验证门槛极高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169663"/>
            <a:ext cx="15544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" y="4288536"/>
            <a:ext cx="1426464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17202A"/>
                </a:solidFill>
                <a:latin typeface="PingFang SC"/>
              </a:rPr>
              <a:t>科学/物理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4169663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87752" y="4288536"/>
            <a:ext cx="183794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观测 + 方程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4169663"/>
            <a:ext cx="25603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4288536"/>
            <a:ext cx="243230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物理系统模拟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4169663"/>
            <a:ext cx="3749039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08392" y="4288536"/>
            <a:ext cx="362102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气象、材料、地球系统进展快，依赖领域约束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4828031"/>
            <a:ext cx="155448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4946903"/>
            <a:ext cx="1426464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17202A"/>
                </a:solidFill>
                <a:latin typeface="PingFang SC"/>
              </a:rPr>
              <a:t>Geospatial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4828031"/>
            <a:ext cx="196596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87752" y="4946903"/>
            <a:ext cx="183794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GIS + 遥感 + 规则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00600" y="4828031"/>
            <a:ext cx="2560320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73752" y="4946903"/>
            <a:ext cx="243230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空间状态演化与行动后果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240" y="4828031"/>
            <a:ext cx="3749039" cy="530352"/>
          </a:xfrm>
          <a:prstGeom prst="rect">
            <a:avLst/>
          </a:prstGeom>
          <a:solidFill>
            <a:srgbClr val="F9FB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08392" y="4946903"/>
            <a:ext cx="3621023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B77"/>
                </a:solidFill>
                <a:latin typeface="PingFang SC"/>
              </a:rPr>
              <a:t>强 GIS 行业需求明确，工程范式仍在形成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路线成熟度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各路线的发展状态：热，但还没统一范式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08</a:t>
            </a:r>
          </a:p>
        </p:txBody>
      </p:sp>
      <p:pic>
        <p:nvPicPr>
          <p:cNvPr id="6" name="Picture 5" descr="world_model_routes_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339114"/>
            <a:ext cx="6126480" cy="25795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143000"/>
            <a:ext cx="4069080" cy="109728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143000"/>
            <a:ext cx="73152" cy="109728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307592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共同趋势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709928"/>
            <a:ext cx="374904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从感知模型转向可预测、可交互、可规划的环境模型。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606040"/>
            <a:ext cx="4069080" cy="109728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606040"/>
            <a:ext cx="73152" cy="109728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770632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共同瓶颈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172968"/>
            <a:ext cx="374904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长时一致性、物理/规则约束、可验证性、真实世界反馈闭环。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069080"/>
            <a:ext cx="4069080" cy="109728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069080"/>
            <a:ext cx="73152" cy="109728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4233672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GWM 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636008"/>
            <a:ext cx="374904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地理空间任务天然有对象、边界、规则、时间序列和规划行动。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58521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F6B77"/>
                </a:solidFill>
                <a:latin typeface="PingFang SC"/>
              </a:rPr>
              <a:t>注：图中 maturity/usability 为技术路线判断示意，不是外部 benchmark 评分。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从描述世界到推演世界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为什么 GIS 行业需要 Geospatial World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3063240" cy="1874519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73152" cy="1874519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58191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PingFang SC"/>
              </a:rPr>
              <a:t>传统 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984248"/>
            <a:ext cx="2743200" cy="1197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回答“哪里有什么”</a:t>
            </a:r>
          </a:p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图层、查询、叠加、统计、制图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359152"/>
            <a:ext cx="429768" cy="0"/>
          </a:xfrm>
          <a:prstGeom prst="line">
            <a:avLst/>
          </a:prstGeom>
          <a:ln w="1905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1417320"/>
            <a:ext cx="3063240" cy="1874519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17320"/>
            <a:ext cx="73152" cy="1874519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58191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PingFang SC"/>
              </a:rPr>
              <a:t>数字孪生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84248"/>
            <a:ext cx="2743200" cy="1197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回答“现在长什么样”</a:t>
            </a:r>
          </a:p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可视化、监控、状态同步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359152"/>
            <a:ext cx="429769" cy="0"/>
          </a:xfrm>
          <a:prstGeom prst="line">
            <a:avLst/>
          </a:prstGeom>
          <a:ln w="1905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75319" y="1417320"/>
            <a:ext cx="3063240" cy="1874519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417320"/>
            <a:ext cx="73152" cy="1874519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58191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PingFang SC"/>
              </a:rPr>
              <a:t>Geospatial WM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1984248"/>
            <a:ext cx="2743200" cy="1197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回答“会怎么变、行动会怎样”</a:t>
            </a:r>
          </a:p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预测、模拟、反事实、规划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1033272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407408"/>
            <a:ext cx="99212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7202A"/>
                </a:solidFill>
                <a:latin typeface="PingFang SC"/>
              </a:rPr>
              <a:t>强 GIS 行业的共性：空间对象 + 时序变化 + 业务规则 + 行动干预 + 规划目标。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面向地理空间状态演化与行动后果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Geospatial World Model 的定义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607040" cy="7863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B5C8C"/>
                </a:solidFill>
                <a:latin typeface="PingFang SC"/>
              </a:rPr>
              <a:t>Geospatial World Model 是面向地理空间对象、时空状态演化和空间行动后果的世界模型。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60320"/>
            <a:ext cx="1828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19" y="2788920"/>
            <a:ext cx="749808" cy="310896"/>
          </a:xfrm>
          <a:prstGeom prst="round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9212"/>
            <a:ext cx="6400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149961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地块、道路、河流、设施、项目、行政区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560320"/>
            <a:ext cx="1828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2788920"/>
            <a:ext cx="749808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839212"/>
            <a:ext cx="6400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310128"/>
            <a:ext cx="149961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邻接、包含、重叠、连通、上下游、服务范围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560320"/>
            <a:ext cx="1828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4144" y="2788920"/>
            <a:ext cx="749808" cy="310896"/>
          </a:xfrm>
          <a:prstGeom prst="round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7" y="2839212"/>
            <a:ext cx="6400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过程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3310128"/>
            <a:ext cx="149961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土地变化、城市扩张、灾害扩散、交通拥堵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52944" y="2560320"/>
            <a:ext cx="1828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91856" y="2788920"/>
            <a:ext cx="749808" cy="310896"/>
          </a:xfrm>
          <a:prstGeom prst="round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839212"/>
            <a:ext cx="6400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3310128"/>
            <a:ext cx="149961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保护、开发、审批、调度、建设、管控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0656" y="2560320"/>
            <a:ext cx="1828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59568" y="2788920"/>
            <a:ext cx="749808" cy="310896"/>
          </a:xfrm>
          <a:prstGeom prst="roundRect">
            <a:avLst/>
          </a:prstGeom>
          <a:solidFill>
            <a:srgbClr val="67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4432" y="2839212"/>
            <a:ext cx="6400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3310128"/>
            <a:ext cx="149961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数据来源、规则命中、质量、血缘、适用边界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93792"/>
            <a:ext cx="1037844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202A"/>
                </a:solidFill>
                <a:latin typeface="PingFang SC"/>
              </a:rPr>
              <a:t>GWM 的目标不是替代 GIS，而是让 GIS 数据进入预测、模拟、规划和审计闭环。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85216"/>
            <a:ext cx="114300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35508"/>
            <a:ext cx="103327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87552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PingFang SC"/>
              </a:rPr>
              <a:t>MMFE：时空数据治理作为 AI-ready 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12848"/>
            <a:ext cx="859536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E0E8"/>
                </a:solidFill>
                <a:latin typeface="PingFang SC"/>
              </a:rPr>
              <a:t>没有稳定、语义化、可追溯的数据产品，世界模型只能停留在 demo。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6400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D7E0E8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多模态时空数据治理底座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MMFE 在 GIS Data Agent 中的定位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12</a:t>
            </a:r>
          </a:p>
        </p:txBody>
      </p:sp>
      <p:pic>
        <p:nvPicPr>
          <p:cNvPr id="6" name="Picture 5" descr="twm_upstream_found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382"/>
            <a:ext cx="5212080" cy="34839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078992"/>
            <a:ext cx="5074920" cy="896112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78992"/>
            <a:ext cx="73152" cy="896112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24358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645919"/>
            <a:ext cx="47548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把矢量、栅格、表格、遥感、业务数据治理成 AI 可用的数据产品。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67712"/>
            <a:ext cx="5074920" cy="896112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267712"/>
            <a:ext cx="73152" cy="896112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43230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关键能力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834640"/>
            <a:ext cx="47548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数据探测、兼容性评估、语义对齐、融合执行、质量验证。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56432"/>
            <a:ext cx="5074920" cy="896112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456432"/>
            <a:ext cx="73152" cy="896112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362102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对 TWM 的价值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023359"/>
            <a:ext cx="47548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提供状态观测、训练样本、空间对象、规则证据和质量边界。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8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202A"/>
                </a:solidFill>
                <a:latin typeface="PingFang SC"/>
              </a:rPr>
              <a:t>MMFE 是 Data for AI 的生产层：先把“数据能用”变成“模型敢用”。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从多源数据到可信融合结果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MMFE 五阶段流水线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783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1417320" cy="310896"/>
          </a:xfrm>
          <a:prstGeom prst="round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787651"/>
            <a:ext cx="130759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1 数据探测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40864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CRS / 范围 / 字段 / 分辨率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2359152"/>
            <a:ext cx="32918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417320"/>
            <a:ext cx="1783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1737360"/>
            <a:ext cx="141732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87651"/>
            <a:ext cx="130759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2 兼容性评估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340864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空间重叠 / 坐标冲突 / 字段匹配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2359152"/>
            <a:ext cx="32918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1417320"/>
            <a:ext cx="1783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49240" y="1737360"/>
            <a:ext cx="1417320" cy="310896"/>
          </a:xfrm>
          <a:prstGeom prst="round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1787651"/>
            <a:ext cx="130759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3 语义对齐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340864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本体 / 等价组 / LLM schema / 单位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76872" y="2359152"/>
            <a:ext cx="32918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1417320"/>
            <a:ext cx="1783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1737360"/>
            <a:ext cx="1417320" cy="310896"/>
          </a:xfrm>
          <a:prstGeom prst="round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4" y="1787651"/>
            <a:ext cx="130759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4 融合执行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340864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join / overlay / zonal / pushdown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17152" y="2359152"/>
            <a:ext cx="32918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1417320"/>
            <a:ext cx="1783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9800" y="1737360"/>
            <a:ext cx="1417320" cy="310896"/>
          </a:xfrm>
          <a:prstGeom prst="roundRect">
            <a:avLst/>
          </a:prstGeom>
          <a:solidFill>
            <a:srgbClr val="67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4" y="1787651"/>
            <a:ext cx="130759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5 质量验证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340864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F6B77"/>
                </a:solidFill>
                <a:latin typeface="PingFang SC"/>
              </a:rPr>
              <a:t>空值 / 拓扑 / 分布偏移 / 冲突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60520"/>
            <a:ext cx="10332720" cy="100584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462272"/>
            <a:ext cx="9921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B5C8C"/>
                </a:solidFill>
                <a:latin typeface="PingFang SC"/>
              </a:rPr>
              <a:t>关键变化：数据治理从“手工整理”变成可被 agent 调用、可复核、可回放的流水线。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AI-ready 数据产品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MMFE 不只是融合算子，而是治理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520440" cy="132588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73152" cy="132588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26187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语义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64207"/>
            <a:ext cx="320040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字段、单位、业务概念、空间对象和本体关系要稳定可解释。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097280"/>
            <a:ext cx="3520440" cy="132588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097280"/>
            <a:ext cx="73152" cy="132588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26187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质量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664207"/>
            <a:ext cx="320040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质量门控、冲突记录、置信度、异常值和拓扑问题要结构化。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97280"/>
            <a:ext cx="3063240" cy="132588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097280"/>
            <a:ext cx="73152" cy="132588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26187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血缘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664207"/>
            <a:ext cx="274320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来源、参数、版本、处理链路和适用边界要可追踪。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246120"/>
            <a:ext cx="10012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529584"/>
            <a:ext cx="96469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7202A"/>
                </a:solidFill>
                <a:latin typeface="PingFang SC"/>
              </a:rPr>
              <a:t>World Model 消费的不是“文件”，而是带语义、质量和血缘的状态观测。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项目截图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MMFE 展示效果：融合质量进入可解释界面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15</a:t>
            </a:r>
          </a:p>
        </p:txBody>
      </p:sp>
      <p:pic>
        <p:nvPicPr>
          <p:cNvPr id="6" name="Picture 5" descr="mmfe_fusion_quality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67338"/>
            <a:ext cx="6537960" cy="36776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71231" y="1143000"/>
            <a:ext cx="3794760" cy="114300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1143000"/>
            <a:ext cx="73152" cy="114300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0759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从结果到证据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09928"/>
            <a:ext cx="347472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不是只输出 GeoJSON，而是把质量、冲突、来源和解释交给用户与 agent。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2697480"/>
            <a:ext cx="3794760" cy="114300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71231" y="2697480"/>
            <a:ext cx="73152" cy="114300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86207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从工具到闭环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64408"/>
            <a:ext cx="347472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质量问题可以进入后续 schema 对齐、融合策略和数据修复。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4251960"/>
            <a:ext cx="3794760" cy="114300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4251960"/>
            <a:ext cx="73152" cy="114300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41655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对 TWM 的意义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818888"/>
            <a:ext cx="347472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TWM 的训练样本和状态观测必须携带这种可验证边界。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85216"/>
            <a:ext cx="114300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35508"/>
            <a:ext cx="103327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87552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PingFang SC"/>
              </a:rPr>
              <a:t>TWM：自然资源行业的 Geospatial World Model 实例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12848"/>
            <a:ext cx="859536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E0E8"/>
                </a:solidFill>
                <a:latin typeface="PingFang SC"/>
              </a:rPr>
              <a:t>TWM 不是泛化概念包装，而是把自然资源治理问题具体化为可运行的 GWM 架构。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6400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D7E0E8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Geospatial World Model in Natural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TWM 的行业定义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78992"/>
            <a:ext cx="1042416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3E8A5E"/>
                </a:solidFill>
                <a:latin typeface="PingFang SC"/>
              </a:rPr>
              <a:t>TWM 是 Geospatial World Model 在自然资源行业中的一个实例。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246120" cy="160020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160020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2926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建模对象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98648"/>
            <a:ext cx="2926079" cy="9235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国土空间状态、土地覆盖/利用、地块、项目、规则和证据。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3246120" cy="160020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331720"/>
            <a:ext cx="73152" cy="160020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496312"/>
            <a:ext cx="2926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建模过程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898648"/>
            <a:ext cx="2926079" cy="9235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土地变化、规划管控、保护/开发行动、约束风险和效用变化。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331720"/>
            <a:ext cx="3246120" cy="160020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331720"/>
            <a:ext cx="73152" cy="160020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496312"/>
            <a:ext cx="2926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输出能力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898648"/>
            <a:ext cx="2926079" cy="9235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未来状态、变化位置、约束风险、方案比较和审计边界。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80"/>
            <a:ext cx="102412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202A"/>
                </a:solidFill>
                <a:latin typeface="PingFang SC"/>
              </a:rPr>
              <a:t>它可以扩展到其它强 GIS 行业，但自然资源是当前最适合落地的第一行业实例。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不要把三者混为一谈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TWM 三层能力：Renderer / Simulator /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88720"/>
            <a:ext cx="3337560" cy="297180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88720"/>
            <a:ext cx="73152" cy="297180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53312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Renderer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55648"/>
            <a:ext cx="3017520" cy="2295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把 GIS 状态、规则、证据、风险和模拟结果渲染成可观察、可审计的业务视图。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不负责核心预测。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88720"/>
            <a:ext cx="3337560" cy="297180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188720"/>
            <a:ext cx="73152" cy="297180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53312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55648"/>
            <a:ext cx="3017520" cy="2295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TWM 核心。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从历史状态学习变化规律，预测未来状态、约束风险和不确定性。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与 FLUS 对比的是这部分。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88720"/>
            <a:ext cx="3337560" cy="297180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88720"/>
            <a:ext cx="73152" cy="297180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53312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55648"/>
            <a:ext cx="3017520" cy="2295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消费 simulator 输出，进行方案搜索、约束检查、候选排序和复核任务生成。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不是本次 FLUS 对比主体。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E8A5E"/>
                </a:solidFill>
                <a:latin typeface="PingFang SC"/>
              </a:rPr>
              <a:t>当前最强创新点在 Simulator：action / evidence / topology / demand 共同约束空间状态推演。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与 GeoSOS-FLUS 对比的核心能力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TWM Simulator 的算法链路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53619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13533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7202A"/>
                </a:solidFill>
                <a:latin typeface="PingFang SC"/>
              </a:rPr>
              <a:t>历史状态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135331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train_start</a:t>
            </a:r>
          </a:p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train_end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1408" y="2450592"/>
            <a:ext cx="27432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68880" y="1828800"/>
            <a:ext cx="153619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029968"/>
            <a:ext cx="13533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7202A"/>
                </a:solidFill>
                <a:latin typeface="PingFang SC"/>
              </a:rPr>
              <a:t>Transition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87168"/>
            <a:ext cx="135331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source -&gt; target</a:t>
            </a:r>
          </a:p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变化倾向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41648" y="2450592"/>
            <a:ext cx="27432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1828800"/>
            <a:ext cx="153619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029968"/>
            <a:ext cx="13533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7202A"/>
                </a:solidFill>
                <a:latin typeface="PingFang SC"/>
              </a:rPr>
              <a:t>Replay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487168"/>
            <a:ext cx="135331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训练期回放</a:t>
            </a:r>
          </a:p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识别误报 pair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1888" y="2450592"/>
            <a:ext cx="27432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828800"/>
            <a:ext cx="153619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29968"/>
            <a:ext cx="13533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7202A"/>
                </a:solidFill>
                <a:latin typeface="PingFang SC"/>
              </a:rPr>
              <a:t>Topology 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87168"/>
            <a:ext cx="135331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稳定区/前沿/邻域</a:t>
            </a:r>
          </a:p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空间支撑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2450592"/>
            <a:ext cx="27432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828800"/>
            <a:ext cx="153619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029968"/>
            <a:ext cx="13533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7202A"/>
                </a:solidFill>
                <a:latin typeface="PingFang SC"/>
              </a:rPr>
              <a:t>Demand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87168"/>
            <a:ext cx="135331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需求守恒</a:t>
            </a:r>
          </a:p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变化预算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02368" y="2450592"/>
            <a:ext cx="274320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49840" y="1828800"/>
            <a:ext cx="153619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2029968"/>
            <a:ext cx="1353312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7202A"/>
                </a:solidFill>
                <a:latin typeface="PingFang SC"/>
              </a:rPr>
              <a:t>Forecast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487168"/>
            <a:ext cx="135331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holdout 评估</a:t>
            </a:r>
          </a:p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指标聚合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160520"/>
            <a:ext cx="4846320" cy="109728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" y="4160520"/>
            <a:ext cx="73152" cy="109728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325112"/>
            <a:ext cx="4526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最新关键机制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727448"/>
            <a:ext cx="452628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pair topology support contrast：高误报 source-&gt;target pair 中，unsupported cells 降分，supported cells 加分。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160520"/>
            <a:ext cx="4846320" cy="109728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160520"/>
            <a:ext cx="73152" cy="109728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4325112"/>
            <a:ext cx="4526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严格边界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727448"/>
            <a:ext cx="452628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训练只使用 train_start -&gt; train_end；holdout 只用于 evaluation，不进入训练。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比较边界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TWM 与 GeoSOS-FLUS：不是同一种模型包装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5074920" cy="356616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73152" cy="356616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0759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GeoSOS-FLUS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09928"/>
            <a:ext cx="4754880" cy="2889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经典土地利用变化模拟路线：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ANN suitability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Cellular automata allocation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adaptive inertia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land-use competition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scenario demand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优势：整体地图保持更稳，成熟度高。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5074920" cy="356616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43000"/>
            <a:ext cx="73152" cy="356616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30759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TWM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709928"/>
            <a:ext cx="4754880" cy="2889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地理空间世界模型路线：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train-only transition replay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topology stability/support guards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pair-specific contrast ranking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demand-constrained allocation</a:t>
            </a: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- evidence-gated comparison</a:t>
            </a:r>
          </a:p>
          <a:p>
            <a:pPr algn="l">
              <a:lnSpc>
                <a:spcPct val="95000"/>
              </a:lnSpc>
            </a:pPr>
          </a:p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优势：变化定位能力更强。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105156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B7433D"/>
                </a:solidFill>
                <a:latin typeface="PingFang SC"/>
              </a:rPr>
              <a:t>严谨说法：当前 TWM 在变化指标上超过固定 FLUS baseline，不是全面替代 FLUS。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实验协议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对比是否公平：同一数据、同一切分、同一评估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78992"/>
            <a:ext cx="192024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225295"/>
            <a:ext cx="1737360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78992"/>
            <a:ext cx="8183879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225295"/>
            <a:ext cx="7726679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02A"/>
                </a:solidFill>
                <a:latin typeface="PingFang SC"/>
              </a:rPr>
              <a:t>Dynamic World annual 100m raster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883664"/>
            <a:ext cx="192024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1737360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时间切分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883664"/>
            <a:ext cx="8183879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029968"/>
            <a:ext cx="7726679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02A"/>
                </a:solidFill>
                <a:latin typeface="PingFang SC"/>
              </a:rPr>
              <a:t>train_start -&gt; train_end 训练；train_end -&gt; holdout 评估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88336"/>
            <a:ext cx="192024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834640"/>
            <a:ext cx="1737360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输入地图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688336"/>
            <a:ext cx="8183879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834640"/>
            <a:ext cx="7726679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02A"/>
                </a:solidFill>
                <a:latin typeface="PingFang SC"/>
              </a:rPr>
              <a:t>同一个 initial map、holdout map、evaluation mask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493008"/>
            <a:ext cx="192024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39312"/>
            <a:ext cx="1737360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隔离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493008"/>
            <a:ext cx="8183879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3639312"/>
            <a:ext cx="7726679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02A"/>
                </a:solidFill>
                <a:latin typeface="PingFang SC"/>
              </a:rPr>
              <a:t>holdout 只用于 evaluation，不进入 TWM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97680"/>
            <a:ext cx="1920240" cy="502920"/>
          </a:xfrm>
          <a:prstGeom prst="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443984"/>
            <a:ext cx="1737360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复用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4297680"/>
            <a:ext cx="8183879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808" y="4443984"/>
            <a:ext cx="7726679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7202A"/>
                </a:solidFill>
                <a:latin typeface="PingFang SC"/>
              </a:rPr>
              <a:t>后续 TWM 迭代复用固定 FLUS 输出，避免随机性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86400"/>
            <a:ext cx="99669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B5C8C"/>
                </a:solidFill>
                <a:latin typeface="PingFang SC"/>
              </a:rPr>
              <a:t>公平不等于内部机制完全相同；公平在于数据来源、时间切分、评估目标和 holdout 隔离一致。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TWM vs FLUS 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100-case 对比结果：TWM 强在变化定位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22</a:t>
            </a:r>
          </a:p>
        </p:txBody>
      </p:sp>
      <p:pic>
        <p:nvPicPr>
          <p:cNvPr id="6" name="Picture 5" descr="twm_flus_100case_metri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3276"/>
            <a:ext cx="6858000" cy="32485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207008"/>
            <a:ext cx="3520440" cy="109728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207008"/>
            <a:ext cx="73152" cy="109728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371600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TWM 赢的指标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1773936"/>
            <a:ext cx="320040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Change FoM +0.044707</a:t>
            </a:r>
          </a:p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Change F1 +0.070240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670048"/>
            <a:ext cx="3520440" cy="1097280"/>
          </a:xfrm>
          <a:prstGeom prst="roundRect">
            <a:avLst/>
          </a:prstGeom>
          <a:solidFill>
            <a:srgbClr val="F8ECEB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670048"/>
            <a:ext cx="73152" cy="1097280"/>
          </a:xfrm>
          <a:prstGeom prst="rect">
            <a:avLst/>
          </a:prstGeom>
          <a:solidFill>
            <a:srgbClr val="B74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2834640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TWM 仍落后的指标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236976"/>
            <a:ext cx="320040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OA -0.017399</a:t>
            </a:r>
          </a:p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Kappa -0.039776</a:t>
            </a:r>
          </a:p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Macro-F1 -0.020851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133087"/>
            <a:ext cx="3520440" cy="109728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133087"/>
            <a:ext cx="73152" cy="109728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4297679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结论边界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4700016"/>
            <a:ext cx="3200400" cy="4206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变化预测能力领先；整体地图模拟能力尚未全面领先。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固定变化配额下改进空间排序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为什么 pair topology support contrast 有效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23</a:t>
            </a:r>
          </a:p>
        </p:txBody>
      </p:sp>
      <p:pic>
        <p:nvPicPr>
          <p:cNvPr id="6" name="Picture 5" descr="twm_contrast_chang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7834"/>
            <a:ext cx="6217920" cy="26850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078992"/>
            <a:ext cx="3977639" cy="1078992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078992"/>
            <a:ext cx="73152" cy="1078992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243584"/>
            <a:ext cx="365759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不是增加变化量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1645919"/>
            <a:ext cx="3657599" cy="402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Predicted changes 保持 214,572 不变。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487168"/>
            <a:ext cx="3977639" cy="1078992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487168"/>
            <a:ext cx="73152" cy="1078992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2651760"/>
            <a:ext cx="365759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而是排序更准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3054096"/>
            <a:ext cx="3657599" cy="402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5F6B77"/>
                </a:solidFill>
                <a:latin typeface="PingFang SC"/>
              </a:rPr>
              <a:t>hits +190，false alarms -190，misses -190。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895344"/>
            <a:ext cx="3977639" cy="1078992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895344"/>
            <a:ext cx="73152" cy="1078992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8" y="4059935"/>
            <a:ext cx="365759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PingFang SC"/>
              </a:rPr>
              <a:t>地理空间特性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4462272"/>
            <a:ext cx="3657599" cy="402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对有前沿/邻域支撑的变化加分，对 unsupported cells 降分。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3327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E8A5E"/>
                </a:solidFill>
                <a:latin typeface="PingFang SC"/>
              </a:rPr>
              <a:t>这体现的是 simulator 的 geospatial topology ranking 能力，不是 renderer 或 planner 的能力。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Geospatial World Model 可迁移方向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从 TWM 到其它强 GIS 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4300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43000"/>
            <a:ext cx="73152" cy="132588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自然资源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土地变化 / 生态保护 / 规划管控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14300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1143000"/>
            <a:ext cx="73152" cy="1325880"/>
          </a:xfrm>
          <a:prstGeom prst="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30759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城市治理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70992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城市扩张 / 设施布局 / 人口活动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14300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1143000"/>
            <a:ext cx="73152" cy="132588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0759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农业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0992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作物生长 / 耕地变化 / 产量模拟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7152" y="114300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17152" y="1143000"/>
            <a:ext cx="73152" cy="132588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30759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水利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0992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洪水演进 / 流域调度 / 风险区变化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01752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017520"/>
            <a:ext cx="73152" cy="1325880"/>
          </a:xfrm>
          <a:prstGeom prst="rect">
            <a:avLst/>
          </a:prstGeom>
          <a:solidFill>
            <a:srgbClr val="B74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18211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应急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58444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灾害扩散 / 避难路径 / 资源调度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7872" y="301752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47872" y="3017520"/>
            <a:ext cx="73152" cy="1325880"/>
          </a:xfrm>
          <a:prstGeom prst="rect">
            <a:avLst/>
          </a:prstGeom>
          <a:solidFill>
            <a:srgbClr val="67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318211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交通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58444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路网状态 / 拥堵演化 / 建设影响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301752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82512" y="3017520"/>
            <a:ext cx="73152" cy="132588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18211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能源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58444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选址 / 负荷分布 / 管网风险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17152" y="3017520"/>
            <a:ext cx="2423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17152" y="3017520"/>
            <a:ext cx="73152" cy="132588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18211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生态环境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584448"/>
            <a:ext cx="2103120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F6B77"/>
                </a:solidFill>
                <a:latin typeface="PingFang SC"/>
              </a:rPr>
              <a:t>污染扩散 / 生态修复 / 碳汇评估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40680"/>
            <a:ext cx="104241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7202A"/>
                </a:solidFill>
                <a:latin typeface="PingFang SC"/>
              </a:rPr>
              <a:t>TWM 是自然资源行业实例；Geospatial World Model 是可跨行业复用的技术范式。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系统总架构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MMFE 与 TWM 的端到端关系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783080" cy="150876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057400"/>
            <a:ext cx="160020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  <a:latin typeface="PingFang SC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42032"/>
            <a:ext cx="1508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遥感 / 矢量 / 栅格 / 表格 / 业务规则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50591" y="2587752"/>
            <a:ext cx="347472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07791" y="1828800"/>
            <a:ext cx="1783080" cy="1508760"/>
          </a:xfrm>
          <a:prstGeom prst="roundRect">
            <a:avLst/>
          </a:prstGeom>
          <a:solidFill>
            <a:srgbClr val="EEF7F0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057400"/>
            <a:ext cx="160020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  <a:latin typeface="PingFang SC"/>
              </a:rPr>
              <a:t>MMFE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42032"/>
            <a:ext cx="1508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探测 / 对齐 / 融合 / 质量 / 血缘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8304" y="2587752"/>
            <a:ext cx="347471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75504" y="1828800"/>
            <a:ext cx="1783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2057400"/>
            <a:ext cx="160020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  <a:latin typeface="PingFang SC"/>
              </a:rPr>
              <a:t>Semantic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42032"/>
            <a:ext cx="1508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空间实体 / 时序样本 / 规则证据 / 特征表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86016" y="2587752"/>
            <a:ext cx="347472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43215" y="1828800"/>
            <a:ext cx="1783080" cy="1508760"/>
          </a:xfrm>
          <a:prstGeom prst="roundRect">
            <a:avLst/>
          </a:prstGeom>
          <a:solidFill>
            <a:srgbClr val="FAF3E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5" y="2057400"/>
            <a:ext cx="160020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  <a:latin typeface="PingFang SC"/>
              </a:rPr>
              <a:t>TWM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542032"/>
            <a:ext cx="1508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状态转移 / topology guard / demand allocation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53728" y="2587752"/>
            <a:ext cx="347471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10928" y="1828800"/>
            <a:ext cx="1783080" cy="1508760"/>
          </a:xfrm>
          <a:prstGeom prst="roundRect">
            <a:avLst/>
          </a:prstGeom>
          <a:solidFill>
            <a:srgbClr val="EDF4F8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7" y="2057400"/>
            <a:ext cx="160020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  <a:latin typeface="PingFang SC"/>
              </a:rPr>
              <a:t>Planner &amp;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8944" y="2542032"/>
            <a:ext cx="1508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F6B77"/>
                </a:solidFill>
                <a:latin typeface="PingFang SC"/>
              </a:rPr>
              <a:t>方案比较 / 风险解释 / 审计 / 可视化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251960"/>
            <a:ext cx="10241280" cy="8686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9829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ingFang SC"/>
              </a:rPr>
              <a:t>Data for AI 的落点：数据治理不是终点，模型可消费、可验证、可规划才是闭环。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从平台能力到业务工作流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部门内部可以落地的价值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1234440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99032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数据资产管理升级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01368"/>
            <a:ext cx="4572000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从文件/图层治理升级为 AI-ready 数据产品治理。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234440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73152" cy="1234440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399032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模型验证更严格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801368"/>
            <a:ext cx="4572000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训练、评估、证据边界和适用范围进入统一报告。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63240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63240"/>
            <a:ext cx="73152" cy="1234440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227832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业务推演能力增强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630168"/>
            <a:ext cx="4572000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从查图查数走向变化预测、方案模拟和风险解释。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63240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063240"/>
            <a:ext cx="73152" cy="1234440"/>
          </a:xfrm>
          <a:prstGeom prst="rect">
            <a:avLst/>
          </a:prstGeom>
          <a:solidFill>
            <a:srgbClr val="67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3227832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PingFang SC"/>
              </a:rPr>
              <a:t>Agent 工作流闭环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630168"/>
            <a:ext cx="4572000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F6B77"/>
                </a:solidFill>
                <a:latin typeface="PingFang SC"/>
              </a:rPr>
              <a:t>自然语言入口连接数据治理、模型模拟、规划输出和审计。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12080"/>
            <a:ext cx="104241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B5C8C"/>
                </a:solidFill>
                <a:latin typeface="PingFang SC"/>
              </a:rPr>
              <a:t>建议内部试点：选一个稳定业务场景，先跑 MMFE 数据 contract，再接 TWM simulator 评估闭环。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869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247C7A"/>
                </a:solidFill>
                <a:latin typeface="PingFang SC"/>
              </a:rPr>
              <a:t>从工程可用到模型可信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202A"/>
                </a:solidFill>
                <a:latin typeface="PingFang SC"/>
              </a:rPr>
              <a:t>后续技术路线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B77"/>
                </a:solidFill>
                <a:latin typeface="PingFang SC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243584"/>
            <a:ext cx="384048" cy="310896"/>
          </a:xfrm>
          <a:prstGeom prst="round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293875"/>
            <a:ext cx="27432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133856"/>
            <a:ext cx="98755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1133856"/>
            <a:ext cx="73152" cy="841248"/>
          </a:xfrm>
          <a:prstGeom prst="rect">
            <a:avLst/>
          </a:prstGeom>
          <a:solidFill>
            <a:srgbClr val="1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4208" y="1298448"/>
            <a:ext cx="9372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P1 数据底座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645920"/>
            <a:ext cx="9372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B77"/>
                </a:solidFill>
                <a:latin typeface="PingFang SC"/>
              </a:rPr>
              <a:t>生产级 MMFE lakehouse、语义层、质量与血缘治理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340864"/>
            <a:ext cx="384048" cy="310896"/>
          </a:xfrm>
          <a:prstGeom prst="round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391156"/>
            <a:ext cx="27432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231136"/>
            <a:ext cx="98755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2231136"/>
            <a:ext cx="73152" cy="841248"/>
          </a:xfrm>
          <a:prstGeom prst="rect">
            <a:avLst/>
          </a:prstGeom>
          <a:solidFill>
            <a:srgbClr val="3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" y="2395728"/>
            <a:ext cx="9372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P2 模拟器增强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2743200"/>
            <a:ext cx="9372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B77"/>
                </a:solidFill>
                <a:latin typeface="PingFang SC"/>
              </a:rPr>
              <a:t>region/class-conditioned topology support，学习化替代固定阈值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438144"/>
            <a:ext cx="384048" cy="310896"/>
          </a:xfrm>
          <a:prstGeom prst="round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488436"/>
            <a:ext cx="27432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328415"/>
            <a:ext cx="98755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28415"/>
            <a:ext cx="73152" cy="841248"/>
          </a:xfrm>
          <a:prstGeom prst="rect">
            <a:avLst/>
          </a:prstGeom>
          <a:solidFill>
            <a:srgbClr val="B5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493008"/>
            <a:ext cx="9372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P3 规划闭环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3840479"/>
            <a:ext cx="9372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B77"/>
                </a:solidFill>
                <a:latin typeface="PingFang SC"/>
              </a:rPr>
              <a:t>planner 消费 simulator 输出，形成方案比较和复核任务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535424"/>
            <a:ext cx="384048" cy="310896"/>
          </a:xfrm>
          <a:prstGeom prst="roundRect">
            <a:avLst/>
          </a:prstGeom>
          <a:solidFill>
            <a:srgbClr val="67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585716"/>
            <a:ext cx="27432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425696"/>
            <a:ext cx="98755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4425696"/>
            <a:ext cx="73152" cy="841248"/>
          </a:xfrm>
          <a:prstGeom prst="rect">
            <a:avLst/>
          </a:prstGeom>
          <a:solidFill>
            <a:srgbClr val="67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64208" y="4590288"/>
            <a:ext cx="9372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PingFang SC"/>
              </a:rPr>
              <a:t>P4 行业扩展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4937760"/>
            <a:ext cx="9372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B77"/>
                </a:solidFill>
                <a:latin typeface="PingFang SC"/>
              </a:rPr>
              <a:t>从自然资源 TWM 扩展到城市、水利、应急、农业等 GWM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GIS Data Agent / Data for AI 技术交流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98755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</a:rPr>
              <a:t>三个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1148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879092"/>
            <a:ext cx="3017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874519"/>
            <a:ext cx="9235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6EEF5"/>
                </a:solidFill>
                <a:latin typeface="PingFang SC"/>
              </a:rPr>
              <a:t>Data for AI 不是数据平台换名，而是让数据成为模型可消费、可验证的状态观测。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80360"/>
            <a:ext cx="41148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930652"/>
            <a:ext cx="3017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926079"/>
            <a:ext cx="9235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6EEF5"/>
                </a:solidFill>
                <a:latin typeface="PingFang SC"/>
              </a:rPr>
              <a:t>世界模型的关键不是生成画面，而是学习状态、动态和行动后果。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411480" cy="310896"/>
          </a:xfrm>
          <a:prstGeom prst="roundRect">
            <a:avLst/>
          </a:prstGeom>
          <a:solidFill>
            <a:srgbClr val="24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982211"/>
            <a:ext cx="301752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977639"/>
            <a:ext cx="9235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6EEF5"/>
                </a:solidFill>
                <a:latin typeface="PingFang SC"/>
              </a:rPr>
              <a:t>TWM 是自然资源行业 GWM 实例；当前优势在 simulator 的变化预测能力。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讨论：如何选择一个部门场景，把 MMFE 数据治理和 TWM 模拟器接成可复核闭环？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56248"/>
            <a:ext cx="704088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B77"/>
                </a:solidFill>
                <a:latin typeface="PingFang SC"/>
              </a:rPr>
              <a:t>References: Ha &amp; Schmidhuber 2018; DreamerV3 2023/2024; Genie 2024; GameNGen 2024; GAIA-1 2023; AlphaEarth Foundations 2025; GIS Data Agent local 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