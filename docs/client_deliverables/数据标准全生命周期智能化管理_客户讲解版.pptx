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9"/>
          </a:solidFill>
          <a:ln w="10160">
            <a:solidFill>
              <a:srgbClr val="F7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85800"/>
            <a:ext cx="2834640" cy="73152"/>
          </a:xfrm>
          <a:prstGeom prst="rect">
            <a:avLst/>
          </a:prstGeom>
          <a:solidFill>
            <a:srgbClr val="10765B"/>
          </a:solidFill>
          <a:ln w="10160">
            <a:solidFill>
              <a:srgbClr val="10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9875520" cy="6858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3400" b="1">
                <a:solidFill>
                  <a:srgbClr val="1A232D"/>
                </a:solidFill>
                <a:latin typeface="Microsoft YaHei"/>
              </a:rPr>
              <a:t>数据标准全生命周期智能化管理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9601200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000" b="1">
                <a:solidFill>
                  <a:srgbClr val="10765B"/>
                </a:solidFill>
                <a:latin typeface="Microsoft YaHei"/>
              </a:rPr>
              <a:t>把标准从静态文档变成可治理、可追溯、可驱动下游系统的数字资产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07792"/>
            <a:ext cx="8138160" cy="137160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800" b="0">
                <a:solidFill>
                  <a:srgbClr val="1A232D"/>
                </a:solidFill>
                <a:latin typeface="Microsoft YaHei"/>
              </a:rPr>
              <a:t>面向自然资源、测绘地理信息、国土空间规划等标准密集型业务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800" b="0">
                <a:solidFill>
                  <a:srgbClr val="1A232D"/>
                </a:solidFill>
                <a:latin typeface="Microsoft YaHei"/>
              </a:rPr>
              <a:t>覆盖采集、结构化、起草、审定、发布、派生、变更治理和共享复用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800" b="0">
                <a:solidFill>
                  <a:srgbClr val="1A232D"/>
                </a:solidFill>
                <a:latin typeface="Microsoft YaHei"/>
              </a:rPr>
              <a:t>让标准成为语义层、数据质检、缺陷分类、数据建模的单一权威源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4919472"/>
            <a:ext cx="27432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56632"/>
            <a:ext cx="224028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600" b="1">
                <a:solidFill>
                  <a:srgbClr val="10765B"/>
                </a:solidFill>
                <a:latin typeface="Microsoft YaHei"/>
              </a:rPr>
              <a:t>标准可用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13248"/>
            <a:ext cx="233172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>
                <a:solidFill>
                  <a:srgbClr val="5C6976"/>
                </a:solidFill>
                <a:latin typeface="Microsoft YaHei"/>
              </a:rPr>
              <a:t>条款、术语、数据元、值域结构化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95928" y="4919472"/>
            <a:ext cx="27432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5056632"/>
            <a:ext cx="224028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600" b="1">
                <a:solidFill>
                  <a:srgbClr val="235386"/>
                </a:solidFill>
                <a:latin typeface="Microsoft YaHei"/>
              </a:rPr>
              <a:t>治理可控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5413248"/>
            <a:ext cx="233172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>
                <a:solidFill>
                  <a:srgbClr val="5C6976"/>
                </a:solidFill>
                <a:latin typeface="Microsoft YaHei"/>
              </a:rPr>
              <a:t>审定、版本、影响分析、回滚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048" y="4919472"/>
            <a:ext cx="27432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5056632"/>
            <a:ext cx="224028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600" b="1">
                <a:solidFill>
                  <a:srgbClr val="B4772C"/>
                </a:solidFill>
                <a:latin typeface="Microsoft YaHei"/>
              </a:rPr>
              <a:t>下游可驱动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5413248"/>
            <a:ext cx="233172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>
                <a:solidFill>
                  <a:srgbClr val="5C6976"/>
                </a:solidFill>
                <a:latin typeface="Microsoft YaHei"/>
              </a:rPr>
              <a:t>语义层、质检规则、数据模型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77824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800" b="1">
                <a:solidFill>
                  <a:srgbClr val="10765B"/>
                </a:solidFill>
                <a:latin typeface="Microsoft YaHei"/>
              </a:rPr>
              <a:t>为什么需要这套能力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19456"/>
            <a:ext cx="164592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1000" b="0">
                <a:solidFill>
                  <a:srgbClr val="5C6976"/>
                </a:solidFill>
                <a:latin typeface="Microsoft YaHei"/>
              </a:rPr>
              <a:t>客户讲解版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8368"/>
            <a:ext cx="11155680" cy="0"/>
          </a:xfrm>
          <a:prstGeom prst="line">
            <a:avLst/>
          </a:prstGeom>
          <a:ln>
            <a:solidFill>
              <a:srgbClr val="DA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GIS Data Agent · 数据标准全生命周期智能化管理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8229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5029200" cy="4572000"/>
          </a:xfrm>
          <a:prstGeom prst="roundRect">
            <a:avLst/>
          </a:prstGeom>
          <a:solidFill>
            <a:srgbClr val="FAF3E6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417320"/>
            <a:ext cx="4389120" cy="34747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200" b="1">
                <a:solidFill>
                  <a:srgbClr val="994744"/>
                </a:solidFill>
                <a:latin typeface="Microsoft YaHei"/>
              </a:rPr>
              <a:t>传统痛点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057400"/>
            <a:ext cx="4434840" cy="26517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1A232D"/>
                </a:solidFill>
                <a:latin typeface="Microsoft YaHei"/>
              </a:rPr>
              <a:t>标准散落在 Word、PDF、XMI 和人工经验中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1A232D"/>
                </a:solidFill>
                <a:latin typeface="Microsoft YaHei"/>
              </a:rPr>
              <a:t>字段命名、值域解释、质检规则靠专家手工落地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1A232D"/>
                </a:solidFill>
                <a:latin typeface="Microsoft YaHei"/>
              </a:rPr>
              <a:t>标准升版后，下游影响面难以排查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1A232D"/>
                </a:solidFill>
                <a:latin typeface="Microsoft YaHei"/>
              </a:rPr>
              <a:t>智能问数/NL2SQL 缺少稳定的业务语义依据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097280"/>
            <a:ext cx="5029200" cy="4572000"/>
          </a:xfrm>
          <a:prstGeom prst="roundRect">
            <a:avLst/>
          </a:prstGeom>
          <a:solidFill>
            <a:srgbClr val="E8F6E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1417320"/>
            <a:ext cx="4389120" cy="34747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200" b="1">
                <a:solidFill>
                  <a:srgbClr val="10765B"/>
                </a:solidFill>
                <a:latin typeface="Microsoft YaHei"/>
              </a:rPr>
              <a:t>建设目标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2057400"/>
            <a:ext cx="4434840" cy="26517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1A232D"/>
                </a:solidFill>
                <a:latin typeface="Microsoft YaHei"/>
              </a:rPr>
              <a:t>把标准结构化为可计算的条款、术语、数据元和值域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1A232D"/>
                </a:solidFill>
                <a:latin typeface="Microsoft YaHei"/>
              </a:rPr>
              <a:t>把标准审定、发布、版本和引用追溯纳入系统流程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1A232D"/>
                </a:solidFill>
                <a:latin typeface="Microsoft YaHei"/>
              </a:rPr>
              <a:t>让标准自动驱动语义层、质检规则和数据模型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1A232D"/>
                </a:solidFill>
                <a:latin typeface="Microsoft YaHei"/>
              </a:rPr>
              <a:t>形成跨部门可共享、可订阅、可审核运营的标准资产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77824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800" b="1">
                <a:solidFill>
                  <a:srgbClr val="10765B"/>
                </a:solidFill>
                <a:latin typeface="Microsoft YaHei"/>
              </a:rPr>
              <a:t>设计思想：标准即单一权威源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19456"/>
            <a:ext cx="164592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1000" b="0">
                <a:solidFill>
                  <a:srgbClr val="5C6976"/>
                </a:solidFill>
                <a:latin typeface="Microsoft YaHei"/>
              </a:rPr>
              <a:t>客户讲解版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8368"/>
            <a:ext cx="11155680" cy="0"/>
          </a:xfrm>
          <a:prstGeom prst="line">
            <a:avLst/>
          </a:prstGeom>
          <a:ln>
            <a:solidFill>
              <a:srgbClr val="DA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GIS Data Agent · 数据标准全生命周期智能化管理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8229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324612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25880"/>
            <a:ext cx="274320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700" b="1">
                <a:solidFill>
                  <a:srgbClr val="10765B"/>
                </a:solidFill>
                <a:latin typeface="Microsoft YaHei"/>
              </a:rPr>
              <a:t>单一权威源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709928"/>
            <a:ext cx="2788920" cy="47548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0">
                <a:solidFill>
                  <a:srgbClr val="1A232D"/>
                </a:solidFill>
                <a:latin typeface="Microsoft YaHei"/>
              </a:rPr>
              <a:t>标准条款是语义、规则和模型的源头，不让下游反向污染标准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143000"/>
            <a:ext cx="324612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325880"/>
            <a:ext cx="274320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700" b="1">
                <a:solidFill>
                  <a:srgbClr val="10765B"/>
                </a:solidFill>
                <a:latin typeface="Microsoft YaHei"/>
              </a:rPr>
              <a:t>条款级粒度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1709928"/>
            <a:ext cx="2788920" cy="47548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0">
                <a:solidFill>
                  <a:srgbClr val="1A232D"/>
                </a:solidFill>
                <a:latin typeface="Microsoft YaHei"/>
              </a:rPr>
              <a:t>所有引用、编辑、审定、影响分析都精确到条款和数据元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143000"/>
            <a:ext cx="324612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1325880"/>
            <a:ext cx="274320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700" b="1">
                <a:solidFill>
                  <a:srgbClr val="10765B"/>
                </a:solidFill>
                <a:latin typeface="Microsoft YaHei"/>
              </a:rPr>
              <a:t>显式派生链路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1709928"/>
            <a:ext cx="2788920" cy="47548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0">
                <a:solidFill>
                  <a:srgbClr val="1A232D"/>
                </a:solidFill>
                <a:latin typeface="Microsoft YaHei"/>
              </a:rPr>
              <a:t>用派生血缘记录标准到语义、规则、缺陷和模型的关系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136392"/>
            <a:ext cx="324612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319272"/>
            <a:ext cx="274320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700" b="1">
                <a:solidFill>
                  <a:srgbClr val="10765B"/>
                </a:solidFill>
                <a:latin typeface="Microsoft YaHei"/>
              </a:rPr>
              <a:t>人机协同治理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703320"/>
            <a:ext cx="2788920" cy="47548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0">
                <a:solidFill>
                  <a:srgbClr val="1A232D"/>
                </a:solidFill>
                <a:latin typeface="Microsoft YaHei"/>
              </a:rPr>
              <a:t>专家负责判断，系统负责结构化、校验、追溯和影响分析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136392"/>
            <a:ext cx="324612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1728" y="3319272"/>
            <a:ext cx="274320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700" b="1">
                <a:solidFill>
                  <a:srgbClr val="10765B"/>
                </a:solidFill>
                <a:latin typeface="Microsoft YaHei"/>
              </a:rPr>
              <a:t>柔性变更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3703320"/>
            <a:ext cx="2788920" cy="47548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0">
                <a:solidFill>
                  <a:srgbClr val="1A232D"/>
                </a:solidFill>
                <a:latin typeface="Microsoft YaHei"/>
              </a:rPr>
              <a:t>换版后旧派生不直接删除，而是 stale，给业务平滑过渡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3136392"/>
            <a:ext cx="324612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6488" y="3319272"/>
            <a:ext cx="274320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700" b="1">
                <a:solidFill>
                  <a:srgbClr val="10765B"/>
                </a:solidFill>
                <a:latin typeface="Microsoft YaHei"/>
              </a:rPr>
              <a:t>渐进接入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3703320"/>
            <a:ext cx="2788920" cy="47548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0">
                <a:solidFill>
                  <a:srgbClr val="1A232D"/>
                </a:solidFill>
                <a:latin typeface="Microsoft YaHei"/>
              </a:rPr>
              <a:t>不要求一次替换存量系统，可先接入标准、语义或质检其中一环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77824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800" b="1">
                <a:solidFill>
                  <a:srgbClr val="10765B"/>
                </a:solidFill>
                <a:latin typeface="Microsoft YaHei"/>
              </a:rPr>
              <a:t>总体架构：业务工作台 + 生命周期服务 + 标准资产库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19456"/>
            <a:ext cx="164592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1000" b="0">
                <a:solidFill>
                  <a:srgbClr val="5C6976"/>
                </a:solidFill>
                <a:latin typeface="Microsoft YaHei"/>
              </a:rPr>
              <a:t>客户讲解版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8368"/>
            <a:ext cx="11155680" cy="0"/>
          </a:xfrm>
          <a:prstGeom prst="line">
            <a:avLst/>
          </a:prstGeom>
          <a:ln>
            <a:solidFill>
              <a:srgbClr val="DA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GIS Data Agent · 数据标准全生命周期智能化管理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8229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960120"/>
            <a:ext cx="10058400" cy="530352"/>
          </a:xfrm>
          <a:prstGeom prst="roundRect">
            <a:avLst/>
          </a:prstGeom>
          <a:solidFill>
            <a:srgbClr val="E8F6E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088136"/>
            <a:ext cx="155448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400" b="1">
                <a:solidFill>
                  <a:srgbClr val="10765B"/>
                </a:solidFill>
                <a:latin typeface="Microsoft YaHei"/>
              </a:rPr>
              <a:t>客户工作台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088136"/>
            <a:ext cx="768096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0">
                <a:solidFill>
                  <a:srgbClr val="1A232D"/>
                </a:solidFill>
                <a:latin typeface="Microsoft YaHei"/>
              </a:rPr>
              <a:t>采集、分析、起草、审定、发布、派生、市场共享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719072"/>
            <a:ext cx="100584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847088"/>
            <a:ext cx="155448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400" b="1">
                <a:solidFill>
                  <a:srgbClr val="10765B"/>
                </a:solidFill>
                <a:latin typeface="Microsoft YaHei"/>
              </a:rPr>
              <a:t>生命周期服务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847088"/>
            <a:ext cx="768096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0">
                <a:solidFill>
                  <a:srgbClr val="1A232D"/>
                </a:solidFill>
                <a:latin typeface="Microsoft YaHei"/>
              </a:rPr>
              <a:t>文档结构化、协同编辑、审定流、版本发布、影响分析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478024"/>
            <a:ext cx="10058400" cy="530352"/>
          </a:xfrm>
          <a:prstGeom prst="roundRect">
            <a:avLst/>
          </a:prstGeom>
          <a:solidFill>
            <a:srgbClr val="E8F6E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606040"/>
            <a:ext cx="155448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400" b="1">
                <a:solidFill>
                  <a:srgbClr val="10765B"/>
                </a:solidFill>
                <a:latin typeface="Microsoft YaHei"/>
              </a:rPr>
              <a:t>派生引擎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606040"/>
            <a:ext cx="768096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0">
                <a:solidFill>
                  <a:srgbClr val="1A232D"/>
                </a:solidFill>
                <a:latin typeface="Microsoft YaHei"/>
              </a:rPr>
              <a:t>标准 → 语义层 / 质检规则 / 缺陷分类 / 数据模型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236976"/>
            <a:ext cx="100584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364992"/>
            <a:ext cx="155448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400" b="1">
                <a:solidFill>
                  <a:srgbClr val="10765B"/>
                </a:solidFill>
                <a:latin typeface="Microsoft YaHei"/>
              </a:rPr>
              <a:t>标准资产库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364992"/>
            <a:ext cx="768096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0">
                <a:solidFill>
                  <a:srgbClr val="1A232D"/>
                </a:solidFill>
                <a:latin typeface="Microsoft YaHei"/>
              </a:rPr>
              <a:t>条款、术语、数据元、值域、版本、引用、派生血缘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995928"/>
            <a:ext cx="100584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123944"/>
            <a:ext cx="155448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400" b="1">
                <a:solidFill>
                  <a:srgbClr val="10765B"/>
                </a:solidFill>
                <a:latin typeface="Microsoft YaHei"/>
              </a:rPr>
              <a:t>异步治理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123944"/>
            <a:ext cx="768096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0">
                <a:solidFill>
                  <a:srgbClr val="1A232D"/>
                </a:solidFill>
                <a:latin typeface="Microsoft YaHei"/>
              </a:rPr>
              <a:t>Outbox 事件、失败重试、回滚、stale 状态管理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754879"/>
            <a:ext cx="10058400" cy="530352"/>
          </a:xfrm>
          <a:prstGeom prst="roundRect">
            <a:avLst/>
          </a:prstGeom>
          <a:solidFill>
            <a:srgbClr val="E8F6E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882895"/>
            <a:ext cx="155448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400" b="1">
                <a:solidFill>
                  <a:srgbClr val="10765B"/>
                </a:solidFill>
                <a:latin typeface="Microsoft YaHei"/>
              </a:rPr>
              <a:t>下游系统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4882895"/>
            <a:ext cx="768096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0">
                <a:solidFill>
                  <a:srgbClr val="1A232D"/>
                </a:solidFill>
                <a:latin typeface="Microsoft YaHei"/>
              </a:rPr>
              <a:t>NL2SQL、数据质检、数据建模、元数据治理、跨部门共享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77824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800" b="1">
                <a:solidFill>
                  <a:srgbClr val="10765B"/>
                </a:solidFill>
                <a:latin typeface="Microsoft YaHei"/>
              </a:rPr>
              <a:t>使用流程：一份标准如何完成全生命周期管理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19456"/>
            <a:ext cx="164592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1000" b="0">
                <a:solidFill>
                  <a:srgbClr val="5C6976"/>
                </a:solidFill>
                <a:latin typeface="Microsoft YaHei"/>
              </a:rPr>
              <a:t>客户讲解版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8368"/>
            <a:ext cx="11155680" cy="0"/>
          </a:xfrm>
          <a:prstGeom prst="line">
            <a:avLst/>
          </a:prstGeom>
          <a:ln>
            <a:solidFill>
              <a:srgbClr val="DA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GIS Data Agent · 数据标准全生命周期智能化管理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8229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43000"/>
            <a:ext cx="24231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89304"/>
            <a:ext cx="438912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000" b="1">
                <a:solidFill>
                  <a:srgbClr val="10765B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1016" y="1325880"/>
            <a:ext cx="169164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700" b="1">
                <a:solidFill>
                  <a:srgbClr val="1A232D"/>
                </a:solidFill>
                <a:latin typeface="Microsoft YaHei"/>
              </a:rPr>
              <a:t>采集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819656"/>
            <a:ext cx="1993392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>
                <a:solidFill>
                  <a:srgbClr val="5C6976"/>
                </a:solidFill>
                <a:latin typeface="Microsoft YaHei"/>
              </a:rPr>
              <a:t>上传标准文档、XMI 或录入企业标准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143000"/>
            <a:ext cx="24231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289304"/>
            <a:ext cx="438912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000" b="1">
                <a:solidFill>
                  <a:srgbClr val="10765B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51376" y="1325880"/>
            <a:ext cx="169164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700" b="1">
                <a:solidFill>
                  <a:srgbClr val="1A232D"/>
                </a:solidFill>
                <a:latin typeface="Microsoft YaHei"/>
              </a:rPr>
              <a:t>结构化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8" y="1819656"/>
            <a:ext cx="1993392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>
                <a:solidFill>
                  <a:srgbClr val="5C6976"/>
                </a:solidFill>
                <a:latin typeface="Microsoft YaHei"/>
              </a:rPr>
              <a:t>抽取条款树、术语、数据元、值域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143000"/>
            <a:ext cx="24231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1289304"/>
            <a:ext cx="438912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000" b="1">
                <a:solidFill>
                  <a:srgbClr val="10765B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1736" y="1325880"/>
            <a:ext cx="169164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700" b="1">
                <a:solidFill>
                  <a:srgbClr val="1A232D"/>
                </a:solidFill>
                <a:latin typeface="Microsoft YaHei"/>
              </a:rPr>
              <a:t>起草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1819656"/>
            <a:ext cx="1993392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>
                <a:solidFill>
                  <a:srgbClr val="5C6976"/>
                </a:solidFill>
                <a:latin typeface="Microsoft YaHei"/>
              </a:rPr>
              <a:t>专家在线编辑、引用标准、锁定条款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143000"/>
            <a:ext cx="24231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0032" y="1289304"/>
            <a:ext cx="438912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000" b="1">
                <a:solidFill>
                  <a:srgbClr val="10765B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12096" y="1325880"/>
            <a:ext cx="169164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700" b="1">
                <a:solidFill>
                  <a:srgbClr val="1A232D"/>
                </a:solidFill>
                <a:latin typeface="Microsoft YaHei"/>
              </a:rPr>
              <a:t>审定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6608" y="1819656"/>
            <a:ext cx="1993392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>
                <a:solidFill>
                  <a:srgbClr val="5C6976"/>
                </a:solidFill>
                <a:latin typeface="Microsoft YaHei"/>
              </a:rPr>
              <a:t>发起审定、评论、引用核验、形成结论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291840"/>
            <a:ext cx="24231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438144"/>
            <a:ext cx="438912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000" b="1">
                <a:solidFill>
                  <a:srgbClr val="10765B"/>
                </a:solidFill>
                <a:latin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1016" y="3474720"/>
            <a:ext cx="169164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700" b="1">
                <a:solidFill>
                  <a:srgbClr val="1A232D"/>
                </a:solidFill>
                <a:latin typeface="Microsoft YaHei"/>
              </a:rPr>
              <a:t>发布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3968496"/>
            <a:ext cx="1993392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>
                <a:solidFill>
                  <a:srgbClr val="5C6976"/>
                </a:solidFill>
                <a:latin typeface="Microsoft YaHei"/>
              </a:rPr>
              <a:t>生成版本快照，进入 released 状态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3291840"/>
            <a:ext cx="24231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9312" y="3438144"/>
            <a:ext cx="438912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000" b="1">
                <a:solidFill>
                  <a:srgbClr val="10765B"/>
                </a:solidFill>
                <a:latin typeface="Microsoft YaHe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51376" y="3474720"/>
            <a:ext cx="169164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700" b="1">
                <a:solidFill>
                  <a:srgbClr val="1A232D"/>
                </a:solidFill>
                <a:latin typeface="Microsoft YaHei"/>
              </a:rPr>
              <a:t>派生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75888" y="3968496"/>
            <a:ext cx="1993392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>
                <a:solidFill>
                  <a:srgbClr val="5C6976"/>
                </a:solidFill>
                <a:latin typeface="Microsoft YaHei"/>
              </a:rPr>
              <a:t>生成语义提示、质检规则、缺陷码、数据模型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3291840"/>
            <a:ext cx="24231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9672" y="3438144"/>
            <a:ext cx="438912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000" b="1">
                <a:solidFill>
                  <a:srgbClr val="10765B"/>
                </a:solidFill>
                <a:latin typeface="Microsoft YaHe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31736" y="3474720"/>
            <a:ext cx="169164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700" b="1">
                <a:solidFill>
                  <a:srgbClr val="1A232D"/>
                </a:solidFill>
                <a:latin typeface="Microsoft YaHei"/>
              </a:rPr>
              <a:t>治理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6248" y="3968496"/>
            <a:ext cx="1993392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>
                <a:solidFill>
                  <a:srgbClr val="5C6976"/>
                </a:solidFill>
                <a:latin typeface="Microsoft YaHei"/>
              </a:rPr>
              <a:t>影响分析、回滚、stale 标记、跨版本对比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3291840"/>
            <a:ext cx="24231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00032" y="3438144"/>
            <a:ext cx="438912" cy="31089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000" b="1">
                <a:solidFill>
                  <a:srgbClr val="10765B"/>
                </a:solidFill>
                <a:latin typeface="Microsoft YaHe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12096" y="3474720"/>
            <a:ext cx="169164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700" b="1">
                <a:solidFill>
                  <a:srgbClr val="1A232D"/>
                </a:solidFill>
                <a:latin typeface="Microsoft YaHei"/>
              </a:rPr>
              <a:t>共享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36608" y="3968496"/>
            <a:ext cx="1993392" cy="4114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>
                <a:solidFill>
                  <a:srgbClr val="5C6976"/>
                </a:solidFill>
                <a:latin typeface="Microsoft YaHei"/>
              </a:rPr>
              <a:t>市场目录、订阅、审核、组织级可见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77824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800" b="1">
                <a:solidFill>
                  <a:srgbClr val="10765B"/>
                </a:solidFill>
                <a:latin typeface="Microsoft YaHei"/>
              </a:rPr>
              <a:t>核心对象：把标准拆成可治理的数据资产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19456"/>
            <a:ext cx="164592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1000" b="0">
                <a:solidFill>
                  <a:srgbClr val="5C6976"/>
                </a:solidFill>
                <a:latin typeface="Microsoft YaHei"/>
              </a:rPr>
              <a:t>客户讲解版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8368"/>
            <a:ext cx="11155680" cy="0"/>
          </a:xfrm>
          <a:prstGeom prst="line">
            <a:avLst/>
          </a:prstGeom>
          <a:ln>
            <a:solidFill>
              <a:srgbClr val="DA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GIS Data Agent · 数据标准全生命周期智能化管理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8229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87552"/>
            <a:ext cx="1600200" cy="384048"/>
          </a:xfrm>
          <a:prstGeom prst="rect">
            <a:avLst/>
          </a:prstGeom>
          <a:solidFill>
            <a:srgbClr val="10765B"/>
          </a:solidFill>
          <a:ln w="10160">
            <a:solidFill>
              <a:srgbClr val="10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069848"/>
            <a:ext cx="146304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对象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987552"/>
            <a:ext cx="2971800" cy="384048"/>
          </a:xfrm>
          <a:prstGeom prst="rect">
            <a:avLst/>
          </a:prstGeom>
          <a:solidFill>
            <a:srgbClr val="10765B"/>
          </a:solidFill>
          <a:ln w="10160">
            <a:solidFill>
              <a:srgbClr val="10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13432" y="1069848"/>
            <a:ext cx="283464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表/模块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987552"/>
            <a:ext cx="6903720" cy="384048"/>
          </a:xfrm>
          <a:prstGeom prst="rect">
            <a:avLst/>
          </a:prstGeom>
          <a:solidFill>
            <a:srgbClr val="10765B"/>
          </a:solidFill>
          <a:ln w="10160">
            <a:solidFill>
              <a:srgbClr val="10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85232" y="1069848"/>
            <a:ext cx="67665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作用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371600"/>
            <a:ext cx="16002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499616"/>
            <a:ext cx="146304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1">
                <a:solidFill>
                  <a:srgbClr val="1A232D"/>
                </a:solidFill>
                <a:latin typeface="Microsoft YaHei"/>
              </a:rPr>
              <a:t>标准文档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1371600"/>
            <a:ext cx="29718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13432" y="1499616"/>
            <a:ext cx="283464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0">
                <a:solidFill>
                  <a:srgbClr val="1A232D"/>
                </a:solidFill>
                <a:latin typeface="Microsoft YaHei"/>
              </a:rPr>
              <a:t>std_document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1371600"/>
            <a:ext cx="69037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5232" y="1499616"/>
            <a:ext cx="676656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>
                <a:solidFill>
                  <a:srgbClr val="1A232D"/>
                </a:solidFill>
                <a:latin typeface="Microsoft YaHei"/>
              </a:rPr>
              <a:t>标准资产入口，记录来源、编码、标题、标签和负责人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938528"/>
            <a:ext cx="16002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2066544"/>
            <a:ext cx="146304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1">
                <a:solidFill>
                  <a:srgbClr val="1A232D"/>
                </a:solidFill>
                <a:latin typeface="Microsoft YaHei"/>
              </a:rPr>
              <a:t>标准版本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0280" y="1938528"/>
            <a:ext cx="29718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13432" y="2066544"/>
            <a:ext cx="283464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0">
                <a:solidFill>
                  <a:srgbClr val="1A232D"/>
                </a:solidFill>
                <a:latin typeface="Microsoft YaHei"/>
              </a:rPr>
              <a:t>std_document_version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0" y="1938528"/>
            <a:ext cx="69037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85232" y="2066544"/>
            <a:ext cx="676656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>
                <a:solidFill>
                  <a:srgbClr val="1A232D"/>
                </a:solidFill>
                <a:latin typeface="Microsoft YaHei"/>
              </a:rPr>
              <a:t>每次起草、审定、发布都形成可追溯版本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505456"/>
            <a:ext cx="16002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2633472"/>
            <a:ext cx="146304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1">
                <a:solidFill>
                  <a:srgbClr val="1A232D"/>
                </a:solidFill>
                <a:latin typeface="Microsoft YaHei"/>
              </a:rPr>
              <a:t>条款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40280" y="2505456"/>
            <a:ext cx="29718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13432" y="2633472"/>
            <a:ext cx="283464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0">
                <a:solidFill>
                  <a:srgbClr val="1A232D"/>
                </a:solidFill>
                <a:latin typeface="Microsoft YaHei"/>
              </a:rPr>
              <a:t>std_clause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80" y="2505456"/>
            <a:ext cx="69037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85232" y="2633472"/>
            <a:ext cx="676656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>
                <a:solidFill>
                  <a:srgbClr val="1A232D"/>
                </a:solidFill>
                <a:latin typeface="Microsoft YaHei"/>
              </a:rPr>
              <a:t>树形条款路径，是引用、审定和影响分析的最小单位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072383"/>
            <a:ext cx="16002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3200399"/>
            <a:ext cx="146304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1">
                <a:solidFill>
                  <a:srgbClr val="1A232D"/>
                </a:solidFill>
                <a:latin typeface="Microsoft YaHei"/>
              </a:rPr>
              <a:t>术语/数据元/值域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3072383"/>
            <a:ext cx="29718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13432" y="3200399"/>
            <a:ext cx="283464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0">
                <a:solidFill>
                  <a:srgbClr val="1A232D"/>
                </a:solidFill>
                <a:latin typeface="Microsoft YaHei"/>
              </a:rPr>
              <a:t>std_term / std_data_element / std_value_domain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80" y="3072383"/>
            <a:ext cx="69037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85232" y="3200399"/>
            <a:ext cx="676656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>
                <a:solidFill>
                  <a:srgbClr val="1A232D"/>
                </a:solidFill>
                <a:latin typeface="Microsoft YaHei"/>
              </a:rPr>
              <a:t>承载业务语义、字段定义、取值范围和约束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3639312"/>
            <a:ext cx="16002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3767328"/>
            <a:ext cx="146304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1">
                <a:solidFill>
                  <a:srgbClr val="1A232D"/>
                </a:solidFill>
                <a:latin typeface="Microsoft YaHei"/>
              </a:rPr>
              <a:t>审定记录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40280" y="3639312"/>
            <a:ext cx="29718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13432" y="3767328"/>
            <a:ext cx="283464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0">
                <a:solidFill>
                  <a:srgbClr val="1A232D"/>
                </a:solidFill>
                <a:latin typeface="Microsoft YaHei"/>
              </a:rPr>
              <a:t>std_review_*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0" y="3639312"/>
            <a:ext cx="69037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85232" y="3767328"/>
            <a:ext cx="676656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>
                <a:solidFill>
                  <a:srgbClr val="1A232D"/>
                </a:solidFill>
                <a:latin typeface="Microsoft YaHei"/>
              </a:rPr>
              <a:t>记录审定 round、评论、引用核验和结论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4206240"/>
            <a:ext cx="16002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4334256"/>
            <a:ext cx="146304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1">
                <a:solidFill>
                  <a:srgbClr val="1A232D"/>
                </a:solidFill>
                <a:latin typeface="Microsoft YaHei"/>
              </a:rPr>
              <a:t>派生血缘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40280" y="4206240"/>
            <a:ext cx="29718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13432" y="4334256"/>
            <a:ext cx="283464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0">
                <a:solidFill>
                  <a:srgbClr val="1A232D"/>
                </a:solidFill>
                <a:latin typeface="Microsoft YaHei"/>
              </a:rPr>
              <a:t>std_derived_link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12080" y="4206240"/>
            <a:ext cx="69037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85232" y="4334256"/>
            <a:ext cx="676656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>
                <a:solidFill>
                  <a:srgbClr val="1A232D"/>
                </a:solidFill>
                <a:latin typeface="Microsoft YaHei"/>
              </a:rPr>
              <a:t>追踪标准到语义层、规则、缺陷和模型的派生关系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4773167"/>
            <a:ext cx="16002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4901183"/>
            <a:ext cx="146304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1">
                <a:solidFill>
                  <a:srgbClr val="1A232D"/>
                </a:solidFill>
                <a:latin typeface="Microsoft YaHei"/>
              </a:rPr>
              <a:t>市场资产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40280" y="4773167"/>
            <a:ext cx="29718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13432" y="4901183"/>
            <a:ext cx="283464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0">
                <a:solidFill>
                  <a:srgbClr val="1A232D"/>
                </a:solidFill>
                <a:latin typeface="Microsoft YaHei"/>
              </a:rPr>
              <a:t>std_market_*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12080" y="4773167"/>
            <a:ext cx="69037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85232" y="4901183"/>
            <a:ext cx="676656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>
                <a:solidFill>
                  <a:srgbClr val="1A232D"/>
                </a:solidFill>
                <a:latin typeface="Microsoft YaHei"/>
              </a:rPr>
              <a:t>支持目录、订阅、审核和组织级可见性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77824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800" b="1">
                <a:solidFill>
                  <a:srgbClr val="10765B"/>
                </a:solidFill>
                <a:latin typeface="Microsoft YaHei"/>
              </a:rPr>
              <a:t>阶段一：采集与结构化分析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19456"/>
            <a:ext cx="164592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1000" b="0">
                <a:solidFill>
                  <a:srgbClr val="5C6976"/>
                </a:solidFill>
                <a:latin typeface="Microsoft YaHei"/>
              </a:rPr>
              <a:t>客户讲解版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8368"/>
            <a:ext cx="11155680" cy="0"/>
          </a:xfrm>
          <a:prstGeom prst="line">
            <a:avLst/>
          </a:prstGeom>
          <a:ln>
            <a:solidFill>
              <a:srgbClr val="DA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GIS Data Agent · 数据标准全生命周期智能化管理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8229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315468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353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36192"/>
            <a:ext cx="2560320" cy="3200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000" b="1">
                <a:solidFill>
                  <a:srgbClr val="235386"/>
                </a:solidFill>
                <a:latin typeface="Microsoft YaHei"/>
              </a:rPr>
              <a:t>输入来源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76272"/>
            <a:ext cx="2651760" cy="237744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1A232D"/>
                </a:solidFill>
                <a:latin typeface="Microsoft YaHei"/>
              </a:rPr>
              <a:t>国家/行业/地方/企业标准文档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1A232D"/>
                </a:solidFill>
                <a:latin typeface="Microsoft YaHei"/>
              </a:rPr>
              <a:t>已有 XMI 或内部标准模型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1A232D"/>
                </a:solidFill>
                <a:latin typeface="Microsoft YaHei"/>
              </a:rPr>
              <a:t>互联网公开标准和人工粘贴内容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234440"/>
            <a:ext cx="315468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0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536192"/>
            <a:ext cx="2560320" cy="3200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000" b="1">
                <a:solidFill>
                  <a:srgbClr val="10765B"/>
                </a:solidFill>
                <a:latin typeface="Microsoft YaHei"/>
              </a:rPr>
              <a:t>结构化结果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76272"/>
            <a:ext cx="2651760" cy="237744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1A232D"/>
                </a:solidFill>
                <a:latin typeface="Microsoft YaHei"/>
              </a:rPr>
              <a:t>条款树与章节层级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1A232D"/>
                </a:solidFill>
                <a:latin typeface="Microsoft YaHei"/>
              </a:rPr>
              <a:t>术语和定义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1A232D"/>
                </a:solidFill>
                <a:latin typeface="Microsoft YaHei"/>
              </a:rPr>
              <a:t>数据元、值域、约束、单位、分类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34440"/>
            <a:ext cx="315468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47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536192"/>
            <a:ext cx="2560320" cy="3200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000" b="1">
                <a:solidFill>
                  <a:srgbClr val="B4772C"/>
                </a:solidFill>
                <a:latin typeface="Microsoft YaHei"/>
              </a:rPr>
              <a:t>智能辅助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176272"/>
            <a:ext cx="2651760" cy="237744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1A232D"/>
                </a:solidFill>
                <a:latin typeface="Microsoft YaHei"/>
              </a:rPr>
              <a:t>文档类型识别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1A232D"/>
                </a:solidFill>
                <a:latin typeface="Microsoft YaHei"/>
              </a:rPr>
              <a:t>相似条款检索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1A232D"/>
                </a:solidFill>
                <a:latin typeface="Microsoft YaHei"/>
              </a:rPr>
              <a:t>重复/冲突初步提示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77824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800" b="1">
                <a:solidFill>
                  <a:srgbClr val="10765B"/>
                </a:solidFill>
                <a:latin typeface="Microsoft YaHei"/>
              </a:rPr>
              <a:t>阶段二：专家起草与审定协同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19456"/>
            <a:ext cx="164592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1000" b="0">
                <a:solidFill>
                  <a:srgbClr val="5C6976"/>
                </a:solidFill>
                <a:latin typeface="Microsoft YaHei"/>
              </a:rPr>
              <a:t>客户讲解版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8368"/>
            <a:ext cx="11155680" cy="0"/>
          </a:xfrm>
          <a:prstGeom prst="line">
            <a:avLst/>
          </a:prstGeom>
          <a:ln>
            <a:solidFill>
              <a:srgbClr val="DA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GIS Data Agent · 数据标准全生命周期智能化管理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8229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5029200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0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63040"/>
            <a:ext cx="4206240" cy="3200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200" b="1">
                <a:solidFill>
                  <a:srgbClr val="10765B"/>
                </a:solidFill>
                <a:latin typeface="Microsoft YaHei"/>
              </a:rPr>
              <a:t>起草协同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4297680" cy="237744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1A232D"/>
                </a:solidFill>
                <a:latin typeface="Microsoft YaHei"/>
              </a:rPr>
              <a:t>条款级在线编辑，避免多人覆盖同一段内容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1A232D"/>
                </a:solidFill>
                <a:latin typeface="Microsoft YaHei"/>
              </a:rPr>
              <a:t>引用助手帮助专家插入可追溯引用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1A232D"/>
                </a:solidFill>
                <a:latin typeface="Microsoft YaHei"/>
              </a:rPr>
              <a:t>一致性校验发现术语、数据元、值域冲突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1A232D"/>
                </a:solidFill>
                <a:latin typeface="Microsoft YaHei"/>
              </a:rPr>
              <a:t>编辑过程沉淀为结构化标准资产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43000"/>
            <a:ext cx="4754880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353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463040"/>
            <a:ext cx="4023360" cy="3200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200" b="1">
                <a:solidFill>
                  <a:srgbClr val="235386"/>
                </a:solidFill>
                <a:latin typeface="Microsoft YaHei"/>
              </a:rPr>
              <a:t>审定协同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57400"/>
            <a:ext cx="4023360" cy="237744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1A232D"/>
                </a:solidFill>
                <a:latin typeface="Microsoft YaHei"/>
              </a:rPr>
              <a:t>发起审定 round，明确 reviewer 和审定目标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1A232D"/>
                </a:solidFill>
                <a:latin typeface="Microsoft YaHei"/>
              </a:rPr>
              <a:t>对引用、条款和评论形成闭环处理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1A232D"/>
                </a:solidFill>
                <a:latin typeface="Microsoft YaHei"/>
              </a:rPr>
              <a:t>发布前检查阻塞问题，避免带病发布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1A232D"/>
                </a:solidFill>
                <a:latin typeface="Microsoft YaHei"/>
              </a:rPr>
              <a:t>审定记录保留为后续追溯依据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77824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800" b="1">
                <a:solidFill>
                  <a:srgbClr val="10765B"/>
                </a:solidFill>
                <a:latin typeface="Microsoft YaHei"/>
              </a:rPr>
              <a:t>阶段三：发布后自动驱动下游治理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19456"/>
            <a:ext cx="164592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1000" b="0">
                <a:solidFill>
                  <a:srgbClr val="5C6976"/>
                </a:solidFill>
                <a:latin typeface="Microsoft YaHei"/>
              </a:rPr>
              <a:t>客户讲解版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8368"/>
            <a:ext cx="11155680" cy="0"/>
          </a:xfrm>
          <a:prstGeom prst="line">
            <a:avLst/>
          </a:prstGeom>
          <a:ln>
            <a:solidFill>
              <a:srgbClr val="DA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GIS Data Agent · 数据标准全生命周期智能化管理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8229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78992"/>
            <a:ext cx="1069848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000" b="1">
                <a:solidFill>
                  <a:srgbClr val="10765B"/>
                </a:solidFill>
                <a:latin typeface="Microsoft YaHei"/>
              </a:rPr>
              <a:t>发布不是文档归档，而是触发标准资产对下游系统的统一驱动。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920240"/>
            <a:ext cx="31546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84832"/>
            <a:ext cx="274320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550" b="1">
                <a:solidFill>
                  <a:srgbClr val="10765B"/>
                </a:solidFill>
                <a:latin typeface="Microsoft YaHei"/>
              </a:rPr>
              <a:t>智能问数语义层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450592"/>
            <a:ext cx="2697480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80" b="0">
                <a:solidFill>
                  <a:srgbClr val="1A232D"/>
                </a:solidFill>
                <a:latin typeface="Microsoft YaHei"/>
              </a:rPr>
              <a:t>标准术语、字段含义和值域别名进入 NL2SQL grounding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1920240"/>
            <a:ext cx="31546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2084832"/>
            <a:ext cx="274320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550" b="1">
                <a:solidFill>
                  <a:srgbClr val="10765B"/>
                </a:solidFill>
                <a:latin typeface="Microsoft YaHei"/>
              </a:rPr>
              <a:t>数据质检规则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2450592"/>
            <a:ext cx="2697480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80" b="0">
                <a:solidFill>
                  <a:srgbClr val="1A232D"/>
                </a:solidFill>
                <a:latin typeface="Microsoft YaHei"/>
              </a:rPr>
              <a:t>强制项、枚举、范围、格式约束派生为 QC 规则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1920240"/>
            <a:ext cx="31546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6" y="2084832"/>
            <a:ext cx="274320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550" b="1">
                <a:solidFill>
                  <a:srgbClr val="10765B"/>
                </a:solidFill>
                <a:latin typeface="Microsoft YaHei"/>
              </a:rPr>
              <a:t>缺陷分类体系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6" y="2450592"/>
            <a:ext cx="2697480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80" b="0">
                <a:solidFill>
                  <a:srgbClr val="1A232D"/>
                </a:solidFill>
                <a:latin typeface="Microsoft YaHei"/>
              </a:rPr>
              <a:t>标准约束映射到可统计、可闭环的缺陷编码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611880"/>
            <a:ext cx="31546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776472"/>
            <a:ext cx="274320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550" b="1">
                <a:solidFill>
                  <a:srgbClr val="10765B"/>
                </a:solidFill>
                <a:latin typeface="Microsoft YaHei"/>
              </a:rPr>
              <a:t>数据建模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142232"/>
            <a:ext cx="2697480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80" b="0">
                <a:solidFill>
                  <a:srgbClr val="1A232D"/>
                </a:solidFill>
                <a:latin typeface="Microsoft YaHei"/>
              </a:rPr>
              <a:t>生成 CDM / LDM / PDM，并输出 DDL / XMI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98848" y="3611880"/>
            <a:ext cx="31546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3776472"/>
            <a:ext cx="274320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550" b="1">
                <a:solidFill>
                  <a:srgbClr val="10765B"/>
                </a:solidFill>
                <a:latin typeface="Microsoft YaHei"/>
              </a:rPr>
              <a:t>影响分析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4142232"/>
            <a:ext cx="2697480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80" b="0">
                <a:solidFill>
                  <a:srgbClr val="1A232D"/>
                </a:solidFill>
                <a:latin typeface="Microsoft YaHei"/>
              </a:rPr>
              <a:t>标准升版时识别受影响的条款、数据元和下游派生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47888" y="3611880"/>
            <a:ext cx="31546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49056" y="3776472"/>
            <a:ext cx="274320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550" b="1">
                <a:solidFill>
                  <a:srgbClr val="10765B"/>
                </a:solidFill>
                <a:latin typeface="Microsoft YaHei"/>
              </a:rPr>
              <a:t>回滚与过期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9056" y="4142232"/>
            <a:ext cx="2697480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80" b="0">
                <a:solidFill>
                  <a:srgbClr val="1A232D"/>
                </a:solidFill>
                <a:latin typeface="Microsoft YaHei"/>
              </a:rPr>
              <a:t>旧派生进入 stale 状态，保留业务过渡窗口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77824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800" b="1">
                <a:solidFill>
                  <a:srgbClr val="10765B"/>
                </a:solidFill>
                <a:latin typeface="Microsoft YaHei"/>
              </a:rPr>
              <a:t>变更治理：标准升版时不再靠人工排查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19456"/>
            <a:ext cx="164592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1000" b="0">
                <a:solidFill>
                  <a:srgbClr val="5C6976"/>
                </a:solidFill>
                <a:latin typeface="Microsoft YaHei"/>
              </a:rPr>
              <a:t>客户讲解版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8368"/>
            <a:ext cx="11155680" cy="0"/>
          </a:xfrm>
          <a:prstGeom prst="line">
            <a:avLst/>
          </a:prstGeom>
          <a:ln>
            <a:solidFill>
              <a:srgbClr val="DA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GIS Data Agent · 数据标准全生命周期智能化管理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8229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224028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0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627632"/>
            <a:ext cx="182880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700" b="1">
                <a:solidFill>
                  <a:srgbClr val="10765B"/>
                </a:solidFill>
                <a:latin typeface="Microsoft YaHei"/>
              </a:rPr>
              <a:t>标准换版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993392"/>
            <a:ext cx="182880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100" b="0">
                <a:solidFill>
                  <a:srgbClr val="5C6976"/>
                </a:solidFill>
                <a:latin typeface="Microsoft YaHei"/>
              </a:rPr>
              <a:t>新版本发布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63240" y="1956816"/>
            <a:ext cx="411480" cy="0"/>
          </a:xfrm>
          <a:prstGeom prst="line">
            <a:avLst/>
          </a:prstGeom>
          <a:ln>
            <a:solidFill>
              <a:srgbClr val="DA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11879" y="1417320"/>
            <a:ext cx="224028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0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6471" y="1627632"/>
            <a:ext cx="182880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700" b="1">
                <a:solidFill>
                  <a:srgbClr val="10765B"/>
                </a:solidFill>
                <a:latin typeface="Microsoft YaHei"/>
              </a:rPr>
              <a:t>影响识别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1" y="1993392"/>
            <a:ext cx="182880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100" b="0">
                <a:solidFill>
                  <a:srgbClr val="5C6976"/>
                </a:solidFill>
                <a:latin typeface="Microsoft YaHei"/>
              </a:rPr>
              <a:t>跨标准/跨版本影响图谱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52159" y="1956816"/>
            <a:ext cx="411480" cy="0"/>
          </a:xfrm>
          <a:prstGeom prst="line">
            <a:avLst/>
          </a:prstGeom>
          <a:ln>
            <a:solidFill>
              <a:srgbClr val="DA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0" y="1417320"/>
            <a:ext cx="224028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0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627632"/>
            <a:ext cx="182880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700" b="1">
                <a:solidFill>
                  <a:srgbClr val="10765B"/>
                </a:solidFill>
                <a:latin typeface="Microsoft YaHei"/>
              </a:rPr>
              <a:t>派生处理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1993392"/>
            <a:ext cx="182880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100" b="0">
                <a:solidFill>
                  <a:srgbClr val="5C6976"/>
                </a:solidFill>
                <a:latin typeface="Microsoft YaHei"/>
              </a:rPr>
              <a:t>旧派生 stale，新派生 active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41080" y="1956816"/>
            <a:ext cx="411480" cy="0"/>
          </a:xfrm>
          <a:prstGeom prst="line">
            <a:avLst/>
          </a:prstGeom>
          <a:ln>
            <a:solidFill>
              <a:srgbClr val="DA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89719" y="1417320"/>
            <a:ext cx="224028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0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54311" y="1627632"/>
            <a:ext cx="182880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700" b="1">
                <a:solidFill>
                  <a:srgbClr val="10765B"/>
                </a:solidFill>
                <a:latin typeface="Microsoft YaHei"/>
              </a:rPr>
              <a:t>业务过渡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311" y="1993392"/>
            <a:ext cx="182880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100" b="0">
                <a:solidFill>
                  <a:srgbClr val="5C6976"/>
                </a:solidFill>
                <a:latin typeface="Microsoft YaHei"/>
              </a:rPr>
              <a:t>保留旧规则，按需回滚或切换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657600"/>
            <a:ext cx="9875520" cy="12801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800" b="0">
                <a:solidFill>
                  <a:srgbClr val="1A232D"/>
                </a:solidFill>
                <a:latin typeface="Microsoft YaHei"/>
              </a:rPr>
              <a:t>影响图谱把标准条款、引用关系、相似条款和下游派生连接起来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800" b="0">
                <a:solidFill>
                  <a:srgbClr val="1A232D"/>
                </a:solidFill>
                <a:latin typeface="Microsoft YaHei"/>
              </a:rPr>
              <a:t>批量回滚允许治理人员在异常派生或错误发布后快速恢复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800" b="0">
                <a:solidFill>
                  <a:srgbClr val="1A232D"/>
                </a:solidFill>
                <a:latin typeface="Microsoft YaHei"/>
              </a:rPr>
              <a:t>Outbox dead-letter 运维让异步任务失败可见、可查、可重试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77824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800" b="1">
                <a:solidFill>
                  <a:srgbClr val="10765B"/>
                </a:solidFill>
                <a:latin typeface="Microsoft YaHei"/>
              </a:rPr>
              <a:t>共享复用：让标准成为可运营资产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19456"/>
            <a:ext cx="164592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1000" b="0">
                <a:solidFill>
                  <a:srgbClr val="5C6976"/>
                </a:solidFill>
                <a:latin typeface="Microsoft YaHei"/>
              </a:rPr>
              <a:t>客户讲解版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8368"/>
            <a:ext cx="11155680" cy="0"/>
          </a:xfrm>
          <a:prstGeom prst="line">
            <a:avLst/>
          </a:prstGeom>
          <a:ln>
            <a:solidFill>
              <a:srgbClr val="DA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GIS Data Agent · 数据标准全生命周期智能化管理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8229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024128"/>
            <a:ext cx="10058400" cy="5852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61288"/>
            <a:ext cx="150876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500" b="1">
                <a:solidFill>
                  <a:srgbClr val="10765B"/>
                </a:solidFill>
                <a:latin typeface="Microsoft YaHei"/>
              </a:rPr>
              <a:t>市场目录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161288"/>
            <a:ext cx="777240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20" b="0">
                <a:solidFill>
                  <a:srgbClr val="1A232D"/>
                </a:solidFill>
                <a:latin typeface="Microsoft YaHei"/>
              </a:rPr>
              <a:t>已发布标准进入目录，可搜索、查看资产计数和版本信息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65376"/>
            <a:ext cx="10058400" cy="5852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002536"/>
            <a:ext cx="150876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500" b="1">
                <a:solidFill>
                  <a:srgbClr val="10765B"/>
                </a:solidFill>
                <a:latin typeface="Microsoft YaHei"/>
              </a:rPr>
              <a:t>版本对比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002536"/>
            <a:ext cx="777240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20" b="0">
                <a:solidFill>
                  <a:srgbClr val="1A232D"/>
                </a:solidFill>
                <a:latin typeface="Microsoft YaHei"/>
              </a:rPr>
              <a:t>不同版本按条款、数据元、术语、值域做结构化 diff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706624"/>
            <a:ext cx="10058400" cy="5852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843784"/>
            <a:ext cx="150876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500" b="1">
                <a:solidFill>
                  <a:srgbClr val="10765B"/>
                </a:solidFill>
                <a:latin typeface="Microsoft YaHei"/>
              </a:rPr>
              <a:t>订阅跟踪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843784"/>
            <a:ext cx="777240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20" b="0">
                <a:solidFill>
                  <a:srgbClr val="1A232D"/>
                </a:solidFill>
                <a:latin typeface="Microsoft YaHei"/>
              </a:rPr>
              <a:t>用户订阅标准后，系统提示是否存在新版本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547872"/>
            <a:ext cx="10058400" cy="5852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685032"/>
            <a:ext cx="150876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500" b="1">
                <a:solidFill>
                  <a:srgbClr val="10765B"/>
                </a:solidFill>
                <a:latin typeface="Microsoft YaHei"/>
              </a:rPr>
              <a:t>上架审核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685032"/>
            <a:ext cx="777240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20" b="0">
                <a:solidFill>
                  <a:srgbClr val="1A232D"/>
                </a:solidFill>
                <a:latin typeface="Microsoft YaHei"/>
              </a:rPr>
              <a:t>标准进入市场前经过提交、审核、通过/拒绝流程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389120"/>
            <a:ext cx="10058400" cy="5852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526280"/>
            <a:ext cx="150876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500" b="1">
                <a:solidFill>
                  <a:srgbClr val="10765B"/>
                </a:solidFill>
                <a:latin typeface="Microsoft YaHei"/>
              </a:rPr>
              <a:t>组织可见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526280"/>
            <a:ext cx="777240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20" b="0">
                <a:solidFill>
                  <a:srgbClr val="1A232D"/>
                </a:solidFill>
                <a:latin typeface="Microsoft YaHei"/>
              </a:rPr>
              <a:t>按公开、组织、私有控制跨部门/跨租户可见范围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77824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800" b="1">
                <a:solidFill>
                  <a:srgbClr val="10765B"/>
                </a:solidFill>
                <a:latin typeface="Microsoft YaHei"/>
              </a:rPr>
              <a:t>角色视角：不同用户如何使用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19456"/>
            <a:ext cx="164592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1000" b="0">
                <a:solidFill>
                  <a:srgbClr val="5C6976"/>
                </a:solidFill>
                <a:latin typeface="Microsoft YaHei"/>
              </a:rPr>
              <a:t>客户讲解版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8368"/>
            <a:ext cx="11155680" cy="0"/>
          </a:xfrm>
          <a:prstGeom prst="line">
            <a:avLst/>
          </a:prstGeom>
          <a:ln>
            <a:solidFill>
              <a:srgbClr val="DA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GIS Data Agent · 数据标准全生命周期智能化管理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8229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51560"/>
            <a:ext cx="498348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16152"/>
            <a:ext cx="155448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600" b="1">
                <a:solidFill>
                  <a:srgbClr val="10765B"/>
                </a:solidFill>
                <a:latin typeface="Microsoft YaHei"/>
              </a:rPr>
              <a:t>标准管理员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216152"/>
            <a:ext cx="274320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50" b="0">
                <a:solidFill>
                  <a:srgbClr val="1A232D"/>
                </a:solidFill>
                <a:latin typeface="Microsoft YaHei"/>
              </a:rPr>
              <a:t>配置目录、审核上架、处理异常、组织共享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51560"/>
            <a:ext cx="498348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16152"/>
            <a:ext cx="155448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600" b="1">
                <a:solidFill>
                  <a:srgbClr val="10765B"/>
                </a:solidFill>
                <a:latin typeface="Microsoft YaHei"/>
              </a:rPr>
              <a:t>标准编辑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216152"/>
            <a:ext cx="274320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50" b="0">
                <a:solidFill>
                  <a:srgbClr val="1A232D"/>
                </a:solidFill>
                <a:latin typeface="Microsoft YaHei"/>
              </a:rPr>
              <a:t>采集标准、起草条款、维护数据元和值域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560320"/>
            <a:ext cx="498348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24912"/>
            <a:ext cx="155448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600" b="1">
                <a:solidFill>
                  <a:srgbClr val="10765B"/>
                </a:solidFill>
                <a:latin typeface="Microsoft YaHei"/>
              </a:rPr>
              <a:t>审定专家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724912"/>
            <a:ext cx="274320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50" b="0">
                <a:solidFill>
                  <a:srgbClr val="1A232D"/>
                </a:solidFill>
                <a:latin typeface="Microsoft YaHei"/>
              </a:rPr>
              <a:t>核验引用、处理评论、给出审定结论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560320"/>
            <a:ext cx="498348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724912"/>
            <a:ext cx="155448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600" b="1">
                <a:solidFill>
                  <a:srgbClr val="10765B"/>
                </a:solidFill>
                <a:latin typeface="Microsoft YaHei"/>
              </a:rPr>
              <a:t>数据工程师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724912"/>
            <a:ext cx="274320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50" b="0">
                <a:solidFill>
                  <a:srgbClr val="1A232D"/>
                </a:solidFill>
                <a:latin typeface="Microsoft YaHei"/>
              </a:rPr>
              <a:t>消费 DDL / XMI / 质检规则 / 数据模型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069079"/>
            <a:ext cx="498348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33671"/>
            <a:ext cx="155448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600" b="1">
                <a:solidFill>
                  <a:srgbClr val="10765B"/>
                </a:solidFill>
                <a:latin typeface="Microsoft YaHei"/>
              </a:rPr>
              <a:t>业务用户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233671"/>
            <a:ext cx="274320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50" b="0">
                <a:solidFill>
                  <a:srgbClr val="1A232D"/>
                </a:solidFill>
                <a:latin typeface="Microsoft YaHei"/>
              </a:rPr>
              <a:t>通过智能问数、目录订阅和版本提醒间接受益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77824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800" b="1">
                <a:solidFill>
                  <a:srgbClr val="10765B"/>
                </a:solidFill>
                <a:latin typeface="Microsoft YaHei"/>
              </a:rPr>
              <a:t>典型场景：自然资源数据标准升版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19456"/>
            <a:ext cx="164592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1000" b="0">
                <a:solidFill>
                  <a:srgbClr val="5C6976"/>
                </a:solidFill>
                <a:latin typeface="Microsoft YaHei"/>
              </a:rPr>
              <a:t>客户讲解版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8368"/>
            <a:ext cx="11155680" cy="0"/>
          </a:xfrm>
          <a:prstGeom prst="line">
            <a:avLst/>
          </a:prstGeom>
          <a:ln>
            <a:solidFill>
              <a:srgbClr val="DA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GIS Data Agent · 数据标准全生命周期智能化管理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8229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51560"/>
            <a:ext cx="1051560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900" b="1">
                <a:solidFill>
                  <a:srgbClr val="10765B"/>
                </a:solidFill>
                <a:latin typeface="Microsoft YaHei"/>
              </a:rPr>
              <a:t>以“地类编码/图斑面积/用途分类”等标准变化为例，系统把变更从标准层传导到数据治理层。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5029200" cy="25603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1A232D"/>
                </a:solidFill>
                <a:latin typeface="Microsoft YaHei"/>
              </a:rPr>
              <a:t>专家上传新标准版本并结构化为条款和数据元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1A232D"/>
                </a:solidFill>
                <a:latin typeface="Microsoft YaHei"/>
              </a:rPr>
              <a:t>系统识别与旧版本之间的数据元和值域差异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1A232D"/>
                </a:solidFill>
                <a:latin typeface="Microsoft YaHei"/>
              </a:rPr>
              <a:t>审定专家核验关键引用和变更说明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1A232D"/>
                </a:solidFill>
                <a:latin typeface="Microsoft YaHei"/>
              </a:rPr>
              <a:t>发布后自动生成新的语义提示、质检规则和模型约束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754880" cy="25603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1A232D"/>
                </a:solidFill>
                <a:latin typeface="Microsoft YaHei"/>
              </a:rPr>
              <a:t>数据工程师查看影响图谱，确认受影响字段和规则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1A232D"/>
                </a:solidFill>
                <a:latin typeface="Microsoft YaHei"/>
              </a:rPr>
              <a:t>旧规则进入 stale，业务系统可平滑切换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1A232D"/>
                </a:solidFill>
                <a:latin typeface="Microsoft YaHei"/>
              </a:rPr>
              <a:t>跨部门用户订阅标准，收到新版本可见状态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1A232D"/>
                </a:solidFill>
                <a:latin typeface="Microsoft YaHei"/>
              </a:rPr>
              <a:t>组织级权限保证企业/部门标准共享可控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77824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800" b="1">
                <a:solidFill>
                  <a:srgbClr val="10765B"/>
                </a:solidFill>
                <a:latin typeface="Microsoft YaHei"/>
              </a:rPr>
              <a:t>客户价值：从标准管理到主动治理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19456"/>
            <a:ext cx="164592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1000" b="0">
                <a:solidFill>
                  <a:srgbClr val="5C6976"/>
                </a:solidFill>
                <a:latin typeface="Microsoft YaHei"/>
              </a:rPr>
              <a:t>客户讲解版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8368"/>
            <a:ext cx="11155680" cy="0"/>
          </a:xfrm>
          <a:prstGeom prst="line">
            <a:avLst/>
          </a:prstGeom>
          <a:ln>
            <a:solidFill>
              <a:srgbClr val="DA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GIS Data Agent · 数据标准全生命周期智能化管理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8229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143000"/>
            <a:ext cx="3127248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325880"/>
            <a:ext cx="274320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550" b="1">
                <a:solidFill>
                  <a:srgbClr val="10765B"/>
                </a:solidFill>
                <a:latin typeface="Microsoft YaHei"/>
              </a:rPr>
              <a:t>降低专家重复劳动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709928"/>
            <a:ext cx="2651760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0">
                <a:solidFill>
                  <a:srgbClr val="1A232D"/>
                </a:solidFill>
                <a:latin typeface="Microsoft YaHei"/>
              </a:rPr>
              <a:t>字段、值域、规则不再反复人工解释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143000"/>
            <a:ext cx="3127248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1325880"/>
            <a:ext cx="274320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550" b="1">
                <a:solidFill>
                  <a:srgbClr val="10765B"/>
                </a:solidFill>
                <a:latin typeface="Microsoft YaHei"/>
              </a:rPr>
              <a:t>提升数据质量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1709928"/>
            <a:ext cx="2651760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0">
                <a:solidFill>
                  <a:srgbClr val="1A232D"/>
                </a:solidFill>
                <a:latin typeface="Microsoft YaHei"/>
              </a:rPr>
              <a:t>标准约束直接驱动质检和缺陷闭环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1143000"/>
            <a:ext cx="3127248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1325880"/>
            <a:ext cx="274320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550" b="1">
                <a:solidFill>
                  <a:srgbClr val="10765B"/>
                </a:solidFill>
                <a:latin typeface="Microsoft YaHei"/>
              </a:rPr>
              <a:t>支撑智能问数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1709928"/>
            <a:ext cx="2651760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0">
                <a:solidFill>
                  <a:srgbClr val="1A232D"/>
                </a:solidFill>
                <a:latin typeface="Microsoft YaHei"/>
              </a:rPr>
              <a:t>标准术语进入 NL2SQL 语义对齐链路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017520"/>
            <a:ext cx="3127248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200400"/>
            <a:ext cx="274320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550" b="1">
                <a:solidFill>
                  <a:srgbClr val="10765B"/>
                </a:solidFill>
                <a:latin typeface="Microsoft YaHei"/>
              </a:rPr>
              <a:t>降低升版风险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584448"/>
            <a:ext cx="2651760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0">
                <a:solidFill>
                  <a:srgbClr val="1A232D"/>
                </a:solidFill>
                <a:latin typeface="Microsoft YaHei"/>
              </a:rPr>
              <a:t>影响分析和 stale 机制让变更可控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53128" y="3017520"/>
            <a:ext cx="3127248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54296" y="3200400"/>
            <a:ext cx="274320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550" b="1">
                <a:solidFill>
                  <a:srgbClr val="10765B"/>
                </a:solidFill>
                <a:latin typeface="Microsoft YaHei"/>
              </a:rPr>
              <a:t>促进跨部门复用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4296" y="3584448"/>
            <a:ext cx="2651760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0">
                <a:solidFill>
                  <a:srgbClr val="1A232D"/>
                </a:solidFill>
                <a:latin typeface="Microsoft YaHei"/>
              </a:rPr>
              <a:t>市场目录、订阅和组织可见性提升共享效率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56448" y="3017520"/>
            <a:ext cx="3127248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6" y="3200400"/>
            <a:ext cx="274320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550" b="1">
                <a:solidFill>
                  <a:srgbClr val="10765B"/>
                </a:solidFill>
                <a:latin typeface="Microsoft YaHei"/>
              </a:rPr>
              <a:t>形成治理资产沉淀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6" y="3584448"/>
            <a:ext cx="2651760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50" b="0">
                <a:solidFill>
                  <a:srgbClr val="1A232D"/>
                </a:solidFill>
                <a:latin typeface="Microsoft YaHei"/>
              </a:rPr>
              <a:t>标准、血缘、审定记录和派生结果长期可追溯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77824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800" b="1">
                <a:solidFill>
                  <a:srgbClr val="10765B"/>
                </a:solidFill>
                <a:latin typeface="Microsoft YaHei"/>
              </a:rPr>
              <a:t>落地建议：先做一个标准域闭环试点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19456"/>
            <a:ext cx="164592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1000" b="0">
                <a:solidFill>
                  <a:srgbClr val="5C6976"/>
                </a:solidFill>
                <a:latin typeface="Microsoft YaHei"/>
              </a:rPr>
              <a:t>客户讲解版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8368"/>
            <a:ext cx="11155680" cy="0"/>
          </a:xfrm>
          <a:prstGeom prst="line">
            <a:avLst/>
          </a:prstGeom>
          <a:ln>
            <a:solidFill>
              <a:srgbClr val="DA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GIS Data Agent · 数据标准全生命周期智能化管理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8229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024128"/>
            <a:ext cx="10515600" cy="5852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161288"/>
            <a:ext cx="100584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1">
                <a:solidFill>
                  <a:srgbClr val="5C6976"/>
                </a:solidFill>
                <a:latin typeface="Microsoft YaHei"/>
              </a:rPr>
              <a:t>第一步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161288"/>
            <a:ext cx="192024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500" b="1">
                <a:solidFill>
                  <a:srgbClr val="10765B"/>
                </a:solidFill>
                <a:latin typeface="Microsoft YaHei"/>
              </a:rPr>
              <a:t>选定标准域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161288"/>
            <a:ext cx="694944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0">
                <a:solidFill>
                  <a:srgbClr val="1A232D"/>
                </a:solidFill>
                <a:latin typeface="Microsoft YaHei"/>
              </a:rPr>
              <a:t>选择一个客户高频使用、变更影响明显的标准体系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865376"/>
            <a:ext cx="10515600" cy="5852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02536"/>
            <a:ext cx="100584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1">
                <a:solidFill>
                  <a:srgbClr val="5C6976"/>
                </a:solidFill>
                <a:latin typeface="Microsoft YaHei"/>
              </a:rPr>
              <a:t>第二步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002536"/>
            <a:ext cx="192024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500" b="1">
                <a:solidFill>
                  <a:srgbClr val="10765B"/>
                </a:solidFill>
                <a:latin typeface="Microsoft YaHei"/>
              </a:rPr>
              <a:t>建立标准资产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002536"/>
            <a:ext cx="694944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0">
                <a:solidFill>
                  <a:srgbClr val="1A232D"/>
                </a:solidFill>
                <a:latin typeface="Microsoft YaHei"/>
              </a:rPr>
              <a:t>导入标准文档，结构化条款、数据元、值域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706624"/>
            <a:ext cx="10515600" cy="5852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843784"/>
            <a:ext cx="100584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1">
                <a:solidFill>
                  <a:srgbClr val="5C6976"/>
                </a:solidFill>
                <a:latin typeface="Microsoft YaHei"/>
              </a:rPr>
              <a:t>第三步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843784"/>
            <a:ext cx="192024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500" b="1">
                <a:solidFill>
                  <a:srgbClr val="10765B"/>
                </a:solidFill>
                <a:latin typeface="Microsoft YaHei"/>
              </a:rPr>
              <a:t>跑通审定发布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2843784"/>
            <a:ext cx="694944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0">
                <a:solidFill>
                  <a:srgbClr val="1A232D"/>
                </a:solidFill>
                <a:latin typeface="Microsoft YaHei"/>
              </a:rPr>
              <a:t>让专家在系统内完成起草、审定和发布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547872"/>
            <a:ext cx="10515600" cy="5852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685032"/>
            <a:ext cx="100584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1">
                <a:solidFill>
                  <a:srgbClr val="5C6976"/>
                </a:solidFill>
                <a:latin typeface="Microsoft YaHei"/>
              </a:rPr>
              <a:t>第四步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3685032"/>
            <a:ext cx="192024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500" b="1">
                <a:solidFill>
                  <a:srgbClr val="10765B"/>
                </a:solidFill>
                <a:latin typeface="Microsoft YaHei"/>
              </a:rPr>
              <a:t>接入一个下游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3685032"/>
            <a:ext cx="694944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0">
                <a:solidFill>
                  <a:srgbClr val="1A232D"/>
                </a:solidFill>
                <a:latin typeface="Microsoft YaHei"/>
              </a:rPr>
              <a:t>优先接 NL2SQL、质检规则或数据模型其中之一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389120"/>
            <a:ext cx="10515600" cy="5852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526280"/>
            <a:ext cx="100584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1">
                <a:solidFill>
                  <a:srgbClr val="5C6976"/>
                </a:solidFill>
                <a:latin typeface="Microsoft YaHei"/>
              </a:rPr>
              <a:t>第五步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4526280"/>
            <a:ext cx="192024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500" b="1">
                <a:solidFill>
                  <a:srgbClr val="10765B"/>
                </a:solidFill>
                <a:latin typeface="Microsoft YaHei"/>
              </a:rPr>
              <a:t>形成运营机制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4526280"/>
            <a:ext cx="694944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0">
                <a:solidFill>
                  <a:srgbClr val="1A232D"/>
                </a:solidFill>
                <a:latin typeface="Microsoft YaHei"/>
              </a:rPr>
              <a:t>建立订阅、审核、组织共享和版本变更复盘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778240" cy="38404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800" b="1">
                <a:solidFill>
                  <a:srgbClr val="10765B"/>
                </a:solidFill>
                <a:latin typeface="Microsoft YaHei"/>
              </a:rPr>
              <a:t>总结：把标准变成可执行的治理底座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219456"/>
            <a:ext cx="164592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1000" b="0">
                <a:solidFill>
                  <a:srgbClr val="5C6976"/>
                </a:solidFill>
                <a:latin typeface="Microsoft YaHei"/>
              </a:rPr>
              <a:t>客户讲解版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58368"/>
            <a:ext cx="11155680" cy="0"/>
          </a:xfrm>
          <a:prstGeom prst="line">
            <a:avLst/>
          </a:prstGeom>
          <a:ln>
            <a:solidFill>
              <a:srgbClr val="DA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Microsoft YaHei"/>
              </a:rPr>
              <a:t>GIS Data Agent · 数据标准全生命周期智能化管理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8229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Microsoft YaHe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9784080" cy="6400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500" b="1">
                <a:solidFill>
                  <a:srgbClr val="1A232D"/>
                </a:solidFill>
                <a:latin typeface="Microsoft YaHei"/>
              </a:rPr>
              <a:t>数据标准全生命周期智能化管理的核心，不是多一个文档库，而是建立一套“标准驱动治理”的机制。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9326880" cy="182880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700"/>
              </a:spcAft>
            </a:pPr>
            <a:r>
              <a:rPr sz="19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900" b="0">
                <a:solidFill>
                  <a:srgbClr val="1A232D"/>
                </a:solidFill>
                <a:latin typeface="Microsoft YaHei"/>
              </a:rPr>
              <a:t>标准从静态文本转为结构化、版本化、可审定、可追溯的资产</a:t>
            </a:r>
          </a:p>
          <a:p>
            <a:pPr>
              <a:spcAft>
                <a:spcPts val="700"/>
              </a:spcAft>
            </a:pPr>
            <a:r>
              <a:rPr sz="19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900" b="0">
                <a:solidFill>
                  <a:srgbClr val="1A232D"/>
                </a:solidFill>
                <a:latin typeface="Microsoft YaHei"/>
              </a:rPr>
              <a:t>发布后的标准自动驱动语义、规则、缺陷分类和数据模型</a:t>
            </a:r>
          </a:p>
          <a:p>
            <a:pPr>
              <a:spcAft>
                <a:spcPts val="700"/>
              </a:spcAft>
            </a:pPr>
            <a:r>
              <a:rPr sz="19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900" b="0">
                <a:solidFill>
                  <a:srgbClr val="1A232D"/>
                </a:solidFill>
                <a:latin typeface="Microsoft YaHei"/>
              </a:rPr>
              <a:t>标准变更不再靠人工排查，而是通过影响图谱、stale 和回滚机制治理</a:t>
            </a:r>
          </a:p>
          <a:p>
            <a:pPr>
              <a:spcAft>
                <a:spcPts val="700"/>
              </a:spcAft>
            </a:pPr>
            <a:r>
              <a:rPr sz="1900" b="1">
                <a:solidFill>
                  <a:srgbClr val="10765B"/>
                </a:solidFill>
                <a:latin typeface="Microsoft YaHei"/>
              </a:rPr>
              <a:t>• </a:t>
            </a:r>
            <a:r>
              <a:rPr sz="1900" b="0">
                <a:solidFill>
                  <a:srgbClr val="1A232D"/>
                </a:solidFill>
                <a:latin typeface="Microsoft YaHei"/>
              </a:rPr>
              <a:t>跨部门共享通过目录、订阅、审核和组织可见性形成运营闭环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074920"/>
            <a:ext cx="9326880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100" b="1">
                <a:solidFill>
                  <a:srgbClr val="10765B"/>
                </a:solidFill>
                <a:latin typeface="Microsoft YaHei"/>
              </a:rPr>
              <a:t>最终目标：让标准成为数据治理和智能体能力的统一语义底座。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