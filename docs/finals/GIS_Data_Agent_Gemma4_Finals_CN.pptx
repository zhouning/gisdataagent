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0:00-0:30。开场：GIS Data Agent 不是会聊天的地图，而是把自然语言问题落到可执行、可审计、可复用 GIS 行动的受控 Agent。今天只展示两件事：高频空间问数，以及高价值县域规划。右侧不是示意图，是本次决赛版本真实 MPC 规划产物。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0:30-1:05。空间问数是高频刚需，难点不是生成 SQL，而是空间语义与真实执行。县域规划频率更低，但每次价值更高，必须满足业务硬约束并交付空间成果。架构上 Gemma 4 做决策，ADK 承载原生函数调用，PostGIS 与县域耕地空间优化引擎做确定性计算，硬约束校验决定结果能否进入已验证经验库。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1:05-1:55。这里先播放约 35 秒锁定视频，或直接展示结果。问题是最长桥梁 100 米范围内有多少高德 POI。系统先做语义与 schema grounding，再由 Gemma 4 生成 GeoSQL，关键是 geography 米制距离和只读执行；结果为 35，并自动加载同一 PostGIS 查询快照的桥梁、百米范围和 35 个 POI。模型不是凭印象选的：同一 CQ-125 上 26B 为 113/125，只比 31B 少一题，但完整运行约快 37.6%。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1:55-3:25。现场运行成功链或播放约 70 秒同版本视频。Gemma 4 通过 Google ADK原生函数调用检查版本与资源、召回经验，并根据观察选择快速 MPC 路径；硬约束审计通过才写入已验证经验库，失败只允许重规划一次，再失败转人工。空间算法使用学习型状态转移模型集成预测候选行动，再由 MPC 搜索，确定性 Python 负责数值计算。Paper9不是完整 GWM，而是它的领域原型：图斑与空间块构成状态，地类置换构成行动，学习型转移模型预测行动后果，MPC 消费这些预测并搜索方案。县域耕地空间优化引擎的内部研发代号是 Paper9，但主路演统一使用业务名称。本次真实运行处理 101,657 条输入、53,004 个环境图斑、2,640 个空间块，完成 406 对置换；耕地面积不减少，坡度下降，连片度和百亩方面积提升。A/B/C/D 是算法阶段，不冒充 Gemma 4 动态规划。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3:25-4:20。这不是一次跑通就算完成。Gemma 4 与 ADK 在首次成功、版本阻断和一次恢复三个分支各跑十次，30/30 通过；Wilson 区间说明我们没有把它夸大成普遍 100%。工程侧分为 236 个镜像运行时测试、6 个宿主交付契约、52 个兼容测试和三个健康容器；这些范围不同，不能混成一个总数。真实环境证据也严格分层：历史内网记录证明底层耕地优化引擎的工程可行性，当前 v2.2.3 本机运行证明适配与 MPC 规划，不把两者混成生产验收。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4:20-4:40。总结：我们的目标不是不断给 LLM 增加 GIS 工具，而是走向 LLM + GWM。Gemma 4 与 ADK 负责理解目标、选择工具和人机协同；GWM 负责表示空间状态、预测行动后果和反事实推演；MPC 消费预测做方案选择，审核机制决定能否保存。今天已经验证空间问数、GWM 领域原型和受控闭环，下一步扩展多尺度、多行动、长期与不确定性推演。谢谢。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结论先说：两层规划。Gemma 4 通过 ADK 根据版本、资源、经验和审计反馈选择下一工具与停止条件；县域耕地优化引擎则用状态转移模型和 MPC 做空间数值规划。三个 2/6/8 次调用分支已分别重复验证，但 A/B/C/D 仍是确定性算法阶段。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严格地说，它不是完整 GWM，而是领域化原型。图斑和空间块构成状态，学习型状态转移模型集成预测候选行动的后果，这一部分是 GWM 动力学内核的雏形；MPC消费预测并搜索方案，硬约束校验负责验收。下一步还要补齐多尺度、多行动、长期不确定性推演、因果校准和跨区域验证。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可信性不是一个数字。三十次真实 Gemma 4 加 ADK 运行验证工具编排；本机真实 MPC运行验证算法和空间产物；硬约束校验决定能否保存。三十次使用确定性工具替身，不等于三十次算法重跑。任何版本、审计或产物失败都会停止，最多恢复一次后转人工。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已证明的是问题真实、受众明确、规模可量化、底层旧版本有历史内网工程记录，以及当前版本能在本机完成真实 MPC 闭环。没有证明的是当前版本已部内复测或生产验收，也没有公开用户数、节省工时和人工修订率，所以这些指标不会编造。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当前主链可本地运行，并按数据契约、区域适配器和工具接口解耦扩展。工程证据分为 236 个镜像运行时测试、6 个宿主交付契约和 52 个接口兼容测试，不能直接混成一个总数。ADK 已进入主链；AlphaEarth 和 OKF 只作为未来扩展，不冒充现有能力。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9436"/>
          </a:xfrm>
          <a:prstGeom prst="rect">
            <a:avLst/>
          </a:prstGeom>
          <a:solidFill>
            <a:srgbClr val="34A853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"/>
            <a:ext cx="6720840" cy="6798564"/>
          </a:xfrm>
          <a:prstGeom prst="rect">
            <a:avLst/>
          </a:prstGeom>
          <a:solidFill>
            <a:srgbClr val="F7F9FC"/>
          </a:solidFill>
          <a:ln w="1016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786384"/>
            <a:ext cx="53949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61D2C"/>
                </a:solidFill>
                <a:latin typeface="Microsoft YaHei"/>
              </a:rPr>
              <a:t>GIS Data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325880"/>
            <a:ext cx="54406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4285F4"/>
                </a:solidFill>
                <a:latin typeface="Microsoft YaHei"/>
              </a:rPr>
              <a:t>Gemma 4 驱动的受控空间决策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892807"/>
            <a:ext cx="539496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61D2C"/>
                </a:solidFill>
                <a:latin typeface="Microsoft YaHei"/>
              </a:rPr>
              <a:t>让自然语言问题落到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61D2C"/>
                </a:solidFill>
                <a:latin typeface="Microsoft YaHei"/>
              </a:rPr>
              <a:t>可执行、可审计、可复用的 GIS 行动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163824"/>
            <a:ext cx="694944" cy="502920"/>
          </a:xfrm>
          <a:prstGeom prst="roundRect">
            <a:avLst/>
          </a:prstGeom>
          <a:solidFill>
            <a:srgbClr val="4285F4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163824"/>
            <a:ext cx="694944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3255264"/>
            <a:ext cx="23774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5B6679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47672" y="3163824"/>
            <a:ext cx="694944" cy="502920"/>
          </a:xfrm>
          <a:prstGeom prst="round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47672" y="3163824"/>
            <a:ext cx="694944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3255264"/>
            <a:ext cx="23774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5B6679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82112" y="3163824"/>
            <a:ext cx="694944" cy="502920"/>
          </a:xfrm>
          <a:prstGeom prst="roundRect">
            <a:avLst/>
          </a:prstGeom>
          <a:solidFill>
            <a:srgbClr val="FBBC05"/>
          </a:solidFill>
          <a:ln w="1016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82112" y="3163824"/>
            <a:ext cx="694944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352" y="3255264"/>
            <a:ext cx="23774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5B6679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6552" y="3163824"/>
            <a:ext cx="694944" cy="502920"/>
          </a:xfrm>
          <a:prstGeom prst="roundRect">
            <a:avLst/>
          </a:prstGeom>
          <a:solidFill>
            <a:srgbClr val="EA4335"/>
          </a:solidFill>
          <a:ln w="1016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3163824"/>
            <a:ext cx="694944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" y="4251960"/>
            <a:ext cx="1572768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4389120"/>
            <a:ext cx="12984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4285F4"/>
                </a:solidFill>
                <a:latin typeface="Microsoft YaHei"/>
              </a:rPr>
              <a:t>90.4%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4736592"/>
            <a:ext cx="12984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CQ-125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23744" y="4251960"/>
            <a:ext cx="1572768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60904" y="4389120"/>
            <a:ext cx="12984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34A853"/>
                </a:solidFill>
                <a:latin typeface="Microsoft YaHei"/>
              </a:rPr>
              <a:t>30/30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0904" y="4736592"/>
            <a:ext cx="12984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Gemma 4 + ADK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4251960"/>
            <a:ext cx="1572768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4389120"/>
            <a:ext cx="12984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A4335"/>
                </a:solidFill>
                <a:latin typeface="Microsoft YaHei"/>
              </a:rPr>
              <a:t>硬约束校验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736592"/>
            <a:ext cx="12984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真实 MPC 规划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5897880"/>
            <a:ext cx="5212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679"/>
                </a:solidFill>
                <a:latin typeface="Microsoft YaHei"/>
              </a:rPr>
              <a:t>周宁 · Gemma 4 AI Agent 赛道 A 决赛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04304" y="676656"/>
            <a:ext cx="4681728" cy="5230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armland_mpc_chang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082" y="676656"/>
            <a:ext cx="2494172" cy="523036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7315200" y="5468112"/>
            <a:ext cx="196596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5468112"/>
            <a:ext cx="19659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41F33"/>
                </a:solidFill>
                <a:latin typeface="Microsoft YaHei"/>
              </a:rPr>
              <a:t>101,657 条空间记录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73184" y="5468112"/>
            <a:ext cx="1856231" cy="384048"/>
          </a:xfrm>
          <a:prstGeom prst="round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73184" y="5468112"/>
            <a:ext cx="1856231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坡度 -0.608%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0608" y="6144768"/>
            <a:ext cx="4343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县域耕地空间优化引擎 · 真实 MPC 规划产物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37392" y="6446520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9436"/>
          </a:xfrm>
          <a:prstGeom prst="rect">
            <a:avLst/>
          </a:prstGeom>
          <a:solidFill>
            <a:srgbClr val="34A853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064" y="246888"/>
            <a:ext cx="1298448" cy="292608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246888"/>
            <a:ext cx="129844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4285F4"/>
                </a:solidFill>
                <a:latin typeface="Microsoft YaHei"/>
              </a:rPr>
              <a:t>真实影响 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658368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61D2C"/>
                </a:solidFill>
                <a:latin typeface="Microsoft YaHei"/>
              </a:rPr>
              <a:t>空间数据不是问答题，而是带约束的执行题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0332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Microsoft YaHei"/>
              </a:rPr>
              <a:t>同一个 Agent 覆盖高频问数与低频高价值规划，但每一步都必须留下证据。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463040"/>
            <a:ext cx="566928" cy="41148"/>
          </a:xfrm>
          <a:prstGeom prst="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6473952"/>
            <a:ext cx="4937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679"/>
                </a:solidFill>
                <a:latin typeface="Microsoft YaHei"/>
              </a:rPr>
              <a:t>GIS Data Agent · Gemma 4 AI Agent Finals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773936"/>
            <a:ext cx="5285232" cy="23042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" y="2011680"/>
            <a:ext cx="1133856" cy="310896"/>
          </a:xfrm>
          <a:prstGeom prst="roundRect">
            <a:avLst/>
          </a:prstGeom>
          <a:solidFill>
            <a:srgbClr val="4285F4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011680"/>
            <a:ext cx="113385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高频刚需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496312"/>
            <a:ext cx="4526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61D2C"/>
                </a:solidFill>
                <a:latin typeface="Microsoft YaHei"/>
              </a:rPr>
              <a:t>NL2Semantic2GeoSQL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926080"/>
            <a:ext cx="45720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0">
                <a:solidFill>
                  <a:srgbClr val="5B6679"/>
                </a:solidFill>
                <a:latin typeface="Microsoft YaHei"/>
              </a:rPr>
              <a:t>空间距离、面积、SRID、geometry/geography、空间 join 去重，都会让普通 NL2SQL 的“看似正确”在执行时失败。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675887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4285F4"/>
                </a:solidFill>
                <a:latin typeface="Microsoft YaHei"/>
              </a:rPr>
              <a:t>用户：GIS 分析师、空间数据库团队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773936"/>
            <a:ext cx="5285232" cy="23042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56248" y="2011680"/>
            <a:ext cx="1389888" cy="310896"/>
          </a:xfrm>
          <a:prstGeom prst="round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2011680"/>
            <a:ext cx="138988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高价值决策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2496312"/>
            <a:ext cx="4526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61D2C"/>
                </a:solidFill>
                <a:latin typeface="Microsoft YaHei"/>
              </a:rPr>
              <a:t>县域耕地空间布局优化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2926080"/>
            <a:ext cx="45720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0">
                <a:solidFill>
                  <a:srgbClr val="5B6679"/>
                </a:solidFill>
                <a:latin typeface="Microsoft YaHei"/>
              </a:rPr>
              <a:t>结果必须同时满足耕地面积不减少、坡度下降、连片度提升，并生成可交付的空间成果，而不是文字建议。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3675887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34A853"/>
                </a:solidFill>
                <a:latin typeface="Microsoft YaHei"/>
              </a:rPr>
              <a:t>用户：自然资源、国土规划、县域整治人员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36592"/>
            <a:ext cx="1856231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4846320"/>
            <a:ext cx="1600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4285F4"/>
                </a:solidFill>
                <a:latin typeface="Microsoft YaHei"/>
              </a:rPr>
              <a:t>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120640"/>
            <a:ext cx="1600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20" b="1">
                <a:solidFill>
                  <a:srgbClr val="161D2C"/>
                </a:solidFill>
                <a:latin typeface="Microsoft YaHei"/>
              </a:rPr>
              <a:t>Gemma 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68880" y="5129784"/>
            <a:ext cx="301752" cy="0"/>
          </a:xfrm>
          <a:prstGeom prst="line">
            <a:avLst/>
          </a:prstGeom>
          <a:ln w="20320">
            <a:solidFill>
              <a:srgbClr val="5B6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89504" y="4736592"/>
            <a:ext cx="1856231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4846320"/>
            <a:ext cx="1600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34A853"/>
                </a:solidFill>
                <a:latin typeface="Microsoft YaHei"/>
              </a:rPr>
              <a:t>运行时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120640"/>
            <a:ext cx="1600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20" b="1">
                <a:solidFill>
                  <a:srgbClr val="161D2C"/>
                </a:solidFill>
                <a:latin typeface="Microsoft YaHei"/>
              </a:rPr>
              <a:t>Google ADK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91456" y="5129784"/>
            <a:ext cx="301752" cy="0"/>
          </a:xfrm>
          <a:prstGeom prst="line">
            <a:avLst/>
          </a:prstGeom>
          <a:ln w="20320">
            <a:solidFill>
              <a:srgbClr val="5B6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212080" y="4736592"/>
            <a:ext cx="1856231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0096" y="4846320"/>
            <a:ext cx="1600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BBC05"/>
                </a:solidFill>
                <a:latin typeface="Microsoft YaHei"/>
              </a:rPr>
              <a:t>行动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120640"/>
            <a:ext cx="1600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20" b="1">
                <a:solidFill>
                  <a:srgbClr val="161D2C"/>
                </a:solidFill>
                <a:latin typeface="Microsoft YaHei"/>
              </a:rPr>
              <a:t>PostGIS / MPC 引擎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14032" y="5129784"/>
            <a:ext cx="301752" cy="0"/>
          </a:xfrm>
          <a:prstGeom prst="line">
            <a:avLst/>
          </a:prstGeom>
          <a:ln w="20320">
            <a:solidFill>
              <a:srgbClr val="5B6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534656" y="4736592"/>
            <a:ext cx="1856231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62672" y="4846320"/>
            <a:ext cx="1600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EA4335"/>
                </a:solidFill>
                <a:latin typeface="Microsoft YaHei"/>
              </a:rPr>
              <a:t>校验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2672" y="5120640"/>
            <a:ext cx="1600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20" b="1">
                <a:solidFill>
                  <a:srgbClr val="161D2C"/>
                </a:solidFill>
                <a:latin typeface="Microsoft YaHei"/>
              </a:rPr>
              <a:t>硬约束校验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436608" y="5129784"/>
            <a:ext cx="301752" cy="0"/>
          </a:xfrm>
          <a:prstGeom prst="line">
            <a:avLst/>
          </a:prstGeom>
          <a:ln w="20320">
            <a:solidFill>
              <a:srgbClr val="5B66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857232" y="4736592"/>
            <a:ext cx="1856231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85248" y="4846320"/>
            <a:ext cx="1600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0897B"/>
                </a:solidFill>
                <a:latin typeface="Microsoft YaHei"/>
              </a:rPr>
              <a:t>复用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85248" y="5120640"/>
            <a:ext cx="1600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20" b="1">
                <a:solidFill>
                  <a:srgbClr val="161D2C"/>
                </a:solidFill>
                <a:latin typeface="Microsoft YaHei"/>
              </a:rPr>
              <a:t>已验证经验库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833872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41F33"/>
                </a:solidFill>
                <a:latin typeface="Microsoft YaHei"/>
              </a:rPr>
              <a:t>核心边界：模型负责选择和解释，确定性工具负责计算，治理代码决定结果能否保存和复用。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9436"/>
          </a:xfrm>
          <a:prstGeom prst="rect">
            <a:avLst/>
          </a:prstGeom>
          <a:solidFill>
            <a:srgbClr val="34A853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064" y="246888"/>
            <a:ext cx="1298448" cy="292608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246888"/>
            <a:ext cx="129844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4285F4"/>
                </a:solidFill>
                <a:latin typeface="Microsoft YaHei"/>
              </a:rPr>
              <a:t>Demo 1 · 0:50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658368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61D2C"/>
                </a:solidFill>
                <a:latin typeface="Microsoft YaHei"/>
              </a:rPr>
              <a:t>NL2Semantic2GeoSQL：不是生成 SQL，而是让空间语义真正执行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0332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Microsoft YaHei"/>
              </a:rPr>
              <a:t>同一 CQ-125 基准选模型；现场锁定一个问题、一段 GeoSQL、一个可核查地图结果。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463040"/>
            <a:ext cx="566928" cy="41148"/>
          </a:xfrm>
          <a:prstGeom prst="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6473952"/>
            <a:ext cx="4937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679"/>
                </a:solidFill>
                <a:latin typeface="Microsoft YaHei"/>
              </a:rPr>
              <a:t>GIS Data Agent · Gemma 4 AI Agent Finals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700784"/>
            <a:ext cx="4069080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l2geosql_dem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15668"/>
            <a:ext cx="4069079" cy="406907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956048" y="1682496"/>
            <a:ext cx="6629400" cy="2542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emma4_model_sel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534" y="1682496"/>
            <a:ext cx="5786428" cy="254203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956048" y="4489704"/>
            <a:ext cx="66294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2080" y="4718304"/>
            <a:ext cx="1097280" cy="310896"/>
          </a:xfrm>
          <a:prstGeom prst="roundRect">
            <a:avLst/>
          </a:prstGeom>
          <a:solidFill>
            <a:srgbClr val="4285F4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718304"/>
            <a:ext cx="10972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锁定问题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645152"/>
            <a:ext cx="46634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61D2C"/>
                </a:solidFill>
                <a:latin typeface="Microsoft YaHei"/>
              </a:rPr>
              <a:t>最长桥梁 100 米范围内有多少高德 POI？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5084064"/>
            <a:ext cx="58978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>
                <a:solidFill>
                  <a:srgbClr val="4285F4"/>
                </a:solidFill>
                <a:latin typeface="Microsoft YaHei"/>
              </a:rPr>
              <a:t>语义 / Schema Grounding → Gemma 4 生成 GeoSQL → 只读执行 → 地图核验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440680"/>
            <a:ext cx="42062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41F33"/>
                </a:solidFill>
                <a:latin typeface="Microsoft YaHei"/>
              </a:rPr>
              <a:t>ST_DWithin(...::geography, 100)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10928" y="5340096"/>
            <a:ext cx="1417320" cy="475488"/>
          </a:xfrm>
          <a:prstGeom prst="round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0928" y="5340096"/>
            <a:ext cx="141732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35 + 地图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5852160"/>
            <a:ext cx="5897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679"/>
                </a:solidFill>
                <a:latin typeface="Microsoft YaHei"/>
              </a:rPr>
              <a:t>Gemma 4 26B：113/125 = 90.4% · 只比 31B 少 1 题，约快 37.6%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6473952"/>
            <a:ext cx="4937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679"/>
                </a:solidFill>
                <a:latin typeface="Microsoft YaHei"/>
              </a:rPr>
              <a:t>GIS Data Agent · Gemma 4 AI Agent Finals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73952"/>
            <a:ext cx="6309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5B6679"/>
                </a:solidFill>
                <a:latin typeface="Microsoft YaHei"/>
              </a:rPr>
              <a:t>证据：CQ-125 模型选型 + 锁定 PostGIS 演示快照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9436"/>
          </a:xfrm>
          <a:prstGeom prst="rect">
            <a:avLst/>
          </a:prstGeom>
          <a:solidFill>
            <a:srgbClr val="34A853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064" y="246888"/>
            <a:ext cx="1298448" cy="292608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246888"/>
            <a:ext cx="129844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4285F4"/>
                </a:solidFill>
                <a:latin typeface="Microsoft YaHei"/>
              </a:rPr>
              <a:t>Demo 2 · 1:30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658368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61D2C"/>
                </a:solidFill>
                <a:latin typeface="Microsoft YaHei"/>
              </a:rPr>
              <a:t>Gemma 4 + 地理空间世界模型领域原型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0332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Microsoft YaHei"/>
              </a:rPr>
              <a:t>县域耕地空间优化引擎预测行动后果并搜索方案；Gemma 4 + ADK 负责目标理解、工具决策与闭环控制。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463040"/>
            <a:ext cx="566928" cy="41148"/>
          </a:xfrm>
          <a:prstGeom prst="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6473952"/>
            <a:ext cx="4937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679"/>
                </a:solidFill>
                <a:latin typeface="Microsoft YaHei"/>
              </a:rPr>
              <a:t>GIS Data Agent · Gemma 4 AI Agent Finals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682496"/>
            <a:ext cx="4736592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rmland_mpc_chang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015" y="1682496"/>
            <a:ext cx="2158418" cy="45262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650992" y="1682496"/>
            <a:ext cx="3529584" cy="310896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50992" y="1682496"/>
            <a:ext cx="352958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4285F4"/>
                </a:solidFill>
                <a:latin typeface="Microsoft YaHei"/>
              </a:rPr>
              <a:t>LLM 控制面 · Gemma 4 + ADK · 6 次函数调用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50992" y="2148840"/>
            <a:ext cx="365760" cy="274320"/>
          </a:xfrm>
          <a:prstGeom prst="roundRect">
            <a:avLst/>
          </a:prstGeom>
          <a:solidFill>
            <a:srgbClr val="4285F4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0992" y="2148840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139696"/>
            <a:ext cx="16642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1">
                <a:solidFill>
                  <a:srgbClr val="161D2C"/>
                </a:solidFill>
                <a:latin typeface="Microsoft YaHei"/>
              </a:rPr>
              <a:t>状态检查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139696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 b="0">
                <a:solidFill>
                  <a:srgbClr val="5B6679"/>
                </a:solidFill>
                <a:latin typeface="Microsoft YaHei"/>
              </a:rPr>
              <a:t>观察版本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2432304"/>
            <a:ext cx="0" cy="82296"/>
          </a:xfrm>
          <a:prstGeom prst="line">
            <a:avLst/>
          </a:prstGeom>
          <a:ln w="2032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650992" y="2542032"/>
            <a:ext cx="365760" cy="274320"/>
          </a:xfrm>
          <a:prstGeom prst="round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50992" y="2542032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532888"/>
            <a:ext cx="16642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1">
                <a:solidFill>
                  <a:srgbClr val="161D2C"/>
                </a:solidFill>
                <a:latin typeface="Microsoft YaHei"/>
              </a:rPr>
              <a:t>资源检查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532888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 b="0">
                <a:solidFill>
                  <a:srgbClr val="5B6679"/>
                </a:solidFill>
                <a:latin typeface="Microsoft YaHei"/>
              </a:rPr>
              <a:t>判断复用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33872" y="2825496"/>
            <a:ext cx="0" cy="82296"/>
          </a:xfrm>
          <a:prstGeom prst="line">
            <a:avLst/>
          </a:prstGeom>
          <a:ln w="2032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650992" y="2935224"/>
            <a:ext cx="365760" cy="274320"/>
          </a:xfrm>
          <a:prstGeom prst="roundRect">
            <a:avLst/>
          </a:prstGeom>
          <a:solidFill>
            <a:srgbClr val="00897B"/>
          </a:solidFill>
          <a:ln w="1016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50992" y="2935224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926080"/>
            <a:ext cx="16642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1">
                <a:solidFill>
                  <a:srgbClr val="161D2C"/>
                </a:solidFill>
                <a:latin typeface="Microsoft YaHei"/>
              </a:rPr>
              <a:t>经验召回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926080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 b="0">
                <a:solidFill>
                  <a:srgbClr val="5B6679"/>
                </a:solidFill>
                <a:latin typeface="Microsoft YaHei"/>
              </a:rPr>
              <a:t>注入上下文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33872" y="3218688"/>
            <a:ext cx="0" cy="82296"/>
          </a:xfrm>
          <a:prstGeom prst="line">
            <a:avLst/>
          </a:prstGeom>
          <a:ln w="2032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650992" y="3328416"/>
            <a:ext cx="365760" cy="274320"/>
          </a:xfrm>
          <a:prstGeom prst="roundRect">
            <a:avLst/>
          </a:prstGeom>
          <a:solidFill>
            <a:srgbClr val="FBBC05"/>
          </a:solidFill>
          <a:ln w="1016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50992" y="3328416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319272"/>
            <a:ext cx="16642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1">
                <a:solidFill>
                  <a:srgbClr val="161D2C"/>
                </a:solidFill>
                <a:latin typeface="Microsoft YaHei"/>
              </a:rPr>
              <a:t>MPC 规划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319272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 b="0">
                <a:solidFill>
                  <a:srgbClr val="5B6679"/>
                </a:solidFill>
                <a:latin typeface="Microsoft YaHei"/>
              </a:rPr>
              <a:t>执行空间行动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33872" y="3611880"/>
            <a:ext cx="0" cy="82296"/>
          </a:xfrm>
          <a:prstGeom prst="line">
            <a:avLst/>
          </a:prstGeom>
          <a:ln w="20320">
            <a:solidFill>
              <a:srgbClr val="FBBC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650992" y="3721608"/>
            <a:ext cx="365760" cy="274320"/>
          </a:xfrm>
          <a:prstGeom prst="roundRect">
            <a:avLst/>
          </a:prstGeom>
          <a:solidFill>
            <a:srgbClr val="EA4335"/>
          </a:solidFill>
          <a:ln w="1016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3721608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712464"/>
            <a:ext cx="16642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1">
                <a:solidFill>
                  <a:srgbClr val="161D2C"/>
                </a:solidFill>
                <a:latin typeface="Microsoft YaHei"/>
              </a:rPr>
              <a:t>硬约束审计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3712464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 b="0">
                <a:solidFill>
                  <a:srgbClr val="5B6679"/>
                </a:solidFill>
                <a:latin typeface="Microsoft YaHei"/>
              </a:rPr>
              <a:t>独立验收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33872" y="4005072"/>
            <a:ext cx="0" cy="82296"/>
          </a:xfrm>
          <a:prstGeom prst="line">
            <a:avLst/>
          </a:prstGeom>
          <a:ln w="2032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650992" y="4114800"/>
            <a:ext cx="365760" cy="274320"/>
          </a:xfrm>
          <a:prstGeom prst="round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50992" y="4114800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4105656"/>
            <a:ext cx="16642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1">
                <a:solidFill>
                  <a:srgbClr val="161D2C"/>
                </a:solidFill>
                <a:latin typeface="Microsoft YaHei"/>
              </a:rPr>
              <a:t>经验写入 / 人工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4105656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 b="0">
                <a:solidFill>
                  <a:srgbClr val="5B6679"/>
                </a:solidFill>
                <a:latin typeface="Microsoft YaHei"/>
              </a:rPr>
              <a:t>按结果分支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91472" y="1783080"/>
            <a:ext cx="2075688" cy="2697480"/>
          </a:xfrm>
          <a:prstGeom prst="roundRect">
            <a:avLst/>
          </a:prstGeom>
          <a:solidFill>
            <a:srgbClr val="141F33"/>
          </a:solidFill>
          <a:ln w="10160">
            <a:solidFill>
              <a:srgbClr val="14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10928" y="2011680"/>
            <a:ext cx="16276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真实 MPC 规划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74352" y="2487168"/>
            <a:ext cx="7680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101,657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2505456"/>
            <a:ext cx="7132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90" b="0">
                <a:solidFill>
                  <a:srgbClr val="FFFFFF"/>
                </a:solidFill>
                <a:latin typeface="Microsoft YaHei"/>
              </a:rPr>
              <a:t>输入空间记录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4352" y="2926080"/>
            <a:ext cx="7680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53,004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2944368"/>
            <a:ext cx="7132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90" b="0">
                <a:solidFill>
                  <a:srgbClr val="FFFFFF"/>
                </a:solidFill>
                <a:latin typeface="Microsoft YaHei"/>
              </a:rPr>
              <a:t>环境图斑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74352" y="3364992"/>
            <a:ext cx="7680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2,640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61320" y="3383280"/>
            <a:ext cx="7132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90" b="0">
                <a:solidFill>
                  <a:srgbClr val="FFFFFF"/>
                </a:solidFill>
                <a:latin typeface="Microsoft YaHei"/>
              </a:rPr>
              <a:t>空间块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74352" y="3803904"/>
            <a:ext cx="7680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406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3822192"/>
            <a:ext cx="7132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90" b="0">
                <a:solidFill>
                  <a:srgbClr val="FFFFFF"/>
                </a:solidFill>
                <a:latin typeface="Microsoft YaHei"/>
              </a:rPr>
              <a:t>双向置换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23560" y="4590288"/>
            <a:ext cx="5943600" cy="338328"/>
          </a:xfrm>
          <a:prstGeom prst="roundRect">
            <a:avLst/>
          </a:prstGeom>
          <a:solidFill>
            <a:srgbClr val="FEF7E0"/>
          </a:solidFill>
          <a:ln w="1016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0" y="4663440"/>
            <a:ext cx="5669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141F33"/>
                </a:solidFill>
                <a:latin typeface="Microsoft YaHei"/>
              </a:rPr>
              <a:t>GWM 领域原型 · S 空间状态 + A 候选置换 → Tθ 转移预测 → MPC 搜索 → 校验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23560" y="5074920"/>
            <a:ext cx="2761488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9864" y="5175504"/>
            <a:ext cx="14630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Microsoft YaHei"/>
              </a:rPr>
              <a:t>+1.936 ha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06056" y="5193792"/>
            <a:ext cx="8412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679"/>
                </a:solidFill>
                <a:latin typeface="Microsoft YaHei"/>
              </a:rPr>
              <a:t>耕地面积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41080" y="5074920"/>
            <a:ext cx="2761488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87384" y="5175504"/>
            <a:ext cx="14630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4285F4"/>
                </a:solidFill>
                <a:latin typeface="Microsoft YaHei"/>
              </a:rPr>
              <a:t>-0.608%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23576" y="5193792"/>
            <a:ext cx="8412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679"/>
                </a:solidFill>
                <a:latin typeface="Microsoft YaHei"/>
              </a:rPr>
              <a:t>平均坡度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23560" y="5678424"/>
            <a:ext cx="2761488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69864" y="5779008"/>
            <a:ext cx="14630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0897B"/>
                </a:solidFill>
                <a:latin typeface="Microsoft YaHei"/>
              </a:rPr>
              <a:t>+0.0202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06056" y="5797296"/>
            <a:ext cx="8412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679"/>
                </a:solidFill>
                <a:latin typeface="Microsoft YaHei"/>
              </a:rPr>
              <a:t>连片度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641080" y="5678424"/>
            <a:ext cx="2761488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87384" y="5779008"/>
            <a:ext cx="14630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A4335"/>
                </a:solidFill>
                <a:latin typeface="Microsoft YaHei"/>
              </a:rPr>
              <a:t>+35.13 ha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23576" y="5797296"/>
            <a:ext cx="8412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679"/>
                </a:solidFill>
                <a:latin typeface="Microsoft YaHei"/>
              </a:rPr>
              <a:t>百亩方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2064" y="6473952"/>
            <a:ext cx="4937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679"/>
                </a:solidFill>
                <a:latin typeface="Microsoft YaHei"/>
              </a:rPr>
              <a:t>GIS Data Agent · Gemma 4 AI Agent Finals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0" y="6473952"/>
            <a:ext cx="6309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5B6679"/>
                </a:solidFill>
                <a:latin typeface="Microsoft YaHei"/>
              </a:rPr>
              <a:t>当前边界：领域化、基于模型的空间规划原型，不等同于完整通用 GWM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9436"/>
          </a:xfrm>
          <a:prstGeom prst="rect">
            <a:avLst/>
          </a:prstGeom>
          <a:solidFill>
            <a:srgbClr val="34A853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064" y="246888"/>
            <a:ext cx="1298448" cy="292608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246888"/>
            <a:ext cx="129844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4285F4"/>
                </a:solidFill>
                <a:latin typeface="Microsoft YaHei"/>
              </a:rPr>
              <a:t>证据 · 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658368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61D2C"/>
                </a:solidFill>
                <a:latin typeface="Microsoft YaHei"/>
              </a:rPr>
              <a:t>这不是一次成功 Demo，而是一套分层证据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0332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Microsoft YaHei"/>
              </a:rPr>
              <a:t>模型编排、算法运行、工程质量和历史环境记录分别证明不同问题。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463040"/>
            <a:ext cx="566928" cy="41148"/>
          </a:xfrm>
          <a:prstGeom prst="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6473952"/>
            <a:ext cx="4937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679"/>
                </a:solidFill>
                <a:latin typeface="Microsoft YaHei"/>
              </a:rPr>
              <a:t>GIS Data Agent · Gemma 4 AI Agent Finals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1755648"/>
            <a:ext cx="24871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1755648"/>
            <a:ext cx="50292" cy="987552"/>
          </a:xfrm>
          <a:prstGeom prst="rect">
            <a:avLst/>
          </a:prstGeom>
          <a:solidFill>
            <a:srgbClr val="4285F4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1865376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4285F4"/>
                </a:solidFill>
                <a:latin typeface="Microsoft YaHei"/>
              </a:rPr>
              <a:t>30/30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221992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1D2C"/>
                </a:solidFill>
                <a:latin typeface="Microsoft YaHei"/>
              </a:rPr>
              <a:t>Gemma 4 + ADK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459736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>
                <a:solidFill>
                  <a:srgbClr val="5B6679"/>
                </a:solidFill>
                <a:latin typeface="Microsoft YaHei"/>
              </a:rPr>
              <a:t>三场景各 10 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432" y="1755648"/>
            <a:ext cx="24871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1755648"/>
            <a:ext cx="50292" cy="987552"/>
          </a:xfrm>
          <a:prstGeom prst="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1865376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34A853"/>
                </a:solidFill>
                <a:latin typeface="Microsoft YaHei"/>
              </a:rPr>
              <a:t>236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2221992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1D2C"/>
                </a:solidFill>
                <a:latin typeface="Microsoft YaHei"/>
              </a:rPr>
              <a:t>镜像运行时测试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2459736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>
                <a:solidFill>
                  <a:srgbClr val="5B6679"/>
                </a:solidFill>
                <a:latin typeface="Microsoft YaHei"/>
              </a:rPr>
              <a:t>另有 6 交付 + 52 兼容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55648"/>
            <a:ext cx="24871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755648"/>
            <a:ext cx="50292" cy="987552"/>
          </a:xfrm>
          <a:prstGeom prst="rect">
            <a:avLst/>
          </a:prstGeom>
          <a:solidFill>
            <a:srgbClr val="FBBC05"/>
          </a:solidFill>
          <a:ln w="1016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1865376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BBC05"/>
                </a:solidFill>
                <a:latin typeface="Microsoft YaHei"/>
              </a:rPr>
              <a:t>3/3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2221992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1D2C"/>
                </a:solidFill>
                <a:latin typeface="Microsoft YaHei"/>
              </a:rPr>
              <a:t>容器 healthy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2459736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>
                <a:solidFill>
                  <a:srgbClr val="5B6679"/>
                </a:solidFill>
                <a:latin typeface="Microsoft YaHei"/>
              </a:rPr>
              <a:t>app / PostGIS / Redis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62288" y="1755648"/>
            <a:ext cx="24871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62288" y="1755648"/>
            <a:ext cx="50292" cy="987552"/>
          </a:xfrm>
          <a:prstGeom prst="rect">
            <a:avLst/>
          </a:prstGeom>
          <a:solidFill>
            <a:srgbClr val="EA4335"/>
          </a:solidFill>
          <a:ln w="1016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1865376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A4335"/>
                </a:solidFill>
                <a:latin typeface="Microsoft YaHei"/>
              </a:rPr>
              <a:t>硬约束校验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221992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1D2C"/>
                </a:solidFill>
                <a:latin typeface="Microsoft YaHei"/>
              </a:rPr>
              <a:t>真实 MPC 规划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459736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>
                <a:solidFill>
                  <a:srgbClr val="5B6679"/>
                </a:solidFill>
                <a:latin typeface="Microsoft YaHei"/>
              </a:rPr>
              <a:t>1 次规划 + 空间产物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" y="3072384"/>
            <a:ext cx="6675120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310128"/>
            <a:ext cx="6080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61D2C"/>
                </a:solidFill>
                <a:latin typeface="Microsoft YaHei"/>
              </a:rPr>
              <a:t>可靠性基线：成功、恢复、停止都可重复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" y="3767328"/>
            <a:ext cx="6181344" cy="347472"/>
          </a:xfrm>
          <a:prstGeom prst="rect">
            <a:avLst/>
          </a:prstGeom>
          <a:solidFill>
            <a:srgbClr val="E8F0FE"/>
          </a:solidFill>
          <a:ln w="1016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3803904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1">
                <a:solidFill>
                  <a:srgbClr val="161D2C"/>
                </a:solidFill>
                <a:latin typeface="Microsoft YaHei"/>
              </a:rPr>
              <a:t>首次通过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4288" y="3803904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161D2C"/>
                </a:solidFill>
                <a:latin typeface="Microsoft YaHei"/>
              </a:rPr>
              <a:t>6 次函数调用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95928" y="3803904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161D2C"/>
                </a:solidFill>
                <a:latin typeface="Microsoft YaHei"/>
              </a:rPr>
              <a:t>10/10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93208" y="3803904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161D2C"/>
                </a:solidFill>
                <a:latin typeface="Microsoft YaHei"/>
              </a:rPr>
              <a:t>7.97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4233672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1">
                <a:solidFill>
                  <a:srgbClr val="161D2C"/>
                </a:solidFill>
                <a:latin typeface="Microsoft YaHei"/>
              </a:rPr>
              <a:t>版本不兼容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04288" y="4233672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161D2C"/>
                </a:solidFill>
                <a:latin typeface="Microsoft YaHei"/>
              </a:rPr>
              <a:t>2 次调用 → 停止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95928" y="4233672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161D2C"/>
                </a:solidFill>
                <a:latin typeface="Microsoft YaHei"/>
              </a:rPr>
              <a:t>10/10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3208" y="4233672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161D2C"/>
                </a:solidFill>
                <a:latin typeface="Microsoft YaHei"/>
              </a:rPr>
              <a:t>3.24 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" y="4626864"/>
            <a:ext cx="6181344" cy="347472"/>
          </a:xfrm>
          <a:prstGeom prst="rect">
            <a:avLst/>
          </a:prstGeom>
          <a:solidFill>
            <a:srgbClr val="E8F0FE"/>
          </a:solidFill>
          <a:ln w="1016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4663440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1">
                <a:solidFill>
                  <a:srgbClr val="161D2C"/>
                </a:solidFill>
                <a:latin typeface="Microsoft YaHei"/>
              </a:rPr>
              <a:t>一次重规划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04288" y="466344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161D2C"/>
                </a:solidFill>
                <a:latin typeface="Microsoft YaHei"/>
              </a:rPr>
              <a:t>8 次函数调用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95928" y="4663440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161D2C"/>
                </a:solidFill>
                <a:latin typeface="Microsoft YaHei"/>
              </a:rPr>
              <a:t>10/10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93208" y="4663440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161D2C"/>
                </a:solidFill>
                <a:latin typeface="Microsoft YaHei"/>
              </a:rPr>
              <a:t>13.57 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" y="5212080"/>
            <a:ext cx="6080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5B6679"/>
                </a:solidFill>
                <a:latin typeface="Microsoft YaHei"/>
              </a:rPr>
              <a:t>30/30 Wilson 95% CI：88.65%–100% · 工具响应为确定性替身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89520" y="3072384"/>
            <a:ext cx="4005072" cy="2468880"/>
          </a:xfrm>
          <a:prstGeom prst="roundRect">
            <a:avLst/>
          </a:prstGeom>
          <a:solidFill>
            <a:srgbClr val="FEF7E0"/>
          </a:solidFill>
          <a:ln w="1016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82127" y="3319272"/>
            <a:ext cx="3401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61D2C"/>
                </a:solidFill>
                <a:latin typeface="Microsoft YaHei"/>
              </a:rPr>
              <a:t>真实环境可行性：证据分层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82127" y="3822191"/>
            <a:ext cx="3401568" cy="8778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20" b="0">
                <a:solidFill>
                  <a:srgbClr val="161D2C"/>
                </a:solidFill>
                <a:latin typeface="Microsoft YaHei"/>
              </a:rPr>
              <a:t>历史版本：内部交接材料记录在目标内网使用真实权威数据完成全流程。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20" b="0">
                <a:solidFill>
                  <a:srgbClr val="161D2C"/>
                </a:solidFill>
                <a:latin typeface="Microsoft YaHei"/>
              </a:rPr>
              <a:t>当前版本：0.3.3 / 2.2.3 本机 MPC 完成；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20" b="0">
                <a:solidFill>
                  <a:srgbClr val="161D2C"/>
                </a:solidFill>
                <a:latin typeface="Microsoft YaHei"/>
              </a:rPr>
              <a:t>硬约束校验通过。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4882896"/>
            <a:ext cx="340156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5B6679"/>
                </a:solidFill>
                <a:latin typeface="Microsoft YaHei"/>
              </a:rPr>
              <a:t>历史记录 ≠ 当前部内复测 ≠ GIS Data Agent 生产部署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064" y="6473952"/>
            <a:ext cx="4937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679"/>
                </a:solidFill>
                <a:latin typeface="Microsoft YaHei"/>
              </a:rPr>
              <a:t>GIS Data Agent · Gemma 4 AI Agent Finals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6473952"/>
            <a:ext cx="6309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5B6679"/>
                </a:solidFill>
                <a:latin typeface="Microsoft YaHei"/>
              </a:rPr>
              <a:t>证据分类相互独立；详见 claim_register.md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9436"/>
          </a:xfrm>
          <a:prstGeom prst="rect">
            <a:avLst/>
          </a:prstGeom>
          <a:solidFill>
            <a:srgbClr val="34A853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105156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下一代空间智能体：LLM + GWM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35024"/>
            <a:ext cx="102412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>
                <a:solidFill>
                  <a:srgbClr val="FFFFFF"/>
                </a:solidFill>
                <a:latin typeface="Microsoft YaHei"/>
              </a:rPr>
              <a:t>语言智能负责理解与协同，地理空间世界模型负责推演行动后果。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2057400"/>
            <a:ext cx="10881360" cy="50292"/>
          </a:xfrm>
          <a:prstGeom prst="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542032"/>
            <a:ext cx="2487168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779776"/>
            <a:ext cx="1417320" cy="320040"/>
          </a:xfrm>
          <a:prstGeom prst="roundRect">
            <a:avLst/>
          </a:prstGeom>
          <a:solidFill>
            <a:srgbClr val="4285F4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9776"/>
            <a:ext cx="14173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Gemma 4 + ADK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64992"/>
            <a:ext cx="19659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1F33"/>
                </a:solidFill>
                <a:latin typeface="Microsoft YaHei"/>
              </a:rPr>
              <a:t>理解目标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1F33"/>
                </a:solidFill>
                <a:latin typeface="Microsoft YaHei"/>
              </a:rPr>
              <a:t>选择工具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1F33"/>
                </a:solidFill>
                <a:latin typeface="Microsoft YaHei"/>
              </a:rPr>
              <a:t>人机协同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401568"/>
            <a:ext cx="2560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2542032"/>
            <a:ext cx="2487168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49039" y="2779776"/>
            <a:ext cx="1417320" cy="320040"/>
          </a:xfrm>
          <a:prstGeom prst="round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2779776"/>
            <a:ext cx="14173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GWM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1" y="3364992"/>
            <a:ext cx="19659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1F33"/>
                </a:solidFill>
                <a:latin typeface="Microsoft YaHei"/>
              </a:rPr>
              <a:t>表示空间状态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1F33"/>
                </a:solidFill>
                <a:latin typeface="Microsoft YaHei"/>
              </a:rPr>
              <a:t>预测行动后果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1F33"/>
                </a:solidFill>
                <a:latin typeface="Microsoft YaHei"/>
              </a:rPr>
              <a:t>反事实推演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1" y="3401568"/>
            <a:ext cx="2560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2512" y="2542032"/>
            <a:ext cx="2487168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11112" y="2779776"/>
            <a:ext cx="1417320" cy="320040"/>
          </a:xfrm>
          <a:prstGeom prst="roundRect">
            <a:avLst/>
          </a:prstGeom>
          <a:solidFill>
            <a:srgbClr val="FBBC05"/>
          </a:solidFill>
          <a:ln w="1016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2779776"/>
            <a:ext cx="14173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规划器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3364992"/>
            <a:ext cx="19659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1F33"/>
                </a:solidFill>
                <a:latin typeface="Microsoft YaHei"/>
              </a:rPr>
              <a:t>MPC / 搜索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1F33"/>
                </a:solidFill>
                <a:latin typeface="Microsoft YaHei"/>
              </a:rPr>
              <a:t>方案比较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1F33"/>
                </a:solidFill>
                <a:latin typeface="Microsoft YaHei"/>
              </a:rPr>
              <a:t>行动选择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3401568"/>
            <a:ext cx="2560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44584" y="2542032"/>
            <a:ext cx="2487168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73184" y="2779776"/>
            <a:ext cx="1417320" cy="320040"/>
          </a:xfrm>
          <a:prstGeom prst="roundRect">
            <a:avLst/>
          </a:prstGeom>
          <a:solidFill>
            <a:srgbClr val="EA4335"/>
          </a:solidFill>
          <a:ln w="1016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73184" y="2779776"/>
            <a:ext cx="14173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审核控制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0616" y="3364992"/>
            <a:ext cx="19659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1F33"/>
                </a:solidFill>
                <a:latin typeface="Microsoft YaHei"/>
              </a:rPr>
              <a:t>规则校验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1F33"/>
                </a:solidFill>
                <a:latin typeface="Microsoft YaHei"/>
              </a:rPr>
              <a:t>证据边界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1F33"/>
                </a:solidFill>
                <a:latin typeface="Microsoft YaHei"/>
              </a:rPr>
              <a:t>保存 / 人工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" y="4965192"/>
            <a:ext cx="10588752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5102352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4A853"/>
                </a:solidFill>
                <a:latin typeface="Microsoft YaHei"/>
              </a:rPr>
              <a:t>今天已验证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5084064"/>
            <a:ext cx="8732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41F33"/>
                </a:solidFill>
                <a:latin typeface="Microsoft YaHei"/>
              </a:rPr>
              <a:t>空间问数 + GWM 领域原型 + 硬约束校验 + 已验证经验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5897880"/>
            <a:ext cx="101498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路线：多尺度状态 · 多行动动力学 · 长期/不确定性推演 · 因果校准 · 证据校验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37392" y="6446520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9436"/>
          </a:xfrm>
          <a:prstGeom prst="rect">
            <a:avLst/>
          </a:prstGeom>
          <a:solidFill>
            <a:srgbClr val="34A853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064" y="246888"/>
            <a:ext cx="1298448" cy="292608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246888"/>
            <a:ext cx="129844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4285F4"/>
                </a:solidFill>
                <a:latin typeface="Microsoft YaHei"/>
              </a:rPr>
              <a:t>Q&amp;A 附录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658368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61D2C"/>
                </a:solidFill>
                <a:latin typeface="Microsoft YaHei"/>
              </a:rPr>
              <a:t>Gemma 4 真的在规划，还是 Python 固定流程？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0332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Microsoft YaHei"/>
              </a:rPr>
              <a:t>直接结论：Gemma 4 规划工具调用与恢复分支；确定性代码负责空间数值计算。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463040"/>
            <a:ext cx="566928" cy="41148"/>
          </a:xfrm>
          <a:prstGeom prst="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6473952"/>
            <a:ext cx="4937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679"/>
                </a:solidFill>
                <a:latin typeface="Microsoft YaHei"/>
              </a:rPr>
              <a:t>GIS Data Agent · Gemma 4 AI Agent Finals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A1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719072"/>
            <a:ext cx="539496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" y="1938528"/>
            <a:ext cx="2057400" cy="347472"/>
          </a:xfrm>
          <a:prstGeom prst="roundRect">
            <a:avLst/>
          </a:prstGeom>
          <a:solidFill>
            <a:srgbClr val="4285F4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38528"/>
            <a:ext cx="20574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Microsoft YaHei"/>
              </a:rPr>
              <a:t>Agent 规划 · Gemma 4 + ADK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84248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4285F4"/>
                </a:solidFill>
                <a:latin typeface="Microsoft YaHei"/>
              </a:rPr>
              <a:t>模型动态选择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2743200"/>
            <a:ext cx="804672" cy="804672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2916936"/>
            <a:ext cx="658368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4285F4"/>
                </a:solidFill>
                <a:latin typeface="Microsoft YaHei"/>
              </a:rPr>
              <a:t>理解目标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09928" y="3145536"/>
            <a:ext cx="128016" cy="0"/>
          </a:xfrm>
          <a:prstGeom prst="line">
            <a:avLst/>
          </a:prstGeom>
          <a:ln w="2032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883664" y="2743200"/>
            <a:ext cx="804672" cy="804672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56816" y="2916936"/>
            <a:ext cx="658368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4285F4"/>
                </a:solidFill>
                <a:latin typeface="Microsoft YaHei"/>
              </a:rPr>
              <a:t>版本资源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4285F4"/>
                </a:solidFill>
                <a:latin typeface="Microsoft YaHei"/>
              </a:rPr>
              <a:t>检查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97480" y="3145536"/>
            <a:ext cx="128016" cy="0"/>
          </a:xfrm>
          <a:prstGeom prst="line">
            <a:avLst/>
          </a:prstGeom>
          <a:ln w="2032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71216" y="2743200"/>
            <a:ext cx="804672" cy="804672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44368" y="2916936"/>
            <a:ext cx="658368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4285F4"/>
                </a:solidFill>
                <a:latin typeface="Microsoft YaHei"/>
              </a:rPr>
              <a:t>召回经验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85032" y="3145536"/>
            <a:ext cx="128016" cy="0"/>
          </a:xfrm>
          <a:prstGeom prst="line">
            <a:avLst/>
          </a:prstGeom>
          <a:ln w="2032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58768" y="2743200"/>
            <a:ext cx="804672" cy="804672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2916936"/>
            <a:ext cx="658368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4285F4"/>
                </a:solidFill>
                <a:latin typeface="Microsoft YaHei"/>
              </a:rPr>
              <a:t>选择工具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72584" y="3145536"/>
            <a:ext cx="128016" cy="0"/>
          </a:xfrm>
          <a:prstGeom prst="line">
            <a:avLst/>
          </a:prstGeom>
          <a:ln w="2032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846320" y="2743200"/>
            <a:ext cx="804672" cy="804672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9472" y="2916936"/>
            <a:ext cx="658368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4285F4"/>
                </a:solidFill>
                <a:latin typeface="Microsoft YaHei"/>
              </a:rPr>
              <a:t>观察后分支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959352"/>
            <a:ext cx="484632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61D2C"/>
                </a:solidFill>
                <a:latin typeface="Microsoft YaHei"/>
              </a:rPr>
              <a:t>可停止 · 可保存 · 可重规划一次 · 可转人工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1719072"/>
            <a:ext cx="5285232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73952" y="1938528"/>
            <a:ext cx="2468880" cy="347472"/>
          </a:xfrm>
          <a:prstGeom prst="round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1938528"/>
            <a:ext cx="24688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Microsoft YaHei"/>
              </a:rPr>
              <a:t>算法规划 · 县域耕地优化引擎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31552" y="1984248"/>
            <a:ext cx="11155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34A853"/>
                </a:solidFill>
                <a:latin typeface="Microsoft YaHei"/>
              </a:rPr>
              <a:t>确定性执行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2679192"/>
            <a:ext cx="960120" cy="932688"/>
          </a:xfrm>
          <a:prstGeom prst="roundRect">
            <a:avLst/>
          </a:prstGeom>
          <a:solidFill>
            <a:srgbClr val="E7F4EA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807208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4A853"/>
                </a:solidFill>
                <a:latin typeface="Microsoft YaHei"/>
              </a:rPr>
              <a:t>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182112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61D2C"/>
                </a:solidFill>
                <a:latin typeface="Microsoft YaHei"/>
              </a:rPr>
              <a:t>空间状态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07224" y="3145536"/>
            <a:ext cx="192024" cy="0"/>
          </a:xfrm>
          <a:prstGeom prst="line">
            <a:avLst/>
          </a:prstGeom>
          <a:ln w="2032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754112" y="2679192"/>
            <a:ext cx="960120" cy="932688"/>
          </a:xfrm>
          <a:prstGeom prst="roundRect">
            <a:avLst/>
          </a:prstGeom>
          <a:solidFill>
            <a:srgbClr val="E7F4EA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54112" y="2807208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4A853"/>
                </a:solidFill>
                <a:latin typeface="Microsoft YaHei"/>
              </a:rPr>
              <a:t>Tθ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4112" y="3182112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61D2C"/>
                </a:solidFill>
                <a:latin typeface="Microsoft YaHei"/>
              </a:rPr>
              <a:t>预测后果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723376" y="3145536"/>
            <a:ext cx="192024" cy="0"/>
          </a:xfrm>
          <a:prstGeom prst="line">
            <a:avLst/>
          </a:prstGeom>
          <a:ln w="2032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970264" y="2679192"/>
            <a:ext cx="960120" cy="932688"/>
          </a:xfrm>
          <a:prstGeom prst="roundRect">
            <a:avLst/>
          </a:prstGeom>
          <a:solidFill>
            <a:srgbClr val="E7F4EA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70264" y="2807208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4A853"/>
                </a:solidFill>
                <a:latin typeface="Microsoft YaHei"/>
              </a:rPr>
              <a:t>MPC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70264" y="3182112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61D2C"/>
                </a:solidFill>
                <a:latin typeface="Microsoft YaHei"/>
              </a:rPr>
              <a:t>搜索方案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939528" y="3145536"/>
            <a:ext cx="192024" cy="0"/>
          </a:xfrm>
          <a:prstGeom prst="line">
            <a:avLst/>
          </a:prstGeom>
          <a:ln w="2032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0186416" y="2679192"/>
            <a:ext cx="960120" cy="932688"/>
          </a:xfrm>
          <a:prstGeom prst="roundRect">
            <a:avLst/>
          </a:prstGeom>
          <a:solidFill>
            <a:srgbClr val="E7F4EA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86416" y="2807208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4A853"/>
                </a:solidFill>
                <a:latin typeface="Microsoft YaHei"/>
              </a:rPr>
              <a:t>校验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86416" y="3182112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161D2C"/>
                </a:solidFill>
                <a:latin typeface="Microsoft YaHei"/>
              </a:rPr>
              <a:t>验收成果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0528" y="3959352"/>
            <a:ext cx="466344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61D2C"/>
                </a:solidFill>
                <a:latin typeface="Microsoft YaHei"/>
              </a:rPr>
              <a:t>A/B/C/D 是算法阶段，不冒充 LLM 动态规划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8" y="5285232"/>
            <a:ext cx="340156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4400" y="5477256"/>
            <a:ext cx="822960" cy="310896"/>
          </a:xfrm>
          <a:prstGeom prst="roundRect">
            <a:avLst/>
          </a:prstGeom>
          <a:solidFill>
            <a:srgbClr val="EA4335"/>
          </a:solidFill>
          <a:ln w="1016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" y="5477256"/>
            <a:ext cx="82296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2 次调用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92808" y="5504688"/>
            <a:ext cx="202996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1">
                <a:solidFill>
                  <a:srgbClr val="161D2C"/>
                </a:solidFill>
                <a:latin typeface="Microsoft YaHei"/>
              </a:rPr>
              <a:t>版本不兼容 → 停止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53712" y="5285232"/>
            <a:ext cx="340156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718304" y="5477256"/>
            <a:ext cx="822960" cy="310896"/>
          </a:xfrm>
          <a:prstGeom prst="round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18304" y="5477256"/>
            <a:ext cx="82296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6 次调用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96712" y="5504688"/>
            <a:ext cx="202996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1">
                <a:solidFill>
                  <a:srgbClr val="161D2C"/>
                </a:solidFill>
                <a:latin typeface="Microsoft YaHei"/>
              </a:rPr>
              <a:t>首次审计通过 → 保存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57616" y="5285232"/>
            <a:ext cx="3401568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522208" y="5477256"/>
            <a:ext cx="822960" cy="310896"/>
          </a:xfrm>
          <a:prstGeom prst="roundRect">
            <a:avLst/>
          </a:prstGeom>
          <a:solidFill>
            <a:srgbClr val="FBBC05"/>
          </a:solidFill>
          <a:ln w="1016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22208" y="5477256"/>
            <a:ext cx="82296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8 次调用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0616" y="5504688"/>
            <a:ext cx="202996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30" b="1">
                <a:solidFill>
                  <a:srgbClr val="161D2C"/>
                </a:solidFill>
                <a:latin typeface="Microsoft YaHei"/>
              </a:rPr>
              <a:t>审计失败 → 一次恢复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2064" y="6473952"/>
            <a:ext cx="4937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679"/>
                </a:solidFill>
                <a:latin typeface="Microsoft YaHei"/>
              </a:rPr>
              <a:t>GIS Data Agent · Gemma 4 AI Agent Finals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6473952"/>
            <a:ext cx="6309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5B6679"/>
                </a:solidFill>
                <a:latin typeface="Microsoft YaHei"/>
              </a:rPr>
              <a:t>边界：Gemma 4 决策工具与分支；GIS 数值由确定性工具计算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A1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9436"/>
          </a:xfrm>
          <a:prstGeom prst="rect">
            <a:avLst/>
          </a:prstGeom>
          <a:solidFill>
            <a:srgbClr val="34A853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064" y="246888"/>
            <a:ext cx="1298448" cy="292608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246888"/>
            <a:ext cx="129844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4285F4"/>
                </a:solidFill>
                <a:latin typeface="Microsoft YaHei"/>
              </a:rPr>
              <a:t>Q&amp;A 附录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658368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61D2C"/>
                </a:solidFill>
                <a:latin typeface="Microsoft YaHei"/>
              </a:rPr>
              <a:t>县域耕地优化引擎是不是地理空间世界模型？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0332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Microsoft YaHei"/>
              </a:rPr>
              <a:t>直接结论：它是领域化 GWM 原型，不是完整通用地理空间世界模型。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463040"/>
            <a:ext cx="566928" cy="41148"/>
          </a:xfrm>
          <a:prstGeom prst="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6473952"/>
            <a:ext cx="4937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679"/>
                </a:solidFill>
                <a:latin typeface="Microsoft YaHei"/>
              </a:rPr>
              <a:t>GIS Data Agent · Gemma 4 AI Agent Finals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A2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847088"/>
            <a:ext cx="24871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" y="2029968"/>
            <a:ext cx="1353312" cy="329184"/>
          </a:xfrm>
          <a:prstGeom prst="roundRect">
            <a:avLst/>
          </a:prstGeom>
          <a:solidFill>
            <a:srgbClr val="4285F4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029968"/>
            <a:ext cx="13533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Microsoft YaHei"/>
              </a:rPr>
              <a:t>空间状态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633472"/>
            <a:ext cx="2084831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70" b="1">
                <a:solidFill>
                  <a:srgbClr val="161D2C"/>
                </a:solidFill>
                <a:latin typeface="Microsoft YaHei"/>
              </a:rPr>
              <a:t>图斑 · 空间块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70" b="1">
                <a:solidFill>
                  <a:srgbClr val="161D2C"/>
                </a:solidFill>
                <a:latin typeface="Microsoft YaHei"/>
              </a:rPr>
              <a:t>地类 · 坡度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54680" y="2660904"/>
            <a:ext cx="283464" cy="0"/>
          </a:xfrm>
          <a:prstGeom prst="line">
            <a:avLst/>
          </a:prstGeom>
          <a:ln w="2032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20439" y="1847088"/>
            <a:ext cx="24871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03319" y="2029968"/>
            <a:ext cx="1353312" cy="329184"/>
          </a:xfrm>
          <a:prstGeom prst="round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19" y="2029968"/>
            <a:ext cx="13533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Microsoft YaHei"/>
              </a:rPr>
              <a:t>转移模型 Tθ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19" y="2633472"/>
            <a:ext cx="2084831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70" b="1">
                <a:solidFill>
                  <a:srgbClr val="161D2C"/>
                </a:solidFill>
                <a:latin typeface="Microsoft YaHei"/>
              </a:rPr>
              <a:t>学习型模型集成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70" b="1">
                <a:solidFill>
                  <a:srgbClr val="161D2C"/>
                </a:solidFill>
                <a:latin typeface="Microsoft YaHei"/>
              </a:rPr>
              <a:t>预测行动后果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16751" y="2660904"/>
            <a:ext cx="283464" cy="0"/>
          </a:xfrm>
          <a:prstGeom prst="line">
            <a:avLst/>
          </a:prstGeom>
          <a:ln w="2032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82512" y="1847088"/>
            <a:ext cx="24871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65392" y="2029968"/>
            <a:ext cx="1353312" cy="329184"/>
          </a:xfrm>
          <a:prstGeom prst="roundRect">
            <a:avLst/>
          </a:prstGeom>
          <a:solidFill>
            <a:srgbClr val="FBBC05"/>
          </a:solidFill>
          <a:ln w="1016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029968"/>
            <a:ext cx="13533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Microsoft YaHei"/>
              </a:rPr>
              <a:t>规划器 MPC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2633472"/>
            <a:ext cx="2084831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70" b="1">
                <a:solidFill>
                  <a:srgbClr val="161D2C"/>
                </a:solidFill>
                <a:latin typeface="Microsoft YaHei"/>
              </a:rPr>
              <a:t>消费预测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70" b="1">
                <a:solidFill>
                  <a:srgbClr val="161D2C"/>
                </a:solidFill>
                <a:latin typeface="Microsoft YaHei"/>
              </a:rPr>
              <a:t>比较候选方案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78824" y="2660904"/>
            <a:ext cx="283464" cy="0"/>
          </a:xfrm>
          <a:prstGeom prst="line">
            <a:avLst/>
          </a:prstGeom>
          <a:ln w="20320">
            <a:solidFill>
              <a:srgbClr val="FBBC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44584" y="1847088"/>
            <a:ext cx="24871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27464" y="2029968"/>
            <a:ext cx="1353312" cy="329184"/>
          </a:xfrm>
          <a:prstGeom prst="roundRect">
            <a:avLst/>
          </a:prstGeom>
          <a:solidFill>
            <a:srgbClr val="EA4335"/>
          </a:solidFill>
          <a:ln w="1016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27464" y="2029968"/>
            <a:ext cx="13533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Microsoft YaHei"/>
              </a:rPr>
              <a:t>治理外环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7464" y="2633472"/>
            <a:ext cx="2084831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70" b="1">
                <a:solidFill>
                  <a:srgbClr val="161D2C"/>
                </a:solidFill>
                <a:latin typeface="Microsoft YaHei"/>
              </a:rPr>
              <a:t>硬约束审计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70" b="1">
                <a:solidFill>
                  <a:srgbClr val="161D2C"/>
                </a:solidFill>
                <a:latin typeface="Microsoft YaHei"/>
              </a:rPr>
              <a:t>保存 / 转人工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3913632"/>
            <a:ext cx="5230368" cy="1554480"/>
          </a:xfrm>
          <a:prstGeom prst="roundRect">
            <a:avLst/>
          </a:prstGeom>
          <a:solidFill>
            <a:srgbClr val="E7F4EA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169663"/>
            <a:ext cx="46817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34A853"/>
                </a:solidFill>
                <a:latin typeface="Microsoft YaHei"/>
              </a:rPr>
              <a:t>今天已经具备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617720"/>
            <a:ext cx="468172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61D2C"/>
                </a:solidFill>
                <a:latin typeface="Microsoft YaHei"/>
              </a:rPr>
              <a:t>状态表示 · 学习型转移预测 · MPC 搜索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61D2C"/>
                </a:solidFill>
                <a:latin typeface="Microsoft YaHei"/>
              </a:rPr>
              <a:t>硬约束校验 · 已验证经验闭环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913632"/>
            <a:ext cx="5230368" cy="1554480"/>
          </a:xfrm>
          <a:prstGeom prst="roundRect">
            <a:avLst/>
          </a:prstGeom>
          <a:solidFill>
            <a:srgbClr val="FDEBE9"/>
          </a:solidFill>
          <a:ln w="1016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4169663"/>
            <a:ext cx="46817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A4335"/>
                </a:solidFill>
                <a:latin typeface="Microsoft YaHei"/>
              </a:rPr>
              <a:t>距离完整 GWM 还缺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4617720"/>
            <a:ext cx="4681728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61D2C"/>
                </a:solidFill>
                <a:latin typeface="Microsoft YaHei"/>
              </a:rPr>
              <a:t>多尺度 / 多行动 · 长期推演与不确定性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61D2C"/>
                </a:solidFill>
                <a:latin typeface="Microsoft YaHei"/>
              </a:rPr>
              <a:t>因果校准 · 跨区域验证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6473952"/>
            <a:ext cx="4937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679"/>
                </a:solidFill>
                <a:latin typeface="Microsoft YaHei"/>
              </a:rPr>
              <a:t>GIS Data Agent · Gemma 4 AI Agent Finals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73952"/>
            <a:ext cx="6309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5B6679"/>
                </a:solidFill>
                <a:latin typeface="Microsoft YaHei"/>
              </a:rPr>
              <a:t>内部研发代号 Paper9；MPC 是世界模型的消费者，不是世界模型本身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A2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9436"/>
          </a:xfrm>
          <a:prstGeom prst="rect">
            <a:avLst/>
          </a:prstGeom>
          <a:solidFill>
            <a:srgbClr val="34A853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064" y="246888"/>
            <a:ext cx="1298448" cy="292608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246888"/>
            <a:ext cx="129844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4285F4"/>
                </a:solidFill>
                <a:latin typeface="Microsoft YaHei"/>
              </a:rPr>
              <a:t>Q&amp;A 附录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658368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61D2C"/>
                </a:solidFill>
                <a:latin typeface="Microsoft YaHei"/>
              </a:rPr>
              <a:t>结果为什么可信，失败时怎么办？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0332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Microsoft YaHei"/>
              </a:rPr>
              <a:t>直接结论：模型编排、真实算法和约束校验分别验证；任何一层失败都不会冒充成功。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463040"/>
            <a:ext cx="566928" cy="41148"/>
          </a:xfrm>
          <a:prstGeom prst="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6473952"/>
            <a:ext cx="4937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679"/>
                </a:solidFill>
                <a:latin typeface="Microsoft YaHei"/>
              </a:rPr>
              <a:t>GIS Data Agent · Gemma 4 AI Agent Finals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A3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828800"/>
            <a:ext cx="3401568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" y="2066543"/>
            <a:ext cx="1554480" cy="347472"/>
          </a:xfrm>
          <a:prstGeom prst="roundRect">
            <a:avLst/>
          </a:prstGeom>
          <a:solidFill>
            <a:srgbClr val="4285F4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066543"/>
            <a:ext cx="15544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Microsoft YaHei"/>
              </a:rPr>
              <a:t>模型编排证据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743200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4285F4"/>
                </a:solidFill>
                <a:latin typeface="Microsoft YaHei"/>
              </a:rPr>
              <a:t>30/30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493008"/>
            <a:ext cx="29260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61D2C"/>
                </a:solidFill>
                <a:latin typeface="Microsoft YaHei"/>
              </a:rPr>
              <a:t>首次成功 / 版本阻断 / 一次恢复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61D2C"/>
                </a:solidFill>
                <a:latin typeface="Microsoft YaHei"/>
              </a:rPr>
              <a:t>Wilson 95% CI：88.65%–100%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1828800"/>
            <a:ext cx="3401568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9" y="2066543"/>
            <a:ext cx="1554480" cy="347472"/>
          </a:xfrm>
          <a:prstGeom prst="round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2066543"/>
            <a:ext cx="15544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Microsoft YaHei"/>
              </a:rPr>
              <a:t>真实算法证据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2743200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Microsoft YaHei"/>
              </a:rPr>
              <a:t>406 对置换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3493008"/>
            <a:ext cx="29260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61D2C"/>
                </a:solidFill>
                <a:latin typeface="Microsoft YaHei"/>
              </a:rPr>
              <a:t>101,657 条输入 · 真实 MPC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61D2C"/>
                </a:solidFill>
                <a:latin typeface="Microsoft YaHei"/>
              </a:rPr>
              <a:t>面积不减 · 坡度下降 · 连片度提升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1828800"/>
            <a:ext cx="3401568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31352" y="2066543"/>
            <a:ext cx="1554480" cy="347472"/>
          </a:xfrm>
          <a:prstGeom prst="roundRect">
            <a:avLst/>
          </a:prstGeom>
          <a:solidFill>
            <a:srgbClr val="EA4335"/>
          </a:solidFill>
          <a:ln w="1016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066543"/>
            <a:ext cx="15544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Microsoft YaHei"/>
              </a:rPr>
              <a:t>治理证据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2743200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Microsoft YaHei"/>
              </a:rPr>
              <a:t>硬约束校验通过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352" y="3493008"/>
            <a:ext cx="29260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61D2C"/>
                </a:solidFill>
                <a:latin typeface="Microsoft YaHei"/>
              </a:rPr>
              <a:t>产物完整才保存经验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61D2C"/>
                </a:solidFill>
                <a:latin typeface="Microsoft YaHei"/>
              </a:rPr>
              <a:t>失败 → 重规划一次 → 转人工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230368"/>
            <a:ext cx="10442448" cy="676656"/>
          </a:xfrm>
          <a:prstGeom prst="roundRect">
            <a:avLst/>
          </a:prstGeom>
          <a:solidFill>
            <a:srgbClr val="FEF7E0"/>
          </a:solidFill>
          <a:ln w="1016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5449824"/>
            <a:ext cx="99486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20" b="1">
                <a:solidFill>
                  <a:srgbClr val="161D2C"/>
                </a:solidFill>
                <a:latin typeface="Microsoft YaHei"/>
              </a:rPr>
              <a:t>边界：30/30 验证的是 Gemma 4 + ADK 编排；真实 MPC 运行另行验证，二者不混算。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6473952"/>
            <a:ext cx="4937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679"/>
                </a:solidFill>
                <a:latin typeface="Microsoft YaHei"/>
              </a:rPr>
              <a:t>GIS Data Agent · Gemma 4 AI Agent Finals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73952"/>
            <a:ext cx="6309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5B6679"/>
                </a:solidFill>
                <a:latin typeface="Microsoft YaHei"/>
              </a:rPr>
              <a:t>任何版本不兼容、二次审计失败或空间产物缺失均安全停止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A3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9436"/>
          </a:xfrm>
          <a:prstGeom prst="rect">
            <a:avLst/>
          </a:prstGeom>
          <a:solidFill>
            <a:srgbClr val="34A853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064" y="246888"/>
            <a:ext cx="1298448" cy="292608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246888"/>
            <a:ext cx="129844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4285F4"/>
                </a:solidFill>
                <a:latin typeface="Microsoft YaHei"/>
              </a:rPr>
              <a:t>Q&amp;A 附录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658368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61D2C"/>
                </a:solidFill>
                <a:latin typeface="Microsoft YaHei"/>
              </a:rPr>
              <a:t>真实落地证据是什么，哪些还没有证明？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0332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Microsoft YaHei"/>
              </a:rPr>
              <a:t>直接结论：需求、规模、历史环境与当前运行均有证据；生产成效仍需继续量化。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463040"/>
            <a:ext cx="566928" cy="41148"/>
          </a:xfrm>
          <a:prstGeom prst="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6473952"/>
            <a:ext cx="4937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679"/>
                </a:solidFill>
                <a:latin typeface="Microsoft YaHei"/>
              </a:rPr>
              <a:t>GIS Data Agent · Gemma 4 AI Agent Finals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A4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737360"/>
            <a:ext cx="1115568" cy="347472"/>
          </a:xfrm>
          <a:prstGeom prst="roundRect">
            <a:avLst/>
          </a:prstGeom>
          <a:solidFill>
            <a:srgbClr val="4285F4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737360"/>
            <a:ext cx="111556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Microsoft YaHei"/>
              </a:rPr>
              <a:t>真实需求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1664208"/>
            <a:ext cx="93726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58568" y="1783080"/>
            <a:ext cx="72420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1D2C"/>
                </a:solidFill>
                <a:latin typeface="Microsoft YaHei"/>
              </a:rPr>
              <a:t>GIS 分析师的高频空间问数；自然资源与县域整治人员的高价值布局优化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4352" y="1819656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30" b="1">
                <a:solidFill>
                  <a:srgbClr val="4285F4"/>
                </a:solidFill>
                <a:latin typeface="Microsoft YaHei"/>
              </a:rPr>
              <a:t>受众清晰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670048"/>
            <a:ext cx="1115568" cy="347472"/>
          </a:xfrm>
          <a:prstGeom prst="round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70048"/>
            <a:ext cx="111556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Microsoft YaHei"/>
              </a:rPr>
              <a:t>当前规模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2596896"/>
            <a:ext cx="93726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58568" y="2715768"/>
            <a:ext cx="72420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1D2C"/>
                </a:solidFill>
                <a:latin typeface="Microsoft YaHei"/>
              </a:rPr>
              <a:t>101,657 条输入空间记录；CQ-125 可复核空间 SQL 基准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4352" y="2752344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30" b="1">
                <a:solidFill>
                  <a:srgbClr val="34A853"/>
                </a:solidFill>
                <a:latin typeface="Microsoft YaHei"/>
              </a:rPr>
              <a:t>可量化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602736"/>
            <a:ext cx="1115568" cy="347472"/>
          </a:xfrm>
          <a:prstGeom prst="roundRect">
            <a:avLst/>
          </a:prstGeom>
          <a:solidFill>
            <a:srgbClr val="FBBC05"/>
          </a:solidFill>
          <a:ln w="1016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602736"/>
            <a:ext cx="111556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Microsoft YaHei"/>
              </a:rPr>
              <a:t>历史环境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0" y="3529584"/>
            <a:ext cx="93726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58568" y="3648456"/>
            <a:ext cx="72420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1D2C"/>
                </a:solidFill>
                <a:latin typeface="Microsoft YaHei"/>
              </a:rPr>
              <a:t>底层引擎旧版本的内部交接材料记录：曾在目标内网以真实权威数据完成全流程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3685032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30" b="1">
                <a:solidFill>
                  <a:srgbClr val="FBBC05"/>
                </a:solidFill>
                <a:latin typeface="Microsoft YaHei"/>
              </a:rPr>
              <a:t>工程可行性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535424"/>
            <a:ext cx="1115568" cy="347472"/>
          </a:xfrm>
          <a:prstGeom prst="roundRect">
            <a:avLst/>
          </a:prstGeom>
          <a:solidFill>
            <a:srgbClr val="EA4335"/>
          </a:solidFill>
          <a:ln w="1016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535424"/>
            <a:ext cx="111556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>
                <a:solidFill>
                  <a:srgbClr val="FFFFFF"/>
                </a:solidFill>
                <a:latin typeface="Microsoft YaHei"/>
              </a:rPr>
              <a:t>当前运行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11680" y="4462272"/>
            <a:ext cx="93726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58568" y="4581144"/>
            <a:ext cx="72420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1D2C"/>
                </a:solidFill>
                <a:latin typeface="Microsoft YaHei"/>
              </a:rPr>
              <a:t>0.3.3 / 2.2.3 本机真实 MPC、地图、图文 PDF、硬约束校验和经验保存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352" y="4617720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30" b="1">
                <a:solidFill>
                  <a:srgbClr val="EA4335"/>
                </a:solidFill>
                <a:latin typeface="Microsoft YaHei"/>
              </a:rPr>
              <a:t>当前可运行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504688"/>
            <a:ext cx="10442448" cy="530352"/>
          </a:xfrm>
          <a:prstGeom prst="roundRect">
            <a:avLst/>
          </a:prstGeom>
          <a:solidFill>
            <a:srgbClr val="FDEBE9"/>
          </a:solidFill>
          <a:ln w="1016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" y="5650992"/>
            <a:ext cx="994867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A4335"/>
                </a:solidFill>
                <a:latin typeface="Microsoft YaHei"/>
              </a:rPr>
              <a:t>尚未证明：v2.2.3 部内复测或生产验收、全国泛化、公开用户数、节省工时与人工修订率。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6473952"/>
            <a:ext cx="4937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679"/>
                </a:solidFill>
                <a:latin typeface="Microsoft YaHei"/>
              </a:rPr>
              <a:t>GIS Data Agent · Gemma 4 AI Agent Finals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73952"/>
            <a:ext cx="6309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5B6679"/>
                </a:solidFill>
                <a:latin typeface="Microsoft YaHei"/>
              </a:rPr>
              <a:t>历史内网记录 ≠ 当前版本部内复测 ≠ GIS Data Agent 生产部署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A4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5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9436"/>
          </a:xfrm>
          <a:prstGeom prst="rect">
            <a:avLst/>
          </a:prstGeom>
          <a:solidFill>
            <a:srgbClr val="34A853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064" y="246888"/>
            <a:ext cx="1298448" cy="292608"/>
          </a:xfrm>
          <a:prstGeom prst="roundRect">
            <a:avLst/>
          </a:prstGeom>
          <a:solidFill>
            <a:srgbClr val="E8F0FE"/>
          </a:solidFill>
          <a:ln w="1016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246888"/>
            <a:ext cx="129844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4285F4"/>
                </a:solidFill>
                <a:latin typeface="Microsoft YaHei"/>
              </a:rPr>
              <a:t>Q&amp;A 附录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658368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61D2C"/>
                </a:solidFill>
                <a:latin typeface="Microsoft YaHei"/>
              </a:rPr>
              <a:t>如何落地、扩展，并保证工程质量？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78992"/>
            <a:ext cx="10332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Microsoft YaHei"/>
              </a:rPr>
              <a:t>直接结论：主链本地可运行、接口按区域解耦、质量检查和演示降级均已文档化。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463040"/>
            <a:ext cx="566928" cy="41148"/>
          </a:xfrm>
          <a:prstGeom prst="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6473952"/>
            <a:ext cx="4937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679"/>
                </a:solidFill>
                <a:latin typeface="Microsoft YaHei"/>
              </a:rPr>
              <a:t>GIS Data Agent · Gemma 4 AI Agent Finals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A5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755648"/>
            <a:ext cx="24871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755648"/>
            <a:ext cx="50292" cy="987552"/>
          </a:xfrm>
          <a:prstGeom prst="rect">
            <a:avLst/>
          </a:prstGeom>
          <a:solidFill>
            <a:srgbClr val="34A853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1865376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34A853"/>
                </a:solidFill>
                <a:latin typeface="Microsoft YaHei"/>
              </a:rPr>
              <a:t>236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221992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1D2C"/>
                </a:solidFill>
                <a:latin typeface="Microsoft YaHei"/>
              </a:rPr>
              <a:t>镜像运行时测试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459736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>
                <a:solidFill>
                  <a:srgbClr val="5B6679"/>
                </a:solidFill>
                <a:latin typeface="Microsoft YaHei"/>
              </a:rPr>
              <a:t>2026-07-30 决赛基线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02152" y="1755648"/>
            <a:ext cx="24871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02152" y="1755648"/>
            <a:ext cx="50292" cy="987552"/>
          </a:xfrm>
          <a:prstGeom prst="rect">
            <a:avLst/>
          </a:prstGeom>
          <a:solidFill>
            <a:srgbClr val="4285F4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66744" y="1865376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4285F4"/>
                </a:solidFill>
                <a:latin typeface="Microsoft YaHe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6744" y="2221992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1D2C"/>
                </a:solidFill>
                <a:latin typeface="Microsoft YaHei"/>
              </a:rPr>
              <a:t>宿主交付契约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6744" y="2459736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>
                <a:solidFill>
                  <a:srgbClr val="5B6679"/>
                </a:solidFill>
                <a:latin typeface="Microsoft YaHei"/>
              </a:rPr>
              <a:t>2026-07-30 决赛基线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4224" y="1755648"/>
            <a:ext cx="24871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64224" y="1755648"/>
            <a:ext cx="50292" cy="987552"/>
          </a:xfrm>
          <a:prstGeom prst="rect">
            <a:avLst/>
          </a:prstGeom>
          <a:solidFill>
            <a:srgbClr val="FBBC05"/>
          </a:solidFill>
          <a:ln w="1016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1865376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BBC05"/>
                </a:solidFill>
                <a:latin typeface="Microsoft YaHei"/>
              </a:rPr>
              <a:t>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2221992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1D2C"/>
                </a:solidFill>
                <a:latin typeface="Microsoft YaHei"/>
              </a:rPr>
              <a:t>接口兼容测试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2459736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>
                <a:solidFill>
                  <a:srgbClr val="5B6679"/>
                </a:solidFill>
                <a:latin typeface="Microsoft YaHei"/>
              </a:rPr>
              <a:t>2026-07-30 决赛基线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26296" y="1755648"/>
            <a:ext cx="24871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26296" y="1755648"/>
            <a:ext cx="50292" cy="987552"/>
          </a:xfrm>
          <a:prstGeom prst="rect">
            <a:avLst/>
          </a:prstGeom>
          <a:solidFill>
            <a:srgbClr val="EA4335"/>
          </a:solidFill>
          <a:ln w="1016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90888" y="1865376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A4335"/>
                </a:solidFill>
                <a:latin typeface="Microsoft YaHei"/>
              </a:rPr>
              <a:t>3/3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0888" y="2221992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1D2C"/>
                </a:solidFill>
                <a:latin typeface="Microsoft YaHei"/>
              </a:rPr>
              <a:t>核心容器 healthy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2459736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>
                <a:solidFill>
                  <a:srgbClr val="5B6679"/>
                </a:solidFill>
                <a:latin typeface="Microsoft YaHei"/>
              </a:rPr>
              <a:t>2026-07-30 决赛基线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127248"/>
            <a:ext cx="320040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3383280"/>
            <a:ext cx="272491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4285F4"/>
                </a:solidFill>
                <a:latin typeface="Microsoft YaHei"/>
              </a:rPr>
              <a:t>本地落地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3913632"/>
            <a:ext cx="2724912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61D2C"/>
                </a:solidFill>
                <a:latin typeface="Microsoft YaHei"/>
              </a:rPr>
              <a:t>• Gemma 4 + ADK 主链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61D2C"/>
                </a:solidFill>
                <a:latin typeface="Microsoft YaHei"/>
              </a:rPr>
              <a:t>• PostGIS + 优化引擎离线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61D2C"/>
                </a:solidFill>
                <a:latin typeface="Microsoft YaHei"/>
              </a:rPr>
              <a:t>• 地图与 5 页图文 PDF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07992" y="3127248"/>
            <a:ext cx="320040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36592" y="3383280"/>
            <a:ext cx="272491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34A853"/>
                </a:solidFill>
                <a:latin typeface="Microsoft YaHei"/>
              </a:rPr>
              <a:t>按区域扩展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36592" y="3913632"/>
            <a:ext cx="2724912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61D2C"/>
                </a:solidFill>
                <a:latin typeface="Microsoft YaHei"/>
              </a:rPr>
              <a:t>• 数据契约 / 坐标 / 编码检查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61D2C"/>
                </a:solidFill>
                <a:latin typeface="Microsoft YaHei"/>
              </a:rPr>
              <a:t>• 区域适配器与工具接口解耦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61D2C"/>
                </a:solidFill>
                <a:latin typeface="Microsoft YaHei"/>
              </a:rPr>
              <a:t>• 新区域独立硬约束校验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84464" y="3127248"/>
            <a:ext cx="320040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13064" y="3383280"/>
            <a:ext cx="272491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A4335"/>
                </a:solidFill>
                <a:latin typeface="Microsoft YaHei"/>
              </a:rPr>
              <a:t>质量与演示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13064" y="3913632"/>
            <a:ext cx="2724912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61D2C"/>
                </a:solidFill>
                <a:latin typeface="Microsoft YaHei"/>
              </a:rPr>
              <a:t>• Ruff / 编译 / 构建 / CI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61D2C"/>
                </a:solidFill>
                <a:latin typeface="Microsoft YaHei"/>
              </a:rPr>
              <a:t>• 版本不兼容与缺产物安全停止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61D2C"/>
                </a:solidFill>
                <a:latin typeface="Microsoft YaHei"/>
              </a:rPr>
              <a:t>• 实时 → 视频 → 封存产物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715000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41F33"/>
                </a:solidFill>
                <a:latin typeface="Microsoft YaHei"/>
              </a:rPr>
              <a:t>Google 栈口径：ADK 是已验证主运行时；AlphaEarth 仅 Tech Preview；OKF 仅知识交换 sidecar。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" y="6473952"/>
            <a:ext cx="4937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B6679"/>
                </a:solidFill>
                <a:latin typeface="Microsoft YaHei"/>
              </a:rPr>
              <a:t>GIS Data Agent · Gemma 4 AI Agent Finals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73952"/>
            <a:ext cx="6309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5B6679"/>
                </a:solidFill>
                <a:latin typeface="Microsoft YaHei"/>
              </a:rPr>
              <a:t>Google 技术的深度、必要性和证据比 Logo 数量更重要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73968" y="645566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B6679"/>
                </a:solidFill>
                <a:latin typeface="Microsoft YaHei"/>
              </a:rPr>
              <a:t>A5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